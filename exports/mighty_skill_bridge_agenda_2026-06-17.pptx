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36576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0" y="6583680"/>
            <a:ext cx="164592" cy="164592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1247120" cy="3200400"/>
          </a:xfrm>
          <a:prstGeom prst="rect">
            <a:avLst/>
          </a:prstGeom>
          <a:solidFill>
            <a:srgbClr val="16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09728" cy="320040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F0FF"/>
                </a:solidFill>
                <a:latin typeface="Consolas"/>
              </a:rPr>
              <a:t>MIGHTY SKILL-BRIDGE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1F5FF"/>
                </a:solidFill>
                <a:latin typeface="Yu Gothic UI"/>
              </a:rPr>
              <a:t>定例打合せアジェンダ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9FF14"/>
                </a:solidFill>
                <a:latin typeface="Yu Gothic UI"/>
              </a:rPr>
              <a:t>社内パイロット報告 ＆ 限定デモGo / 一般公開No-Go判定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5CAE0"/>
                </a:solidFill>
                <a:latin typeface="Yu Gothic UI"/>
              </a:rPr>
              <a:t>日時: 2026年6月17日 (水) 13:30 - 14:30想定</a:t>
            </a:r>
          </a:p>
          <a:p>
            <a:pPr algn="l"/>
            <a:r>
              <a:rPr sz="1200" b="0">
                <a:solidFill>
                  <a:srgbClr val="C5CAE0"/>
                </a:solidFill>
                <a:latin typeface="Yu Gothic UI"/>
              </a:rPr>
              <a:t>対象: 小林雅水 代表取締役社長 ＆ 開発チーム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399"/>
                </a:solidFill>
                <a:latin typeface="Consolas"/>
              </a:rPr>
              <a:t>Mighty Skill-Bridge · 2026-06-17 CEO Regular Meeting Agenda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36576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0" y="6583680"/>
            <a:ext cx="164592" cy="164592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F0FF"/>
                </a:solidFill>
                <a:latin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1F5FF"/>
                </a:solidFill>
                <a:latin typeface="Yu Gothic UI"/>
              </a:rPr>
              <a:t>本日のアジェンダ &amp; 意思決定項目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777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9FF14"/>
                </a:solidFill>
                <a:latin typeface="Yu Gothic UI"/>
              </a:rPr>
              <a:t>管理下デモGo / 一般公開No-Goの確認と優先開発ロードマップ合意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11247120" cy="18288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7315200" cy="3657600"/>
          </a:xfrm>
          <a:prstGeom prst="rect">
            <a:avLst/>
          </a:prstGeom>
          <a:solidFill>
            <a:srgbClr val="16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73152" cy="365760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020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0FF"/>
                </a:solidFill>
                <a:latin typeface="Consolas"/>
              </a:rPr>
              <a:t>KEY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28800"/>
            <a:ext cx="6858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F0FF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1. 社内パイロット（6/3〜6/16）の運用実績・評価報告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00F0FF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2. コスト台帳（$0枠維持）およびQ2セキュリティ・プライバシー監査結果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00F0FF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3. 本番ドメイン（mightylink-app.com）接続完了と費用0円化の報告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00F0FF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4. 限定デモ継続、一般公開No-Go、営業メールAIマッチング優先の合意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463040"/>
            <a:ext cx="3749039" cy="3657600"/>
          </a:xfrm>
          <a:prstGeom prst="rect">
            <a:avLst/>
          </a:prstGeom>
          <a:solidFill>
            <a:srgbClr val="16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463040"/>
            <a:ext cx="73152" cy="3657600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600200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9FF14"/>
                </a:solidFill>
                <a:latin typeface="Consolas"/>
              </a:rPr>
              <a:t>EVIDENCE / REF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828800"/>
            <a:ext cx="33832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C5CAE0"/>
                </a:solidFill>
                <a:latin typeface="Consolas"/>
              </a:rPr>
              <a:t>WBSタスク T746 / docs/PILOT_REPORT_2026-06-16.md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577840"/>
            <a:ext cx="11247120" cy="685800"/>
          </a:xfrm>
          <a:prstGeom prst="rect">
            <a:avLst/>
          </a:prstGeom>
          <a:solidFill>
            <a:srgbClr val="161824"/>
          </a:solidFill>
          <a:ln w="19050">
            <a:solidFill>
              <a:srgbClr val="00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627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0FF"/>
                </a:solidFill>
                <a:latin typeface="Consolas"/>
              </a:rPr>
              <a:t>▶ 打合せ合意・相談事項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7044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Yu Gothic UI"/>
              </a:rPr>
              <a:t>本日のゴールとして「限定デモ継続と次フェーズ優先機能の合意」でよろしいでしょうか？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399"/>
                </a:solidFill>
                <a:latin typeface="Consolas"/>
              </a:rPr>
              <a:t>Mighty Skill-Bridge · 2026-06-17 CEO Regular Meeting 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36576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0" y="6583680"/>
            <a:ext cx="164592" cy="164592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F0FF"/>
                </a:solidFill>
                <a:latin typeface="Consola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1F5FF"/>
                </a:solidFill>
                <a:latin typeface="Yu Gothic UI"/>
              </a:rPr>
              <a:t>社内パイロット運用実績 (6/3～6/16)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777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9FF14"/>
                </a:solidFill>
                <a:latin typeface="Yu Gothic UI"/>
              </a:rPr>
              <a:t>AIフィット診断の実稼働とユーザー評価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11247120" cy="18288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7315200" cy="3657600"/>
          </a:xfrm>
          <a:prstGeom prst="rect">
            <a:avLst/>
          </a:prstGeom>
          <a:solidFill>
            <a:srgbClr val="16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73152" cy="3657600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020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9FF14"/>
                </a:solidFill>
                <a:latin typeface="Consolas"/>
              </a:rPr>
              <a:t>KEY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28800"/>
            <a:ext cx="6858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9FF14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人材担当・営業担当の協力を得て『Mighty Skill-Bridge』を実稼働検証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39FF14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サンプルデータ（経歴書5件・案件票5件）の流し込みと4次元適合率UIの正常動作を確認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39FF14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診断結果に基づく面談想定質問の自動生成により、担当者の準備工数を約70%削減できる見込み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463040"/>
            <a:ext cx="3749039" cy="3657600"/>
          </a:xfrm>
          <a:prstGeom prst="rect">
            <a:avLst/>
          </a:prstGeom>
          <a:solidFill>
            <a:srgbClr val="16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463040"/>
            <a:ext cx="73152" cy="3657600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600200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9FF14"/>
                </a:solidFill>
                <a:latin typeface="Consolas"/>
              </a:rPr>
              <a:t>EVIDENCE / REF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828800"/>
            <a:ext cx="33832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C5CAE0"/>
                </a:solidFill>
                <a:latin typeface="Consolas"/>
              </a:rPr>
              <a:t>実績資料: docs/PILOT_REPORT_2026-06-16.md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577840"/>
            <a:ext cx="11247120" cy="685800"/>
          </a:xfrm>
          <a:prstGeom prst="rect">
            <a:avLst/>
          </a:prstGeom>
          <a:solidFill>
            <a:srgbClr val="161824"/>
          </a:solidFill>
          <a:ln w="19050">
            <a:solidFill>
              <a:srgbClr val="00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627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0FF"/>
                </a:solidFill>
                <a:latin typeface="Consolas"/>
              </a:rPr>
              <a:t>▶ 打合せ合意・相談事項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7044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Yu Gothic UI"/>
              </a:rPr>
              <a:t>パイロット運用の実績および約70%の工数削減効果について、ご質問やフィードバックはありますか？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399"/>
                </a:solidFill>
                <a:latin typeface="Consolas"/>
              </a:rPr>
              <a:t>Mighty Skill-Bridge · 2026-06-17 CEO Regular Meeting Agenda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36576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0" y="6583680"/>
            <a:ext cx="164592" cy="164592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F0FF"/>
                </a:solidFill>
                <a:latin typeface="Consola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1F5FF"/>
                </a:solidFill>
                <a:latin typeface="Yu Gothic UI"/>
              </a:rPr>
              <a:t>コスト台帳＆セキュリティ・プライバシー監査結果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777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9FF14"/>
                </a:solidFill>
                <a:latin typeface="Yu Gothic UI"/>
              </a:rPr>
              <a:t>完全無料枠内での運用維持とセキュリティの担保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11247120" cy="18288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7315200" cy="3657600"/>
          </a:xfrm>
          <a:prstGeom prst="rect">
            <a:avLst/>
          </a:prstGeom>
          <a:solidFill>
            <a:srgbClr val="16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73152" cy="3657600"/>
          </a:xfrm>
          <a:prstGeom prst="rect">
            <a:avLst/>
          </a:prstGeom>
          <a:solidFill>
            <a:srgbClr val="FF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020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3366"/>
                </a:solidFill>
                <a:latin typeface="Consolas"/>
              </a:rPr>
              <a:t>KEY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28800"/>
            <a:ext cx="6858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3366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Gemini API キャッシュ（TTL 1時間）の活用により、トークン消費量を90%削減しAPI費用 $0を維持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FF3366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個人情報保護・GDPRに準拠し、データはパイロット終了後3営業日以内に完全消去する運用を徹底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FF3366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Q2セキュリティ監査をクリア、Basic Authによる第三者アクセス防止およびAPI自動遮断（ガード）を実装済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463040"/>
            <a:ext cx="3749039" cy="3657600"/>
          </a:xfrm>
          <a:prstGeom prst="rect">
            <a:avLst/>
          </a:prstGeom>
          <a:solidFill>
            <a:srgbClr val="16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463040"/>
            <a:ext cx="73152" cy="3657600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600200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9FF14"/>
                </a:solidFill>
                <a:latin typeface="Consolas"/>
              </a:rPr>
              <a:t>EVIDENCE / REF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828800"/>
            <a:ext cx="33832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C5CAE0"/>
                </a:solidFill>
                <a:latin typeface="Consolas"/>
              </a:rPr>
              <a:t>docs/COST_REPORT_2026-06.md
docs/SECURITY_AUDIT_REPORT_2026-Q2.md
data/secret_rotation_inventory.tsv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577840"/>
            <a:ext cx="11247120" cy="685800"/>
          </a:xfrm>
          <a:prstGeom prst="rect">
            <a:avLst/>
          </a:prstGeom>
          <a:solidFill>
            <a:srgbClr val="161824"/>
          </a:solidFill>
          <a:ln w="19050">
            <a:solidFill>
              <a:srgbClr val="00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627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0FF"/>
                </a:solidFill>
                <a:latin typeface="Consolas"/>
              </a:rPr>
              <a:t>▶ 打合せ合意・相談事項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7044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Yu Gothic UI"/>
              </a:rPr>
              <a:t>利用同意書の運用（3営業日以内の完全消去）および現在のコストセーフガード方針で進めてよろしいでしょうか？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399"/>
                </a:solidFill>
                <a:latin typeface="Consolas"/>
              </a:rPr>
              <a:t>Mighty Skill-Bridge · 2026-06-17 CEO Regular Meeting Agenda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36576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0" y="6583680"/>
            <a:ext cx="164592" cy="164592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F0FF"/>
                </a:solidFill>
                <a:latin typeface="Consola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1F5FF"/>
                </a:solidFill>
                <a:latin typeface="Yu Gothic UI"/>
              </a:rPr>
              <a:t>本番ドメイン接続完了と構成報告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777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9FF14"/>
                </a:solidFill>
                <a:latin typeface="Yu Gothic UI"/>
              </a:rPr>
              <a:t>mightylink-app.com 接続完了（追加固定費 0 円）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11247120" cy="18288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7315200" cy="3657600"/>
          </a:xfrm>
          <a:prstGeom prst="rect">
            <a:avLst/>
          </a:prstGeom>
          <a:solidFill>
            <a:srgbClr val="16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73152" cy="365760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020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0FF"/>
                </a:solidFill>
                <a:latin typeface="Consolas"/>
              </a:rPr>
              <a:t>KEY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28800"/>
            <a:ext cx="6858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F0FF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サービス専用ドメイン「mightylink-app.com」をお名前.comで取得し、Firebase Hostingへ接続完了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00F0FF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SSL証明書はFirebaseが自動発行・更新するため、追加費用や更新管理の手間は一切なし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00F0FF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当初予定の会社ドメインから専用ドメインへ変更したことで、会社メールやHPの停止リスクを100%回避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463040"/>
            <a:ext cx="3749039" cy="3657600"/>
          </a:xfrm>
          <a:prstGeom prst="rect">
            <a:avLst/>
          </a:prstGeom>
          <a:solidFill>
            <a:srgbClr val="16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463040"/>
            <a:ext cx="73152" cy="3657600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600200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9FF14"/>
                </a:solidFill>
                <a:latin typeface="Consolas"/>
              </a:rPr>
              <a:t>EVIDENCE / REF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828800"/>
            <a:ext cx="33832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C5CAE0"/>
                </a:solidFill>
                <a:latin typeface="Consolas"/>
              </a:rPr>
              <a:t>URL: https://mightylink-app.com/ (HTTPS疎通)
docs/PRODUCTION_DOMAIN_SETUP_GUIDE.md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577840"/>
            <a:ext cx="11247120" cy="685800"/>
          </a:xfrm>
          <a:prstGeom prst="rect">
            <a:avLst/>
          </a:prstGeom>
          <a:solidFill>
            <a:srgbClr val="161824"/>
          </a:solidFill>
          <a:ln w="19050">
            <a:solidFill>
              <a:srgbClr val="00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627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0FF"/>
                </a:solidFill>
                <a:latin typeface="Consolas"/>
              </a:rPr>
              <a:t>▶ 打合せ合意・相談事項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7044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Yu Gothic UI"/>
              </a:rPr>
              <a:t>専用ドメイン（mightylink-app.com）での本番URLおよび特商法表記での運用を開始してよろしいでしょうか？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399"/>
                </a:solidFill>
                <a:latin typeface="Consolas"/>
              </a:rPr>
              <a:t>Mighty Skill-Bridge · 2026-06-17 CEO Regular Meeting Agenda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36576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0" y="6583680"/>
            <a:ext cx="164592" cy="164592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F0FF"/>
                </a:solidFill>
                <a:latin typeface="Consola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1F5FF"/>
                </a:solidFill>
                <a:latin typeface="Yu Gothic UI"/>
              </a:rPr>
              <a:t>開発・運用体制とアカウント管理の今後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777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9FF14"/>
                </a:solidFill>
                <a:latin typeface="Yu Gothic UI"/>
              </a:rPr>
              <a:t>個人アカウントから会社アカウントへの安全な移行計画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11247120" cy="18288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7315200" cy="3657600"/>
          </a:xfrm>
          <a:prstGeom prst="rect">
            <a:avLst/>
          </a:prstGeom>
          <a:solidFill>
            <a:srgbClr val="16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73152" cy="36576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020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  <a:latin typeface="Consolas"/>
              </a:rPr>
              <a:t>KEY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28800"/>
            <a:ext cx="6858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現在はスピード優先のため、個人アカウント主体（GitHub, Firebase, Supabase）で構築・開発中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FFD700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Google Workspace/WBSおよびNotebookLMは会社提供アカウント（k-umezawa@ml-mightylink.com）で管理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FFD700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移行手順書（ランブック）を整備済、有料化・正式リリースの段階で会社アカウントへ安全に移管可能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463040"/>
            <a:ext cx="3749039" cy="3657600"/>
          </a:xfrm>
          <a:prstGeom prst="rect">
            <a:avLst/>
          </a:prstGeom>
          <a:solidFill>
            <a:srgbClr val="16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463040"/>
            <a:ext cx="73152" cy="3657600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600200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9FF14"/>
                </a:solidFill>
                <a:latin typeface="Consolas"/>
              </a:rPr>
              <a:t>EVIDENCE / REF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828800"/>
            <a:ext cx="33832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C5CAE0"/>
                </a:solidFill>
                <a:latin typeface="Consolas"/>
              </a:rPr>
              <a:t>docs/GOOGLE_WORKSPACE_MIGRATION_RUNBOOK.md
scripts/share_resources.py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577840"/>
            <a:ext cx="11247120" cy="685800"/>
          </a:xfrm>
          <a:prstGeom prst="rect">
            <a:avLst/>
          </a:prstGeom>
          <a:solidFill>
            <a:srgbClr val="161824"/>
          </a:solidFill>
          <a:ln w="19050">
            <a:solidFill>
              <a:srgbClr val="00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627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0FF"/>
                </a:solidFill>
                <a:latin typeface="Consolas"/>
              </a:rPr>
              <a:t>▶ 打合せ合意・相談事項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7044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Yu Gothic UI"/>
              </a:rPr>
              <a:t>今後の正式リリースおよび有料化の段階で、会社アカウントへ移管・集約するスケジュールでよろしいでしょうか？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399"/>
                </a:solidFill>
                <a:latin typeface="Consolas"/>
              </a:rPr>
              <a:t>Mighty Skill-Bridge · 2026-06-17 CEO Regular Meeting Agenda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36576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0" y="6583680"/>
            <a:ext cx="164592" cy="164592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F0FF"/>
                </a:solidFill>
                <a:latin typeface="Consola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1F5FF"/>
                </a:solidFill>
                <a:latin typeface="Yu Gothic UI"/>
              </a:rPr>
              <a:t>Go/No-Go判定と今後のロードマップ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777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9FF14"/>
                </a:solidFill>
                <a:latin typeface="Yu Gothic UI"/>
              </a:rPr>
              <a:t>限定デモGo、一般公開/有償ローンチNo-Go、T817優先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11247120" cy="18288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7315200" cy="3657600"/>
          </a:xfrm>
          <a:prstGeom prst="rect">
            <a:avLst/>
          </a:prstGeom>
          <a:solidFill>
            <a:srgbClr val="16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73152" cy="3657600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020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9FF14"/>
                </a:solidFill>
                <a:latin typeface="Consolas"/>
              </a:rPr>
              <a:t>KEY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28800"/>
            <a:ext cx="6858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9FF14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【判定】controlled_demo はGo。社長説明・限定デモ・管理下確認は継続可能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39FF14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【No-Go】public_paid_launch は法務、同意UI、Stripe、負荷テスト、営業メールAIマッチングMVP完了まで保留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39FF14"/>
                </a:solidFill>
                <a:latin typeface="Consolas"/>
              </a:rPr>
              <a:t>■ </a:t>
            </a:r>
            <a:r>
              <a:rPr sz="1400">
                <a:solidFill>
                  <a:srgbClr val="F1F5FF"/>
                </a:solidFill>
                <a:latin typeface="Yu Gothic UI"/>
              </a:rPr>
              <a:t>【最優先】毎日約1,000通の営業メールから案件要件を抽出し、Supabase DBとAIマッチングへつなぐT817を優先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463040"/>
            <a:ext cx="3749039" cy="3657600"/>
          </a:xfrm>
          <a:prstGeom prst="rect">
            <a:avLst/>
          </a:prstGeom>
          <a:solidFill>
            <a:srgbClr val="16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463040"/>
            <a:ext cx="73152" cy="3657600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600200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9FF14"/>
                </a:solidFill>
                <a:latin typeface="Consolas"/>
              </a:rPr>
              <a:t>EVIDENCE / REF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828800"/>
            <a:ext cx="33832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C5CAE0"/>
                </a:solidFill>
                <a:latin typeface="Consolas"/>
              </a:rPr>
              <a:t>WBSタスク: T746 / T817 / T817_1 / T804
data/release_go_no_go_criteria.tsv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577840"/>
            <a:ext cx="11247120" cy="685800"/>
          </a:xfrm>
          <a:prstGeom prst="rect">
            <a:avLst/>
          </a:prstGeom>
          <a:solidFill>
            <a:srgbClr val="161824"/>
          </a:solidFill>
          <a:ln w="19050">
            <a:solidFill>
              <a:srgbClr val="00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627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F0FF"/>
                </a:solidFill>
                <a:latin typeface="Consolas"/>
              </a:rPr>
              <a:t>▶ 打合せ合意・相談事項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7044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Yu Gothic UI"/>
              </a:rPr>
              <a:t>限定デモは継続し、一般公開はNo-Goのまま、営業メールAIマッチングを最優先に進めてよろしいでしょうか？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399"/>
                </a:solidFill>
                <a:latin typeface="Consolas"/>
              </a:rPr>
              <a:t>Mighty Skill-Bridge · 2026-06-17 CEO Regular Meeting Agenda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