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78df1a2097f4315" /><Relationship Type="http://schemas.openxmlformats.org/officeDocument/2006/relationships/extended-properties" Target="/docProps/app.xml" Id="R967ea338fed449ec" /><Relationship Type="http://schemas.openxmlformats.org/officeDocument/2006/relationships/officeDocument" Target="/ppt/presentation.xml" Id="R325edd7fb20149f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035bf116cef4352"/>
  </p:sldMasterIdLst>
  <p:notesMasterIdLst>
    <p:notesMasterId xmlns:r="http://schemas.openxmlformats.org/officeDocument/2006/relationships" r:id="R8a33a8bbe7e446ce"/>
  </p:notesMasterIdLst>
  <p:sldIdLst>
    <p:sldId xmlns:r="http://schemas.openxmlformats.org/officeDocument/2006/relationships" id="256" r:id="R1646d7b8b93c48fa"/>
    <p:sldId xmlns:r="http://schemas.openxmlformats.org/officeDocument/2006/relationships" id="257" r:id="R1e68ccca35f24134"/>
    <p:sldId xmlns:r="http://schemas.openxmlformats.org/officeDocument/2006/relationships" id="258" r:id="R089c629217ab4b02"/>
    <p:sldId xmlns:r="http://schemas.openxmlformats.org/officeDocument/2006/relationships" id="259" r:id="R841ce356df8e4b0d"/>
    <p:sldId xmlns:r="http://schemas.openxmlformats.org/officeDocument/2006/relationships" id="260" r:id="R20596ee5218a4f71"/>
    <p:sldId xmlns:r="http://schemas.openxmlformats.org/officeDocument/2006/relationships" id="261" r:id="R646cd1b6daae4671"/>
    <p:sldId xmlns:r="http://schemas.openxmlformats.org/officeDocument/2006/relationships" id="262" r:id="R6e9384e65b134eb6"/>
    <p:sldId xmlns:r="http://schemas.openxmlformats.org/officeDocument/2006/relationships" id="263" r:id="R4bdfe876c7924a85"/>
    <p:sldId xmlns:r="http://schemas.openxmlformats.org/officeDocument/2006/relationships" id="264" r:id="R80239cbd1d3846cb"/>
    <p:sldId xmlns:r="http://schemas.openxmlformats.org/officeDocument/2006/relationships" id="265" r:id="Rdc1fd859684a4eaa"/>
    <p:sldId xmlns:r="http://schemas.openxmlformats.org/officeDocument/2006/relationships" id="266" r:id="R917ecf6f3cc84652"/>
    <p:sldId xmlns:r="http://schemas.openxmlformats.org/officeDocument/2006/relationships" id="267" r:id="R19e16ae195e643a6"/>
    <p:sldId xmlns:r="http://schemas.openxmlformats.org/officeDocument/2006/relationships" id="268" r:id="R91745fa8d3164b17"/>
    <p:sldId xmlns:r="http://schemas.openxmlformats.org/officeDocument/2006/relationships" id="269" r:id="Rd256bac0a27c4a0d"/>
    <p:sldId xmlns:r="http://schemas.openxmlformats.org/officeDocument/2006/relationships" id="270" r:id="R246f933741374f6f"/>
    <p:sldId xmlns:r="http://schemas.openxmlformats.org/officeDocument/2006/relationships" id="271" r:id="R1f511811a31741ab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f80a16b3844c22" /><Relationship Type="http://schemas.openxmlformats.org/officeDocument/2006/relationships/slideMaster" Target="/ppt/slideMasters/slideMaster1.xml" Id="Rc035bf116cef4352" /><Relationship Type="http://schemas.openxmlformats.org/officeDocument/2006/relationships/notesMaster" Target="/ppt/notesMasters/notesMaster1.xml" Id="R8a33a8bbe7e446ce" /><Relationship Type="http://schemas.openxmlformats.org/officeDocument/2006/relationships/presProps" Target="/ppt/presProps.xml" Id="R105f979e264b41da" /><Relationship Type="http://schemas.openxmlformats.org/officeDocument/2006/relationships/viewProps" Target="/ppt/viewProps.xml" Id="R97fba1b83b5141a3" /><Relationship Type="http://schemas.openxmlformats.org/officeDocument/2006/relationships/tableStyles" Target="/ppt/tableStyles.xml" Id="R6606b49689cc48c7" /><Relationship Type="http://schemas.openxmlformats.org/officeDocument/2006/relationships/slide" Target="/ppt/slides/slide1.xml" Id="R1646d7b8b93c48fa" /><Relationship Type="http://schemas.openxmlformats.org/officeDocument/2006/relationships/slide" Target="/ppt/slides/slide2.xml" Id="R1e68ccca35f24134" /><Relationship Type="http://schemas.openxmlformats.org/officeDocument/2006/relationships/slide" Target="/ppt/slides/slide3.xml" Id="R089c629217ab4b02" /><Relationship Type="http://schemas.openxmlformats.org/officeDocument/2006/relationships/slide" Target="/ppt/slides/slide4.xml" Id="R841ce356df8e4b0d" /><Relationship Type="http://schemas.openxmlformats.org/officeDocument/2006/relationships/slide" Target="/ppt/slides/slide5.xml" Id="R20596ee5218a4f71" /><Relationship Type="http://schemas.openxmlformats.org/officeDocument/2006/relationships/slide" Target="/ppt/slides/slide6.xml" Id="R646cd1b6daae4671" /><Relationship Type="http://schemas.openxmlformats.org/officeDocument/2006/relationships/slide" Target="/ppt/slides/slide7.xml" Id="R6e9384e65b134eb6" /><Relationship Type="http://schemas.openxmlformats.org/officeDocument/2006/relationships/slide" Target="/ppt/slides/slide8.xml" Id="R4bdfe876c7924a85" /><Relationship Type="http://schemas.openxmlformats.org/officeDocument/2006/relationships/slide" Target="/ppt/slides/slide9.xml" Id="R80239cbd1d3846cb" /><Relationship Type="http://schemas.openxmlformats.org/officeDocument/2006/relationships/slide" Target="/ppt/slides/slide10.xml" Id="Rdc1fd859684a4eaa" /><Relationship Type="http://schemas.openxmlformats.org/officeDocument/2006/relationships/slide" Target="/ppt/slides/slide11.xml" Id="R917ecf6f3cc84652" /><Relationship Type="http://schemas.openxmlformats.org/officeDocument/2006/relationships/slide" Target="/ppt/slides/slide12.xml" Id="R19e16ae195e643a6" /><Relationship Type="http://schemas.openxmlformats.org/officeDocument/2006/relationships/slide" Target="/ppt/slides/slide13.xml" Id="R91745fa8d3164b17" /><Relationship Type="http://schemas.openxmlformats.org/officeDocument/2006/relationships/slide" Target="/ppt/slides/slide14.xml" Id="Rd256bac0a27c4a0d" /><Relationship Type="http://schemas.openxmlformats.org/officeDocument/2006/relationships/slide" Target="/ppt/slides/slide15.xml" Id="R246f933741374f6f" /><Relationship Type="http://schemas.openxmlformats.org/officeDocument/2006/relationships/slide" Target="/ppt/slides/slide16.xml" Id="R1f511811a31741a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0de1c680eb4f2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aedc1319cd14b35" /><Relationship Type="http://schemas.openxmlformats.org/officeDocument/2006/relationships/notesMaster" Target="/ppt/notesMasters/notesMaster1.xml" Id="Redfa2bc017494f3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09d4b2af874dc8" /><Relationship Type="http://schemas.openxmlformats.org/officeDocument/2006/relationships/notesMaster" Target="/ppt/notesMasters/notesMaster1.xml" Id="R53f02cd9e5a1421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509959e61124ab2" /><Relationship Type="http://schemas.openxmlformats.org/officeDocument/2006/relationships/notesMaster" Target="/ppt/notesMasters/notesMaster1.xml" Id="R239a81044acf434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ca9ced320f4abd" /><Relationship Type="http://schemas.openxmlformats.org/officeDocument/2006/relationships/notesMaster" Target="/ppt/notesMasters/notesMaster1.xml" Id="R36b06ed940b44f8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49914fdce774e99" /><Relationship Type="http://schemas.openxmlformats.org/officeDocument/2006/relationships/notesMaster" Target="/ppt/notesMasters/notesMaster1.xml" Id="Rbd18231b41a142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0ecca02014b452e" /><Relationship Type="http://schemas.openxmlformats.org/officeDocument/2006/relationships/notesMaster" Target="/ppt/notesMasters/notesMaster1.xml" Id="Rf16f2033b4e542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90ef42596543d0" /><Relationship Type="http://schemas.openxmlformats.org/officeDocument/2006/relationships/notesMaster" Target="/ppt/notesMasters/notesMaster1.xml" Id="R96cbf2a9e425437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1fca7b2d43b40f8" /><Relationship Type="http://schemas.openxmlformats.org/officeDocument/2006/relationships/notesMaster" Target="/ppt/notesMasters/notesMaster1.xml" Id="R9a39eaccd6e34d6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ec931e482124732" /><Relationship Type="http://schemas.openxmlformats.org/officeDocument/2006/relationships/notesMaster" Target="/ppt/notesMasters/notesMaster1.xml" Id="Rb5250a80c8234e9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0e3a51a63d8440a" /><Relationship Type="http://schemas.openxmlformats.org/officeDocument/2006/relationships/notesMaster" Target="/ppt/notesMasters/notesMaster1.xml" Id="R7b0eb86782da4bf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526cb474aca4fa2" /><Relationship Type="http://schemas.openxmlformats.org/officeDocument/2006/relationships/notesMaster" Target="/ppt/notesMasters/notesMaster1.xml" Id="R025cb10c22be406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d95511a7a584b09" /><Relationship Type="http://schemas.openxmlformats.org/officeDocument/2006/relationships/notesMaster" Target="/ppt/notesMasters/notesMaster1.xml" Id="R55e38587e103494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a93b8afc8ec4497" /><Relationship Type="http://schemas.openxmlformats.org/officeDocument/2006/relationships/notesMaster" Target="/ppt/notesMasters/notesMaster1.xml" Id="Rdbc032e00fa042e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216407240f94436" /><Relationship Type="http://schemas.openxmlformats.org/officeDocument/2006/relationships/notesMaster" Target="/ppt/notesMasters/notesMaster1.xml" Id="Ra7afa2d1f1ab457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075d166e3574777" /><Relationship Type="http://schemas.openxmlformats.org/officeDocument/2006/relationships/notesMaster" Target="/ppt/notesMasters/notesMaster1.xml" Id="R336c2b3d653e47a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be9ba3749cc43d0" /><Relationship Type="http://schemas.openxmlformats.org/officeDocument/2006/relationships/notesMaster" Target="/ppt/notesMasters/notesMaster1.xml" Id="Reaeb576b6d3142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 today we do not merely ask AI to build a site. We shape the work, discover reusable capability, verify external state, and publish only after a human gate.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https://antigravity.google/docs/artifacts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- https://antigravity.google/docs/mcp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each term in the role it plays in this demo.</a:t>
            </a:r>
          </a:p>
          <a:p xmlns:a="http://schemas.openxmlformats.org/drawingml/2006/main">
            <a:r>
              <a:t>Power is explicitly a training shorthand, not an independent official Antigravity setting.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https://antigravity.google/docs/artifacts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- https://antigravity.google/docs/mcp</a:t>
            </a:r>
          </a:p>
          <a:p xmlns:a="http://schemas.openxmlformats.org/drawingml/2006/main">
            <a:r>
              <a:t>- https://antigravity.google/docs/permissions?app=antigravity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Keep the 20-minute clock visible.</a:t>
            </a:r>
          </a:p>
          <a:p xmlns:a="http://schemas.openxmlformats.org/drawingml/2006/main">
            <a:r>
              <a:t>15-minute compressed version: grill 2 min, find 1 min, build 3 min, steer 4 min, MCP 1 min, publish and verify 4 min.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C:/Users/kanta/GitHub/mighty-link-ai-connect/docs/demo/antigravity_workshop/README.md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Confirm the dedicated repository boundary and synthetic-data marker before the live run.</a:t>
            </a:r>
          </a:p>
          <a:p xmlns:a="http://schemas.openxmlformats.org/drawingml/2006/main">
            <a:r>
              <a:t>MCP is optional; never start authentication on stage.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https://antigravity.google/docs/permissions?app=antigravity</a:t>
            </a:r>
          </a:p>
          <a:p xmlns:a="http://schemas.openxmlformats.org/drawingml/2006/main">
            <a:r>
              <a:t>- https://docs.github.com/en/pages/getting-started-with-github-pages/configuring-a-publishing-source-for-your-github-pages-site</a:t>
            </a:r>
          </a:p>
          <a:p xmlns:a="http://schemas.openxmlformats.org/drawingml/2006/main">
            <a:r>
              <a:t>- https://github.com/kanta13jp1/mighty-link-antigravity-live-demo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Point out Manager, Editor/Terminal, Browser, and the final public URL. These are the four evidence surfaces.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https://antigravity.google/docs/artifacts</a:t>
            </a:r>
          </a:p>
          <a:p xmlns:a="http://schemas.openxmlformats.org/drawingml/2006/main">
            <a:r>
              <a:t>- https://antigravity.google/docs/browser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Paste Prompt 0 without rewriting it on stage.</a:t>
            </a:r>
          </a:p>
          <a:p xmlns:a="http://schemas.openxmlformats.org/drawingml/2006/main">
            <a:r>
              <a:t>Answer the six questions briefly, then show the four-part summary.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C:/Users/kanta/GitHub/mighty-link-ai-connect/docs/demo/antigravity_workshop/PROMPT_00_GRILL_ME.txt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Skill is a reusable package centered on SKILL.md.</a:t>
            </a:r>
          </a:p>
          <a:p xmlns:a="http://schemas.openxmlformats.org/drawingml/2006/main">
            <a:r>
              <a:t>Antigravity discovers metadata first and loads the full instructions only when relevant.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https://antigravity.google/docs/skills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Paste Prompt 1. The goal is discovery and quality review, not installation.</a:t>
            </a:r>
          </a:p>
          <a:p xmlns:a="http://schemas.openxmlformats.org/drawingml/2006/main">
            <a:r>
              <a:t>If search is slow, switch to the verified result on the next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C:/Users/kanta/GitHub/mighty-link-ai-connect/docs/demo/antigravity_workshop/PROMPT_01_FIND_SKILLS.txt</a:t>
            </a:r>
          </a:p>
          <a:p xmlns:a="http://schemas.openxmlformats.org/drawingml/2006/main">
            <a:r>
              <a:t>- https://www.skills.sh/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visible numbers are a point-in-time check from 2026-08-08 and may change.</a:t>
            </a:r>
          </a:p>
          <a:p xmlns:a="http://schemas.openxmlformats.org/drawingml/2006/main">
            <a:r>
              <a:t>Explain that source reputation, adoption, and security audits are separate signals.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https://www.skills.sh/anthropics/skills/frontend-design</a:t>
            </a:r>
          </a:p>
          <a:p xmlns:a="http://schemas.openxmlformats.org/drawingml/2006/main">
            <a:r>
              <a:t>- https://github.com/anthropics/skills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Paste Prompt 2 and keep the first build intentionally static.</a:t>
            </a:r>
          </a:p>
          <a:p xmlns:a="http://schemas.openxmlformats.org/drawingml/2006/main">
            <a:r>
              <a:t>The visible restraint makes the next Steering change legible.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C:/Users/kanta/GitHub/mighty-link-ai-connect/docs/demo/antigravity_workshop/PROMPT_02_BUILD.txt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Steering is feedback on an artifact that changes the next direction of execution.</a:t>
            </a:r>
          </a:p>
          <a:p xmlns:a="http://schemas.openxmlformats.org/drawingml/2006/main">
            <a:r>
              <a:t>Point to the filter counts and two selected sessions in the browser proof.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https://antigravity.google/docs/artifacts</a:t>
            </a:r>
          </a:p>
          <a:p xmlns:a="http://schemas.openxmlformats.org/drawingml/2006/main">
            <a:r>
              <a:t>- C:/Users/kanta/GitHub/mighty-link-ai-connect/docs/demo/antigravity_workshop/PROMPT_03_STEER.txt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/mcp first. Read only repository, branch, commit, and Pages deployment state.</a:t>
            </a:r>
          </a:p>
          <a:p xmlns:a="http://schemas.openxmlformats.org/drawingml/2006/main">
            <a:r>
              <a:t>If disconnected, skip immediately and do not authenticate live.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https://antigravity.google/docs/mcp</a:t>
            </a:r>
          </a:p>
          <a:p xmlns:a="http://schemas.openxmlformats.org/drawingml/2006/main">
            <a:r>
              <a:t>- C:/Users/kanta/GitHub/mighty-link-ai-connect/docs/demo/antigravity_workshop/PROMPT_04_MCP_CHECK.txt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exact gate aloud: the agent must stop and ask whether it may publish.</a:t>
            </a:r>
          </a:p>
          <a:p xmlns:a="http://schemas.openxmlformats.org/drawingml/2006/main">
            <a:r>
              <a:t>Only the exact phrase 公開して releases add, commit, and push.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https://antigravity.google/docs/permissions?app=antigravity</a:t>
            </a:r>
          </a:p>
          <a:p xmlns:a="http://schemas.openxmlformats.org/drawingml/2006/main">
            <a:r>
              <a:t>- https://docs.github.com/en/pages/getting-started-with-github-pages/configuring-a-publishing-source-for-your-github-pages-site</a:t>
            </a:r>
          </a:p>
          <a:p xmlns:a="http://schemas.openxmlformats.org/drawingml/2006/main">
            <a:r>
              <a:t>- C:/Users/kanta/GitHub/mighty-link-ai-connect/docs/demo/antigravity_workshop/PROMPT_05_PUBLISH.txt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Success requires all three proof types: decisions, behavior, and a public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https://docs.github.com/en/pages/getting-started-with-github-pages/configuring-a-publishing-source-for-your-github-pages-site</a:t>
            </a:r>
          </a:p>
          <a:p xmlns:a="http://schemas.openxmlformats.org/drawingml/2006/main">
            <a:r>
              <a:t>- https://github.com/kanta13jp1/mighty-link-antigravity-live-demo</a:t>
            </a:r>
          </a:p>
          <a:p xmlns:a="http://schemas.openxmlformats.org/drawingml/2006/main">
            <a:r>
              <a:t>- https://kanta13jp1.github.io/mighty-link-antigravity-live-demo/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Switch after 90 seconds. Preserve the learning objective and do not debug production, authenticate MCP, or install skills on stage.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C:/Users/kanta/GitHub/mighty-link-ai-connect/docs/demo/antigravity_workshop/BACKUP_PROMPTS.txt</a:t>
            </a:r>
          </a:p>
          <a:p xmlns:a="http://schemas.openxmlformats.org/drawingml/2006/main">
            <a:r>
              <a:t>- https://kanta13jp1.github.io/mighty-link-antigravity-live-demo/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repeatable six-step pattern.</a:t>
            </a:r>
          </a:p>
          <a:p xmlns:a="http://schemas.openxmlformats.org/drawingml/2006/main">
            <a:r>
              <a:t>Power is the combined execution capability created by Steering, Skills, MCP, Browser, and permission boundaries.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https://antigravity.google/docs/artifacts</a:t>
            </a:r>
          </a:p>
          <a:p xmlns:a="http://schemas.openxmlformats.org/drawingml/2006/main">
            <a:r>
              <a:t>- https://antigravity.google/docs/skills</a:t>
            </a:r>
          </a:p>
          <a:p xmlns:a="http://schemas.openxmlformats.org/drawingml/2006/main">
            <a:r>
              <a:t>- https://antigravity.google/docs/mcp</a:t>
            </a:r>
          </a:p>
          <a:p xmlns:a="http://schemas.openxmlformats.org/drawingml/2006/main">
            <a:r>
              <a:t>- https://antigravity.google/docs/rules-workflows</a:t>
            </a:r>
          </a:p>
          <a:p xmlns:a="http://schemas.openxmlformats.org/drawingml/2006/main">
            <a:r>
              <a:t>- https://antigravity.google/docs/permissions?app=antigravity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28c112154046d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54033e07ed43b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dd9b8485b74a9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4202e608be4ea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5b685b616a485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79e8d4f8d84c2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31c202d13c44f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fb0a67bfe140f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f11b8c0a544f8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d1f81ecbd44b8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6a74fef22f48c5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F2005F-010D-4879-B4A5-2F0B4A35DFD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D43F7C2-4BC4-4DBA-B92A-FB2D13D2448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6581E8D-E9A6-4A51-ADCF-DF6DFF62E0B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7871991-FE0F-4ABE-84C8-8911307FADA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0965A2-6D0F-4FAF-8919-75625CFA2F7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0F782CA-06EF-4CAD-909B-8401A5FFB5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C62E98B-7F02-40BD-99BA-39B3D8CC51D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9C0CD4E-AC4D-4C04-B20B-AD95B8867C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4D7E4C9-C46C-4394-8E02-F0D72F3A28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A6E0D42-C926-4A0E-B4F7-999B8A3643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3E78E3-652E-4C8C-A507-07CA44CC76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B173EAC-50B5-46EB-960E-F2010C5D85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ACE1AFB-BAB3-4D6A-B547-7C77C046724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4A8E308-276F-458B-870A-C31A511F5B0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BDE78DC-79CD-4E91-A67D-BE6EF04D838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946986-8BF6-4B0E-A71C-78AF370D39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5419A9A-A270-4616-AF9B-0CFB74E8683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AEA15DB-4793-4205-91A7-DF75AABC2A6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9B073DE-C6F9-4B02-9A65-8C8FC5E2E1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1BE8C75-E191-49E7-9687-890EDB25E9D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77CCF35-17C3-4454-B5EA-0FA9C230E7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344304F-D9C3-481C-9D67-86194F8131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6BEA75B-9BDA-46B5-9614-839EA8DF037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6AD4F4D-55E7-4A3C-8D01-9C892F26C9E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A7C7741-BA5B-4BF1-BAAF-99DFADE5F1A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8DB9F93-81C9-4B4E-A498-6611C7B37FF3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BFAE4694-44A9-4DA2-8AD8-15AC6CE13DB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F73A481-9A72-4F09-AB44-4D87B172366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CAF4FE67-EA9F-4B70-A2F8-9E4F6CEEAC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1B7798-3BDD-4A69-9A32-460B68C606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A5A5020-D3DA-41C3-ACDB-3094F9888E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E9FB9D4-695C-4325-B531-A5B031502E1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AA37A3D-DCF0-400E-9CE9-6BAF3FDBDA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3C0E483-8CD9-4CCE-A073-4A9962126FC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5242A54-C18D-40BC-B529-3698392EAC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2183B91-11D1-4C8F-9505-96CE6A3B49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0D49209-3F08-46EB-87F5-C80A503C0EA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49364E4-58F2-4F1D-90E2-439B64F612F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0D6ADE0-65C3-4D7D-B8B2-8283E82BD32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529E67D-E0F9-4532-A321-E7FA2F6CF7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3ABC3D7-3C7C-4FC2-B322-FCAE24E681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081958D-8336-48FC-AE8D-6BFBA5CE45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4CBA31-A261-46D3-8835-90E5E781C23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3093C3F-8F84-45AF-8FCE-42D5CE103798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DC1B413-F42A-457B-BF70-9CF33C34BB0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A4E11C9-602C-4F1D-AD1B-6000B0C9F6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80E42CE-8D03-4612-8824-C718F54AF1E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5C55257-8FBE-46A0-B283-1E231A85CB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E46B00-003E-4C93-8834-B7C192BFF7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2027A45-44B5-49C6-AAED-2AD4835F32A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E5FA00D-AF57-4E30-A01B-4BB6D35A3D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6DD1F3F-9F5C-4E26-83A5-2DC1231588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CB604C7-AEB2-4B33-ABA1-AA8C924F43A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4DEE97CB-4B36-4674-BF60-47956ADBE5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C47F25F-95C5-48D2-80FF-66956370AB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E63C951-9C61-4725-B26A-0E352D2D5F2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71AE6A7-B888-4634-82B6-AF0855F6F1F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D38618E-65C1-4959-98B1-BB7A6FDD59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109a5bd37be4062" /><Relationship Type="http://schemas.openxmlformats.org/officeDocument/2006/relationships/slideLayout" Target="/ppt/slideLayouts/slideLayout1.xml" Id="Rd53936d962254447" /><Relationship Type="http://schemas.openxmlformats.org/officeDocument/2006/relationships/slideLayout" Target="/ppt/slideLayouts/slideLayout2.xml" Id="R324a9cc8ce2e4bb8" /><Relationship Type="http://schemas.openxmlformats.org/officeDocument/2006/relationships/slideLayout" Target="/ppt/slideLayouts/slideLayout3.xml" Id="R0543d63bf7a84b60" /><Relationship Type="http://schemas.openxmlformats.org/officeDocument/2006/relationships/slideLayout" Target="/ppt/slideLayouts/slideLayout4.xml" Id="Rd5bbd1900266451f" /><Relationship Type="http://schemas.openxmlformats.org/officeDocument/2006/relationships/slideLayout" Target="/ppt/slideLayouts/slideLayout5.xml" Id="R6b7e281267b0411e" /><Relationship Type="http://schemas.openxmlformats.org/officeDocument/2006/relationships/slideLayout" Target="/ppt/slideLayouts/slideLayout6.xml" Id="Rb67b7d6a2bf14991" /><Relationship Type="http://schemas.openxmlformats.org/officeDocument/2006/relationships/slideLayout" Target="/ppt/slideLayouts/slideLayout7.xml" Id="R6b9151d7e34e4385" /><Relationship Type="http://schemas.openxmlformats.org/officeDocument/2006/relationships/slideLayout" Target="/ppt/slideLayouts/slideLayout8.xml" Id="Rc5d16915e02f4bc2" /><Relationship Type="http://schemas.openxmlformats.org/officeDocument/2006/relationships/slideLayout" Target="/ppt/slideLayouts/slideLayout9.xml" Id="R4aec8805b6ae4df4" /><Relationship Type="http://schemas.openxmlformats.org/officeDocument/2006/relationships/slideLayout" Target="/ppt/slideLayouts/slideLayout10.xml" Id="R3055ebed4fb04e43" /><Relationship Type="http://schemas.openxmlformats.org/officeDocument/2006/relationships/slideLayout" Target="/ppt/slideLayouts/slideLayout11.xml" Id="R41c07a37176b460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A2A5C51-A346-4EA8-AF14-DAB2FC5720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BC0995A-002C-4095-ADCD-05161173E7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D102396-6D45-4188-8E9C-92B2EFE6FA4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169B75E-F3F2-45FE-9624-6DE8143DFB4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4A33AB-596F-4E82-BE63-F4D9C240D61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3936d962254447"/>
    <p:sldLayoutId xmlns:r="http://schemas.openxmlformats.org/officeDocument/2006/relationships" id="2147483650" r:id="R324a9cc8ce2e4bb8"/>
    <p:sldLayoutId xmlns:r="http://schemas.openxmlformats.org/officeDocument/2006/relationships" id="2147483651" r:id="R0543d63bf7a84b60"/>
    <p:sldLayoutId xmlns:r="http://schemas.openxmlformats.org/officeDocument/2006/relationships" id="2147483652" r:id="Rd5bbd1900266451f"/>
    <p:sldLayoutId xmlns:r="http://schemas.openxmlformats.org/officeDocument/2006/relationships" id="2147483653" r:id="R6b7e281267b0411e"/>
    <p:sldLayoutId xmlns:r="http://schemas.openxmlformats.org/officeDocument/2006/relationships" id="2147483654" r:id="Rb67b7d6a2bf14991"/>
    <p:sldLayoutId xmlns:r="http://schemas.openxmlformats.org/officeDocument/2006/relationships" id="2147483655" r:id="R6b9151d7e34e4385"/>
    <p:sldLayoutId xmlns:r="http://schemas.openxmlformats.org/officeDocument/2006/relationships" id="2147483656" r:id="Rc5d16915e02f4bc2"/>
    <p:sldLayoutId xmlns:r="http://schemas.openxmlformats.org/officeDocument/2006/relationships" id="2147483657" r:id="R4aec8805b6ae4df4"/>
    <p:sldLayoutId xmlns:r="http://schemas.openxmlformats.org/officeDocument/2006/relationships" id="2147483658" r:id="R3055ebed4fb04e43"/>
    <p:sldLayoutId xmlns:r="http://schemas.openxmlformats.org/officeDocument/2006/relationships" id="2147483659" r:id="R41c07a37176b460f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a364be1db5f4147" /><Relationship Type="http://schemas.openxmlformats.org/officeDocument/2006/relationships/image" Target="/ppt/media/image.png" Id="Rd587e96042f243f1" /><Relationship Type="http://schemas.openxmlformats.org/officeDocument/2006/relationships/image" Target="/ppt/media/image2.png" Id="R70c4f54392d24d96" /><Relationship Type="http://schemas.openxmlformats.org/officeDocument/2006/relationships/notesSlide" Target="/ppt/notesSlides/notesSlide1.xml" Id="Rcf657cf4d73849f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29fbc756ea433c" /><Relationship Type="http://schemas.openxmlformats.org/officeDocument/2006/relationships/notesSlide" Target="/ppt/notesSlides/notesSlide2.xml" Id="Re3b693c028544d0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d0532a3404341ce" /><Relationship Type="http://schemas.openxmlformats.org/officeDocument/2006/relationships/notesSlide" Target="/ppt/notesSlides/notesSlide3.xml" Id="Refe4783b0e844f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98e8c44a71a4a5b" /><Relationship Type="http://schemas.openxmlformats.org/officeDocument/2006/relationships/image" Target="/ppt/media/image.png" Id="Rdfcb5fd6b6de4777" /><Relationship Type="http://schemas.openxmlformats.org/officeDocument/2006/relationships/image" Target="/ppt/media/image3.png" Id="Rcd8f71a6005740fe" /><Relationship Type="http://schemas.openxmlformats.org/officeDocument/2006/relationships/notesSlide" Target="/ppt/notesSlides/notesSlide4.xml" Id="Rad23d93591354f6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4250e513d5c467c" /><Relationship Type="http://schemas.openxmlformats.org/officeDocument/2006/relationships/image" Target="/ppt/media/image.png" Id="Rec8a63a5df734054" /><Relationship Type="http://schemas.openxmlformats.org/officeDocument/2006/relationships/image" Target="/ppt/media/image4.png" Id="Rb2d0d0389bd34cc5" /><Relationship Type="http://schemas.openxmlformats.org/officeDocument/2006/relationships/notesSlide" Target="/ppt/notesSlides/notesSlide5.xml" Id="R5bb4c7329af94c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2766721526444aa" /><Relationship Type="http://schemas.openxmlformats.org/officeDocument/2006/relationships/image" Target="/ppt/media/image5.png" Id="R546bcbacfbeb4ca4" /><Relationship Type="http://schemas.openxmlformats.org/officeDocument/2006/relationships/notesSlide" Target="/ppt/notesSlides/notesSlide6.xml" Id="R58ab4032d58d4dc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916d180dc8a4245" /><Relationship Type="http://schemas.openxmlformats.org/officeDocument/2006/relationships/notesSlide" Target="/ppt/notesSlides/notesSlide7.xml" Id="R035edd7665494f7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3c42af79bf241e1" /><Relationship Type="http://schemas.openxmlformats.org/officeDocument/2006/relationships/image" Target="/ppt/media/image5.png" Id="R2a23d32a666942cb" /><Relationship Type="http://schemas.openxmlformats.org/officeDocument/2006/relationships/notesSlide" Target="/ppt/notesSlides/notesSlide8.xml" Id="Rb6438594b500465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f7d68a1c1448e2" /><Relationship Type="http://schemas.openxmlformats.org/officeDocument/2006/relationships/image" Target="/ppt/media/image.png" Id="R9b386c94c89949b2" /><Relationship Type="http://schemas.openxmlformats.org/officeDocument/2006/relationships/image" Target="/ppt/media/image6.png" Id="R6c0d6842c28e4a15" /><Relationship Type="http://schemas.openxmlformats.org/officeDocument/2006/relationships/image" Target="/ppt/media/image7.png" Id="R6a3055d3cfe54e9f" /><Relationship Type="http://schemas.openxmlformats.org/officeDocument/2006/relationships/notesSlide" Target="/ppt/notesSlides/notesSlide9.xml" Id="Rc065857191ef481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40453e9cd14445e" /><Relationship Type="http://schemas.openxmlformats.org/officeDocument/2006/relationships/image" Target="/ppt/media/image5.png" Id="Rf4e4c548bcee4d46" /><Relationship Type="http://schemas.openxmlformats.org/officeDocument/2006/relationships/notesSlide" Target="/ppt/notesSlides/notesSlide10.xml" Id="R93ad1907e7ab4f6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5e1ec2bafa44fd2" /><Relationship Type="http://schemas.openxmlformats.org/officeDocument/2006/relationships/image" Target="/ppt/media/image.png" Id="Rf9ca8fcf2e7c4563" /><Relationship Type="http://schemas.openxmlformats.org/officeDocument/2006/relationships/image" Target="/ppt/media/image6.png" Id="R923183a618624867" /><Relationship Type="http://schemas.openxmlformats.org/officeDocument/2006/relationships/notesSlide" Target="/ppt/notesSlides/notesSlide11.xml" Id="R9f0a6d40285d4d5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27a8d0cb4b04a73" /><Relationship Type="http://schemas.openxmlformats.org/officeDocument/2006/relationships/image" Target="/ppt/media/image5.png" Id="R6470770c85a24789" /><Relationship Type="http://schemas.openxmlformats.org/officeDocument/2006/relationships/notesSlide" Target="/ppt/notesSlides/notesSlide12.xml" Id="Rb1c9fd05ca914a7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70526c8062e4068" /><Relationship Type="http://schemas.openxmlformats.org/officeDocument/2006/relationships/image" Target="/ppt/media/image5.png" Id="Reb4eaad112be4e77" /><Relationship Type="http://schemas.openxmlformats.org/officeDocument/2006/relationships/image" Target="/ppt/media/image8.png" Id="R140084b389c14440" /><Relationship Type="http://schemas.openxmlformats.org/officeDocument/2006/relationships/notesSlide" Target="/ppt/notesSlides/notesSlide13.xml" Id="Rbfc36ec9332343a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34044bd197644c0" /><Relationship Type="http://schemas.openxmlformats.org/officeDocument/2006/relationships/notesSlide" Target="/ppt/notesSlides/notesSlide14.xml" Id="R9e139324ee78426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3a69968445c45d8" /><Relationship Type="http://schemas.openxmlformats.org/officeDocument/2006/relationships/notesSlide" Target="/ppt/notesSlides/notesSlide15.xml" Id="R22b39689270b4c0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e6f7b316fa44811" /><Relationship Type="http://schemas.openxmlformats.org/officeDocument/2006/relationships/notesSlide" Target="/ppt/notesSlides/notesSlide16.xml" Id="R4bda473583f44ca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451BB22-5A9D-498B-B4A7-832312C6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450AFC5-3358-459D-BAE9-3CD63253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B33D43-0D18-404E-A4B5-426E0E37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9D38E9-F2F1-4C60-B862-159212F7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77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ANTIGRAVITY LIVE DEMO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9DBFE0E-4D5A-40D9-86E0-B5A15118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57300"/>
            <a:ext cx="5334000" cy="2331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84000"/>
              </a:lnSpc>
              <a:buNone/>
              <a:defRPr sz="4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4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考えて、探して、作り、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4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4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公開する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0349D2D-B546-4350-A909-C9C9385D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5334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9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9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Steering・Skills・MCPを、1本のWebデモで体感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D8F1CF6-78B1-4776-843B-6F1DEA0B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338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500" b="1">
                <a:solidFill>
                  <a:srgbClr val="4A5F68"/>
                </a:solidFill>
                <a:latin typeface="Yu Gothic UI"/>
                <a:ea typeface="Yu Gothic UI"/>
                <a:cs typeface="Yu Gothic UI"/>
              </a:defRPr>
            </a:pPr>
            <a:r>
              <a:rPr sz="1500" b="1">
                <a:solidFill>
                  <a:srgbClr val="4A5F68"/>
                </a:solidFill>
                <a:latin typeface="Yu Gothic UI"/>
                <a:ea typeface="Yu Gothic UI"/>
                <a:cs typeface="Yu Gothic UI"/>
              </a:rPr>
              <a:t>具体プロンプト6本 + 公開URLで、AIの実行力を確かめる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4EFCE2C-0A87-417F-8CF7-76A7F464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38700"/>
            <a:ext cx="4000500" cy="5524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8F6FC"/>
          </a:solidFill>
          <a:ln xmlns:a="http://schemas.openxmlformats.org/drawingml/2006/main" w="14288">
            <a:solidFill>
              <a:srgbClr val="00A5E3"/>
            </a:solidFill>
            <a:prstDash val="solid"/>
          </a:ln>
        </p:spPr>
        <p:txBody>
          <a:bodyPr xmlns:a="http://schemas.openxmlformats.org/drawingml/2006/main" wrap="square" lIns="171450" tIns="95250" rIns="171450" bIns="952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20分ライブデモ  |  15分短縮版あり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1CE107E-C71F-4DFD-AE39-41627BF7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1">
                <a:solidFill>
                  <a:srgbClr val="EF7E00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1">
                <a:solidFill>
                  <a:srgbClr val="EF7E00"/>
                </a:solidFill>
                <a:latin typeface="Yu Gothic UI"/>
                <a:ea typeface="Yu Gothic UI"/>
                <a:cs typeface="Yu Gothic UI"/>
              </a:rPr>
              <a:t>2026.08.26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04AEAD-D46C-4152-AC73-6BCBC81A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24575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350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株式会社MightyLINK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06581E5-1AB2-4BBA-A1CF-E374F14A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14350"/>
            <a:ext cx="5238750" cy="5829300"/>
          </a:xfrm>
          <a:prstGeom xmlns:a="http://schemas.openxmlformats.org/drawingml/2006/main" prst="roundRect">
            <a:avLst>
              <a:gd name="adj" fmla="val 1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D8E1"/>
            </a:solidFill>
            <a:prstDash val="solid"/>
          </a:ln>
        </p:spPr>
        <p:txBody>
          <a:bodyPr xmlns:a="http://schemas.openxmlformats.org/drawingml/2006/main" wrap="square" lIns="152400" tIns="95250" rIns="1524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GOOGLE ANTIGRAVITY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A9FB01C-28CD-4D29-B9D7-FDFC7F4D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pic>
        <p:nvPicPr>
          <p:cNvPr id="28" name="Pictur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87e96042f243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c4f54392d24d96"/>
          <a:stretch xmlns:a="http://schemas.openxmlformats.org/drawingml/2006/main"/>
        </p:blipFill>
        <p:spPr>
          <a:xfrm xmlns:a="http://schemas.openxmlformats.org/drawingml/2006/main">
            <a:off x="6400800" y="2714125"/>
            <a:ext cx="4933950" cy="1467850"/>
          </a:xfrm>
          <a:prstGeom xmlns:a="http://schemas.openxmlformats.org/drawingml/2006/main" prst="roundRect">
            <a:avLst>
              <a:gd name="adj" fmla="val 1158"/>
            </a:avLst>
          </a:prstGeom>
        </p:spPr>
      </p:pic>
    </p:spTree>
    <p:extLst>
      <p:ext uri="{BB962C8B-B14F-4D97-AF65-F5344CB8AC3E}">
        <p14:creationId xmlns:p14="http://schemas.microsoft.com/office/powerpoint/2010/main" val="16403578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8/26 社内AI研修  |  FOUR CONCEPTS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まず4つの言葉を、デモ内の役割で理解します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研修デモ改善版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02 / 16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D3C0645-73FE-40C9-80F2-6C167D04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6705600" cy="4133850"/>
          </a:xfrm>
          <a:prstGeom xmlns:a="http://schemas.openxmlformats.org/drawingml/2006/main" prst="roundRect">
            <a:avLst>
              <a:gd name="adj" fmla="val 13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0955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5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25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STEERING + SKILLS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2010C74-2549-4CE1-89F7-93F67480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8184E41-1B43-48F8-BD28-629AE0D4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6096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63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63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STEERING</a:t>
            </a:r>
          </a:p>
          <a:p xmlns:a="http://schemas.openxmlformats.org/drawingml/2006/main">
            <a:pPr algn="l">
              <a:buNone/>
              <a:defRPr sz="1463">
                <a:solidFill>
                  <a:srgbClr val="17242B"/>
                </a:solidFill>
              </a:defRPr>
            </a:pPr>
            <a:r>
              <a:rPr sz="1463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人がArtifactへフィードバックし、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63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63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次の実行方向を修正する操作。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63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63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SKILLS</a:t>
            </a:r>
          </a:p>
          <a:p xmlns:a="http://schemas.openxmlformats.org/drawingml/2006/main">
            <a:pPr algn="l">
              <a:buNone/>
              <a:defRPr sz="1463">
                <a:solidFill>
                  <a:srgbClr val="17242B"/>
                </a:solidFill>
              </a:defRPr>
            </a:pPr>
            <a:r>
              <a:rPr sz="1463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SKILL.mdに手順・知識・資材をまとめた、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63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63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必要時に読み込む再利用パッケージ。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4720681-B5F3-47F9-A4B1-4D082BE9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3924300" cy="4133850"/>
          </a:xfrm>
          <a:prstGeom xmlns:a="http://schemas.openxmlformats.org/drawingml/2006/main" prst="roundRect">
            <a:avLst>
              <a:gd name="adj" fmla="val 1456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04800" tIns="228600" rIns="3048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MCP + POWER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8F10C31-4072-4798-BA22-4F7AB26A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077B6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0FFF4D2-BD6E-49A6-839C-AC42D72A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67000"/>
            <a:ext cx="3314700" cy="2583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MCP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AIと外部ツールやデータをつなぐ標準。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今回はGitHubを読み取り専用で確認。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buNone/>
              <a:defRPr sz="1388">
                <a:solidFill>
                  <a:srgbClr val="E8F4F7"/>
                </a:solidFill>
              </a:defRPr>
            </a:pPr>
            <a:r>
              <a:rPr sz="138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POWER（研修上の呼称）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Steering + Skills + MCP + Browser + 権限を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組み合わせた実行力。公式の独立機能名ではない。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8/26 社内AI研修  |  RUN OF SHOW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20分で、問い直す → 探す → 作る → 直す → 確認 → 公開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研修デモ改善版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03 / 16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D3C0645-73FE-40C9-80F2-6C167D04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6705600" cy="4133850"/>
          </a:xfrm>
          <a:prstGeom xmlns:a="http://schemas.openxmlformats.org/drawingml/2006/main" prst="roundRect">
            <a:avLst>
              <a:gd name="adj" fmla="val 13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0955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5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25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00:00 → 20:00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2010C74-2549-4CE1-89F7-93F67480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8184E41-1B43-48F8-BD28-629AE0D4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6096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5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00-03  /grill-me　要件と停止条件を決める</a:t>
            </a:r>
          </a:p>
          <a:p xmlns:a="http://schemas.openxmlformats.org/drawingml/2006/main">
            <a:pPr algn="l">
              <a:buNone/>
              <a:defRPr sz="1575">
                <a:solidFill>
                  <a:srgbClr val="17242B"/>
                </a:solidFill>
              </a:defRPr>
            </a:pPr>
            <a:r>
              <a:rPr sz="15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03-05  /find-skills　使えるSkillを探索する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5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05-09  BUILD　1ページサイトを作る</a:t>
            </a:r>
          </a:p>
          <a:p xmlns:a="http://schemas.openxmlformats.org/drawingml/2006/main">
            <a:pPr algn="l">
              <a:buNone/>
              <a:defRPr sz="1575">
                <a:solidFill>
                  <a:srgbClr val="17242B"/>
                </a:solidFill>
              </a:defRPr>
            </a:pPr>
            <a:r>
              <a:rPr sz="15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09-13  STEER　機能とデザインを改善する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5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5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13-15  MCP CHECK　公開先を読み取り確認</a:t>
            </a:r>
          </a:p>
          <a:p xmlns:a="http://schemas.openxmlformats.org/drawingml/2006/main">
            <a:pPr algn="l">
              <a:buNone/>
              <a:defRPr sz="1575">
                <a:solidFill>
                  <a:srgbClr val="17242B"/>
                </a:solidFill>
              </a:defRPr>
            </a:pPr>
            <a:r>
              <a:rPr sz="15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15-20  PUBLISH　人の承認後にPages公開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4720681-B5F3-47F9-A4B1-4D082BE9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3924300" cy="4133850"/>
          </a:xfrm>
          <a:prstGeom xmlns:a="http://schemas.openxmlformats.org/drawingml/2006/main" prst="roundRect">
            <a:avLst>
              <a:gd name="adj" fmla="val 1456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04800" tIns="228600" rIns="3048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観客が見る証拠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8F10C31-4072-4798-BA22-4F7AB26A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077B6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0FFF4D2-BD6E-49A6-839C-AC42D72A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67000"/>
            <a:ext cx="3314700" cy="2583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1  判断が言語化される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2  Skillの品質を比較できる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3  画面が段階的に変わる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4  公開前に人が止められる</a:t>
            </a:r>
          </a:p>
          <a:p xmlns:a="http://schemas.openxmlformats.org/drawingml/2006/main">
            <a:pPr algn="l">
              <a:buNone/>
              <a:defRPr sz="1650">
                <a:solidFill>
                  <a:srgbClr val="E8F4F7"/>
                </a:solidFill>
              </a:defRPr>
            </a:pPr>
            <a:r>
              <a:rPr sz="16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5  HTTPS URLで結果を確認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451BB22-5A9D-498B-B4A7-832312C6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450AFC5-3358-459D-BAE9-3CD63253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B33D43-0D18-404E-A4B5-426E0E37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9D38E9-F2F1-4C60-B862-159212F7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8/26 社内AI研修  |  PRE-FLIGHT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9DBFE0E-4D5A-40D9-86E0-B5A15118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本番環境と認証を触らない境界を、開始前に固定します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0349D2D-B546-4350-A909-C9C9385D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D8F1CF6-78B1-4776-843B-6F1DEA0B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研修デモ改善版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4EFCE2C-0A87-417F-8CF7-76A7F464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04 / 16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1CE107E-C71F-4DFD-AE39-41627BF7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521970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0955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開始前チェック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04AEAD-D46C-4152-AC73-6BCBC81A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06581E5-1AB2-4BBA-A1CF-E374F14A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468630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01  Antigravityへログイン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02  /grill-me と /find-skills を確認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03  GitHub CLIは kanta13jp1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04  専用Pages repoだけを開く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05  SITE_BRIEFは SYNTHETIC_DATA_ONLY</a:t>
            </a:r>
          </a:p>
          <a:p xmlns:a="http://schemas.openxmlformats.org/drawingml/2006/main">
            <a:pPr algn="l">
              <a:buNone/>
              <a:defRPr sz="1425">
                <a:solidFill>
                  <a:srgbClr val="17242B"/>
                </a:solidFill>
              </a:defRPr>
            </a:pPr>
            <a:r>
              <a:rPr sz="14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06  MCPは任意・読み取り専用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4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python scripts/run_antigravity_live_demo.py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A9FB01C-28CD-4D29-B9D7-FDFC7F4D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76400"/>
            <a:ext cx="537210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11430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200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DEDICATED DEMO REPOSITORY</a:t>
            </a:r>
          </a:p>
        </p:txBody>
      </p:sp>
      <p:pic>
        <p:nvPicPr>
          <p:cNvPr id="28" name="Pictur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cb5fd6b6de47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8f71a6005740fe"/>
          <a:stretch xmlns:a="http://schemas.openxmlformats.org/drawingml/2006/main"/>
        </p:blipFill>
        <p:spPr>
          <a:xfrm xmlns:a="http://schemas.openxmlformats.org/drawingml/2006/main">
            <a:off x="6438900" y="2812338"/>
            <a:ext cx="4838700" cy="1728624"/>
          </a:xfrm>
          <a:prstGeom xmlns:a="http://schemas.openxmlformats.org/drawingml/2006/main" prst="roundRect">
            <a:avLst>
              <a:gd name="adj" fmla="val 1863"/>
            </a:avLst>
          </a:prstGeom>
        </p:spPr>
      </p:pic>
    </p:spTree>
    <p:extLst>
      <p:ext uri="{BB962C8B-B14F-4D97-AF65-F5344CB8AC3E}">
        <p14:creationId xmlns:p14="http://schemas.microsoft.com/office/powerpoint/2010/main" val="16403578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451BB22-5A9D-498B-B4A7-832312C6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450AFC5-3358-459D-BAE9-3CD63253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B33D43-0D18-404E-A4B5-426E0E37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9D38E9-F2F1-4C60-B862-159212F7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8/26 社内AI研修  |  PRODUCT ORIENTATION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9DBFE0E-4D5A-40D9-86E0-B5A15118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見る場所は4つ。指示、差分、動作、公開結果です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0349D2D-B546-4350-A909-C9C9385D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D8F1CF6-78B1-4776-843B-6F1DEA0B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研修デモ改善版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4EFCE2C-0A87-417F-8CF7-76A7F464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05 / 16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1CE107E-C71F-4DFD-AE39-41627BF7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4000500" cy="4114800"/>
          </a:xfrm>
          <a:prstGeom xmlns:a="http://schemas.openxmlformats.org/drawingml/2006/main" prst="roundRect">
            <a:avLst>
              <a:gd name="adj" fmla="val 1429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0955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画面の見取り図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04AEAD-D46C-4152-AC73-6BCBC81A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06581E5-1AB2-4BBA-A1CF-E374F14A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67000"/>
            <a:ext cx="33718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1  Manager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   指示・Plan・進行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2  Editor / Terminal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   ファイル差分・検証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3  Browser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   ローカル動作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9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4  GitHub Pages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   公開URL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A9FB01C-28CD-4D29-B9D7-FDFC7F4D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485900"/>
            <a:ext cx="6591300" cy="4495800"/>
          </a:xfrm>
          <a:prstGeom xmlns:a="http://schemas.openxmlformats.org/drawingml/2006/main" prst="roundRect">
            <a:avLst>
              <a:gd name="adj" fmla="val 12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09550" tIns="95250" rIns="20955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200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MANAGER + EDITOR + BROWSER + PUBLIC URL</a:t>
            </a:r>
          </a:p>
        </p:txBody>
      </p:sp>
      <p:pic>
        <p:nvPicPr>
          <p:cNvPr id="28" name="Pictur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8a63a5df7340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d0d0389bd34cc5"/>
          <a:stretch xmlns:a="http://schemas.openxmlformats.org/drawingml/2006/main"/>
        </p:blipFill>
        <p:spPr>
          <a:xfrm xmlns:a="http://schemas.openxmlformats.org/drawingml/2006/main">
            <a:off x="5162550" y="1980226"/>
            <a:ext cx="6172200" cy="3678597"/>
          </a:xfrm>
          <a:prstGeom xmlns:a="http://schemas.openxmlformats.org/drawingml/2006/main" prst="roundRect">
            <a:avLst>
              <a:gd name="adj" fmla="val 1463"/>
            </a:avLst>
          </a:prstGeom>
        </p:spPr>
      </p:pic>
    </p:spTree>
    <p:extLst>
      <p:ext uri="{BB962C8B-B14F-4D97-AF65-F5344CB8AC3E}">
        <p14:creationId xmlns:p14="http://schemas.microsoft.com/office/powerpoint/2010/main" val="16403578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6CB7AC-4C6A-43D1-8390-0A355819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193663-A5EE-4C50-94F5-4F317F6D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DC7B91-A4F8-4EEE-9490-FDC9A653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7450A9-414D-4210-87BB-7FE8EEC9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PROMPT 0  |  /GRILL-ME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DBBD43-6CDB-4AC1-BEC7-284DB281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実装前に、要件・除外・停止条件・成功条件を言葉にします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2BEFB2F-03FA-46F9-ADA8-740B6910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C85336-3532-402D-986C-B0A621CB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研修デモ改善版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913A3C-B665-4346-A3A4-77AE8A2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06 / 16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492DE15-A1C1-4307-BD18-5C0D11C4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4381500"/>
          </a:xfrm>
          <a:prstGeom xmlns:a="http://schemas.openxmlformats.org/drawingml/2006/main" prst="roundRect">
            <a:avLst>
              <a:gd name="adj" fmla="val 1304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47650" tIns="209550" rIns="24765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PASTE EXACTLY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794E228-76DA-4473-85C1-4C12D945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180975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650" b="1">
                <a:solidFill>
                  <a:srgbClr val="071A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071A2B"/>
                </a:solidFill>
                <a:latin typeface="Yu Gothic UI"/>
                <a:ea typeface="Yu Gothic UI"/>
                <a:cs typeface="Yu Gothic UI"/>
              </a:rPr>
              <a:t>/grill-me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0A47CA3-42F3-4FE6-B0AB-EADCDB5D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B4A705D-A35B-46ED-8CB9-A161D5A3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0401300" cy="3105150"/>
          </a:xfrm>
          <a:prstGeom xmlns:a="http://schemas.openxmlformats.org/drawingml/2006/main" prst="roundRect">
            <a:avLst>
              <a:gd name="adj" fmla="val 1840"/>
            </a:avLst>
          </a:prstGeom>
          <a:solidFill xmlns:a="http://schemas.openxmlformats.org/drawingml/2006/main">
            <a:srgbClr val="10283A"/>
          </a:solidFill>
          <a:ln xmlns:a="http://schemas.openxmlformats.org/drawingml/2006/main" w="9525">
            <a:solidFill>
              <a:srgbClr val="36546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47650" tIns="228600" rIns="247650" bIns="1714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/grill-me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8/26社内AI研修で作る「MightyLINK AI Workshop Demo」の要件を、実装前に厳しく詰めてください。観客はWeb開発未経験者、データは公開可能な合成データ、専用GitHub Pagesリポジトリのみ、20分以内です。</a:t>
            </a:r>
          </a:p>
          <a:p xmlns:a="http://schemas.openxmlformats.org/drawingml/2006/main">
            <a:pPr algn="ctr">
              <a:buNone/>
            </a:pPr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次の6点を1問ずつ質問し、私の回答を待ってください。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1. 誰が見るか  2. 何を判断するか  3. 必須情報と機能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4. 今回やらないこと  5. 公開可能な情報の境界  6. 成功条件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最後に「決定事項 / 除外 / 停止条件 / 成功条件」を要約してください。この段階ではファイル変更・コマンド実行・外部通信をしないでください。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FC3497B-E8DC-46EE-BFEF-FD53ECFE2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>
                <a:solidFill>
                  <a:srgbClr val="0F172A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CCA626B-312F-4B39-82B3-1DA1069B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1040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6D5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AFC6D5"/>
                </a:solidFill>
                <a:latin typeface="Yu Gothic UI"/>
                <a:ea typeface="Yu Gothic UI"/>
                <a:cs typeface="Yu Gothic UI"/>
              </a:rPr>
              <a:t>正本: docs/demo/antigravity_workshop/PROMPT_00_GRILL_ME.txt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908B09F-9874-4840-9F18-C5C4A005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pic>
        <p:nvPicPr>
          <p:cNvPr id="33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6bcbacfbeb4c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290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/GRILL-ME  |  WHY A SKILL?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Skillは、会話のたびに説明し直さないための再利用可能な仕事の型です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研修デモ改善版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07 / 16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D3C0645-73FE-40C9-80F2-6C167D04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6705600" cy="4133850"/>
          </a:xfrm>
          <a:prstGeom xmlns:a="http://schemas.openxmlformats.org/drawingml/2006/main" prst="roundRect">
            <a:avLst>
              <a:gd name="adj" fmla="val 13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0955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5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25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/grill-me の役割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2010C74-2549-4CE1-89F7-93F67480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8184E41-1B43-48F8-BD28-629AE0D4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52700"/>
            <a:ext cx="60960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6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曖昧な依頼に質問を重ね、</a:t>
            </a:r>
          </a:p>
          <a:p xmlns:a="http://schemas.openxmlformats.org/drawingml/2006/main">
            <a:pPr algn="l">
              <a:buNone/>
              <a:defRPr sz="1650">
                <a:solidFill>
                  <a:srgbClr val="17242B"/>
                </a:solidFill>
              </a:defRPr>
            </a:pPr>
            <a:r>
              <a:rPr sz="16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実装前に意思決定を固定します。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87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buNone/>
              <a:defRPr sz="1650">
                <a:solidFill>
                  <a:srgbClr val="17242B"/>
                </a:solidFill>
              </a:defRPr>
            </a:pPr>
            <a:r>
              <a:rPr sz="16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このデモで固定すること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6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・観客: Web開発未経験者</a:t>
            </a:r>
          </a:p>
          <a:p xmlns:a="http://schemas.openxmlformats.org/drawingml/2006/main">
            <a:pPr algn="l">
              <a:buNone/>
              <a:defRPr sz="1650">
                <a:solidFill>
                  <a:srgbClr val="17242B"/>
                </a:solidFill>
              </a:defRPr>
            </a:pPr>
            <a:r>
              <a:rPr sz="16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・データ: 合成データのみ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6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・公開先: 専用Pages repoのみ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6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・停止: remote不一致 / secret検出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6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・成功: 画面 + HTTPS URL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4720681-B5F3-47F9-A4B1-4D082BE9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3924300" cy="4133850"/>
          </a:xfrm>
          <a:prstGeom xmlns:a="http://schemas.openxmlformats.org/drawingml/2006/main" prst="roundRect">
            <a:avLst>
              <a:gd name="adj" fmla="val 1456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04800" tIns="228600" rIns="3048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SKILL.MD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8F10C31-4072-4798-BA22-4F7AB26A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077B6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0FFF4D2-BD6E-49A6-839C-AC42D72A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667000"/>
            <a:ext cx="3314700" cy="2583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名前と説明だけを先に発見し、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必要になったときだけ本文を読む。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これを progressive disclosure と呼び、</a:t>
            </a:r>
          </a:p>
          <a:p xmlns:a="http://schemas.openxmlformats.org/drawingml/2006/main">
            <a:pPr algn="l">
              <a:buNone/>
              <a:defRPr sz="1650">
                <a:solidFill>
                  <a:srgbClr val="E8F4F7"/>
                </a:solidFill>
              </a:defRPr>
            </a:pPr>
            <a:r>
              <a:rPr sz="165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文脈を増やしすぎず専門手順を使える。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1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/grill-me は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1650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「実装の前に考える」Skill。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6CB7AC-4C6A-43D1-8390-0A355819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193663-A5EE-4C50-94F5-4F317F6D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DC7B91-A4F8-4EEE-9490-FDC9A653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7450A9-414D-4210-87BB-7FE8EEC9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PROMPT 1  |  /FIND-SKILLS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DBBD43-6CDB-4AC1-BEC7-284DB281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実装を始める前に、使えるSkillと信頼できる根拠を探します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2BEFB2F-03FA-46F9-ADA8-740B6910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C85336-3532-402D-986C-B0A621CB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研修デモ改善版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913A3C-B665-4346-A3A4-77AE8A2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08 / 16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492DE15-A1C1-4307-BD18-5C0D11C4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4381500"/>
          </a:xfrm>
          <a:prstGeom xmlns:a="http://schemas.openxmlformats.org/drawingml/2006/main" prst="roundRect">
            <a:avLst>
              <a:gd name="adj" fmla="val 1304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47650" tIns="209550" rIns="24765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PASTE EXACTLY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794E228-76DA-4473-85C1-4C12D945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180975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650" b="1">
                <a:solidFill>
                  <a:srgbClr val="071A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071A2B"/>
                </a:solidFill>
                <a:latin typeface="Yu Gothic UI"/>
                <a:ea typeface="Yu Gothic UI"/>
                <a:cs typeface="Yu Gothic UI"/>
              </a:rPr>
              <a:t>/find-skills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0A47CA3-42F3-4FE6-B0AB-EADCDB5D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B4A705D-A35B-46ED-8CB9-A161D5A3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0401300" cy="3105150"/>
          </a:xfrm>
          <a:prstGeom xmlns:a="http://schemas.openxmlformats.org/drawingml/2006/main" prst="roundRect">
            <a:avLst>
              <a:gd name="adj" fmla="val 1840"/>
            </a:avLst>
          </a:prstGeom>
          <a:solidFill xmlns:a="http://schemas.openxmlformats.org/drawingml/2006/main">
            <a:srgbClr val="10283A"/>
          </a:solidFill>
          <a:ln xmlns:a="http://schemas.openxmlformats.org/drawingml/2006/main" w="9525">
            <a:solidFill>
              <a:srgbClr val="36546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47650" tIns="228600" rIns="247650" bIns="1714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/find-skills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研修用1ページWebサイトのUI品質とアクセシビリティ改善に使えるAgent Skillを探してください。検索語は「frontend design」「web accessibility」「GitHub Pages deployment」です。候補を3件までに絞り、次を表で比較してください。</a:t>
            </a:r>
          </a:p>
          <a:p xmlns:a="http://schemas.openxmlformats.org/drawingml/2006/main">
            <a:pPr algn="ctr">
              <a:buNone/>
            </a:pPr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・Skill名と用途  ・インストール数  ・公開元とGitHub stars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・セキュリティ監査  ・インストールコマンド  ・skills.sh URL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品質を確認したうえで推奨を1件選び、このデモで任せる作業を2行で説明してください。まだSkillのインストール、ファイル変更、外部サービスへの書き込みはしないでください。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FC3497B-E8DC-46EE-BFEF-FD53ECFE2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>
                <a:solidFill>
                  <a:srgbClr val="0F172A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CCA626B-312F-4B39-82B3-1DA1069B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1040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6D5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AFC6D5"/>
                </a:solidFill>
                <a:latin typeface="Yu Gothic UI"/>
                <a:ea typeface="Yu Gothic UI"/>
                <a:cs typeface="Yu Gothic UI"/>
              </a:rPr>
              <a:t>正本: docs/demo/antigravity_workshop/PROMPT_01_FIND_SKILLS.txt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908B09F-9874-4840-9F18-C5C4A005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pic>
        <p:nvPicPr>
          <p:cNvPr id="33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23d32a666942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2907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451BB22-5A9D-498B-B4A7-832312C6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450AFC5-3358-459D-BAE9-3CD63253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B33D43-0D18-404E-A4B5-426E0E37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9D38E9-F2F1-4C60-B862-159212F7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/FIND-SKILLS  |  VERIFIED RESULT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9DBFE0E-4D5A-40D9-86E0-B5A15118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見つけるだけで終わらず、公開元・利用実績・監査結果まで確かめます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0349D2D-B546-4350-A909-C9C9385D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D8F1CF6-78B1-4776-843B-6F1DEA0B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研修デモ改善版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4EFCE2C-0A87-417F-8CF7-76A7F464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09 / 16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1CE107E-C71F-4DFD-AE39-41627BF7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531495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0955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推奨: frontend-design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04AEAD-D46C-4152-AC73-6BCBC81A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06581E5-1AB2-4BBA-A1CF-E374F14A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09850"/>
            <a:ext cx="4762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3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anthropics/skills@frontend-design</a:t>
            </a:r>
          </a:p>
          <a:p xmlns:a="http://schemas.openxmlformats.org/drawingml/2006/main">
            <a:pPr algn="l">
              <a:buNone/>
              <a:defRPr sz="1725">
                <a:solidFill>
                  <a:srgbClr val="17242B"/>
                </a:solidFill>
              </a:defRPr>
            </a:pPr>
            <a:r>
              <a:rPr sz="17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約754.5K installs</a:t>
            </a:r>
          </a:p>
          <a:p xmlns:a="http://schemas.openxmlformats.org/drawingml/2006/main">
            <a:pPr algn="l">
              <a:buNone/>
              <a:defRPr sz="1388">
                <a:solidFill>
                  <a:srgbClr val="17242B"/>
                </a:solidFill>
              </a:defRPr>
            </a:pPr>
            <a:r>
              <a:rPr sz="13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約166.9K GitHub stars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3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3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Gen Agent Trust Hub: Pass</a:t>
            </a:r>
          </a:p>
          <a:p xmlns:a="http://schemas.openxmlformats.org/drawingml/2006/main">
            <a:pPr algn="l">
              <a:buNone/>
              <a:defRPr sz="1388">
                <a:solidFill>
                  <a:srgbClr val="17242B"/>
                </a:solidFill>
              </a:defRPr>
            </a:pPr>
            <a:r>
              <a:rPr sz="13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Socket: Pass / Snyk: Pass</a:t>
            </a:r>
          </a:p>
          <a:p xmlns:a="http://schemas.openxmlformats.org/drawingml/2006/main">
            <a:pPr algn="l">
              <a:buNone/>
              <a:defRPr sz="1725">
                <a:solidFill>
                  <a:srgbClr val="17242B"/>
                </a:solidFill>
              </a:defRPr>
            </a:pPr>
            <a:r>
              <a:rPr sz="17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buNone/>
              <a:defRPr sz="1388">
                <a:solidFill>
                  <a:srgbClr val="17242B"/>
                </a:solidFill>
              </a:defRPr>
            </a:pPr>
            <a:r>
              <a:rPr sz="13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任せる範囲</a:t>
            </a:r>
          </a:p>
          <a:p xmlns:a="http://schemas.openxmlformats.org/drawingml/2006/main">
            <a:pPr algn="l">
              <a:buNone/>
              <a:defRPr sz="1388">
                <a:solidFill>
                  <a:srgbClr val="17242B"/>
                </a:solidFill>
              </a:defRPr>
            </a:pPr>
            <a:r>
              <a:rPr sz="13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・UIの視覚品質</a:t>
            </a:r>
          </a:p>
          <a:p xmlns:a="http://schemas.openxmlformats.org/drawingml/2006/main">
            <a:pPr algn="l">
              <a:buNone/>
              <a:defRPr sz="1388">
                <a:solidFill>
                  <a:srgbClr val="17242B"/>
                </a:solidFill>
              </a:defRPr>
            </a:pPr>
            <a:r>
              <a:rPr sz="13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・レスポンシブ / a11y改善</a:t>
            </a:r>
          </a:p>
          <a:p xmlns:a="http://schemas.openxmlformats.org/drawingml/2006/main">
            <a:pPr algn="l">
              <a:buNone/>
              <a:defRPr sz="1725">
                <a:solidFill>
                  <a:srgbClr val="17242B"/>
                </a:solidFill>
              </a:defRPr>
            </a:pPr>
            <a:r>
              <a:rPr sz="17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buNone/>
              <a:defRPr sz="1388">
                <a:solidFill>
                  <a:srgbClr val="17242B"/>
                </a:solidFill>
              </a:defRPr>
            </a:pPr>
            <a:r>
              <a:rPr sz="13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ライブではインストールしない。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A9FB01C-28CD-4D29-B9D7-FDFC7F4D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76400"/>
            <a:ext cx="531495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36546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28600" tIns="95250" rIns="2286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2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SKILLS.SH QUALITY CHECK</a:t>
            </a:r>
          </a:p>
        </p:txBody>
      </p:sp>
      <p:pic>
        <p:nvPicPr>
          <p:cNvPr id="30" name="Pictur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386c94c89949b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0d6842c28e4a15"/>
          <a:stretch xmlns:a="http://schemas.openxmlformats.org/drawingml/2006/main"/>
        </p:blipFill>
        <p:spPr>
          <a:xfrm xmlns:a="http://schemas.openxmlformats.org/drawingml/2006/main">
            <a:off x="6457950" y="2215753"/>
            <a:ext cx="4857750" cy="3036094"/>
          </a:xfrm>
          <a:prstGeom xmlns:a="http://schemas.openxmlformats.org/drawingml/2006/main" prst="roundRect">
            <a:avLst/>
          </a:prstGeom>
        </p:spPr>
      </p:pic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D42964-C6C2-439B-B731-9E8D1913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110073"/>
            <a:ext cx="4857750" cy="3247549"/>
          </a:xfrm>
          <a:prstGeom xmlns:a="http://schemas.openxmlformats.org/drawingml/2006/main" prst="roundRect">
            <a:avLst>
              <a:gd name="adj" fmla="val 2346"/>
            </a:avLst>
          </a:prstGeom>
          <a:solidFill xmlns:a="http://schemas.openxmlformats.org/drawingml/2006/main">
            <a:srgbClr val="071C2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3055d3cfe54e9f"/>
          <a:stretch xmlns:a="http://schemas.openxmlformats.org/drawingml/2006/main"/>
        </p:blipFill>
        <p:spPr>
          <a:xfrm xmlns:a="http://schemas.openxmlformats.org/drawingml/2006/main">
            <a:off x="6457950" y="2458688"/>
            <a:ext cx="4857750" cy="2550319"/>
          </a:xfrm>
          <a:prstGeom xmlns:a="http://schemas.openxmlformats.org/drawingml/2006/main" prst="roundRect">
            <a:avLst>
              <a:gd name="adj" fmla="val 12319"/>
            </a:avLst>
          </a:prstGeom>
        </p:spPr>
      </p:pic>
    </p:spTree>
    <p:extLst>
      <p:ext uri="{BB962C8B-B14F-4D97-AF65-F5344CB8AC3E}">
        <p14:creationId xmlns:p14="http://schemas.microsoft.com/office/powerpoint/2010/main" val="164035783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6CB7AC-4C6A-43D1-8390-0A355819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193663-A5EE-4C50-94F5-4F317F6D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DC7B91-A4F8-4EEE-9490-FDC9A653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7450A9-414D-4210-87BB-7FE8EEC9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PROMPT 2  |  BUILD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DBBD43-6CDB-4AC1-BEC7-284DB281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まず静的な1ページサイトを作り、ブラウザで見える状態にします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2BEFB2F-03FA-46F9-ADA8-740B6910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C85336-3532-402D-986C-B0A621CB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研修デモ改善版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913A3C-B665-4346-A3A4-77AE8A2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10 / 16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492DE15-A1C1-4307-BD18-5C0D11C4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4381500"/>
          </a:xfrm>
          <a:prstGeom xmlns:a="http://schemas.openxmlformats.org/drawingml/2006/main" prst="roundRect">
            <a:avLst>
              <a:gd name="adj" fmla="val 1304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47650" tIns="209550" rIns="24765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PASTE EXACTLY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794E228-76DA-4473-85C1-4C12D945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180975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650" b="1">
                <a:solidFill>
                  <a:srgbClr val="071A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071A2B"/>
                </a:solidFill>
                <a:latin typeface="Yu Gothic UI"/>
                <a:ea typeface="Yu Gothic UI"/>
                <a:cs typeface="Yu Gothic UI"/>
              </a:rPr>
              <a:t>BUILD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0A47CA3-42F3-4FE6-B0AB-EADCDB5D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B4A705D-A35B-46ED-8CB9-A161D5A3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0401300" cy="3105150"/>
          </a:xfrm>
          <a:prstGeom xmlns:a="http://schemas.openxmlformats.org/drawingml/2006/main" prst="roundRect">
            <a:avLst>
              <a:gd name="adj" fmla="val 1840"/>
            </a:avLst>
          </a:prstGeom>
          <a:solidFill xmlns:a="http://schemas.openxmlformats.org/drawingml/2006/main">
            <a:srgbClr val="10283A"/>
          </a:solidFill>
          <a:ln xmlns:a="http://schemas.openxmlformats.org/drawingml/2006/main" w="9525">
            <a:solidFill>
              <a:srgbClr val="36546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47650" tIns="228600" rIns="247650" bIns="1714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@SITE_BRIEF.md を読み、リポジトリ直下に index.html と styles.css を作成してください。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MightyLINK AI Workshop Demoの概要と4つのセッションを一覧できる、公開可能な1ページWebサイトにします。assets/workshop-hero.pngをヒーロー背景に使い、タイトル、説明、4セッション、合成データである旨を表示してください。</a:t>
            </a:r>
          </a:p>
          <a:p xmlns:a="http://schemas.openxmlformats.org/drawingml/2006/main">
            <a:pPr algn="ctr">
              <a:buNone/>
            </a:pPr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この段階ではJavaScript、絞り込み、参加候補機能、外部依存、顧客情報、commit、pushは追加しないでください。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38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作成後に1440x900と390x844で、画像、文字切れ、横スクロールを確認し、「変更ファイル / ブラウザ確認 / 次の改善」を3行で報告してください。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FC3497B-E8DC-46EE-BFEF-FD53ECFE2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>
                <a:solidFill>
                  <a:srgbClr val="0F172A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CCA626B-312F-4B39-82B3-1DA1069B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1040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6D5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AFC6D5"/>
                </a:solidFill>
                <a:latin typeface="Yu Gothic UI"/>
                <a:ea typeface="Yu Gothic UI"/>
                <a:cs typeface="Yu Gothic UI"/>
              </a:rPr>
              <a:t>正本: docs/demo/antigravity_workshop/PROMPT_02_BUILD.txt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908B09F-9874-4840-9F18-C5C4A005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pic>
        <p:nvPicPr>
          <p:cNvPr id="33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e4c548bcee4d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2907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451BB22-5A9D-498B-B4A7-832312C60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450AFC5-3358-459D-BAE9-3CD63253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8B33D43-0D18-404E-A4B5-426E0E37B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C9D38E9-F2F1-4C60-B862-159212F7F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PROMPT 3  |  STEERING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9DBFE0E-4D5A-40D9-86E0-B5A15118F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初版のArtifactへ具体的に指示し、機能とデザインを同時に改善します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00349D2D-B546-4350-A909-C9C9385D2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D8F1CF6-78B1-4776-843B-6F1DEA0B7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研修デモ改善版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4EFCE2C-0A87-417F-8CF7-76A7F464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11 / 16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81CE107E-C71F-4DFD-AE39-41627BF7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531495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0955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STEERING: 変更 / 維持 / 検証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04AEAD-D46C-4152-AC73-6BCBC81A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06581E5-1AB2-4BBA-A1CF-E374F14A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09850"/>
            <a:ext cx="47625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29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9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変更すること</a:t>
            </a:r>
          </a:p>
          <a:p xmlns:a="http://schemas.openxmlformats.org/drawingml/2006/main">
            <a:pPr algn="l">
              <a:buNone/>
              <a:defRPr sz="1290">
                <a:solidFill>
                  <a:srgbClr val="17242B"/>
                </a:solidFill>
              </a:defRPr>
            </a:pPr>
            <a:r>
              <a:rPr sz="129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・5カテゴリの絞り込み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29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9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・各セッションの参加候補トグル</a:t>
            </a:r>
          </a:p>
          <a:p xmlns:a="http://schemas.openxmlformats.org/drawingml/2006/main">
            <a:pPr algn="l">
              <a:buNone/>
              <a:defRPr sz="1290">
                <a:solidFill>
                  <a:srgbClr val="17242B"/>
                </a:solidFill>
              </a:defRPr>
            </a:pPr>
            <a:r>
              <a:rPr sz="129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・選択件数と名称をaria-live表示</a:t>
            </a:r>
          </a:p>
          <a:p xmlns:a="http://schemas.openxmlformats.org/drawingml/2006/main">
            <a:pPr algn="l">
              <a:lnSpc>
                <a:spcPct val="120000"/>
              </a:lnSpc>
              <a:buNone/>
              <a:defRPr sz="129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29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・aria-pressed / キーボード対応</a:t>
            </a:r>
          </a:p>
          <a:p xmlns:a="http://schemas.openxmlformats.org/drawingml/2006/main">
            <a:pPr algn="l">
              <a:buNone/>
              <a:defRPr sz="1290">
                <a:solidFill>
                  <a:srgbClr val="17242B"/>
                </a:solidFill>
              </a:defRPr>
            </a:pPr>
            <a:r>
              <a:rPr sz="129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・#00A5E3 / #EF7E00をアクセントに</a:t>
            </a:r>
          </a:p>
          <a:p xmlns:a="http://schemas.openxmlformats.org/drawingml/2006/main">
            <a:pPr algn="l">
              <a:buNone/>
              <a:defRPr sz="1725">
                <a:solidFill>
                  <a:srgbClr val="17242B"/>
                </a:solidFill>
              </a:defRPr>
            </a:pPr>
            <a:r>
              <a:rPr sz="17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buNone/>
              <a:defRPr sz="1290">
                <a:solidFill>
                  <a:srgbClr val="17242B"/>
                </a:solidFill>
              </a:defRPr>
            </a:pPr>
            <a:r>
              <a:rPr sz="129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維持すること</a:t>
            </a:r>
          </a:p>
          <a:p xmlns:a="http://schemas.openxmlformats.org/drawingml/2006/main">
            <a:pPr algn="l">
              <a:buNone/>
              <a:defRPr sz="1290">
                <a:solidFill>
                  <a:srgbClr val="17242B"/>
                </a:solidFill>
              </a:defRPr>
            </a:pPr>
            <a:r>
              <a:rPr sz="129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・4セッション本文 / 合成データ / ローカル画像</a:t>
            </a:r>
          </a:p>
          <a:p xmlns:a="http://schemas.openxmlformats.org/drawingml/2006/main">
            <a:pPr algn="l">
              <a:buNone/>
              <a:defRPr sz="1290">
                <a:solidFill>
                  <a:srgbClr val="17242B"/>
                </a:solidFill>
              </a:defRPr>
            </a:pPr>
            <a:r>
              <a:rPr sz="129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・外部依存なし / commit・pushなし</a:t>
            </a:r>
          </a:p>
          <a:p xmlns:a="http://schemas.openxmlformats.org/drawingml/2006/main">
            <a:pPr algn="l">
              <a:buNone/>
              <a:defRPr sz="1725">
                <a:solidFill>
                  <a:srgbClr val="17242B"/>
                </a:solidFill>
              </a:defRPr>
            </a:pPr>
            <a:r>
              <a:rPr sz="172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buNone/>
              <a:defRPr sz="1290">
                <a:solidFill>
                  <a:srgbClr val="17242B"/>
                </a:solidFill>
              </a:defRPr>
            </a:pPr>
            <a:r>
              <a:rPr sz="129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検証すること</a:t>
            </a:r>
          </a:p>
          <a:p xmlns:a="http://schemas.openxmlformats.org/drawingml/2006/main">
            <a:pPr algn="l">
              <a:buNone/>
              <a:defRPr sz="1290">
                <a:solidFill>
                  <a:srgbClr val="17242B"/>
                </a:solidFill>
              </a:defRPr>
            </a:pPr>
            <a:r>
              <a:rPr sz="129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・件数 4,1,1,1,1 / 2件選択</a:t>
            </a:r>
          </a:p>
          <a:p xmlns:a="http://schemas.openxmlformats.org/drawingml/2006/main">
            <a:pPr algn="l">
              <a:buNone/>
              <a:defRPr sz="1290">
                <a:solidFill>
                  <a:srgbClr val="17242B"/>
                </a:solidFill>
              </a:defRPr>
            </a:pPr>
            <a:r>
              <a:rPr sz="129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・1440x900 / 390x844で崩れ0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6A9FB01C-28CD-4D29-B9D7-FDFC7F4D2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76400"/>
            <a:ext cx="531495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36546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28600" tIns="95250" rIns="22860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2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BROWSER PROOF</a:t>
            </a:r>
          </a:p>
        </p:txBody>
      </p:sp>
      <p:pic>
        <p:nvPicPr>
          <p:cNvPr id="28" name="Pictur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ca8fcf2e7c45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3183a618624867"/>
          <a:srcRect xmlns:a="http://schemas.openxmlformats.org/drawingml/2006/main" l="3255" t="0" r="325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7950" y="2110032"/>
            <a:ext cx="4857750" cy="3247536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64035783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26CB7AC-4C6A-43D1-8390-0A355819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F193663-A5EE-4C50-94F5-4F317F6D6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CDC7B91-A4F8-4EEE-9490-FDC9A6535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67450A9-414D-4210-87BB-7FE8EEC9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PROMPT 4  |  MCP CHECK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DDBBD43-6CDB-4AC1-BEC7-284DB281B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MCPはAIと外部ツールをつなぐ標準。今回は読み取りだけに限定します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B2BEFB2F-03FA-46F9-ADA8-740B6910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CC85336-3532-402D-986C-B0A621CBF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研修デモ改善版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913A3C-B665-4346-A3A4-77AE8A26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12 / 16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492DE15-A1C1-4307-BD18-5C0D11C4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62100"/>
            <a:ext cx="10896600" cy="4381500"/>
          </a:xfrm>
          <a:prstGeom xmlns:a="http://schemas.openxmlformats.org/drawingml/2006/main" prst="roundRect">
            <a:avLst>
              <a:gd name="adj" fmla="val 1304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47650" tIns="209550" rIns="24765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PASTE EXACTLY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794E228-76DA-4473-85C1-4C12D945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90700"/>
            <a:ext cx="1809750" cy="3429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650" b="1">
                <a:solidFill>
                  <a:srgbClr val="071A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071A2B"/>
                </a:solidFill>
                <a:latin typeface="Yu Gothic UI"/>
                <a:ea typeface="Yu Gothic UI"/>
                <a:cs typeface="Yu Gothic UI"/>
              </a:rPr>
              <a:t>/mcp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0A47CA3-42F3-4FE6-B0AB-EADCDB5D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B4A705D-A35B-46ED-8CB9-A161D5A3D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10401300" cy="3105150"/>
          </a:xfrm>
          <a:prstGeom xmlns:a="http://schemas.openxmlformats.org/drawingml/2006/main" prst="roundRect">
            <a:avLst>
              <a:gd name="adj" fmla="val 1840"/>
            </a:avLst>
          </a:prstGeom>
          <a:solidFill xmlns:a="http://schemas.openxmlformats.org/drawingml/2006/main">
            <a:srgbClr val="10283A"/>
          </a:solidFill>
          <a:ln xmlns:a="http://schemas.openxmlformats.org/drawingml/2006/main" w="9525">
            <a:solidFill>
              <a:srgbClr val="36546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47650" tIns="228600" rIns="247650" bIns="17145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29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9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最初に /mcp を開き、GitHub MCPの接続状態だけを確認してください。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29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9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接続済みなら読み取り専用で確認: repo=kanta13jp1/mighty-link-antigravity-live-demo / branch=main / latest commit=SHAと件名 / Pages=公開URLまたは直近deployment状態</a:t>
            </a:r>
          </a:p>
          <a:p xmlns:a="http://schemas.openxmlformats.org/drawingml/2006/main">
            <a:pPr algn="ctr">
              <a:buNone/>
            </a:pPr>
            <a:r>
              <a:t/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29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290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Issue作成、設定変更、認証追加、ファイル変更、commit、pushは行わないでください。未接続または取得不可なら認証を始めず、「MCP確認は省略、gitと公開URL確認へ継続」と1行で報告してください。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FC3497B-E8DC-46EE-BFEF-FD53ECFE2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100" b="1">
                <a:solidFill>
                  <a:srgbClr val="0F172A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CCA626B-312F-4B39-82B3-1DA1069B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81650"/>
            <a:ext cx="1040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AFC6D5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0">
                <a:solidFill>
                  <a:srgbClr val="AFC6D5"/>
                </a:solidFill>
                <a:latin typeface="Yu Gothic UI"/>
                <a:ea typeface="Yu Gothic UI"/>
                <a:cs typeface="Yu Gothic UI"/>
              </a:rPr>
              <a:t>正本: docs/demo/antigravity_workshop/PROMPT_04_MCP_CHECK.txt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908B09F-9874-4840-9F18-C5C4A005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pic>
        <p:nvPicPr>
          <p:cNvPr id="33" name="Picture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70770c85a247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92907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2252CDC-5181-467F-ACAF-EE2AA88D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E9F527F6-D503-4B3F-8084-EB4894CA4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57DC14-0C05-4458-870D-45C92F8F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3D73127-EDAD-41E0-8EBF-1CCF5E855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PROMPT 5  |  PUBLISH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D49119D-3CD1-4343-A09F-C67FDEEA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公開は自動で始めず、差分確認と人の明示承認を必須にします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03AC64C-205F-4054-A3DD-71EB4B436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74A3AF2D-BF80-4CB1-945D-B3C7CDA7D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研修デモ改善版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DFBF4B1-9B57-42B2-96D1-ABB044D7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13 / 16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CDB7B38F-9B08-4FC7-B331-7312E0012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521970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0955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50" b="1">
                <a:solidFill>
                  <a:srgbClr val="B83A2D"/>
                </a:solidFill>
                <a:latin typeface="Yu Gothic UI"/>
                <a:ea typeface="Yu Gothic UI"/>
                <a:cs typeface="Yu Gothic UI"/>
              </a:defRPr>
            </a:pPr>
            <a:r>
              <a:rPr sz="2250" b="1">
                <a:solidFill>
                  <a:srgbClr val="B83A2D"/>
                </a:solidFill>
                <a:latin typeface="Yu Gothic UI"/>
                <a:ea typeface="Yu Gothic UI"/>
                <a:cs typeface="Yu Gothic UI"/>
              </a:rPr>
              <a:t>公開前に必ず停止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4A27BA8-01EC-4194-94D2-63E1DF8FF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3ADAFF8-4437-4784-9A22-9FE562B7E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46863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10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GitHub Pages公開の準備をしてください。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0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repo: kanta13jp1/mighty-link-antigravity-live-demo</a:t>
            </a:r>
          </a:p>
          <a:p xmlns:a="http://schemas.openxmlformats.org/drawingml/2006/main">
            <a:pPr algn="l">
              <a:buNone/>
              <a:defRPr sz="1088">
                <a:solidFill>
                  <a:srgbClr val="17242B"/>
                </a:solidFill>
              </a:defRPr>
            </a:pPr>
            <a:r>
              <a:rPr sz="10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branch: main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0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URL: https://kanta13jp1.github.io/mighty-link-antigravity-live-demo/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0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確認: git status / diff --stat / remote / branch。remote不一致なら停止。secret・token・PII・顧客情報がなく、SITE_BRIEF.mdにSYNTHETIC_DATA_ONLYがあることを確認。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0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予定ファイル・commit message・URLを報告し、「公開してもよいですか？」と質問。正確な「公開して」まで add / commit / push 禁止。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1800" b="0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10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088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承認後のみ: 対象をadd → "Publish skilled workshop demo"でcommit → mainへpush。最大3分待ち、HTTPS / 4セッション / 件数4,1,1,1,1 / 2件選択を確認し、「commit / URL / 確認 / 未解決」で報告。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6B250AE-FECE-4ED1-9386-1E146A7D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76400"/>
            <a:ext cx="537210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9525">
            <a:solidFill>
              <a:srgbClr val="36546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47650" tIns="114300" rIns="24765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2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200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HUMAN GATE: 「公開して」</a:t>
            </a:r>
          </a:p>
        </p:txBody>
      </p:sp>
      <p:pic>
        <p:nvPicPr>
          <p:cNvPr id="28" name="Picture 1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4eaad112be4e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</p:spPr>
      </p:pic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0084b389c14440"/>
          <a:stretch xmlns:a="http://schemas.openxmlformats.org/drawingml/2006/main"/>
        </p:blipFill>
        <p:spPr>
          <a:xfrm xmlns:a="http://schemas.openxmlformats.org/drawingml/2006/main">
            <a:off x="6419850" y="2567264"/>
            <a:ext cx="4876800" cy="2028272"/>
          </a:xfrm>
          <a:prstGeom xmlns:a="http://schemas.openxmlformats.org/drawingml/2006/main" prst="roundRect">
            <a:avLst>
              <a:gd name="adj" fmla="val 2000"/>
            </a:avLst>
          </a:prstGeom>
        </p:spPr>
      </p:pic>
    </p:spTree>
    <p:extLst>
      <p:ext uri="{BB962C8B-B14F-4D97-AF65-F5344CB8AC3E}">
        <p14:creationId xmlns:p14="http://schemas.microsoft.com/office/powerpoint/2010/main" val="196073256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42968-AAB4-4D75-B01A-6F04EDBB6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1783F5C-17B6-464B-8F9C-6A0BEDC5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D7C0C9D-6166-4B9E-A085-570957E17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3B3C3A0-D614-4E88-BFC3-6F74C204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PUBLIC PROOF  |  SUCCESS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92650F4-45DB-473D-A375-F4F8304E0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人が「公開して」と承認した後だけ、3つの証拠を揃えます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E89C52B6-DF3D-4055-B961-37A58BCC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2FBAB82-486C-4950-83BA-27CE0DA50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研修デモ改善版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1A61D61-0BA7-41FE-BE81-75753082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14 / 16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0123264A-CD05-4920-9AE8-339CCF45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3181350" cy="4114800"/>
          </a:xfrm>
          <a:prstGeom xmlns:a="http://schemas.openxmlformats.org/drawingml/2006/main" prst="roundRect">
            <a:avLst>
              <a:gd name="adj" fmla="val 17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28600" tIns="219075" rIns="2286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5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2550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DECISIONS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DEC49D3-9B65-4A7A-BEFA-E996B38F7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A3D7D89-B645-4885-9D62-2F70F84EF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90800"/>
            <a:ext cx="2724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5654741-F076-4F1F-8CC3-799E8267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9900"/>
            <a:ext cx="272415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/grill-me 結果</a:t>
            </a:r>
          </a:p>
          <a:p xmlns:a="http://schemas.openxmlformats.org/drawingml/2006/main">
            <a:pPr algn="l">
              <a:buNone/>
              <a:defRPr sz="1650">
                <a:solidFill>
                  <a:srgbClr val="17242B"/>
                </a:solidFill>
              </a:defRPr>
            </a:pPr>
            <a:r>
              <a:rPr sz="16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対象 / 必須 / 除外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停止条件 / 成功条件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曖昧なまま作らない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7E3626E0-2CF3-4D1E-BFB2-4BFF1F86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676400"/>
            <a:ext cx="3181350" cy="4114800"/>
          </a:xfrm>
          <a:prstGeom xmlns:a="http://schemas.openxmlformats.org/drawingml/2006/main" prst="roundRect">
            <a:avLst>
              <a:gd name="adj" fmla="val 17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28600" tIns="219075" rIns="2286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550" b="1">
                <a:solidFill>
                  <a:srgbClr val="EF7E00"/>
                </a:solidFill>
                <a:latin typeface="Yu Gothic UI"/>
                <a:ea typeface="Yu Gothic UI"/>
                <a:cs typeface="Yu Gothic UI"/>
              </a:defRPr>
            </a:pPr>
            <a:r>
              <a:rPr sz="2550" b="1">
                <a:solidFill>
                  <a:srgbClr val="EF7E00"/>
                </a:solidFill>
                <a:latin typeface="Yu Gothic UI"/>
                <a:ea typeface="Yu Gothic UI"/>
                <a:cs typeface="Yu Gothic UI"/>
              </a:rPr>
              <a:t>FUNCTION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4E7BAEF-30CA-4539-8EE0-3797EFCFD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0077B6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A8816BFE-B17B-42C6-B409-387022A1B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590800"/>
            <a:ext cx="2724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C8DC483-3C12-496E-B6D5-A5E08D63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009900"/>
            <a:ext cx="272415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5カテゴリ</a:t>
            </a:r>
          </a:p>
          <a:p xmlns:a="http://schemas.openxmlformats.org/drawingml/2006/main">
            <a:pPr algn="l">
              <a:buNone/>
              <a:defRPr sz="1650">
                <a:solidFill>
                  <a:srgbClr val="17242B"/>
                </a:solidFill>
              </a:defRPr>
            </a:pPr>
            <a:r>
              <a:rPr sz="16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件数 4, 1, 1, 1, 1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参加候補 2件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aria-live / keyboard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9B72C276-45C5-4706-8092-0DF46BF0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676400"/>
            <a:ext cx="3181350" cy="4114800"/>
          </a:xfrm>
          <a:prstGeom xmlns:a="http://schemas.openxmlformats.org/drawingml/2006/main" prst="roundRect">
            <a:avLst>
              <a:gd name="adj" fmla="val 17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28600" tIns="219075" rIns="2286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550" b="1">
                <a:solidFill>
                  <a:srgbClr val="218A4A"/>
                </a:solidFill>
                <a:latin typeface="Yu Gothic UI"/>
                <a:ea typeface="Yu Gothic UI"/>
                <a:cs typeface="Yu Gothic UI"/>
              </a:defRPr>
            </a:pPr>
            <a:r>
              <a:rPr sz="2550" b="1">
                <a:solidFill>
                  <a:srgbClr val="218A4A"/>
                </a:solidFill>
                <a:latin typeface="Yu Gothic UI"/>
                <a:ea typeface="Yu Gothic UI"/>
                <a:cs typeface="Yu Gothic UI"/>
              </a:rPr>
              <a:t>PUBLIC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F51DE44-69D7-4F31-9BAA-6B04D5DB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1">
                <a:solidFill>
                  <a:srgbClr val="0284C7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354D1D7C-1C6B-4263-826A-92250730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590800"/>
            <a:ext cx="2724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8A4A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D1B461C-B02E-4CCE-BEF6-D65DF36E4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009900"/>
            <a:ext cx="272415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HTTPS 200</a:t>
            </a:r>
          </a:p>
          <a:p xmlns:a="http://schemas.openxmlformats.org/drawingml/2006/main">
            <a:pPr algn="l">
              <a:buNone/>
              <a:defRPr sz="1650">
                <a:solidFill>
                  <a:srgbClr val="17242B"/>
                </a:solidFill>
              </a:defRPr>
            </a:pPr>
            <a:r>
              <a:rPr sz="1650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タイトル / 4セッション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025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最新commit一致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65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公開URLで確認</a:t>
            </a:r>
          </a:p>
        </p:txBody>
      </p:sp>
    </p:spTree>
    <p:extLst>
      <p:ext uri="{BB962C8B-B14F-4D97-AF65-F5344CB8AC3E}">
        <p14:creationId xmlns:p14="http://schemas.microsoft.com/office/powerpoint/2010/main" val="77871636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90-SECOND RECOVERY  |  FALLBACK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失敗しても学習目標を失わない。90秒で見せ方を切り替えます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研修デモ改善版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15 / 16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D3C0645-73FE-40C9-80F2-6C167D04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521970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19050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5700" b="1">
                <a:solidFill>
                  <a:srgbClr val="EF7E00"/>
                </a:solidFill>
                <a:latin typeface="Yu Gothic UI"/>
                <a:ea typeface="Yu Gothic UI"/>
                <a:cs typeface="Yu Gothic UI"/>
              </a:defRPr>
            </a:pPr>
            <a:r>
              <a:rPr sz="5700" b="1">
                <a:solidFill>
                  <a:srgbClr val="EF7E00"/>
                </a:solidFill>
                <a:latin typeface="Yu Gothic UI"/>
                <a:ea typeface="Yu Gothic UI"/>
                <a:cs typeface="Yu Gothic UI"/>
              </a:rPr>
              <a:t>90 sec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2010C74-2549-4CE1-89F7-93F67480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8184E41-1B43-48F8-BD28-629AE0D4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48000"/>
            <a:ext cx="4572000" cy="23888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生成が止まる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→ ローカル完成版を開く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/find-skillsが遅い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→ 検証済みfrontend-design結果を表示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MCP未接続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→ 認証せず git / 公開URLへ進む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18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Pages待ちが長い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388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→ 準備済みURL + Actions greenを表示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4720681-B5F3-47F9-A4B1-4D082BE9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76400"/>
            <a:ext cx="537210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04800" tIns="209550" rIns="3048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B83A2D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B83A2D"/>
                </a:solidFill>
                <a:latin typeface="Yu Gothic UI"/>
                <a:ea typeface="Yu Gothic UI"/>
                <a:cs typeface="Yu Gothic UI"/>
              </a:rPr>
              <a:t>会場でやらないこと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8F10C31-4072-4798-BA22-4F7AB26A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077B6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0FFF4D2-BD6E-49A6-839C-AC42D72A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62250"/>
            <a:ext cx="47625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× Skillをその場でインストール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× MCP認証を開始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× 本番repoへ切り替え</a:t>
            </a:r>
          </a:p>
          <a:p xmlns:a="http://schemas.openxmlformats.org/drawingml/2006/main">
            <a:pPr algn="l">
              <a:buNone/>
            </a:pPr>
            <a:r>
              <a:rPr sz="1200" b="0">
                <a:solidFill>
                  <a:srgbClr val="334155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× secret確認を省略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1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1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× 承認前にpush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1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defRPr>
            </a:pPr>
            <a:r>
              <a:rPr sz="2100" b="1">
                <a:solidFill>
                  <a:srgbClr val="14212B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42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× 投影したまま長時間デバッグ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EC84F70-81E7-483D-A05C-B7DE4104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C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CEFCFE4-72CC-4F56-B292-0ABD0EB44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E3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57F3F2-468B-4313-B9C8-34696633E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6725"/>
            <a:ext cx="76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7E00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4D4A609-0746-4210-9CBC-FB366E94F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19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127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MIGHTYLINK  |  TAKEAWAY  |  POWER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D26DB06-CFBA-484E-BE47-FAFC2AE93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66750"/>
            <a:ext cx="10572750" cy="62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2700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AIのPowerは、強い一文ではなく、考え方と接続先の組み合わせで生まれます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84AD41C3-03D5-4A39-92CE-C3B1D7911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3627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8E1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/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9E6CB9-BE02-475C-A9B4-0C1D31E56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67475"/>
            <a:ext cx="72390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0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研修デモ改善版  |  Google Antigravity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BE9A055-2F32-45E5-9FA1-F41D13331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6467475"/>
            <a:ext cx="12096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defRPr>
            </a:pPr>
            <a:r>
              <a:rPr sz="1125" b="1">
                <a:solidFill>
                  <a:srgbClr val="526571"/>
                </a:solidFill>
                <a:latin typeface="Yu Gothic UI"/>
                <a:ea typeface="Yu Gothic UI"/>
                <a:cs typeface="Yu Gothic UI"/>
              </a:rPr>
              <a:t>16 / 16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3D3C0645-73FE-40C9-80F2-6C167D049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76400"/>
            <a:ext cx="6705600" cy="4114800"/>
          </a:xfrm>
          <a:prstGeom xmlns:a="http://schemas.openxmlformats.org/drawingml/2006/main" prst="roundRect">
            <a:avLst>
              <a:gd name="adj" fmla="val 13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9D8E1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266700" tIns="209550" rIns="2667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00A5E3"/>
                </a:solidFill>
                <a:latin typeface="Yu Gothic UI"/>
                <a:ea typeface="Yu Gothic UI"/>
                <a:cs typeface="Yu Gothic UI"/>
              </a:rPr>
              <a:t>6 STEPS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2010C74-2549-4CE1-89F7-93F67480A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B2545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8184E41-1B43-48F8-BD28-629AE0D41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609600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57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57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01  /grill-me　問い直す</a:t>
            </a:r>
          </a:p>
          <a:p xmlns:a="http://schemas.openxmlformats.org/drawingml/2006/main">
            <a:pPr algn="l">
              <a:buNone/>
              <a:defRPr sz="1575">
                <a:solidFill>
                  <a:srgbClr val="17242B"/>
                </a:solidFill>
              </a:defRPr>
            </a:pPr>
            <a:r>
              <a:rPr sz="15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02  /find-skills　能力を探す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57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03  Build　小さく作る</a:t>
            </a:r>
          </a:p>
          <a:p xmlns:a="http://schemas.openxmlformats.org/drawingml/2006/main">
            <a:pPr algn="l">
              <a:buNone/>
              <a:defRPr sz="1575">
                <a:solidFill>
                  <a:srgbClr val="17242B"/>
                </a:solidFill>
              </a:defRPr>
            </a:pPr>
            <a:r>
              <a:rPr sz="1575" b="0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04  Steering　具体的に直す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57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05  MCP　外部状態を確認する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157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defRPr>
            </a:pPr>
            <a:r>
              <a:rPr sz="1575" b="1">
                <a:solidFill>
                  <a:srgbClr val="17242B"/>
                </a:solidFill>
                <a:latin typeface="Yu Gothic UI"/>
                <a:ea typeface="Yu Gothic UI"/>
                <a:cs typeface="Yu Gothic UI"/>
              </a:rPr>
              <a:t>06  Publish　人が承認して共有する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34720681-B5F3-47F9-A4B1-4D082BE9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76400"/>
            <a:ext cx="3924300" cy="4114800"/>
          </a:xfrm>
          <a:prstGeom xmlns:a="http://schemas.openxmlformats.org/drawingml/2006/main" prst="roundRect">
            <a:avLst>
              <a:gd name="adj" fmla="val 1456"/>
            </a:avLst>
          </a:prstGeom>
          <a:solidFill xmlns:a="http://schemas.openxmlformats.org/drawingml/2006/main">
            <a:srgbClr val="071A2B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304800" tIns="209550" rIns="30480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3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32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POWER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8F10C31-4072-4798-BA22-4F7AB26A9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525" cy="9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077B6"/>
                </a:solidFill>
                <a:latin typeface="Yu Gothic UI"/>
                <a:ea typeface="Yu Gothic UI"/>
                <a:cs typeface="Yu Gothic UI"/>
              </a:rPr>
              <a:t/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0FFF4D2-BD6E-49A6-839C-AC42D72AC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724150"/>
            <a:ext cx="3314700" cy="26490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24000"/>
              </a:lnSpc>
              <a:buNone/>
              <a:defRPr sz="1463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463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Steering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463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463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+ Skills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463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463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+ MCP</a:t>
            </a:r>
          </a:p>
          <a:p xmlns:a="http://schemas.openxmlformats.org/drawingml/2006/main">
            <a:pPr algn="l">
              <a:buNone/>
              <a:defRPr sz="1463">
                <a:solidFill>
                  <a:srgbClr val="E8F4F7"/>
                </a:solidFill>
              </a:defRPr>
            </a:pPr>
            <a:r>
              <a:rPr sz="1463" b="0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+ Browser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463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463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+ Permissions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21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1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463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463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= 検証可能な成果へ変える実行力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21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defRPr>
            </a:pPr>
            <a:r>
              <a:rPr sz="2175" b="1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/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463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463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※ Powerは研修上の呼称。</a:t>
            </a:r>
          </a:p>
          <a:p xmlns:a="http://schemas.openxmlformats.org/drawingml/2006/main">
            <a:pPr algn="l">
              <a:lnSpc>
                <a:spcPct val="124000"/>
              </a:lnSpc>
              <a:buNone/>
              <a:defRPr sz="1463" b="1">
                <a:solidFill>
                  <a:srgbClr val="E8F4F7"/>
                </a:solidFill>
                <a:latin typeface="Yu Gothic UI"/>
                <a:ea typeface="Yu Gothic UI"/>
                <a:cs typeface="Yu Gothic UI"/>
              </a:defRPr>
            </a:pPr>
            <a:r>
              <a:rPr sz="1463" b="1">
                <a:solidFill>
                  <a:srgbClr val="E8F4F7"/>
                </a:solidFill>
                <a:latin typeface="Yu Gothic UI"/>
                <a:ea typeface="Yu Gothic UI"/>
                <a:cs typeface="Yu Gothic UI"/>
              </a:rPr>
              <a:t>公式の独立機能名ではありません。</a:t>
            </a:r>
          </a:p>
        </p:txBody>
      </p:sp>
    </p:spTree>
    <p:extLst>
      <p:ext uri="{BB962C8B-B14F-4D97-AF65-F5344CB8AC3E}">
        <p14:creationId xmlns:p14="http://schemas.microsoft.com/office/powerpoint/2010/main" val="10182684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2026-08-08T13:43:41.9590000Z</dcterms:created>
  <dcterms:modified xsi:type="dcterms:W3CDTF">2026-08-08T13:43:41.9590000Z</dcterms:modified>
</coreProperties>
</file>