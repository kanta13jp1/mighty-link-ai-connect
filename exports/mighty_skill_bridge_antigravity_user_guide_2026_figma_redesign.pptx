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23627898ee4abc" /><Relationship Type="http://schemas.openxmlformats.org/officeDocument/2006/relationships/extended-properties" Target="/docProps/app.xml" Id="Rb1f5c098c03145bf" /><Relationship Type="http://schemas.openxmlformats.org/officeDocument/2006/relationships/officeDocument" Target="/ppt/presentation.xml" Id="Re447120ef09546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29b858eb594553"/>
  </p:sldMasterIdLst>
  <p:notesMasterIdLst>
    <p:notesMasterId xmlns:r="http://schemas.openxmlformats.org/officeDocument/2006/relationships" r:id="Reeae5181d0f04e5c"/>
  </p:notesMasterIdLst>
  <p:sldIdLst>
    <p:sldId xmlns:r="http://schemas.openxmlformats.org/officeDocument/2006/relationships" id="256" r:id="Re8704561d94a4c23"/>
    <p:sldId xmlns:r="http://schemas.openxmlformats.org/officeDocument/2006/relationships" id="257" r:id="Rc9b57c983a7e42d9"/>
    <p:sldId xmlns:r="http://schemas.openxmlformats.org/officeDocument/2006/relationships" id="258" r:id="Rac6cbbac9e68465e"/>
    <p:sldId xmlns:r="http://schemas.openxmlformats.org/officeDocument/2006/relationships" id="259" r:id="R89edc1e998ca4847"/>
    <p:sldId xmlns:r="http://schemas.openxmlformats.org/officeDocument/2006/relationships" id="260" r:id="Rd7f645f600344301"/>
    <p:sldId xmlns:r="http://schemas.openxmlformats.org/officeDocument/2006/relationships" id="261" r:id="R066b96e46f9b4922"/>
    <p:sldId xmlns:r="http://schemas.openxmlformats.org/officeDocument/2006/relationships" id="262" r:id="R514cb6c3db904c3f"/>
    <p:sldId xmlns:r="http://schemas.openxmlformats.org/officeDocument/2006/relationships" id="263" r:id="R2f171d48953443df"/>
    <p:sldId xmlns:r="http://schemas.openxmlformats.org/officeDocument/2006/relationships" id="264" r:id="Rfa32647680d84071"/>
    <p:sldId xmlns:r="http://schemas.openxmlformats.org/officeDocument/2006/relationships" id="265" r:id="R7970896c3bd54b42"/>
    <p:sldId xmlns:r="http://schemas.openxmlformats.org/officeDocument/2006/relationships" id="266" r:id="R9b7ef332ff204e85"/>
    <p:sldId xmlns:r="http://schemas.openxmlformats.org/officeDocument/2006/relationships" id="267" r:id="Rf5cec850c9514fb0"/>
    <p:sldId xmlns:r="http://schemas.openxmlformats.org/officeDocument/2006/relationships" id="268" r:id="R771f07e0c71b46d9"/>
    <p:sldId xmlns:r="http://schemas.openxmlformats.org/officeDocument/2006/relationships" id="269" r:id="R219a41f931934f7e"/>
    <p:sldId xmlns:r="http://schemas.openxmlformats.org/officeDocument/2006/relationships" id="270" r:id="R9edd1d15cdc94518"/>
    <p:sldId xmlns:r="http://schemas.openxmlformats.org/officeDocument/2006/relationships" id="271" r:id="Rf5c4f2e3f8e04ee2"/>
    <p:sldId xmlns:r="http://schemas.openxmlformats.org/officeDocument/2006/relationships" id="272" r:id="R0d206aec46d14cc0"/>
    <p:sldId xmlns:r="http://schemas.openxmlformats.org/officeDocument/2006/relationships" id="273" r:id="Rd359e4f69dcd4ab4"/>
    <p:sldId xmlns:r="http://schemas.openxmlformats.org/officeDocument/2006/relationships" id="274" r:id="R05130ee2a1f84c39"/>
    <p:sldId xmlns:r="http://schemas.openxmlformats.org/officeDocument/2006/relationships" id="275" r:id="Rfb546ab3e42a418c"/>
    <p:sldId xmlns:r="http://schemas.openxmlformats.org/officeDocument/2006/relationships" id="276" r:id="Re47e60942aed4700"/>
    <p:sldId xmlns:r="http://schemas.openxmlformats.org/officeDocument/2006/relationships" id="277" r:id="R6930f38a537f4457"/>
    <p:sldId xmlns:r="http://schemas.openxmlformats.org/officeDocument/2006/relationships" id="278" r:id="R59047ddc2d3a4c5e"/>
    <p:sldId xmlns:r="http://schemas.openxmlformats.org/officeDocument/2006/relationships" id="279" r:id="Rb29a5757dc104fcb"/>
    <p:sldId xmlns:r="http://schemas.openxmlformats.org/officeDocument/2006/relationships" id="280" r:id="R7b662a331aa949ff"/>
    <p:sldId xmlns:r="http://schemas.openxmlformats.org/officeDocument/2006/relationships" id="281" r:id="R058d8f752b26401a"/>
    <p:sldId xmlns:r="http://schemas.openxmlformats.org/officeDocument/2006/relationships" id="282" r:id="R9b63979de6a042b0"/>
    <p:sldId xmlns:r="http://schemas.openxmlformats.org/officeDocument/2006/relationships" id="283" r:id="R96a97b013cf949ea"/>
    <p:sldId xmlns:r="http://schemas.openxmlformats.org/officeDocument/2006/relationships" id="284" r:id="R8dfa4e50bae24094"/>
    <p:sldId xmlns:r="http://schemas.openxmlformats.org/officeDocument/2006/relationships" id="285" r:id="R387b255009cd449c"/>
    <p:sldId xmlns:r="http://schemas.openxmlformats.org/officeDocument/2006/relationships" id="286" r:id="R4931d42dbc594b6a"/>
    <p:sldId xmlns:r="http://schemas.openxmlformats.org/officeDocument/2006/relationships" id="287" r:id="Raeb9ab6bd0e94658"/>
    <p:sldId xmlns:r="http://schemas.openxmlformats.org/officeDocument/2006/relationships" id="288" r:id="Rfeb6fe97f4e3404e"/>
    <p:sldId xmlns:r="http://schemas.openxmlformats.org/officeDocument/2006/relationships" id="289" r:id="R6f820bfa4eb0423b"/>
    <p:sldId xmlns:r="http://schemas.openxmlformats.org/officeDocument/2006/relationships" id="290" r:id="Raa6dd6dcd26a425f"/>
    <p:sldId xmlns:r="http://schemas.openxmlformats.org/officeDocument/2006/relationships" id="291" r:id="R10bba3e3cb874081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79c5926cae4627" /><Relationship Type="http://schemas.openxmlformats.org/officeDocument/2006/relationships/slideMaster" Target="/ppt/slideMasters/slideMaster1.xml" Id="R6e29b858eb594553" /><Relationship Type="http://schemas.openxmlformats.org/officeDocument/2006/relationships/notesMaster" Target="/ppt/notesMasters/notesMaster1.xml" Id="Reeae5181d0f04e5c" /><Relationship Type="http://schemas.openxmlformats.org/officeDocument/2006/relationships/presProps" Target="/ppt/presProps.xml" Id="Rf48e236e2ecb45de" /><Relationship Type="http://schemas.openxmlformats.org/officeDocument/2006/relationships/viewProps" Target="/ppt/viewProps.xml" Id="R37382709926a4aa9" /><Relationship Type="http://schemas.openxmlformats.org/officeDocument/2006/relationships/tableStyles" Target="/ppt/tableStyles.xml" Id="R50231f10a5224ba5" /><Relationship Type="http://schemas.openxmlformats.org/officeDocument/2006/relationships/slide" Target="/ppt/slides/slide1.xml" Id="Re8704561d94a4c23" /><Relationship Type="http://schemas.openxmlformats.org/officeDocument/2006/relationships/slide" Target="/ppt/slides/slide2.xml" Id="Rc9b57c983a7e42d9" /><Relationship Type="http://schemas.openxmlformats.org/officeDocument/2006/relationships/slide" Target="/ppt/slides/slide3.xml" Id="Rac6cbbac9e68465e" /><Relationship Type="http://schemas.openxmlformats.org/officeDocument/2006/relationships/slide" Target="/ppt/slides/slide4.xml" Id="R89edc1e998ca4847" /><Relationship Type="http://schemas.openxmlformats.org/officeDocument/2006/relationships/slide" Target="/ppt/slides/slide5.xml" Id="Rd7f645f600344301" /><Relationship Type="http://schemas.openxmlformats.org/officeDocument/2006/relationships/slide" Target="/ppt/slides/slide6.xml" Id="R066b96e46f9b4922" /><Relationship Type="http://schemas.openxmlformats.org/officeDocument/2006/relationships/slide" Target="/ppt/slides/slide7.xml" Id="R514cb6c3db904c3f" /><Relationship Type="http://schemas.openxmlformats.org/officeDocument/2006/relationships/slide" Target="/ppt/slides/slide8.xml" Id="R2f171d48953443df" /><Relationship Type="http://schemas.openxmlformats.org/officeDocument/2006/relationships/slide" Target="/ppt/slides/slide9.xml" Id="Rfa32647680d84071" /><Relationship Type="http://schemas.openxmlformats.org/officeDocument/2006/relationships/slide" Target="/ppt/slides/slide10.xml" Id="R7970896c3bd54b42" /><Relationship Type="http://schemas.openxmlformats.org/officeDocument/2006/relationships/slide" Target="/ppt/slides/slide11.xml" Id="R9b7ef332ff204e85" /><Relationship Type="http://schemas.openxmlformats.org/officeDocument/2006/relationships/slide" Target="/ppt/slides/slide12.xml" Id="Rf5cec850c9514fb0" /><Relationship Type="http://schemas.openxmlformats.org/officeDocument/2006/relationships/slide" Target="/ppt/slides/slide13.xml" Id="R771f07e0c71b46d9" /><Relationship Type="http://schemas.openxmlformats.org/officeDocument/2006/relationships/slide" Target="/ppt/slides/slide14.xml" Id="R219a41f931934f7e" /><Relationship Type="http://schemas.openxmlformats.org/officeDocument/2006/relationships/slide" Target="/ppt/slides/slide15.xml" Id="R9edd1d15cdc94518" /><Relationship Type="http://schemas.openxmlformats.org/officeDocument/2006/relationships/slide" Target="/ppt/slides/slide16.xml" Id="Rf5c4f2e3f8e04ee2" /><Relationship Type="http://schemas.openxmlformats.org/officeDocument/2006/relationships/slide" Target="/ppt/slides/slide17.xml" Id="R0d206aec46d14cc0" /><Relationship Type="http://schemas.openxmlformats.org/officeDocument/2006/relationships/slide" Target="/ppt/slides/slide18.xml" Id="Rd359e4f69dcd4ab4" /><Relationship Type="http://schemas.openxmlformats.org/officeDocument/2006/relationships/slide" Target="/ppt/slides/slide19.xml" Id="R05130ee2a1f84c39" /><Relationship Type="http://schemas.openxmlformats.org/officeDocument/2006/relationships/slide" Target="/ppt/slides/slide20.xml" Id="Rfb546ab3e42a418c" /><Relationship Type="http://schemas.openxmlformats.org/officeDocument/2006/relationships/slide" Target="/ppt/slides/slide21.xml" Id="Re47e60942aed4700" /><Relationship Type="http://schemas.openxmlformats.org/officeDocument/2006/relationships/slide" Target="/ppt/slides/slide22.xml" Id="R6930f38a537f4457" /><Relationship Type="http://schemas.openxmlformats.org/officeDocument/2006/relationships/slide" Target="/ppt/slides/slide23.xml" Id="R59047ddc2d3a4c5e" /><Relationship Type="http://schemas.openxmlformats.org/officeDocument/2006/relationships/slide" Target="/ppt/slides/slide24.xml" Id="Rb29a5757dc104fcb" /><Relationship Type="http://schemas.openxmlformats.org/officeDocument/2006/relationships/slide" Target="/ppt/slides/slide25.xml" Id="R7b662a331aa949ff" /><Relationship Type="http://schemas.openxmlformats.org/officeDocument/2006/relationships/slide" Target="/ppt/slides/slide26.xml" Id="R058d8f752b26401a" /><Relationship Type="http://schemas.openxmlformats.org/officeDocument/2006/relationships/slide" Target="/ppt/slides/slide27.xml" Id="R9b63979de6a042b0" /><Relationship Type="http://schemas.openxmlformats.org/officeDocument/2006/relationships/slide" Target="/ppt/slides/slide28.xml" Id="R96a97b013cf949ea" /><Relationship Type="http://schemas.openxmlformats.org/officeDocument/2006/relationships/slide" Target="/ppt/slides/slide29.xml" Id="R8dfa4e50bae24094" /><Relationship Type="http://schemas.openxmlformats.org/officeDocument/2006/relationships/slide" Target="/ppt/slides/slide30.xml" Id="R387b255009cd449c" /><Relationship Type="http://schemas.openxmlformats.org/officeDocument/2006/relationships/slide" Target="/ppt/slides/slide31.xml" Id="R4931d42dbc594b6a" /><Relationship Type="http://schemas.openxmlformats.org/officeDocument/2006/relationships/slide" Target="/ppt/slides/slide32.xml" Id="Raeb9ab6bd0e94658" /><Relationship Type="http://schemas.openxmlformats.org/officeDocument/2006/relationships/slide" Target="/ppt/slides/slide33.xml" Id="Rfeb6fe97f4e3404e" /><Relationship Type="http://schemas.openxmlformats.org/officeDocument/2006/relationships/slide" Target="/ppt/slides/slide34.xml" Id="R6f820bfa4eb0423b" /><Relationship Type="http://schemas.openxmlformats.org/officeDocument/2006/relationships/slide" Target="/ppt/slides/slide35.xml" Id="Raa6dd6dcd26a425f" /><Relationship Type="http://schemas.openxmlformats.org/officeDocument/2006/relationships/slide" Target="/ppt/slides/slide36.xml" Id="R10bba3e3cb8740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a74a3af3d845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9085fbb8df4aac" /><Relationship Type="http://schemas.openxmlformats.org/officeDocument/2006/relationships/notesMaster" Target="/ppt/notesMasters/notesMaster1.xml" Id="R15b0c86135d443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a7771937084cd0" /><Relationship Type="http://schemas.openxmlformats.org/officeDocument/2006/relationships/notesMaster" Target="/ppt/notesMasters/notesMaster1.xml" Id="Rd9280b6a845648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b49ced7d374a19" /><Relationship Type="http://schemas.openxmlformats.org/officeDocument/2006/relationships/notesMaster" Target="/ppt/notesMasters/notesMaster1.xml" Id="R0e1700ee3dc049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e74b74d06f45b0" /><Relationship Type="http://schemas.openxmlformats.org/officeDocument/2006/relationships/notesMaster" Target="/ppt/notesMasters/notesMaster1.xml" Id="R849f8655aa014f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2f019b4d954ab4" /><Relationship Type="http://schemas.openxmlformats.org/officeDocument/2006/relationships/notesMaster" Target="/ppt/notesMasters/notesMaster1.xml" Id="R85301b2edbce42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be227bd15343f6" /><Relationship Type="http://schemas.openxmlformats.org/officeDocument/2006/relationships/notesMaster" Target="/ppt/notesMasters/notesMaster1.xml" Id="Ra627429212d940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cf06a722144fd4" /><Relationship Type="http://schemas.openxmlformats.org/officeDocument/2006/relationships/notesMaster" Target="/ppt/notesMasters/notesMaster1.xml" Id="R239920bef6d34f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d193ed1ddd426c" /><Relationship Type="http://schemas.openxmlformats.org/officeDocument/2006/relationships/notesMaster" Target="/ppt/notesMasters/notesMaster1.xml" Id="R57292805175e4b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ba805a482048f7" /><Relationship Type="http://schemas.openxmlformats.org/officeDocument/2006/relationships/notesMaster" Target="/ppt/notesMasters/notesMaster1.xml" Id="R9e7b4d4780f74b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a60922424e46f9" /><Relationship Type="http://schemas.openxmlformats.org/officeDocument/2006/relationships/notesMaster" Target="/ppt/notesMasters/notesMaster1.xml" Id="Rdb4176377a6b4b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f78c5a8ad949cd" /><Relationship Type="http://schemas.openxmlformats.org/officeDocument/2006/relationships/notesMaster" Target="/ppt/notesMasters/notesMaster1.xml" Id="R0e95b56acec949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a94525bb6c4822" /><Relationship Type="http://schemas.openxmlformats.org/officeDocument/2006/relationships/notesMaster" Target="/ppt/notesMasters/notesMaster1.xml" Id="R094258fb468a4f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d6272af9e54223" /><Relationship Type="http://schemas.openxmlformats.org/officeDocument/2006/relationships/notesMaster" Target="/ppt/notesMasters/notesMaster1.xml" Id="R21c8efc50b1c4e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eb49c6ab094a39" /><Relationship Type="http://schemas.openxmlformats.org/officeDocument/2006/relationships/notesMaster" Target="/ppt/notesMasters/notesMaster1.xml" Id="R28ddaac378244d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e4d535bf8b40fa" /><Relationship Type="http://schemas.openxmlformats.org/officeDocument/2006/relationships/notesMaster" Target="/ppt/notesMasters/notesMaster1.xml" Id="R95caf608b5f049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a3009eb24d44e3a" /><Relationship Type="http://schemas.openxmlformats.org/officeDocument/2006/relationships/notesMaster" Target="/ppt/notesMasters/notesMaster1.xml" Id="Rfc537d94433a48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7274f4876f42f8" /><Relationship Type="http://schemas.openxmlformats.org/officeDocument/2006/relationships/notesMaster" Target="/ppt/notesMasters/notesMaster1.xml" Id="Rad9edb42781442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93321d84cc4554" /><Relationship Type="http://schemas.openxmlformats.org/officeDocument/2006/relationships/notesMaster" Target="/ppt/notesMasters/notesMaster1.xml" Id="Rceba98b7623845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b3ac25167c4aea" /><Relationship Type="http://schemas.openxmlformats.org/officeDocument/2006/relationships/notesMaster" Target="/ppt/notesMasters/notesMaster1.xml" Id="Ra22b55d705d34a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0d2498547f402f" /><Relationship Type="http://schemas.openxmlformats.org/officeDocument/2006/relationships/notesMaster" Target="/ppt/notesMasters/notesMaster1.xml" Id="Rdefbc1a138214b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b9a58a765e04792" /><Relationship Type="http://schemas.openxmlformats.org/officeDocument/2006/relationships/notesMaster" Target="/ppt/notesMasters/notesMaster1.xml" Id="R8b6a08f8dd1a48d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4d5940a0ee476c" /><Relationship Type="http://schemas.openxmlformats.org/officeDocument/2006/relationships/notesMaster" Target="/ppt/notesMasters/notesMaster1.xml" Id="R5538e56d318849d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a8dcc6b27af4157" /><Relationship Type="http://schemas.openxmlformats.org/officeDocument/2006/relationships/notesMaster" Target="/ppt/notesMasters/notesMaster1.xml" Id="R563927073c6e4be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9f01d4217c9440d" /><Relationship Type="http://schemas.openxmlformats.org/officeDocument/2006/relationships/notesMaster" Target="/ppt/notesMasters/notesMaster1.xml" Id="Redc0be73b2d646b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1cad2f2dce843ab" /><Relationship Type="http://schemas.openxmlformats.org/officeDocument/2006/relationships/notesMaster" Target="/ppt/notesMasters/notesMaster1.xml" Id="R9340c29d903b4a4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4d12597a6744863" /><Relationship Type="http://schemas.openxmlformats.org/officeDocument/2006/relationships/notesMaster" Target="/ppt/notesMasters/notesMaster1.xml" Id="R212b789955f140f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0ebb006c69542db" /><Relationship Type="http://schemas.openxmlformats.org/officeDocument/2006/relationships/notesMaster" Target="/ppt/notesMasters/notesMaster1.xml" Id="R0b2b25494a44426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225f6a6679348e0" /><Relationship Type="http://schemas.openxmlformats.org/officeDocument/2006/relationships/notesMaster" Target="/ppt/notesMasters/notesMaster1.xml" Id="R61adeada026d456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308af572c1640ca" /><Relationship Type="http://schemas.openxmlformats.org/officeDocument/2006/relationships/notesMaster" Target="/ppt/notesMasters/notesMaster1.xml" Id="R2984a7cf1dc74db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b64a018fc074186" /><Relationship Type="http://schemas.openxmlformats.org/officeDocument/2006/relationships/notesMaster" Target="/ppt/notesMasters/notesMaster1.xml" Id="R1c7432e1f44a452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26a46a8fd124767" /><Relationship Type="http://schemas.openxmlformats.org/officeDocument/2006/relationships/notesMaster" Target="/ppt/notesMasters/notesMaster1.xml" Id="R19259d9164e3478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7f7946263c445fb" /><Relationship Type="http://schemas.openxmlformats.org/officeDocument/2006/relationships/notesMaster" Target="/ppt/notesMasters/notesMaster1.xml" Id="R93c89a66cc6a4b1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83d047b59cb403c" /><Relationship Type="http://schemas.openxmlformats.org/officeDocument/2006/relationships/notesMaster" Target="/ppt/notesMasters/notesMaster1.xml" Id="R8a9ca91035d94dc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3351351bbb44860" /><Relationship Type="http://schemas.openxmlformats.org/officeDocument/2006/relationships/notesMaster" Target="/ppt/notesMasters/notesMaster1.xml" Id="Ra1894724f71b41d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6206b548e6641ab" /><Relationship Type="http://schemas.openxmlformats.org/officeDocument/2006/relationships/notesMaster" Target="/ppt/notesMasters/notesMaster1.xml" Id="Rd9186821b38348a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aaf4b9c977c44b6" /><Relationship Type="http://schemas.openxmlformats.org/officeDocument/2006/relationships/notesMaster" Target="/ppt/notesMasters/notesMaster1.xml" Id="R2a8a269ed8f040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ゴールはサイトの内容を教えることではなく、AIエージェントに要件整理、テスト仕様、実装、検証、公開まで任せる流れを理解してもらうこと。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https://antigravity.google/docs/artifacts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冒頭で到達目標を具体化し、最後に同じ3項目へ戻る。MIXIのAI研修Day1も、共通言語、モデルの処理、評価、運用までを冒頭で到達点として示してから講義へ入る。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https://mixi.co.jp/news/2026/0727/55293/</a:t>
            </a:r>
          </a:p>
          <a:p xmlns:a="http://schemas.openxmlformats.org/drawingml/2006/main">
            <a:r>
              <a:t>- https://antigravity.google/docs/artifacts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ライブ操作は価格と準備負荷を抑えるためAntigravityだけを使う。比較は製品選定の優劣ではなく用途理解のため。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</a:t>
            </a:r>
          </a:p>
          <a:p xmlns:a="http://schemas.openxmlformats.org/drawingml/2006/main">
            <a:r>
              <a:t>- https://code.claude.com/docs/en/overview</a:t>
            </a:r>
          </a:p>
          <a:p xmlns:a="http://schemas.openxmlformats.org/drawingml/2006/main">
            <a:r>
              <a:t>- https://claude.com/product/cowork</a:t>
            </a:r>
          </a:p>
          <a:p xmlns:a="http://schemas.openxmlformats.org/drawingml/2006/main">
            <a:r>
              <a:t>- https://kiro.dev/docs/</a:t>
            </a:r>
          </a:p>
          <a:p xmlns:a="http://schemas.openxmlformats.org/drawingml/2006/main">
            <a:r>
              <a:t>- https://antigravity.google/docs/artifacts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公式ドキュメントに基づく代表的な使い分け。料金や網羅的機能比較ではない。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</a:t>
            </a:r>
          </a:p>
          <a:p xmlns:a="http://schemas.openxmlformats.org/drawingml/2006/main">
            <a:r>
              <a:t>- https://code.claude.com/docs/en/overview</a:t>
            </a:r>
          </a:p>
          <a:p xmlns:a="http://schemas.openxmlformats.org/drawingml/2006/main">
            <a:r>
              <a:t>- https://support.claude.com/en/articles/13345190-get-started-with-claude-cowork</a:t>
            </a:r>
          </a:p>
          <a:p xmlns:a="http://schemas.openxmlformats.org/drawingml/2006/main">
            <a:r>
              <a:t>- https://kiro.dev/docs/</a:t>
            </a:r>
          </a:p>
          <a:p xmlns:a="http://schemas.openxmlformats.org/drawingml/2006/main">
            <a:r>
              <a:t>- https://antigravity.google/docs/artifacts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同名の機能でも保存場所、権限、呼び出し方法は製品ごとに異なる。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https://learn.chatgpt.com/docs/agent-configuration/agents-md</a:t>
            </a:r>
          </a:p>
          <a:p xmlns:a="http://schemas.openxmlformats.org/drawingml/2006/main">
            <a:r>
              <a:t>- https://code.claude.com/docs/en/memory</a:t>
            </a:r>
          </a:p>
          <a:p xmlns:a="http://schemas.openxmlformats.org/drawingml/2006/main">
            <a:r>
              <a:t>- https://kiro.dev/docs/steering/</a:t>
            </a:r>
          </a:p>
          <a:p xmlns:a="http://schemas.openxmlformats.org/drawingml/2006/main">
            <a:r>
              <a:t>- https://antigravity.google/docs/rules-workflows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Steeringという一般動詞とKiroの正式機能名を分ける。Antigravityで方向修正を説明するときはfeedbackまたはRulesを使う。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https://kiro.dev/docs/steering/</a:t>
            </a:r>
          </a:p>
          <a:p xmlns:a="http://schemas.openxmlformats.org/drawingml/2006/main">
            <a:r>
              <a:t>- https://kiro.dev/docs/powers/</a:t>
            </a:r>
          </a:p>
          <a:p xmlns:a="http://schemas.openxmlformats.org/drawingml/2006/main">
            <a:r>
              <a:t>- https://antigravity.google/docs/rules-workflows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各ブロックは説明を30秒以内にし、すぐ操作へ移る。操作後は『何が変わったか』『どの証拠を見たか』を一言で回収する。残り30分は質疑応答または予備。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https://zenn.dev/mixi/articles/fd62f8ddc178f6</a:t>
            </a:r>
          </a:p>
          <a:p xmlns:a="http://schemas.openxmlformats.org/drawingml/2006/main">
            <a:r>
              <a:t>- local: docs/demo/antigravity_workshop/README.md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挙手の回答は評価に使わず、説明速度の調整だけに使う。remote、branch、公開URLが一つでも違えばデモを停止する。MIXI研修も冒頭で受講者の機械学習経験を確認している。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https://docs.github.com/en/pages/getting-started-with-github-pages/configuring-a-publishing-source-for-your-github-pages-site</a:t>
            </a:r>
          </a:p>
          <a:p xmlns:a="http://schemas.openxmlformats.org/drawingml/2006/main">
            <a:r>
              <a:t>- local: docs/demo/antigravity_workshop/README.md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このスライドの濃紺枠を全文コピーし、Antigravityへ貼り付ける。質問は最大2問。ここでは実装しない。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docs/demo/antigravity_workshop/PROMPT_00_GRILL_ME.txt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Skillは名前と説明から発見され、必要時にSKILL.mdを読み、必要な資料やスクリプトだけを使う。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このスライドの濃紺枠を全文コピーし、Antigravityへ貼り付ける。まだインストールしない。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docs/demo/antigravity_workshop/PROMPT_01_FIND_SKILLS.txt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インストール数は変動するため検索時点の参考値。候補の比較軸を見せることが目的。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https://skills.sh/anthropics/skills/frontend-design</a:t>
            </a:r>
          </a:p>
          <a:p xmlns:a="http://schemas.openxmlformats.org/drawingml/2006/main">
            <a:r>
              <a:t>- https://github.com/anthropics/skills/tree/main/skills/frontend-design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このスライドの濃紺枠を全文コピーし、Antigravityへ貼り付ける。remote / branch / status / existing Skillを先に確認する。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docs/demo/antigravity_workshop/PROMPT_02_INSTALL_SKILL.txt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frontend-designはproduction-gradeで独自性のあるUI判断を促すが、事実・権限・公開判断の責任は持たせない。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https://github.com/anthropics/skills/tree/main/skills/frontend-design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このスライドの濃紺枠を全文コピーし、Antigravityへ貼り付ける。サイトファイルは変更せず、TEST_SPEC.mdと契約テストだけを作る。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docs/demo/antigravity_workshop/PROMPT_03_TEST_SPEC.txt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https://docs.python.org/3/library/unittest.html</a:t>
            </a:r>
          </a:p>
          <a:p xmlns:a="http://schemas.openxmlformats.org/drawingml/2006/main">
            <a:r>
              <a:t>- https://playwright.dev/docs/test-assertions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REDをエラーとして隠さず、期待結果を実装より先に固定した証拠として見せる。Prompt 3Bではテストを変えず基本5件だけを満たし、Prompt 4で残りをGREENにする。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https://docs.python.org/3/library/unittest.html</a:t>
            </a:r>
          </a:p>
          <a:p xmlns:a="http://schemas.openxmlformats.org/drawingml/2006/main">
            <a:r>
              <a:t>- https://playwright.dev/docs/test-assertions</a:t>
            </a:r>
          </a:p>
          <a:p xmlns:a="http://schemas.openxmlformats.org/drawingml/2006/main">
            <a:r>
              <a:t>- local: docs/demo/antigravity_workshop/output/TEST_SPEC.md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このスライドの濃紺枠を全文コピーし、Antigravityへ貼り付ける。T01-T05 PASS、T06-T08 FAILを確認して次へ進む。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docs/demo/antigravity_workshop/PROMPT_03_BUILD.txt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このスライドの濃紺枠を全文コピーし、Antigravityへ貼り付ける。テストは変更せず、自動8件と2 viewportを検証する。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docs/demo/antigravity_workshop/PROMPT_04_APPLY_SKILL.txt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このスライドの濃紺枠を全文コピーし、Antigravityへ貼り付ける。未接続なら会場で認証せず省略する。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docs/demo/antigravity_workshop/PROMPT_05_MCP_CHECK.txt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MCP未接続なら認証を始めず、gitと公開URL確認へ進む。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</a:t>
            </a:r>
          </a:p>
          <a:p xmlns:a="http://schemas.openxmlformats.org/drawingml/2006/main">
            <a:r>
              <a:t>- https://antigravity.google/docs/mcp</a:t>
            </a:r>
          </a:p>
          <a:p xmlns:a="http://schemas.openxmlformats.org/drawingml/2006/main">
            <a:r>
              <a:t>- https://learn.chatgpt.com/docs/extend/mcp?surface=cli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このスライドの濃紺枠を全文コピーし、Antigravityへ貼り付ける。正確な『公開して』までgit add / commit / pushを禁止する。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docs/demo/antigravity_workshop/PROMPT_06_PUBLISH.txt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公開前に自動8件がGREENであることを確認し、公開URLでタイトル、件数、2製品比較まで動かして証拠にする。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https://docs.github.com/en/pages/getting-started-with-github-pages/configuring-a-publishing-source-for-your-github-pages-site</a:t>
            </a:r>
          </a:p>
          <a:p xmlns:a="http://schemas.openxmlformats.org/drawingml/2006/main">
            <a:r>
              <a:t>- https://docs.github.com/en/pages/getting-started-with-github-pages/securing-your-github-pages-site-with-https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初回公開05cfa7cから最終改善347ce89までの実リハーサル結果。時間はgit commit時刻21:16:29から22:34:44の差。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https://kanta13jp1.github.io/mighty-link-antigravity-live-demo/</a:t>
            </a:r>
          </a:p>
          <a:p xmlns:a="http://schemas.openxmlformats.org/drawingml/2006/main">
            <a:r>
              <a:t>- https://github.com/kanta13jp1/mighty-link-antigravity-live-demo/commits/main/</a:t>
            </a:r>
          </a:p>
          <a:p xmlns:a="http://schemas.openxmlformats.org/drawingml/2006/main">
            <a:r>
              <a:t>- local: .codex/tmp/ai-agent-demo-deck-20260809/rehearsal-site/qa.json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MIXIのDay1は、到達目標と共通言語を先に示し、説明の直後にhands-onを置き、観察点を回収して運用へ接続する。本デモでは期待結果を先にテストへ固定し、REDからGREENへ変わる証拠を各実演で回収する。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https://speakerdeck.com/mixi_engineers/2026_new_grad_training_ai_day1</a:t>
            </a:r>
          </a:p>
          <a:p xmlns:a="http://schemas.openxmlformats.org/drawingml/2006/main">
            <a:r>
              <a:t>- https://mixi.co.jp/news/2026/0727/55293/</a:t>
            </a:r>
          </a:p>
          <a:p xmlns:a="http://schemas.openxmlformats.org/drawingml/2006/main">
            <a:r>
              <a:t>- https://zenn.dev/mixi/articles/fd62f8ddc178f6</a:t>
            </a:r>
          </a:p>
          <a:p xmlns:a="http://schemas.openxmlformats.org/drawingml/2006/main">
            <a:r>
              <a:t>- https://docs.python.org/3/library/unittest.html</a:t>
            </a:r>
          </a:p>
          <a:p xmlns:a="http://schemas.openxmlformats.org/drawingml/2006/main">
            <a:r>
              <a:t>- https://playwright.dev/docs/test-assertions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3つは別モデルの比較ではなく、同じAntigravity agent harnessをどう操作するかの比較。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https://antigravity.google/docs/cli/overview</a:t>
            </a:r>
          </a:p>
          <a:p xmlns:a="http://schemas.openxmlformats.org/drawingml/2006/main">
            <a:r>
              <a:t>- https://antigravity.google/docs/sdk/overview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ユーザー提供の実リハーサル画面。IDEとBrowserを横に置き、指示から画面確認までを一続きで見せる。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C:/Users/kanta/AppData/Local/Temp/codex-clipboard-9ac195ea-5495-4b22-b301-2e22b2eb9e80.png</a:t>
            </a:r>
          </a:p>
          <a:p xmlns:a="http://schemas.openxmlformats.org/drawingml/2006/main">
            <a:r>
              <a:t>- https://antigravity.google/docs/artifacts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このスライドの濃紺枠を全文コピーし、Antigravityへ貼り付ける。対話TUIのagyへ全文貼付。対象4ファイルのreadだけ許可し、書き込み確認は拒否する。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docs/demo/antigravity_workshop/PROMPT_10_CLI_READONLY.txt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https://antigravity.google/docs/cli/overview</a:t>
            </a:r>
          </a:p>
          <a:p xmlns:a="http://schemas.openxmlformats.org/drawingml/2006/main">
            <a:r>
              <a:t>- https://antigravity.google/docs/cli/getting-started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read-only toolsだけをmodel contextへ公開し、書き込みの選択肢自体を見せない。現在のPCはpackage導入済みで、API key未設定時は一行で安全停止する。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https://antigravity.google/docs/sdk/overview</a:t>
            </a:r>
          </a:p>
          <a:p xmlns:a="http://schemas.openxmlformats.org/drawingml/2006/main">
            <a:r>
              <a:t>- https://github.com/google-antigravity/antigravity-sdk-python</a:t>
            </a:r>
          </a:p>
          <a:p xmlns:a="http://schemas.openxmlformats.org/drawingml/2006/main">
            <a:r>
              <a:t>- local: docs/demo/antigravity_workshop/antigravity_sdk_readonly.py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このスライドの濃紺枠を全文コピーし、Antigravityへ貼り付ける。runnerがこの全文を自動投入する。実行は前スライドの2コマンドだけ。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docs/demo/antigravity_workshop/PROMPT_11_SDK_READONLY.txt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https://antigravity.google/docs/sdk/overview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答えは『IDEで見る・相談する、CLIで速く確かめる、SDKで仕組みにする』。参加者に声に出してもらわなくても、講師が3秒置いてから答えを言う。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https://antigravity.google/docs/cli/overview</a:t>
            </a:r>
          </a:p>
          <a:p xmlns:a="http://schemas.openxmlformats.org/drawingml/2006/main">
            <a:r>
              <a:t>- https://antigravity.google/docs/sdk/overview</a:t>
            </a:r>
          </a:p>
          <a:p xmlns:a="http://schemas.openxmlformats.org/drawingml/2006/main">
            <a:r>
              <a:t>- local: docs/demo/antigravity_workshop/README.md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このスライドの濃紺枠を全文コピーし、Antigravityへ貼り付ける。本編では実行しない。title / author_name / author_urlを確認できなければ停止する。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docs/demo/antigravity_workshop/PROMPT_07_OFFICIAL_VIDEO.txt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https://www.youtube.com/watch?v=SVCBA-pBgt0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このスライドの濃紺枠を全文コピーし、Antigravityへ貼り付ける。画像生成Toolが使えなければ既存画像を維持し、SKIPPEDとする。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docs/demo/antigravity_workshop/PROMPT_08_NANO_BANANA.txt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https://antigravity.google/docs/models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このスライドの濃紺枠を全文コピーし、Antigravityへ貼り付ける。サイト内の模擬pin UIではなく、AntigravityのScreenshot Artifactへ貼り付ける。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docs/demo/antigravity_workshop/PROMPT_09_VISUAL_FEEDBACK_COMMENT.txt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https://antigravity.google/docs/screenshots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基礎Skillの/grill-meと/find-skillsは本番でも使うため削除しない。ライブ導入したfrontend-designだけを削除する。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https://git-scm.com/docs/git-revert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エラーの復旧を延々見せない。デモの学習目標を維持する。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docs/demo/antigravity_workshop/BACKUP_PROMPTS.txt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冒頭の3到達目標をそのまま再提示し、実演中に見た証拠と結び付ける。最後に、自分の仕事へ持ち帰る小さな行動を一つだけ示してQ&amp;Aへ移る。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https://mixi.co.jp/news/2026/0727/55293/</a:t>
            </a:r>
          </a:p>
          <a:p xmlns:a="http://schemas.openxmlformats.org/drawingml/2006/main">
            <a:r>
              <a:t>- https://antigravity.google/docs/artifacts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https://antigravity.google/docs/mcp</a:t>
            </a:r>
          </a:p>
          <a:p xmlns:a="http://schemas.openxmlformats.org/drawingml/2006/main">
            <a:r>
              <a:t>- https://docs.python.org/3/library/unittest.html</a:t>
            </a:r>
          </a:p>
          <a:p xmlns:a="http://schemas.openxmlformats.org/drawingml/2006/main">
            <a:r>
              <a:t>
- Figma Slides visual system: https://www.figma.com/slides/IP8rKfpGvtaXXnzUhuYvRP
- Figma Slides PPTX export guidance: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2d6ee3651849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809fa2fef47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6c26ec45f4d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bfbd71cad4e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cb405d3434d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e7ada9e2a4d7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9bc2c484c24b3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2a7aec7da425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58ea9e94d4a4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33cd18c9240b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7cbefb7f6492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F2005F-010D-4879-B4A5-2F0B4A35DFD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D43F7C2-4BC4-4DBA-B92A-FB2D13D244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581E8D-E9A6-4A51-ADCF-DF6DFF62E0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871991-FE0F-4ABE-84C8-8911307FAD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0965A2-6D0F-4FAF-8919-75625CFA2F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F782CA-06EF-4CAD-909B-8401A5FFB5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C62E98B-7F02-40BD-99BA-39B3D8CC51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C0CD4E-AC4D-4C04-B20B-AD95B8867C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D7E4C9-C46C-4394-8E02-F0D72F3A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6E0D42-C926-4A0E-B4F7-999B8A3643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3E78E3-652E-4C8C-A507-07CA44CC76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173EAC-50B5-46EB-960E-F2010C5D85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CE1AFB-BAB3-4D6A-B547-7C77C04672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A8E308-276F-458B-870A-C31A511F5B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DE78DC-79CD-4E91-A67D-BE6EF04D83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946986-8BF6-4B0E-A71C-78AF370D39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419A9A-A270-4616-AF9B-0CFB74E8683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AEA15DB-4793-4205-91A7-DF75AABC2A6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9B073DE-C6F9-4B02-9A65-8C8FC5E2E1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1BE8C75-E191-49E7-9687-890EDB25E9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77CCF35-17C3-4454-B5EA-0FA9C230E7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44304F-D9C3-481C-9D67-86194F8131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BEA75B-9BDA-46B5-9614-839EA8DF03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6AD4F4D-55E7-4A3C-8D01-9C892F26C9E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A7C7741-BA5B-4BF1-BAAF-99DFADE5F1A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8DB9F93-81C9-4B4E-A498-6611C7B37FF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FAE4694-44A9-4DA2-8AD8-15AC6CE13D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F73A481-9A72-4F09-AB44-4D87B17236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AF4FE67-EA9F-4B70-A2F8-9E4F6CEEAC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1B7798-3BDD-4A69-9A32-460B68C60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A5A5020-D3DA-41C3-ACDB-3094F9888E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E9FB9D4-695C-4325-B531-A5B031502E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AA37A3D-DCF0-400E-9CE9-6BAF3FDBDA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3C0E483-8CD9-4CCE-A073-4A9962126F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5242A54-C18D-40BC-B529-3698392EAC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2183B91-11D1-4C8F-9505-96CE6A3B49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D49209-3F08-46EB-87F5-C80A503C0E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49364E4-58F2-4F1D-90E2-439B64F612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D6ADE0-65C3-4D7D-B8B2-8283E82BD3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529E67D-E0F9-4532-A321-E7FA2F6CF7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3ABC3D7-3C7C-4FC2-B322-FCAE24E681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81958D-8336-48FC-AE8D-6BFBA5CE4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4CBA31-A261-46D3-8835-90E5E781C2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3093C3F-8F84-45AF-8FCE-42D5CE10379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DC1B413-F42A-457B-BF70-9CF33C34BB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A4E11C9-602C-4F1D-AD1B-6000B0C9F6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80E42CE-8D03-4612-8824-C718F54AF1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5C55257-8FBE-46A0-B283-1E231A85CB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E46B00-003E-4C93-8834-B7C192BFF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2027A45-44B5-49C6-AAED-2AD4835F32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5FA00D-AF57-4E30-A01B-4BB6D35A3D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DD1F3F-9F5C-4E26-83A5-2DC1231588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B604C7-AEB2-4B33-ABA1-AA8C924F43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DEE97CB-4B36-4674-BF60-47956ADBE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C47F25F-95C5-48D2-80FF-66956370AB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63C951-9C61-4725-B26A-0E352D2D5F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1AE6A7-B888-4634-82B6-AF0855F6F1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38618E-65C1-4959-98B1-BB7A6FDD5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7f378fb0cc4385" /><Relationship Type="http://schemas.openxmlformats.org/officeDocument/2006/relationships/slideLayout" Target="/ppt/slideLayouts/slideLayout1.xml" Id="R52f6d48d2e28487c" /><Relationship Type="http://schemas.openxmlformats.org/officeDocument/2006/relationships/slideLayout" Target="/ppt/slideLayouts/slideLayout2.xml" Id="R2de77df549544775" /><Relationship Type="http://schemas.openxmlformats.org/officeDocument/2006/relationships/slideLayout" Target="/ppt/slideLayouts/slideLayout3.xml" Id="R4579fc25774e48bf" /><Relationship Type="http://schemas.openxmlformats.org/officeDocument/2006/relationships/slideLayout" Target="/ppt/slideLayouts/slideLayout4.xml" Id="R9ff4008259454cf1" /><Relationship Type="http://schemas.openxmlformats.org/officeDocument/2006/relationships/slideLayout" Target="/ppt/slideLayouts/slideLayout5.xml" Id="R82d1954330cb4253" /><Relationship Type="http://schemas.openxmlformats.org/officeDocument/2006/relationships/slideLayout" Target="/ppt/slideLayouts/slideLayout6.xml" Id="R92817c80746049ef" /><Relationship Type="http://schemas.openxmlformats.org/officeDocument/2006/relationships/slideLayout" Target="/ppt/slideLayouts/slideLayout7.xml" Id="Rda9f10a7b30e4dde" /><Relationship Type="http://schemas.openxmlformats.org/officeDocument/2006/relationships/slideLayout" Target="/ppt/slideLayouts/slideLayout8.xml" Id="R2c384aa66f614b59" /><Relationship Type="http://schemas.openxmlformats.org/officeDocument/2006/relationships/slideLayout" Target="/ppt/slideLayouts/slideLayout9.xml" Id="R5865296959f14538" /><Relationship Type="http://schemas.openxmlformats.org/officeDocument/2006/relationships/slideLayout" Target="/ppt/slideLayouts/slideLayout10.xml" Id="R757fb5d5b65e4336" /><Relationship Type="http://schemas.openxmlformats.org/officeDocument/2006/relationships/slideLayout" Target="/ppt/slideLayouts/slideLayout11.xml" Id="R7dbab7b16b6d444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A2A5C51-A346-4EA8-AF14-DAB2FC572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C0995A-002C-4095-ADCD-05161173E7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102396-6D45-4188-8E9C-92B2EFE6FA4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69B75E-F3F2-45FE-9624-6DE8143DFB4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4A33AB-596F-4E82-BE63-F4D9C240D61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f6d48d2e28487c"/>
    <p:sldLayoutId xmlns:r="http://schemas.openxmlformats.org/officeDocument/2006/relationships" id="2147483650" r:id="R2de77df549544775"/>
    <p:sldLayoutId xmlns:r="http://schemas.openxmlformats.org/officeDocument/2006/relationships" id="2147483651" r:id="R4579fc25774e48bf"/>
    <p:sldLayoutId xmlns:r="http://schemas.openxmlformats.org/officeDocument/2006/relationships" id="2147483652" r:id="R9ff4008259454cf1"/>
    <p:sldLayoutId xmlns:r="http://schemas.openxmlformats.org/officeDocument/2006/relationships" id="2147483653" r:id="R82d1954330cb4253"/>
    <p:sldLayoutId xmlns:r="http://schemas.openxmlformats.org/officeDocument/2006/relationships" id="2147483654" r:id="R92817c80746049ef"/>
    <p:sldLayoutId xmlns:r="http://schemas.openxmlformats.org/officeDocument/2006/relationships" id="2147483655" r:id="Rda9f10a7b30e4dde"/>
    <p:sldLayoutId xmlns:r="http://schemas.openxmlformats.org/officeDocument/2006/relationships" id="2147483656" r:id="R2c384aa66f614b59"/>
    <p:sldLayoutId xmlns:r="http://schemas.openxmlformats.org/officeDocument/2006/relationships" id="2147483657" r:id="R5865296959f14538"/>
    <p:sldLayoutId xmlns:r="http://schemas.openxmlformats.org/officeDocument/2006/relationships" id="2147483658" r:id="R757fb5d5b65e4336"/>
    <p:sldLayoutId xmlns:r="http://schemas.openxmlformats.org/officeDocument/2006/relationships" id="2147483659" r:id="R7dbab7b16b6d444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b542bec5d04a72" /><Relationship Type="http://schemas.openxmlformats.org/officeDocument/2006/relationships/image" Target="/ppt/media/image.png" Id="Rc4effd6d1d084b68" /><Relationship Type="http://schemas.openxmlformats.org/officeDocument/2006/relationships/image" Target="/ppt/media/image2.png" Id="Rc23ab587ae114025" /><Relationship Type="http://schemas.openxmlformats.org/officeDocument/2006/relationships/notesSlide" Target="/ppt/notesSlides/notesSlide1.xml" Id="Rc5b2cffeae9e4b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11e5737e8d4bd5" /><Relationship Type="http://schemas.openxmlformats.org/officeDocument/2006/relationships/notesSlide" Target="/ppt/notesSlides/notesSlide2.xml" Id="R167f45655d5c49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deb4f7776244f0" /><Relationship Type="http://schemas.openxmlformats.org/officeDocument/2006/relationships/notesSlide" Target="/ppt/notesSlides/notesSlide3.xml" Id="Rade8824aab1442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e131b9aa8f44db" /><Relationship Type="http://schemas.openxmlformats.org/officeDocument/2006/relationships/notesSlide" Target="/ppt/notesSlides/notesSlide4.xml" Id="R8ca52e679c8b42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3999d7e63b49af" /><Relationship Type="http://schemas.openxmlformats.org/officeDocument/2006/relationships/notesSlide" Target="/ppt/notesSlides/notesSlide5.xml" Id="Rb5871cdc7c964c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4d92eb52b0407c" /><Relationship Type="http://schemas.openxmlformats.org/officeDocument/2006/relationships/notesSlide" Target="/ppt/notesSlides/notesSlide6.xml" Id="R20a0bdc541e444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5f2aec38cc44b4" /><Relationship Type="http://schemas.openxmlformats.org/officeDocument/2006/relationships/notesSlide" Target="/ppt/notesSlides/notesSlide7.xml" Id="Rdf77a6d94ee948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fca77be9f14be1" /><Relationship Type="http://schemas.openxmlformats.org/officeDocument/2006/relationships/notesSlide" Target="/ppt/notesSlides/notesSlide8.xml" Id="R33056852e26640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59101ce22e4313" /><Relationship Type="http://schemas.openxmlformats.org/officeDocument/2006/relationships/image" Target="/ppt/media/image3.png" Id="Ra716ce1bc0754895" /><Relationship Type="http://schemas.openxmlformats.org/officeDocument/2006/relationships/notesSlide" Target="/ppt/notesSlides/notesSlide9.xml" Id="R07fc69cd9b3944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e0394b96504d80" /><Relationship Type="http://schemas.openxmlformats.org/officeDocument/2006/relationships/notesSlide" Target="/ppt/notesSlides/notesSlide10.xml" Id="R11b955fcc9cb48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0e5a43566a4207" /><Relationship Type="http://schemas.openxmlformats.org/officeDocument/2006/relationships/image" Target="/ppt/media/image3.png" Id="R068ff57bda95492e" /><Relationship Type="http://schemas.openxmlformats.org/officeDocument/2006/relationships/notesSlide" Target="/ppt/notesSlides/notesSlide11.xml" Id="R3953bb4e85fa4a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2c16be8cbd4e3a" /><Relationship Type="http://schemas.openxmlformats.org/officeDocument/2006/relationships/notesSlide" Target="/ppt/notesSlides/notesSlide12.xml" Id="R6c6eeff6071947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1e0a594a4f457a" /><Relationship Type="http://schemas.openxmlformats.org/officeDocument/2006/relationships/image" Target="/ppt/media/image3.png" Id="Re2b478e58d3d4108" /><Relationship Type="http://schemas.openxmlformats.org/officeDocument/2006/relationships/notesSlide" Target="/ppt/notesSlides/notesSlide13.xml" Id="Rc2f028f77f5845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04f9747ecc47a7" /><Relationship Type="http://schemas.openxmlformats.org/officeDocument/2006/relationships/notesSlide" Target="/ppt/notesSlides/notesSlide14.xml" Id="Rb93ecb2a2d2545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21338eec6840bd" /><Relationship Type="http://schemas.openxmlformats.org/officeDocument/2006/relationships/image" Target="/ppt/media/image3.png" Id="R34d204df5adc496b" /><Relationship Type="http://schemas.openxmlformats.org/officeDocument/2006/relationships/notesSlide" Target="/ppt/notesSlides/notesSlide15.xml" Id="Rbebf3ad1c5f744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b73dfe7f2b46a4" /><Relationship Type="http://schemas.openxmlformats.org/officeDocument/2006/relationships/notesSlide" Target="/ppt/notesSlides/notesSlide16.xml" Id="R9c07a1a9e53f41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c747d247bc4cb4" /><Relationship Type="http://schemas.openxmlformats.org/officeDocument/2006/relationships/image" Target="/ppt/media/image3.png" Id="Raecfef2cb61343d8" /><Relationship Type="http://schemas.openxmlformats.org/officeDocument/2006/relationships/notesSlide" Target="/ppt/notesSlides/notesSlide17.xml" Id="Rceddd206083642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0c2e8649664cb1" /><Relationship Type="http://schemas.openxmlformats.org/officeDocument/2006/relationships/notesSlide" Target="/ppt/notesSlides/notesSlide18.xml" Id="Rcf89bcc2254e4a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de6b643faa4e5e" /><Relationship Type="http://schemas.openxmlformats.org/officeDocument/2006/relationships/image" Target="/ppt/media/image3.png" Id="R10cbd654b3a847ad" /><Relationship Type="http://schemas.openxmlformats.org/officeDocument/2006/relationships/notesSlide" Target="/ppt/notesSlides/notesSlide19.xml" Id="R0809ba5b99894d3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3deeebc6c04e65" /><Relationship Type="http://schemas.openxmlformats.org/officeDocument/2006/relationships/notesSlide" Target="/ppt/notesSlides/notesSlide20.xml" Id="R4398fdfc7b0f41d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3ee14a6c34412b" /><Relationship Type="http://schemas.openxmlformats.org/officeDocument/2006/relationships/image" Target="/ppt/media/image3.png" Id="R03faa28551d64938" /><Relationship Type="http://schemas.openxmlformats.org/officeDocument/2006/relationships/notesSlide" Target="/ppt/notesSlides/notesSlide21.xml" Id="Rcf4a93c0009249c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0dc09b4822448f" /><Relationship Type="http://schemas.openxmlformats.org/officeDocument/2006/relationships/notesSlide" Target="/ppt/notesSlides/notesSlide22.xml" Id="R2e58219390ab417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2b9962bddc486f" /><Relationship Type="http://schemas.openxmlformats.org/officeDocument/2006/relationships/image" Target="/ppt/media/image4.png" Id="R15524e970ea548c4" /><Relationship Type="http://schemas.openxmlformats.org/officeDocument/2006/relationships/notesSlide" Target="/ppt/notesSlides/notesSlide23.xml" Id="R2fad288ac04346a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17b304ad314a36" /><Relationship Type="http://schemas.openxmlformats.org/officeDocument/2006/relationships/notesSlide" Target="/ppt/notesSlides/notesSlide24.xml" Id="R073e46246ada4fe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31529cb4584188" /><Relationship Type="http://schemas.openxmlformats.org/officeDocument/2006/relationships/notesSlide" Target="/ppt/notesSlides/notesSlide25.xml" Id="R5ff7efc73c6e4dc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859bd6c2774716" /><Relationship Type="http://schemas.openxmlformats.org/officeDocument/2006/relationships/image" Target="/ppt/media/image5.png" Id="R3ec0db63b7164bad" /><Relationship Type="http://schemas.openxmlformats.org/officeDocument/2006/relationships/notesSlide" Target="/ppt/notesSlides/notesSlide26.xml" Id="Ra302f2f40fb641f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9145439b68422e" /><Relationship Type="http://schemas.openxmlformats.org/officeDocument/2006/relationships/image" Target="/ppt/media/image3.png" Id="R053871ebe994444b" /><Relationship Type="http://schemas.openxmlformats.org/officeDocument/2006/relationships/notesSlide" Target="/ppt/notesSlides/notesSlide27.xml" Id="R4ae25aa9c6274a9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3cbcaddb644115" /><Relationship Type="http://schemas.openxmlformats.org/officeDocument/2006/relationships/notesSlide" Target="/ppt/notesSlides/notesSlide28.xml" Id="R4a187a7855b7404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1ec3aeb39a40b8" /><Relationship Type="http://schemas.openxmlformats.org/officeDocument/2006/relationships/image" Target="/ppt/media/image3.png" Id="Rb6b76c2cfa55426e" /><Relationship Type="http://schemas.openxmlformats.org/officeDocument/2006/relationships/notesSlide" Target="/ppt/notesSlides/notesSlide29.xml" Id="Rfb07658659494b4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ae7c7a43414a30" /><Relationship Type="http://schemas.openxmlformats.org/officeDocument/2006/relationships/notesSlide" Target="/ppt/notesSlides/notesSlide30.xml" Id="R250d01bd6053459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2e2b0eb3f24563" /><Relationship Type="http://schemas.openxmlformats.org/officeDocument/2006/relationships/image" Target="/ppt/media/image3.png" Id="R862d4a086de94c73" /><Relationship Type="http://schemas.openxmlformats.org/officeDocument/2006/relationships/notesSlide" Target="/ppt/notesSlides/notesSlide31.xml" Id="R13ae78dc9a094a3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f3dd01355444f0" /><Relationship Type="http://schemas.openxmlformats.org/officeDocument/2006/relationships/image" Target="/ppt/media/image3.png" Id="R37b0e5327c9444b9" /><Relationship Type="http://schemas.openxmlformats.org/officeDocument/2006/relationships/notesSlide" Target="/ppt/notesSlides/notesSlide32.xml" Id="R3499e9a7ab2044c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13ce13aefd4661" /><Relationship Type="http://schemas.openxmlformats.org/officeDocument/2006/relationships/image" Target="/ppt/media/image3.png" Id="R478cd5612ca14e4e" /><Relationship Type="http://schemas.openxmlformats.org/officeDocument/2006/relationships/notesSlide" Target="/ppt/notesSlides/notesSlide33.xml" Id="Ra68d00df8463426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5f15b9bc4c42f2" /><Relationship Type="http://schemas.openxmlformats.org/officeDocument/2006/relationships/notesSlide" Target="/ppt/notesSlides/notesSlide34.xml" Id="Rd89595955306441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d7772b608c4245" /><Relationship Type="http://schemas.openxmlformats.org/officeDocument/2006/relationships/notesSlide" Target="/ppt/notesSlides/notesSlide35.xml" Id="Re501913b7b60485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eb25634b794d13" /><Relationship Type="http://schemas.openxmlformats.org/officeDocument/2006/relationships/notesSlide" Target="/ppt/notesSlides/notesSlide36.xml" Id="R53a7ead3d93945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451BB22-5A9D-498B-B4A7-832312C6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50AFC5-3358-459D-BAE9-3CD63253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8B33D43-0D18-404E-A4B5-426E0E37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9D38E9-F2F1-4C60-B862-159212F7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ANTIGRAVITY LIVE DEMO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DBFE0E-4D5A-40D9-86E0-B5A15118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5715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AIエージェントの使い方を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30分で体験する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0349D2D-B546-4350-A909-C9C9385D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テスト仕様を先に作る → IDEで実装 → CLI / SDKで確かめる → 公開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D8F1CF6-78B1-4776-843B-6F1DEA0B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4A5F68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成果物: 5製品を比較できる AI Agent Learning Hub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EFCE2C-0A87-417F-8CF7-76A7F464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4000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6F7FA"/>
          </a:solidFill>
          <a:ln xmlns:a="http://schemas.openxmlformats.org/drawingml/2006/main" w="14288">
            <a:solidFill>
              <a:srgbClr val="00A5E3"/>
            </a:solidFill>
            <a:prstDash val="solid"/>
          </a:ln>
        </p:spPr>
        <p:txBody>
          <a:bodyPr xmlns:a="http://schemas.openxmlformats.org/drawingml/2006/main" wrap="square" lIns="171450" tIns="9525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30分デモ  |  IDE + CLI + SDK  |  30分 Q&amp;A・予備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1CE107E-C71F-4DFD-AE39-41627BF7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FF8A00"/>
                </a:solidFill>
                <a:latin typeface="Yu Gothic UI"/>
                <a:ea typeface="Yu Gothic UI"/>
                <a:cs typeface="Yu Gothic UI"/>
              </a:rPr>
              <a:t>2026.08.26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904AEAD-D46C-4152-AC73-6BCBC81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26571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株式会社MightyLINK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06581E5-1AB2-4BBA-A1CF-E374F14A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4350"/>
            <a:ext cx="5238750" cy="582930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52400" tIns="95250" rIns="15240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125" b="1">
                <a:solidFill>
                  <a:srgbClr val="526571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GOOGLE ANTIGRAVITY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A9FB01C-28CD-4D29-B9D7-FDFC7F4D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pic>
        <p:nvPicPr>
          <p:cNvPr id="2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ffd6d1d084b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ab587ae114025"/>
          <a:stretch xmlns:a="http://schemas.openxmlformats.org/drawingml/2006/main"/>
        </p:blipFill>
        <p:spPr>
          <a:xfrm xmlns:a="http://schemas.openxmlformats.org/drawingml/2006/main">
            <a:off x="6400800" y="2714125"/>
            <a:ext cx="4933950" cy="1467850"/>
          </a:xfrm>
          <a:prstGeom xmlns:a="http://schemas.openxmlformats.org/drawingml/2006/main" prst="roundRect">
            <a:avLst>
              <a:gd name="adj" fmla="val 1158"/>
            </a:avLst>
          </a:prstGeom>
        </p:spPr>
      </p:pic>
    </p:spTree>
    <p:extLst>
      <p:ext uri="{BB962C8B-B14F-4D97-AF65-F5344CB8AC3E}">
        <p14:creationId xmlns:p14="http://schemas.microsoft.com/office/powerpoint/2010/main" val="1640357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02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1ACE8-6367-41DE-A1B9-03FA7CEC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LEARNING OUTCOMES  |  30 MINUTES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49A18-11ED-4CE4-BE81-C4D75693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30分後、AIエージェントの任せ方を3つの言葉で説明できます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1FFD6-829D-4582-8979-966F08BE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3467100" cy="262890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680B4-1189-4CF4-86E1-A7DD494C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ACFA1-5CB7-49CF-BCD8-ECEC4C75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C68A2-A759-450C-9CB7-6075AB54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説明できる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466EA-C2C3-480E-AE66-F044B351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チャットとの違い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期待結果 → Tool → テスト → 証拠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0A290-6298-42C8-AB18-5FD8DF9E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3467100" cy="262890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4F11D-76E9-42E1-BE81-A3CEDE95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BCDAE-0CDB-43EB-8DA1-7CE7F914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FF8A00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AC6E9-8D0A-4083-BE17-3D32B09A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使い分けられる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B66FF-F6EF-42F4-ADEE-0D6B7B38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718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IDE / CLI / SDK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仕事に合う入口を選ぶ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0089E-3B34-4201-B98F-92B0602B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66900"/>
            <a:ext cx="3467100" cy="262890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E22870-F152-4CC9-B5FB-24B26AE5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669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E3E37-B53B-4CED-AB30-03C9EDF8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16A56A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673A0-3992-4CFE-B2E3-22BCE029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安全に任せられる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6C1FB-9752-48BA-B764-87FDE09C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目的・境界・証拠・承認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人が持つ責任を外さない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F4B710-E261-490A-B21D-F79928D7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8572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53BFA6-0D37-49C6-A1C8-B9042611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24450"/>
            <a:ext cx="792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成果物は学習サイト。学ぶ対象は『AIエージェントとの仕事の進め方』です。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03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10834-A538-4398-9AFE-DC8E9EE9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ORIENTATION  |  FIVE PRODUCTS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5E7FD-0CB8-49FA-8509-98FAD1EF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同じAIエージェントでも、得意な仕事と操作面が違います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95304-FDBC-4512-B1C3-D109433E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072640" cy="3714750"/>
          </a:xfrm>
          <a:prstGeom xmlns:a="http://schemas.openxmlformats.org/drawingml/2006/main" prst="roundRect">
            <a:avLst>
              <a:gd name="adj" fmla="val 367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FFF8B-C4F5-44F4-A791-C6ECFFF0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24832-7CEE-4FE3-B1AE-E5CE6641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Codex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0E174-DA64-4063-B4B2-76225176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DD2E9-3078-49D0-8BB4-F1FF9041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開発 + 周辺業務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65D16-AE0C-44A1-8275-2ADB10AB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8A7B2-04B6-4FDF-8269-5468CC2F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desktop / CLI / IDE / cloud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B6ABC-46BA-4A88-8601-1CF0D566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714500"/>
            <a:ext cx="2072640" cy="3714750"/>
          </a:xfrm>
          <a:prstGeom xmlns:a="http://schemas.openxmlformats.org/drawingml/2006/main" prst="roundRect">
            <a:avLst>
              <a:gd name="adj" fmla="val 367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2F26F-360E-4B4A-A024-980A5E36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3F3FD2-E6D5-4D6A-82EA-1355ABE1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FF8A00"/>
                </a:solidFill>
                <a:latin typeface="Yu Gothic UI"/>
                <a:ea typeface="Yu Gothic UI"/>
                <a:cs typeface="Yu Gothic UI"/>
              </a:rPr>
              <a:t>Claude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D8878-115C-432F-AE6E-24093BB8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4C84D-ED24-43F5-B0D7-548499C0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ソフトウェア開発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AA475-0DC6-4D63-9B7A-B70DA77E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EA10C1-1DC4-48DA-8005-C9406D48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terminal / IDE / desktop / web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B6319-587C-4D2B-B2DD-C3FD33DA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1714500"/>
            <a:ext cx="2072640" cy="3714750"/>
          </a:xfrm>
          <a:prstGeom xmlns:a="http://schemas.openxmlformats.org/drawingml/2006/main" prst="roundRect">
            <a:avLst>
              <a:gd name="adj" fmla="val 367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734537-B556-4F35-9664-28F0E14D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9CECF1-E4C7-4C2A-9711-34825F99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6A56A"/>
                </a:solidFill>
                <a:latin typeface="Yu Gothic UI"/>
                <a:ea typeface="Yu Gothic UI"/>
                <a:cs typeface="Yu Gothic UI"/>
              </a:rPr>
              <a:t>Claude Cowork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2BD57F-8811-4F15-B778-64B60D23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ED14B2-3749-45E6-ACEF-1E9CE82D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ナレッジワーク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F1348A-CE62-499C-A6CE-DA792448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4DA6EE-6054-4EDA-A759-DA66DF0B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desktop / web・mobile beta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A1E4FA-2FBC-4A41-B6A6-E1DC2B04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1714500"/>
            <a:ext cx="2072640" cy="3714750"/>
          </a:xfrm>
          <a:prstGeom xmlns:a="http://schemas.openxmlformats.org/drawingml/2006/main" prst="roundRect">
            <a:avLst>
              <a:gd name="adj" fmla="val 367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3CABED-34D4-4F5D-8435-22ABD071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2245AC-9ED2-4ACB-8D3A-976ECB49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B61A8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6F5BD3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AF1400-995A-4399-9D6C-034CE624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A1897F-0FEF-4074-87E3-734A4A7D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仕様駆動開発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39AD0B-A1F6-434C-A773-9698BCDC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FEF4E3-B6D0-44FB-974E-988BDCCD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IDE / CLI / web preview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146D1A-F798-48B9-875F-EBB4C589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1714500"/>
            <a:ext cx="2072640" cy="3714750"/>
          </a:xfrm>
          <a:prstGeom xmlns:a="http://schemas.openxmlformats.org/drawingml/2006/main" prst="roundRect">
            <a:avLst>
              <a:gd name="adj" fmla="val 367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0F6259-3269-4DD5-8C19-52AACD45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38AD76-20E5-4484-A45A-8FD0CC5C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D9485F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DB3241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475064-0EC1-4282-AE4E-134DBFE0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F4AB14-9D9F-4571-B24F-965B06B9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計画 + 実装 + Browser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A256EF-A090-4241-BD1B-FAD6E3CD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97C252-9BA3-4BE0-BC02-91394847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IDE / CLI / SDK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04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6D16D-363A-4F04-B765-D671133C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COMPARISON 01  | 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6B63B-698F-4BF4-9C2F-9B164118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何を頼みたいかで、最初に触る製品を選びます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F9E05-9A5A-48CB-B86D-59F7AFE6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FEA33-C2A3-44C6-8E5E-002D5474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製品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6BC0F-C05D-4AFA-A5E8-A1462C6E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5621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95382-37EF-4AD9-8BCA-53865E0A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573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向いている仕事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8CE2F-E26C-4F52-A1A1-01B4E2BF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621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2EC7B-179B-4D72-A933-116BC2CA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5735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主な実行面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B643A-485E-4396-BDC2-EC888686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562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40450-8E43-49ED-8FE2-C6857D82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最初の一歩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7A929-4C4D-4137-8651-1A45B0CA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C0819-4742-4D96-961A-84730727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Codex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FE507-FF70-4E31-A77F-977BE769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812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2A54C-0051-4223-8416-2E201ED9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95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理解・実装・修正・テスト・レビュー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52A063-06E1-43EE-92CD-5C0505D5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812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14D03-6A0D-4815-A75C-00722440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955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desktop / CLI / IDE / cloud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49E6F7-AFC4-46BC-BB61-9B80C484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783FE0-DA2B-4C2E-BE0E-DCD4CAAE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小さな不具合を調査し、修正とテストまで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F68349-9D00-496A-9254-25346081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62D8CD-85F3-4B95-9511-41B7C7DD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Claude Code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20EAE5-6565-4D07-983F-F75AB46E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241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4A3ACC-367A-4CFB-9D9D-FEAB29AB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384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複数ファイル開発・Git・反復自動化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637EB1-AA1C-4D6B-87A9-F58FD775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24AD13-3A9F-42DE-9169-A9C4F4CF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38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terminal / IDE / desktop / web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414689-17E3-4B6C-BE83-4AF55D75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46314C-B27B-4C19-BEC3-8BF59E58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未テスト機能へテストを追加して修正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529FDE-6F9B-4894-8826-7953C136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76A88-35B5-4A35-8D8F-16AD2C38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Claude Cowork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731284-E6CD-4F8C-BE84-239720D3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671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41C43D-52E2-4390-9CF4-95CD7FA3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81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調査・資料・表計算・ファイル整理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13622F-573C-4989-B42E-E505AF4D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671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D6A1D6-8069-4E7A-873D-0C50362A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81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desktop / web・mobile beta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219539-1FDE-4A21-9678-8E688156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6710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FB85EE-D980-4194-8F0E-9A5D25A7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814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複数資料からレビュー可能な文書を作成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3F2923-CA4F-48CB-ACDE-839D3AD2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0B9B1A-C0B9-4BBC-87EC-AF4E7274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482B73-03AB-4479-BD2F-7B0A090C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100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86FC07-32F7-40DD-8613-2B2EF4B5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24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要件・設計・タスクを伴う仕様駆動開発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2B5D78-DBB0-4388-B4DC-1422C069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100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CC4E97-39EB-4DF7-A213-E670C685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243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IDE / CLI / web preview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296BBC-27DE-4CA0-B399-B865532F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1005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995D9C-128F-4720-A646-D5F82A21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2435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新機能をrequirements / design / tasksへ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635CF6-18B4-4EF0-AC0D-FE7E15FC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CEE580-2E4F-41D0-86A7-08B34EF8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76DA2B-41F4-4771-8785-F1539C8A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530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E45C44-52F9-4C95-AFFA-B862620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673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計画・実装・Browser検証を伴うWeb開発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A1984B-B22D-47AA-BE7F-3B247E9B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530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A9841B-8910-422C-B76F-241F3CB3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6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IDE / CLI / SDK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A160D5-B8C5-45F7-ABA4-869FF06C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5300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3A66EC-96DB-403D-963C-344E0009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673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1ページサイトを作りdesktop/mobile確認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05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67941-EB5E-4BB4-ACA3-BA7758B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COMPARISON 02  |  CAPABILITIES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0DC6D-8DF4-478B-94A3-9939025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指示・能力・接続・証拠を、製品ごとの仕組みで組み合わせます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F31DC-68CD-4A3E-B7F6-B5C1412E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6FB62-E5FD-47D8-9DD1-D355732B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製品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A65F6-F2C5-4C07-93AA-910335CF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62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D02B3-5A47-45B6-B83A-DF0C95B3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持続する指示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470F7-2169-4746-8786-CA9D3513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62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A9886-B0EC-41B8-9000-29114CCB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5735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再利用能力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A19E6-F6E4-4E50-A92F-5B1E0E69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621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24246-54D5-4A4B-AD21-0FD2C8C0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外部接続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C0C3C-C1D6-4280-926F-6D3B2884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621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6FED8-FECE-418E-A1E5-2A33FB38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573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計画・証拠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2B2393-FA1D-432E-B823-10E77901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216D3-45AC-41B3-BAF5-F64B84AC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Codex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C2B9C-D93D-427E-90D3-AEBB856A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812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CDC12-1BE4-48AC-A5E2-D9BFD2EB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95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AGENTS.md /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B7109-518F-4542-96C7-17EDD612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812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9F535-CBF5-4A2C-B510-DF43AA8D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Skills / Plugins / Hooks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707FC-AB9F-4B9E-9EE4-A0AAF1AE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812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DBE630-1A07-4D7A-B942-97A8B2E8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MCP / Connectors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DEA464-8E3D-4D5A-AC6F-4EC24763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F43027-ECBC-42A3-9C76-81B48449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55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Plan / diff / files / PR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9DD86A-07FB-4DD5-A10B-8E5AE54B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D9A25D-C80C-447C-B40A-CEF2090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Claude Code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F275D-A1DD-4947-813E-8ECD44E4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241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71D841-0BFB-4911-921F-CA4E0BE6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38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CLAUDE.md / memory / rules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FAE0CB-4C67-4F28-AE92-FE604018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505253-14B9-467D-A236-C1DF225A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Skills / Plugins / Hooks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0C819B-63ED-4A6A-A7AC-8EFD4020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F37DF6-547E-40AD-B89D-C41CBD97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38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MCP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3E671C-1FEB-4011-AA43-FE94034D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254FD0-0FBF-492E-9A7E-D1C11734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384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Plan review / diff / PR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A22139-714B-4B70-841C-B882CF02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8B950B-DB5D-4B02-AD0D-0EEBCFD9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Claude Cowork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F185C4-6FE7-4588-B31E-C810B784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671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311AA7-2E4F-4E80-A361-E2C1E1C9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Projects instructions / memory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80FC2E-B71D-4D60-82FE-690D7351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671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A689B8-006E-42A2-9673-69DFBF37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1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Skills / Plugins / sub-agents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447293-EA47-42E8-9536-EBFD252D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671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0B3AE2-5EB3-4F33-A740-45E87F5E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814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Connectors / local MCP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6541A1-6BE2-434F-8063-438895E1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671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3B11BB-0962-4252-A813-D94EB656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814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docs / sheets / slides / artifacts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A0E863-F2C7-4E5A-96D6-CEBA8AD4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EB2385-5893-4CD7-A38C-8A952BDD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2B3E52-4373-445D-BFE4-9588ABAC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100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386BFF-C659-4C3D-9519-2765F09C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243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Steering / AGENTS.md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881652-8D98-4015-8198-6EA79FD8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100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B320CB-0923-4863-B61A-4EF58904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243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Skills / Powers / Hooks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8E699A-A48B-4B65-BE1B-539D2039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100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2A1A27-B05B-46D1-B585-F486FF00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243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MCP / Powers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F96297-62F9-49FB-B21A-17AD3F16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1005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3D328C-C834-4837-BB35-0B72DA7F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43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Specs / tasks / checkpoints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A8F5CD-162B-4D2C-8F7A-2E9E5A14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A491475-A97A-4CC6-A990-B669D175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7ED156-3530-4787-A844-7A6C8323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530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00E08A-D2D8-46EB-870F-CDD94736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673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Rules / GEMINI.md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1343F0-A817-4A44-A841-B3973BCC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530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C86186-29B0-4B85-AD17-4C536E28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673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Skills / Workflows / Plugins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6E6A18A-49DE-4F0A-B6C0-C56B8CAB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53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7FA1897-05B2-48E8-928C-1CC6C84B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673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MCP Store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760B6E-896C-4B41-A542-E1E936EF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530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B754A63-E304-4611-B149-85BE750C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673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Artifacts / plan / diff / recording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06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167AF-52E5-4D27-BC62-02747745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TERMS  |  DO NOT MIX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9EA64-417C-4E3B-AC90-9120A59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SteeringとPowersはKiroの正式機能名です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61AEF-5CBF-4DD1-BC29-11A762DD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714F9-2842-456A-9878-EAAE785E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B61A8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6F5BD3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F9D54-E2A4-436E-91A7-94E7BB86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FEC0A-8DF3-44D8-AD65-B389BC50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STEERING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Markdownで知識・規約・技術選定を持続。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always / fileMatch / manual / autoで読込み。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POWERS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POWER.md + MCP設定 + 任意のSteering / Hooks。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必要な専門能力だけを動的に読み込む。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38A67-9E8D-49FC-BE9B-D45A22E5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5C046-516F-4711-B15C-C7E6754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DCE12-5A50-4CF1-90C2-A964F545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786DF-0A24-46ED-BBE8-0D640A49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RULES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持続するプロジェクト指示。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WORKFLOWS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Slash Commandで呼ぶ反復手順。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SKILLS / MCP / ARTIFACTS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再利用能力、外部接続、計画・差分・録画。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KiroのSteering / Powersという機能名は付けない。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07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86AAA-28B8-4393-BD32-0AD90E22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RUN OF SHOW  |  EXPLAIN → RUN →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637F8-86CB-4D54-90E2-D9B454AA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短い説明の直後に実演し、毎回ひとつの証拠を確認します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F6D92-9E39-4241-88AD-FDB304EE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00:00–02:00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9281B-F525-4B7F-B915-9DDBD7F4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Goal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BCE12-B032-4677-B712-9B17BDCB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1447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到達目標を宣言 → 会場へ経験値を1問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502AD-7EA3-419F-B8AB-38C353B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02:00–04:00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9A044-EFFD-46DE-BC04-F288D812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716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/grill-me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CAB6D-FC67-4E15-BD16-7163DDC4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8120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Skillを説明 → 貼付 → DECISIONSを見る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A86BD-45E4-4C0A-9517-20A16AC3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04:00–07:00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73880-E09F-45BE-92F0-5766D2A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/find-skills + install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BD407-D784-4093-AAE1-477FDCA6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4792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探索を説明 → 実行 → 出典と導入先を見る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36E9A-6B1B-4F73-84DC-36E2A212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07:00–10:00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FF1AC-5802-44AF-9EB1-9335EE76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05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TEST SPEC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5D0A0-8FFB-4653-A2B0-B9E3F152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1465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期待結果を固定 → testsを実行 → REDを見る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9F397B-404D-4549-BB54-37F79563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10:00–18:00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078920-F72E-4668-8530-A8BD6B92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71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C41B4-D5C7-493D-8F2D-5704A572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8137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実装 → 部分PASS → Skill適用 → GREENを見る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907411-EB5E-42C1-8739-FEA0DC7B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0047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18:00–20:00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E845D-EF1A-4FEA-8B91-8B8740F6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385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CLI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3634B-54E3-4666-89D9-B00EBB2B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4810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用途を説明 → 監査 → 4行の証拠を見る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CED7C9-1ABB-4F5C-AAC3-38404DCE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20:00–22:00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DF552E-81BA-4330-BEEC-31EDF6F1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05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SDK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037730-EB2D-4B61-9627-267373B1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1482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仕組みを説明 → 実行 → policyとstreamを見る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EFAF72-C080-49CA-AEDA-CA926F38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22:00–24:00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FEFC6B-DC14-40F9-BE07-70FB1B2B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720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MCP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7BBE0F-7A9B-4711-83E8-28833E3F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8155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権限を説明 → 読取 → repo / Pagesを見る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D115C2-519D-4308-B128-3A9503E9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24:00–30:00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DE8935-C35B-49D4-BA3C-B1A47CF1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38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Publish + Proof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882A6-D323-4B92-9C44-F5764D8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4827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承認 → 8 tests → 公開 → HTTPSを見る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08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3A4FF-3055-4D4E-BDE2-BB81A129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PRE-FLIGHT  |  PEOPLE +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C7AEC-A657-4D0A-AEF6-7990586C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安全境界と参加者の現在地を、開始前に固定します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9443F-B7DA-4497-8083-B4871A66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AA6C6-21B0-4D58-B95B-D9D6469E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開始前チェック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14AAA-A1CF-42E6-97F6-04E6AB90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C4E2C-6BA2-4BE4-89AC-71995A2F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01  Antigravity IDE / CLIへサインイン済み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02  専用repoだけを開いている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03  remote / branch / statusが予定どおり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04  /grill-me と /find-skills が表示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05  frontend-design は未導入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06  agy 1.1.11を起動確認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07  CLI TUIで対象4ファイルのreadだけ許可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08  SDK 0.1.10 import + dry-run PASS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09  GEMINI_API_KEY / quotaを前日に確認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10  SITE_BRIEF = SYNTHETIC_DATA_ONLY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4D50E-B896-4FF6-A12C-33CF5ED7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16991-1FEA-40E7-BCAE-6DE56157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公開先 + 会場チェック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1014C-207B-4080-A699-93544ED7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A3F55-5BB6-4B0B-8EA8-F59C74D1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REPOSITORY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kanta13jp1/mighty-link-antigravity-live-demo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PAGES URL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https://kanta13jp1.github.io/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mighty-link-antigravity-live-demo/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会場への1問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AIエージェントでファイルを変更した経験は？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0回 / 1回 / 複数回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本番サイト・認証情報・顧客情報は触らない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公開は正確な『公開して』の後だけ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09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6ce1bc07548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9E977-AE63-497D-A318-970C3DB2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PROMPT 0  |  /GRILL-ME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4088E-09CF-4A9A-8A59-BBCF231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実装前に、目的・除外・停止条件・成功条件を言葉にします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2B47C-15B7-41EE-964A-69C2F95D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49CDD-24A9-41E0-BC49-50A52FE4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/grill-me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823D6-935F-414D-8FF3-46C2C1C7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CD30E-2D17-4C7E-AF33-31846149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082532"/>
          </a:solidFill>
          <a:ln xmlns:a="http://schemas.openxmlformats.org/drawingml/2006/main" w="0">
            <a:solidFill>
              <a:srgbClr val="0825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587908-5E27-4EE7-B139-0315B2BF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232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Prompt 0 / /grill-meで実装前の判断を固める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/grill-me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30分のライブデモで「AI Agent Learning Hub」という1ページWebサイトを作ります。実装前に、矛盾や不足がないか厳しく確認してください。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確定済みの前提: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観客は非エンジニアと開発者の混在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サイトはCodex、Claude Code、Claude Cowork、Kiro、Antigravityの5製品を短時間で比較できる研修用成果物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ゴールは、観客がAIエージェントによる要件整理、制作、改善、検証、公開の流れを理解すること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- 5製品の公式機能を比較するが、ライブ操作はAntigravityだけを使う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公開可能な製品説明とローカル画像だけを使い、個人情報、顧客情報、認証情報は使わない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ログイン、フォーム送信、外部API、分析タグ、永続保存は作らない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専用GitHub Pagesリポジトリだけへ公開する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- 30分以内にSkill導入、初版作成、改善、公開確認まで見せる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実装結果を大きく変える質問だけを最大2問、1問ずつ質問してください。各質問には推奨回答と、その理由を1行で添えて、私の回答を待ってください。私が「推奨案で進めてください」と答えた場合は、その推奨回答を採用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回答後に「決定事項／見送ること／停止条件／成功条件」を4区分で要約してください。この段階ではファイル変更、コマンド実行、外部通信を行わないでください。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218437-A6B5-4E24-BB69-DF485A9F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74C8D8"/>
                </a:solidFill>
                <a:latin typeface="Yu Gothic UI"/>
                <a:ea typeface="Yu Gothic UI"/>
                <a:cs typeface="Yu Gothic UI"/>
              </a:rPr>
              <a:t>正本: docs/demo/antigravity_workshop/PROMPT_00_GRILL_ME.txt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10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18901-B4ED-4F3E-8F91-A03860B0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/GRILL-ME  |  WHY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77D96-5FF5-4EB9-816B-ACCD7D14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Skillは、会話のたびに再利用できる仕事の型です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C641A-0035-4E8B-8931-070382C8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C8531-8C9A-4FF5-9A94-F80CD540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/grill-me の役割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89FCA-BE6F-47F4-AEE9-8913A2E0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BE53C-4149-4401-80C7-10DBE611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曖昧な依頼を実装前に質問する。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結果を変える判断だけを残す。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今回の制限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・質問は最大2問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・1問ずつ + 推奨案 + 理由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・回答を待ってから次へ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・ファイル変更 / コマンド / 外部通信なし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3CA93-4CFB-4943-A775-CAA4A542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78E22-6AE2-408C-962D-152769C2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期待する出力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EDE3D-99DA-4592-8CDF-066FBE19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1C494-C7C1-4F9F-A2A8-C2267114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DECISIONS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読み手 / 1画面の仕事 / 必須機能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OUT OF SCOPE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ログイン / 送信 / 外部API / 永続保存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STOP CONDITIONS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専用repo以外 / 秘密情報 / 90秒停止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SUCCESS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5カード / 5・4・1・5 / 最大2比較 / 2 viewport / HTTPS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11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ff57bda9549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96D75-4E60-47BB-99FE-97959008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PROMPT 1  |  /FIND-SKILLS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461F5-9548-4929-99E1-3F1F6A9D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実装を始める前に、信頼できる専門能力を探します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3BC27-FACF-4955-8DE0-48FFE587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B1217-8BD8-48E8-AD47-91DC67C5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/find-skills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88340-9068-4BC9-A5EA-E794D1D9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510C1D-8BBC-4D91-B9A0-4629A96D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082532"/>
          </a:solidFill>
          <a:ln xmlns:a="http://schemas.openxmlformats.org/drawingml/2006/main" w="0">
            <a:solidFill>
              <a:srgbClr val="0825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64628-DD21-4DDF-B6B0-C80BB7AD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306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Prompt 1 / /find-skillsで専門能力を探す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/find-skills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5製品を比較するAI Agent Learning Hubの、情報設計、Webデザイン、レスポンシブ品質、アクセシビリティを改善できるAgent Skillを探してください。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最初にskills.shの上位候補を確認し、次にSkills CLIで`npx skills find "frontend design"`を実行してください。候補は3件までに絞り、次を表で比較してください。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Skill名と用途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インストール数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公開元とGitHub stars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セキュリティ監査の結果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インストールコマンド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skills.shのURL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公開元の信頼性、利用実績、監査結果を確認して推奨を1件選び、このデモで何を改善させるかを2行で説明してください。まだSkillのインストール、ファイル変更、外部サービスへの書き込みは行わないで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CD5CC-7AC5-46F1-9EF6-84FF866F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74C8D8"/>
                </a:solidFill>
                <a:latin typeface="Yu Gothic UI"/>
                <a:ea typeface="Yu Gothic UI"/>
                <a:cs typeface="Yu Gothic UI"/>
              </a:rPr>
              <a:t>正本: docs/demo/antigravity_workshop/PROMPT_01_FIND_SKILLS.txt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12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5B322-5CB4-40AD-AE59-4F24B8A0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/FIND-SKILLS  | 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37E2B-53C2-4A4D-B794-82AE337D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見つけるだけで終わらず、公開元・利用実績・監査・中身を確かめます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660E5-2258-44A9-B0A6-C17A9374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36A16-B55C-4880-9CCE-D7FBB8DA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推奨: frontend-design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25E71-D70B-4F77-A9CA-C7D7BCDC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CE820-BB86-42AA-AA25-3A30B2DF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anthropics/skills@frontend-design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検索時点: 約75万インストール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公開元: Anthropic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GitHub実績: 公式repositoryで確認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監査: CLI / skills.sh表示を確認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導入: project-local + --copy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用途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情報設計 / タイポグラフィ / 配色 / 余白 / responsive / accessibility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21ABD-D4A8-41CA-ADCF-A9501CB6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884F9-C30E-4590-9A23-85158F63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Skillの3段階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CC9A0-523C-4D89-A9B5-EB7BF11B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03EAE-E264-44A0-9851-456C0704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1  DISCOVERY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名前と説明だけで候補を見つける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2  ACTIVATION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必要なSkillのSKILL.mdを読む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3  EXECUTION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必要な手順・資料・scriptsだけを使う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Skillはエージェントと同等の権限で動き得る。導入前レビューが必要。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13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478e58d3d41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4DC47-584D-423A-8BC2-85197C0F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PROMPT 2  |  INSTALL SKILL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17F04A-A894-44E1-8AA7-CF9BA881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推奨Skillを専用リポジトリだけへ導入します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CF2C5-B7A5-47BB-AD39-E7B73850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961A7-D248-427D-921B-835F83B9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INSTALL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F94C81-C925-4060-89C4-39D084FD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0FCF5E-54A7-4DA6-BDDC-D4725832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082532"/>
          </a:solidFill>
          <a:ln xmlns:a="http://schemas.openxmlformats.org/drawingml/2006/main" w="0">
            <a:solidFill>
              <a:srgbClr val="0825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A55A6-42B3-47BA-BDE5-31351609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824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Prompt 2 / frontend-design Skillを専用環境へ導入する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推奨された`anthropics/skills@frontend-design`を、この専用リポジトリだけへインストールしてください。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最初に`git remote -v`、現在branch、`git status --short`、`npx skills list --json`を確認してください。remoteが`kanta13jp1/mighty-link-antigravity-live-demo`、branchが`main`でない場合、または`frontend-design`が既に存在する場合は、何も変更せず停止してください。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条件が一致した場合だけ、次を実行してください。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`npx skills add anthropics/skills@frontend-design --agent antigravity --copy -y`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インストール後に`npx skills list --json`と`.agents/skills/frontend-design/SKILL.md`を読み、次を報告してください。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インストール先がこのリポジトリ内であること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公開元が`anthropics/skills`であること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Skillの目的と、このデモで適用する3つの観点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監査結果または確認できなかった項目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この段階ではindex.html、styles.css、app.js、GitHub設定を変更せず、commitとpushも実行しないでください。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EA7DD6-674A-4453-A490-AF33B814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74C8D8"/>
                </a:solidFill>
                <a:latin typeface="Yu Gothic UI"/>
                <a:ea typeface="Yu Gothic UI"/>
                <a:cs typeface="Yu Gothic UI"/>
              </a:rPr>
              <a:t>正本: docs/demo/antigravity_workshop/PROMPT_02_INSTALL_SKILL.txt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14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F0AA8-29F8-4E51-843B-419167A7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FRONTEND-DESIGN  |  DETAIL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F7530-DABF-4619-8942-7A34280A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Skillが変えるのは装飾ではなく、設計判断の質です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0D9C2-6489-48FF-9AE1-AC30E05F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16430-1788-42D7-9A32-5C9D8293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このデモで任せる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574D2-3266-4593-AFF0-14CAC59F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4FB62-6BA8-4506-9EF4-44903636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INFORMATION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5製品を短時間で読み比べる優先順位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VISUAL DIRECTION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明るい業務向け配色、文字、余白、密度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INTERACTION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絞り込み、最大2製品比較、状態表示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QUALITY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desktop / mobile / keyboard / aria-live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DF393-60AB-431E-8510-410F7FA0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F5736-9791-48A3-ACDC-84BB9935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任せない / 削除できる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9952A-6D7B-42D0-82B8-EBA28721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EC5B3-E10F-4284-B765-78DCF726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FACTS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製品機能の事実確認はSITE_BRIEF.mdが正本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AUTHORITY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公開権限、認証、Git操作の承認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DATA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外部送信、顧客情報、永続保存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SCOPE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.agents/skills/frontend-design/ にだけ導入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リハーサル後はCLIで削除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15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204df5adc49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7F3DE-2254-43F5-A173-CE4139E9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PROMPT 3A  |  TEST SPEC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CCEFC-1A30-46CF-8BD5-DE50197A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サイトを作る前に、期待動作と成功の証拠をテストへ固定します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31B45-CED6-4A8A-BA68-285E6490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4EA3F-2E2D-4FC9-A51C-4B822DA9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TEST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54175-5382-4955-BEA6-5176B510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8DD5E-D4E4-4109-9707-BBDE7042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082532"/>
          </a:solidFill>
          <a:ln xmlns:a="http://schemas.openxmlformats.org/drawingml/2006/main" w="0">
            <a:solidFill>
              <a:srgbClr val="0825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F02693-F9AB-4130-BBB9-0DD35B14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842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Prompt 3A / 実装前にテスト仕様書と契約テストを作る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@SITE_BRIEF.md を読み、サイトを作り始める前に、期待動作をテストとして固定してください。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最初にTEST_SPEC.mdを作成し、各ケースへID、優先度、前提条件、操作、期待結果、証拠、実行方法を記載してください。対象は次の10件です。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T01-T05 自動: 必須ファイル、タイトル、5製品、表示項目、SYNTHETIC_DATA_ONLYと外部依存・送信・保存なし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T06-T08 自動: フィルター件数5・4・1・5、最大2製品比較と3件目の拒否、aria-pressedとaria-live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T09-T10 Browser: 1440x900と390x844の横スクロール・文字切れ・重なり0、公開HTTPS URL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続いてPython標準ライブラリだけを使うtests/test_site_contract.pyを作成してください。T01-T08を8つの独立したunittestとして実装し、テスト対象はリポジトリ直下のindex.html、styles.css、app.jsとします。サイトファイルがない場合もテスト収集を中断せず、各不足をFAILとして表示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この段階ではindex.html、styles.css、app.js、画像、設定を作成・変更しません。外部ライブラリの導入、外部通信、commit、pushも行いません。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python -m unittest discover -s tests -v を実行し、1件以上FAILするREDを確認してください。すべてPASSした場合は想定外として停止してください。最後に「仕様書／自動テスト／REDの理由」を3行で報告してください。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D009D-514E-40E5-8105-B9994732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74C8D8"/>
                </a:solidFill>
                <a:latin typeface="Yu Gothic UI"/>
                <a:ea typeface="Yu Gothic UI"/>
                <a:cs typeface="Yu Gothic UI"/>
              </a:rPr>
              <a:t>正本: docs/demo/antigravity_workshop/PROMPT_03_TEST_SPEC.txt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16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13E98-7ABF-4D9C-9520-60E2AE6A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TEST-FIRST  |  RED → PARTIAL → GREEN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81093-DBF5-4A84-B5E6-0713BF28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失敗するテストは、実装前に期待結果を固定できた証拠です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EFC0D-30BF-4B21-8C43-05EAA0C1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3166E-3743-4A5A-83CB-AA638760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TEST_SPEC.md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E3B52-7F87-4C5B-80F0-8A857476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9907F-D2BC-48B4-BFB8-7937F871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T01–T05  基本契約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必須files / title / 5製品 / 表示項目 / safety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T06–T08  操作契約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filter 5・4・1・5 / maximum 2 / aria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T09–T10  人が見る証拠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2 viewport / HTTPS public proof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テストの削除・skip・弱体化は禁止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E700D-4ED1-4D00-9C64-BE8DCB98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6FE3F-956C-4092-B978-BDD8E32F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見せる3段階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2F08C-EE29-4CFF-8322-6946F877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29491-49DE-4715-A18C-153C3FFD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RED  Prompt 3A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サイト未作成 → 1件以上FAIL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PARTIAL  Prompt 3B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T01–T05 PASS / T06–T08 FAIL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GREEN  Prompt 4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自動8件PASS + Browser 2件確認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RUN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python -m unittest discover -s tests -v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17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fef2cb61343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CFDF6-42A8-40B7-BEF0-DE2C0B99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PROMPT 3B  |  BUILD TO THE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B720E-ECC0-4BB4-8459-6D331231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テストを変えず、まず基本5件だけを満たす初版を作ります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EFBE9-0D21-4D5B-B169-3D7471A6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3A27D-E8AB-443F-A6B4-34504A65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BUILD / PARTIAL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76B41-90B8-4088-B99C-C544D2A5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816CF-78F4-4919-B878-F6ABD5D0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082532"/>
          </a:solidFill>
          <a:ln xmlns:a="http://schemas.openxmlformats.org/drawingml/2006/main" w="0">
            <a:solidFill>
              <a:srgbClr val="0825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924D4-6F31-4A0A-8770-34C88352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7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Prompt 3B / テストを基準にAIエージェント学習サイトの初版を作る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@SITE_BRIEF.md、@TEST_SPEC.md、@tests/test_site_contract.py を読み、テストは変更せず、リポジトリ直下にindex.htmlとstyles.cssを作成してください。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サイト名は「AI Agent Learning Hub」です。Codex、Claude Code、Claude Cowork、Kiro、Antigravityの5カードを表示し、各カードに「向いている仕事／主な機能／最初に試すこと」を記載してください。assets/workshop-hero.pngをヒーロー画像として使用し、研修用サンプルであることと、2026年8月9日時点の公式情報に基づく概要であることを表示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この初版ではJavaScript、絞り込み、製品選択、比較サマリーを追加しません。外部ライブラリ、外部画像、外部フォント、実在する顧客・社員・連絡先は使用しないでください。index.htmlとstyles.css以外は変更せず、TEST_SPEC.mdとtests/test_site_contract.pyを緩めたり書き換えたりしないで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作成後にpython -m unittest discover -s tests -vを実行し、T01-T05がPASS、まだ実装していないT06-T08がFAILであることを確認してください。ブラウザでも1440x900と390x844のヒーロー画像、5製品、文字切れ、横スクロールを確認してください。最後に「変更ファイル／テスト結果／次にGREENへする項目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8BE8D9-379A-4673-8C2A-F729ABCF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74C8D8"/>
                </a:solidFill>
                <a:latin typeface="Yu Gothic UI"/>
                <a:ea typeface="Yu Gothic UI"/>
                <a:cs typeface="Yu Gothic UI"/>
              </a:rPr>
              <a:t>正本: docs/demo/antigravity_workshop/PROMPT_03_BUILD.txt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18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84A52-3C61-482E-9EC7-FFE835F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PROMPT 4  |  /FRONTEND-DESIGN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5165B-27AE-4E72-B2D2-82486C7D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Skillで残りの期待動作を実装し、REDをGREENへ変えます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80044-6465-4A88-B1F2-5D25D177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4686300"/>
          </a:xfrm>
          <a:prstGeom xmlns:a="http://schemas.openxmlformats.org/drawingml/2006/main" prst="roundRect">
            <a:avLst>
              <a:gd name="adj" fmla="val 162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91E3F-F357-4292-BD61-2F7504FF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/frontend-design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AB2EA-4E17-49BE-B038-67876016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049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AC681-791F-4CAC-93EF-DD2CA1ED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0401300" cy="3505200"/>
          </a:xfrm>
          <a:prstGeom xmlns:a="http://schemas.openxmlformats.org/drawingml/2006/main" prst="roundRect">
            <a:avLst>
              <a:gd name="adj" fmla="val 217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20549-F5F0-44FF-A02E-E595631E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99822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367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Prompt 4 / /frontend-designで残りのテストをGREENにする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/frontend-design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@SITE_BRIEF.md、@TEST_SPEC.md、@tests/test_site_contract.py を読み、初版を改善してください。テスト2ファイルは変更しません。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実装すること: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- 情報の優先順位、文字、余白、配色を整え、研修投影でも読める画面にする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- 4フィルター「すべて／開発／ナレッジワーク／計画・自動化」を追加し、件数を5・4・1・5にする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- 各カードに比較ボタンを付け最大2製品まで選べるようにする。3件目は追加せず案内する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- 選択件数、製品名、向いている仕事をaria-liveへ表示する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- app.jsでaria-pressed、キーボード操作、上限2件に対応する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- 色は#00A5E3、#EF7E00、緑、白、濃い文字色を使う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守る境界: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- 5製品と説明を維持し、SteeringとPowersはKiro固有機能として扱う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- 外部依存、送信、永続保存、commit、pushは行わない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- 変更はindex.html、styles.css、app.jsだけ。製品追加、料金、クォータ、ランキング、診断、検索、export、テーマ切替、動画、画像生成、Visual Feedback模擬は追加しない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- 開始前に変更予定3ファイルを報告し、範囲外が必要なら停止する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検証すること: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- python -m unittest discover -s tests -vでT01-T08がすべてPASS。テストを削除、skip、弱体化してPASSさせない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- 1440x900と390x844で横スクロール、文字切れ、重なりが0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最後に「Skillが変えた判断／REDからGREENになったテスト／ブラウザ検証」を3行で報告してください。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6BD46-D4BF-4E7C-B369-525114FA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正本: docs/demo/antigravity_workshop/PROMPT_04_APPLY_SKILL.txt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19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bd654b3a847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DA262-0D4A-4F64-8B20-141557C0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PROMPT 5  |  MCP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FFC6C-791B-4C1F-B217-2804C1F3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MCPは接続できることより、権限を限定して使うことが重要です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51C2E-F645-4107-8E6C-8B4DB98A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929B3-A422-4AFB-BBBE-21AD7C8F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MCP / READ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B98E9-A54B-46ED-8517-5F0F03A9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63C93-5540-47E1-90D8-A93D446A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082532"/>
          </a:solidFill>
          <a:ln xmlns:a="http://schemas.openxmlformats.org/drawingml/2006/main" w="0">
            <a:solidFill>
              <a:srgbClr val="0825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E7592-FDF3-42FA-965D-A35C5FA3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Prompt 5 / MCPで公開先を読み取り確認する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Antigravity IDEのMCP Servers画面でGitHub MCPの接続状態だけを確認してください。Antigravity CLIを使う場合は`/mcp`を開いてください。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GitHub MCPが接続済みの場合、読み取り専用で次を確認してください。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リポジトリ: kanta13jp1/mighty-link-antigravity-live-demo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default branchがmain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最新commitのSHAと件名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GitHub Pagesの公開URLまたは直近deployment状態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Issue作成、設定変更、認証追加、ファイル変更、commit、pushは行わないでください。GitHub MCPが未接続または情報を取得できない場合は、接続や認証を会場で開始せず「MCP確認は省略、gitと公開URL確認へ継続」と1行で報告してください。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E55AAA-21D4-4552-9B97-3884DFD9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74C8D8"/>
                </a:solidFill>
                <a:latin typeface="Yu Gothic UI"/>
                <a:ea typeface="Yu Gothic UI"/>
                <a:cs typeface="Yu Gothic UI"/>
              </a:rPr>
              <a:t>正本: docs/demo/antigravity_workshop/PROMPT_05_MCP_CHECK.txt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20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BE94C-8080-45E0-A87A-E0F232D5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MCP  |  PERMISSIONS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4E824-721E-40A0-B4E5-AC247364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MCPはAIと外部ツール・データをつなぐ標準です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B0558-4EA1-47E2-857A-3A9442CC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624138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2F572-2B31-46FE-AE7A-3D337D20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58354-3E61-478B-887A-DF34A3C7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1A5EB-39C0-4E6A-BE3D-4607782D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57F87-5232-4C82-BE29-6E9BE55D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目的と現在の文脈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A483B-6C4E-4E51-988F-FD50C5A2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190750"/>
            <a:ext cx="2624138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C2CA6-BC2B-45C1-95B0-25551026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C271C-A6B9-43F4-A61C-E8E18E24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8A00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07FF1-2924-47BB-B642-2B6FA431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MCP client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AFF16-9F12-4AAC-849E-3E9136AE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利用可能なToolを提示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D98042-86E2-44B6-ACE5-028CDFA7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90750"/>
            <a:ext cx="2624138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72AC5-5F03-4654-9CCC-9991D200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EECF2-686F-4788-8DF2-88859343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6A56A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D7FB8F-17EB-4FE3-AAAF-8DA907A9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MCP server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2E7EE-4111-4F9B-8B04-4C2D3B92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GitHubなどへ接続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86BE8-D4F5-4515-ACA2-27661AD3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190750"/>
            <a:ext cx="2624138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B7BD25-8C98-499F-8316-C32D26A8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8F85D0-082A-469B-99F1-CA546656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8E2204-173D-4D62-BE0D-7308412E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Tool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6DC2CF-13B4-4145-BC0C-C973CCEE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read / writeの操作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3C468C-8812-4028-BC27-41C5197C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8572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50E31C-4F8F-4C9C-853C-6C5E00A4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接続済み ≠ 実行してよい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BA7A8E-34B6-4C24-B349-C49E6CCE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768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B9D6E4"/>
                </a:solidFill>
                <a:latin typeface="Yu Gothic UI"/>
                <a:ea typeface="Yu Gothic UI"/>
                <a:cs typeface="Yu Gothic UI"/>
              </a:defRPr>
            </a:pPr>
            <a:r>
              <a:rPr sz="1125">
                <a:solidFill>
                  <a:srgbClr val="B9DDE4"/>
                </a:solidFill>
                <a:latin typeface="Yu Gothic UI"/>
                <a:ea typeface="Yu Gothic UI"/>
                <a:cs typeface="Yu Gothic UI"/>
              </a:rPr>
              <a:t>今回はGitHubのbranch / commit / Pages状態を読み取り確認。書き込みToolは使わない。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21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aa28551d649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2194E-5A68-4CBA-A78B-41CCDEA0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PROMPT 6  |  PUBLISH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B2316-BE7E-464C-9007-FC6DE0B9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公開は自動で始めず、差分確認と人の明示承認を必須にします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4B221-B427-487B-8A02-236328E7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28184-4CA4-437F-8C83-B035E7A6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B0C35-4704-4A22-9048-F2C4486D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C727E-5CAF-4B49-ACCD-AD4C1BBD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082532"/>
          </a:solidFill>
          <a:ln xmlns:a="http://schemas.openxmlformats.org/drawingml/2006/main" w="0">
            <a:solidFill>
              <a:srgbClr val="0825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A5C7B9-1881-4369-B62C-E9EE840A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066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Prompt 6 / テスト済みサイトをGitHub Pagesへ公開する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完成したAI Agent Learning Hubを、次の専用公開先へ公開する準備をしてください。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repository: https://github.com/kanta13jp1/mighty-link-antigravity-live-demo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branch: main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URL: https://kanta13jp1.github.io/mighty-link-antigravity-live-demo/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公開前にgit status、git diff --stat、git remote -v、現在branchを確認してください。remoteまたはbranchが違えば何も変更せず停止してください。.env、認証情報、トークン、個人情報、顧客情報が追跡対象になく、SITE_BRIEF.mdにSYNTHETIC_DATA_ONLYがあることも確認してください。`.agents/skills/`はadd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python -m unittest discover -s tests -vを実行し、T01-T08が8件PASSすることを確認してください。FAIL、テストの削除・skip・弱体化があれば公開せず停止してください。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公開対象はindex.html、styles.css、app.js、assets/workshop-hero.png、TEST_SPEC.md、tests/test_site_contract.pyの6ファイルだけです。Q&amp;A Prompt 8を実行済みの場合だけassets/agent-workflow-hero.pngも許可します。製品追加、料金、クォータ、その他の変更があれば停止してください。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commit messageと公開URLを報告したら停止し、「公開してもよいですか？」と質問してください。私が正確に「公開して」と答えるまでgit add、commit、push、GitHub設定変更を行いません。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「公開して」の後だけ指定ファイルをaddし、`Publish AI agent learning hub demo`でcommitしてmainへpushしてください。Pages完了を最大3分待ち、公開URLでHTTPS、title、5製品、フィルター5・4・1・5、最大2製品比較を確認し、「commit／公開URL／8 tests／公開確認」を4行で報告してください。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7281F-1581-4F63-BC3E-4731D1E9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74C8D8"/>
                </a:solidFill>
                <a:latin typeface="Yu Gothic UI"/>
                <a:ea typeface="Yu Gothic UI"/>
                <a:cs typeface="Yu Gothic UI"/>
              </a:rPr>
              <a:t>正本: docs/demo/antigravity_workshop/PROMPT_06_PUBLISH.txt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22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04C89-27D5-45B8-9631-91599F37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PUBLIC PROOF  |  SUCCESS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3043B-7E05-4D9B-A65F-A53B6DEC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『公開して』の後だけ、4つの証拠を揃えます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0D38D-4CB1-4AA0-B157-861B097F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595563" cy="3524250"/>
          </a:xfrm>
          <a:prstGeom xmlns:a="http://schemas.openxmlformats.org/drawingml/2006/main" prst="roundRect">
            <a:avLst>
              <a:gd name="adj" fmla="val 293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999BB-F8AD-4B3F-8C51-51473F5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79B5D-8884-488B-9CEC-11A1D51E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3273D-0047-4CB5-9035-74B62C61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remote / branch / diff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秘密情報なし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人の承認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E4EE6-9AB4-4FAC-8240-053F8FD9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DB737-8D48-44C6-AA20-518EE98C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771650"/>
            <a:ext cx="2595563" cy="3524250"/>
          </a:xfrm>
          <a:prstGeom xmlns:a="http://schemas.openxmlformats.org/drawingml/2006/main" prst="roundRect">
            <a:avLst>
              <a:gd name="adj" fmla="val 293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C9FB4-6423-475D-BA97-D0D472AF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B2C7F-0103-40DF-B58A-5860B177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FF8A00"/>
                </a:solidFill>
                <a:latin typeface="Yu Gothic UI"/>
                <a:ea typeface="Yu Gothic UI"/>
                <a:cs typeface="Yu Gothic UI"/>
              </a:rPr>
              <a:t>COMMIT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C3576-0A0B-40B4-8F22-FF191580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指定6ファイルだけ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8 tests GREEN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mainへpush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E26F4C-06A5-4991-94AE-9FAB177E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D8674-3B36-478E-A122-C5E3FA47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71650"/>
            <a:ext cx="2595563" cy="3524250"/>
          </a:xfrm>
          <a:prstGeom xmlns:a="http://schemas.openxmlformats.org/drawingml/2006/main" prst="roundRect">
            <a:avLst>
              <a:gd name="adj" fmla="val 293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541D63-B9F6-49B3-8EF1-AE1644FB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D2548-4265-4210-9AE9-69AF3989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6A56A"/>
                </a:solidFill>
                <a:latin typeface="Yu Gothic UI"/>
                <a:ea typeface="Yu Gothic UI"/>
                <a:cs typeface="Yu Gothic UI"/>
              </a:rPr>
              <a:t>HTTPS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29138-10DE-43EB-9C49-E1ABDE9E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Pages deployment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200 response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公開title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81B18-CDA2-4B2F-974F-248AC6B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A56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05664D-4599-417A-BCE5-DC14C10E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1771650"/>
            <a:ext cx="2595563" cy="3524250"/>
          </a:xfrm>
          <a:prstGeom xmlns:a="http://schemas.openxmlformats.org/drawingml/2006/main" prst="roundRect">
            <a:avLst>
              <a:gd name="adj" fmla="val 293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921AA8-870E-4024-AE55-C5644D2A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98BA01-9F23-4819-8093-352E866A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B61A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6F5BD3"/>
                </a:solidFill>
                <a:latin typeface="Yu Gothic UI"/>
                <a:ea typeface="Yu Gothic UI"/>
                <a:cs typeface="Yu Gothic UI"/>
              </a:rPr>
              <a:t>FUNCTION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C79B43-C357-44DE-9C98-FD0FE2EB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5 products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filters 5・4・1・5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maximum 2 compare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647F86-CA03-42E0-B58C-4AED16BA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F5B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23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E5B4E-CD14-410A-A650-8C25BBB1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REHEARSAL  |  ACTUAL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AD427-1801-4BD7-BE6B-9C769D9C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公開と改善は成功。追加改善だけで約78分かかりました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24e970ea548c4"/>
          <a:srcRect xmlns:a="http://schemas.openxmlformats.org/drawingml/2006/main" l="0" t="3333" r="0" b="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57350"/>
            <a:ext cx="685800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7DB8A-C2C7-4DC9-9853-62861BDA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771900" cy="4000500"/>
          </a:xfrm>
          <a:prstGeom xmlns:a="http://schemas.openxmlformats.org/drawingml/2006/main" prst="roundRect">
            <a:avLst>
              <a:gd name="adj" fmla="val 2525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01F6F-680A-451F-9E1C-494F6F13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24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ACTUAL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0C02E-C8A0-4F85-BB1A-263A6B2E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05cfa7c → 347ce89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11 commits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約78分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AF0F8-0115-46CD-9A3A-593E5D32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公開URL: HTTPS 200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製品: 5 → 9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追加: 動画 / Visual Feedback模擬 / Nano Banana模擬 / 検索 / 診断 / export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横scroll: desktop 0 / mobile 0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24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43CF3-97EF-4569-9847-6D6EC4BA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LEARNING DESIGN  |  MIXI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0A4A4-6766-4020-81D3-54BF6656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短い説明と実演を、テストの証拠でつなぎます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9D109-77C0-4442-B539-8D7BBD91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552700" cy="2647950"/>
          </a:xfrm>
          <a:prstGeom xmlns:a="http://schemas.openxmlformats.org/drawingml/2006/main" prst="roundRect">
            <a:avLst>
              <a:gd name="adj" fmla="val 298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54D81-2566-4A40-A5CB-CBCE7F59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FF1B2-3E61-416A-A656-363ADEF3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31A92-0BC7-48C2-B7ED-C66D4F0E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期待を固定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30FDA-2822-435F-BD25-44EBAAB9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作る前にTEST_SPECと成功の証拠を決める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FC687-0B61-4579-B1A2-743294F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552700" cy="2647950"/>
          </a:xfrm>
          <a:prstGeom xmlns:a="http://schemas.openxmlformats.org/drawingml/2006/main" prst="roundRect">
            <a:avLst>
              <a:gd name="adj" fmla="val 298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B4BC5-06BA-418C-95EF-4C416FFB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4CF4E-9AB6-473F-8F30-E2041238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8A00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58724-D7F9-46CE-A067-89DC96D0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REDを見る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24507-F92A-4665-A5EF-C112978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未実装のFAILを隠さず、現在地として共有する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F17E2-1C33-406E-A010-B8F5EE38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2552700" cy="2647950"/>
          </a:xfrm>
          <a:prstGeom xmlns:a="http://schemas.openxmlformats.org/drawingml/2006/main" prst="roundRect">
            <a:avLst>
              <a:gd name="adj" fmla="val 298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30746-7906-4DD8-A10A-37F36663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3477B2-6633-4E63-9950-601E5B9F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6A56A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D967FA-851A-4AF0-827F-16E1E373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GREENへ実装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ED9A41-7573-4CCF-8D56-0F2799AE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テストを変えず、差分・画面・件数を確認する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9DE1D2-C713-44D4-A979-56239130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90700"/>
            <a:ext cx="2552700" cy="2647950"/>
          </a:xfrm>
          <a:prstGeom xmlns:a="http://schemas.openxmlformats.org/drawingml/2006/main" prst="roundRect">
            <a:avLst>
              <a:gd name="adj" fmla="val 298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650641-40A0-46E6-84DE-DF570DD0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DFC14E-38D5-4C64-BB15-AEBA4C06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9485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DB3241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3CCFC2-54DB-4E2A-B51E-D6E2682E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言語化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1FE1D5-0D21-4334-A016-AE2FF425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『何を満たした？』を一問し、実務へつなぐ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7C92C0-FB66-4E62-88B1-B31F7098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92583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1066D1-4419-44AE-8DDB-A87B6A36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96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講師の一言: 『どのテストがREDからGREENへ変わりましたか？』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074D1A-6765-4D90-A9D3-68AAE578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788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参考: MIXI 26新卒技術研修 AI Day1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25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59E0B-DD8B-4435-8772-026107F2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ANTIGRAVITY  |  THREE SURFACES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94220-9F68-4870-BF7F-2B951469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同じagent coreでも、入口を変えると仕事の見え方が変わります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8D241-CC69-4208-BABD-5D99457B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467100" cy="3143250"/>
          </a:xfrm>
          <a:prstGeom xmlns:a="http://schemas.openxmlformats.org/drawingml/2006/main" prst="roundRect">
            <a:avLst>
              <a:gd name="adj" fmla="val 242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57527-BB0B-423A-891A-E5DC0E3F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CCF2D-6453-4DEE-B24E-18BE70D9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2550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66538-661E-4691-92FF-8D144A65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見る・相談する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57968-D829-4FE6-AFC8-C911C6D9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Agent Manager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Editor / Browser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Artifacts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335A1-0700-4651-B3BF-1AB92CAD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3467100" cy="3143250"/>
          </a:xfrm>
          <a:prstGeom xmlns:a="http://schemas.openxmlformats.org/drawingml/2006/main" prst="roundRect">
            <a:avLst>
              <a:gd name="adj" fmla="val 242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49E53-E74D-42CC-81F8-BDF517E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4EF61-B763-4F54-A497-606DDBEF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2550" b="1">
                <a:solidFill>
                  <a:srgbClr val="FF8A00"/>
                </a:solidFill>
                <a:latin typeface="Yu Gothic UI"/>
                <a:ea typeface="Yu Gothic UI"/>
                <a:cs typeface="Yu Gothic UI"/>
              </a:rPr>
              <a:t>CLI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E8F23-91AC-4582-9847-97778A1F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03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速く確かめる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E8E4A-997F-42A4-AAAF-A06A92F0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keyboard-driven TUI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local / SSH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short iterations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5C305-7F43-4447-8074-E5393844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467100" cy="3143250"/>
          </a:xfrm>
          <a:prstGeom xmlns:a="http://schemas.openxmlformats.org/drawingml/2006/main" prst="roundRect">
            <a:avLst>
              <a:gd name="adj" fmla="val 242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19026-0682-4054-B757-69FC38D2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00DA3-B262-4CCF-8F6C-F12B5E14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2550" b="1">
                <a:solidFill>
                  <a:srgbClr val="16A56A"/>
                </a:solidFill>
                <a:latin typeface="Yu Gothic UI"/>
                <a:ea typeface="Yu Gothic UI"/>
                <a:cs typeface="Yu Gothic UI"/>
              </a:rPr>
              <a:t>SDK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F55012-F451-43F6-A5E1-EB6EE776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仕組みに組み込む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FE7C2D-A63C-44D6-B62B-D5BF13C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Python agent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policies / tools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stream 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49C548-22F5-4828-8FF2-C78DEDFC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19700"/>
            <a:ext cx="937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本編では IDEだけが制作。CLIとSDKは同じrepoをread-onlyで監査します。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26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77ABB-3CF6-40F7-892A-9E4791E3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IDE DEMO  |  VISUAL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BD3F6-34C3-4996-91DD-7C3146FC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IDEでは、依頼・コード・ブラウザ結果を同じ視野で追えます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0db63b7164bad"/>
          <a:srcRect xmlns:a="http://schemas.openxmlformats.org/drawingml/2006/main" l="0" t="3943" r="0" b="39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57350"/>
            <a:ext cx="802005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81E96-C997-4617-BD72-B89E3243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57350"/>
            <a:ext cx="2609850" cy="4000500"/>
          </a:xfrm>
          <a:prstGeom xmlns:a="http://schemas.openxmlformats.org/drawingml/2006/main" prst="roundRect">
            <a:avLst>
              <a:gd name="adj" fmla="val 292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C3486-1B98-4BE3-BAD0-D5B1F086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621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LIVE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BFD2D-FBBD-4FF3-90AD-EE67FB36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0764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68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Terminal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RED → GREEN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Agent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計画とtool実行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Editor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仕様と変更files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Browser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実際の成果物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118A8-B4EE-4DBA-A2FE-29D8C94E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テスト結果と画面を同じ視野で追う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27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871ebe99444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CE821-B2E9-4FC6-828F-A079EEFC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CLI DEMO  |  READ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4B6FB-EC0F-4831-9AD6-A5B54F94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CLIでは、同じrepoをターミナルから2分で監査します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0CFD7-F2CD-43A5-86D0-E47F7FC9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D0B1F-0DFB-4D61-BE46-43A4DFF4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INTO AGY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4AEAA-A125-4348-BE85-ED200727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920867-9AEF-457D-BFDE-F38A7787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082532"/>
          </a:solidFill>
          <a:ln xmlns:a="http://schemas.openxmlformats.org/drawingml/2006/main" w="0">
            <a:solidFill>
              <a:srgbClr val="0825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7AF28-456F-46F1-8E86-6DB50918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58688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CLI DEMO / READ 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Antigravity CLIから、現在の専用デモリポジトリを読み取り専用で監査してください。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対象: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index.html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styles.css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app.js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SITE_BRIEF.md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制約: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ファイルの作成、変更、削除をしない。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shell command、外部通信、commit、pushを実行しない。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認証情報、個人情報、環境変数の値を表示しない。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読み取れない項目を推測しない。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次の見出しと順番だけで、日本語の短い結果を返してください。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SURFACE: ANTIGRAVITY CLI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FILES: 読み取れた対象ファイル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PRODUCTS: index.htmlから確認できた製品名と件数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INTERACTIONS: app.jsから確認できた操作を3点以内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SAFETY: SYNTHETIC_DATA_ONLYの有無と、書き込みを行っていないこと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NEXT: IDEでブラウザ確認する項目を1点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18647-DBCB-47E0-A2F0-A1701A82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74C8D8"/>
                </a:solidFill>
                <a:latin typeface="Yu Gothic UI"/>
                <a:ea typeface="Yu Gothic UI"/>
                <a:cs typeface="Yu Gothic UI"/>
              </a:rPr>
              <a:t>正本: docs/demo/antigravity_workshop/PROMPT_10_CLI_READONLY.txt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28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94BA7-EFED-4F6B-BB3E-93AF26FE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SDK DEMO  |  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3D6AF-7356-4BBA-A80A-121BFE13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SDKでは、agentの役割と権限をコードで再現できます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151FB-275F-4DDA-AA28-A57D41EE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81800" cy="4000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D9F97-BF85-4E3E-A7ED-3AB9B39D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781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6A56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antigravity_sdk_readonly.py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EFF41-85E1-49F5-8D7D-48E6FFEC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60388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from google.antigravity import Agent, LocalAgentConfig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from google.antigravity.types import (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BuiltinTools, CapabilitiesConfig,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config = LocalAgentConfig(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system_instructions=READ_ONLY_RULES,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capabilities=CapabilitiesConfig(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    enabled_tools=BuiltinTools.read_only(),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),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async with Agent(config) as agent: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response = await agent.chat(prompt)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async for token in response: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    print(token, end="", flush=True)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33BA3-A084-46EA-B2C7-CCAFCCAD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848100" cy="40005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93A2E-039E-4382-94D0-C768FB1E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621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8A00"/>
                </a:solidFill>
                <a:latin typeface="Yu Gothic UI"/>
                <a:ea typeface="Yu Gothic UI"/>
                <a:cs typeface="Yu Gothic UI"/>
              </a:rPr>
              <a:t>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9CB3F-CC52-409D-BAC7-A372A09D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19350"/>
            <a:ext cx="3276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90" b="1">
                <a:solidFill>
                  <a:srgbClr val="17242B"/>
                </a:solidFill>
                <a:latin typeface="Cascadia Mono"/>
                <a:ea typeface="Cascadia Mono"/>
                <a:cs typeface="Cascadia Mono"/>
              </a:defRPr>
            </a:pPr>
            <a:r>
              <a:rPr sz="990" b="1">
                <a:solidFill>
                  <a:srgbClr val="101820"/>
                </a:solidFill>
                <a:latin typeface="Cascadia Mono"/>
                <a:ea typeface="Cascadia Mono"/>
                <a:cs typeface="Cascadia Mono"/>
              </a:rPr>
              <a:t>.\.venv-antigravity-sdk\Scripts\Activate.ps1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990" b="1">
                <a:solidFill>
                  <a:srgbClr val="17242B"/>
                </a:solidFill>
                <a:latin typeface="Cascadia Mono"/>
                <a:ea typeface="Cascadia Mono"/>
                <a:cs typeface="Cascadia Mono"/>
              </a:defRPr>
            </a:pPr>
            <a:r>
              <a:rPr sz="990" b="1">
                <a:solidFill>
                  <a:srgbClr val="101820"/>
                </a:solidFill>
                <a:latin typeface="Cascadia Mono"/>
                <a:ea typeface="Cascadia Mono"/>
                <a:cs typeface="Cascadia Mono"/>
              </a:rPr>
              <a:t>python .\antigravity_sdk_readonly.py --workspace 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63D51-E1F1-4705-84DD-C97C3752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32766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事前検証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✓ agy 1.1.11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✓ SDK 0.1.10 import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✓ dry-run PASS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! GEMINI_API_KEYは前日設定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! 値は画面へ出さない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29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76c2cfa5542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2A5EC-A80B-4A58-8FBB-DA55F95F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SDK PROMPT  |  READ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7DC01-2C02-4F93-9604-3CE62FFB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SDKへ渡す指示も、PowerPointから全文確認できます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26E37-39FE-4F42-B4AB-C701B780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80BE4-0984-4AD8-B362-25EDAF26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SDK PROMPT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D9CD5-741E-4FEE-B7EC-3EC7767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DEE32-5B63-475B-BD57-1268C06C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082532"/>
          </a:solidFill>
          <a:ln xmlns:a="http://schemas.openxmlformats.org/drawingml/2006/main" w="0">
            <a:solidFill>
              <a:srgbClr val="0825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14D7DB-395C-418A-AB30-085D26BC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SDK DEMO / READ 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現在の作業ディレクトリにあるAI Agent Learning Hubを、読み取り専用で監査してください。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index.html、styles.css、app.js、SITE_BRIEF.mdだけを読み、次を日本語で報告してください。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1. 製品カードの件数と製品名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2. フィルターと比較操作の有無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3. SYNTHETIC_DATA_ONLYの有無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4. 画面確認で見るべき点を1つ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ファイルの作成、変更、削除、shell command、外部通信、git操作を行わないでください。読み取れない項目は推測せず、NOT_VERIFIEDとしてください。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4843D-2169-43DA-94F9-57F88227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74C8D8"/>
                </a:solidFill>
                <a:latin typeface="Yu Gothic UI"/>
                <a:ea typeface="Yu Gothic UI"/>
                <a:cs typeface="Yu Gothic UI"/>
              </a:rPr>
              <a:t>正本: docs/demo/antigravity_workshop/PROMPT_11_SDK_READONLY.txt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30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FCAC3-85C2-4BF1-A14B-74DE23E0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THREE SURFACES  |  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6564F-4146-4D9C-A563-7BA98FE3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入口ごとに、任せる仕事と確認する証拠を変えます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32A14-02E2-4D2D-8713-5A1E6CDC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49717-8166-4B48-9F04-3FA9D08F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216C1-4509-443C-B760-DB1DB133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52600"/>
            <a:ext cx="3295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CB238-C9F7-46FC-8BD7-407CA3BB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47850"/>
            <a:ext cx="3067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観客が見るもの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48C5C-E73E-484E-BF8B-5D213922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526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F0EBF-44E4-4B78-BB9D-380B9FA0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47850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任せる仕事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33253-6916-4409-A208-A14A9120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526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AC755-6115-4B75-B609-E0E62E29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47850"/>
            <a:ext cx="2819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成功の証拠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24F9D-A4C2-4B50-80C7-975FB0EC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11CD0-2DA0-4DB5-B095-2E885EFA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CE415F-9AF2-45A3-AB95-897952FC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71700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2F87E-2653-41E1-95CA-8795C861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8600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TEST_SPEC / Terminal / Editor / Browser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65D0A-7F47-49B9-9FFC-4BBB1CE1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71700"/>
            <a:ext cx="2838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3763C-8CC0-4F81-BF13-AC6A4F27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8600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テスト先行でサイト制作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B761FF-E3BC-4E42-AE4D-D52741D1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304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5C2E4-BB74-4618-8B75-6EC9402E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860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RED→8 GREEN + 2 viewport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B1F7F-E20E-4F56-A8E5-4BC556C6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79F9E6-5BA8-478A-8CCF-480F0CBD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CLI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BBEB0B-43D1-4569-998E-2E294312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81350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FF9E71-54C5-401B-886C-3A146884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9565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TUI / tool log / 短い監査結果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42312A-D1CE-4A6B-BEC6-4C02C929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81350"/>
            <a:ext cx="2838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DE3132-1C02-4D20-B69B-18346915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9565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同じrepoをread-only監査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095FA9-1D71-47F2-9E55-727320AE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304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424CE7-99E8-4DCF-BDA5-81309D7E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956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件数 + 操作 + safetyの4行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4AAE7F-D04C-49DA-AC1B-594D09DB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B89BD6-75FF-44B9-B42E-8E3E5DFA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SDK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31E60F-AA04-499B-A453-249DA005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91000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6ACF9E-CB5C-409F-B721-0CC9B0C4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0530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Python / policy / stream output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4EDC99-0B65-40DD-BA27-428DE354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91000"/>
            <a:ext cx="2838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B11F5C-2ED8-48E2-B16B-01C95CC0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0530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監査を繰り返せる形へ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2FB0F5-0338-4C10-9AF2-BD229573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304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43EAB7-05DD-45F9-BB07-F3864146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read-only policy + stream結果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0FC302-0C83-4DFC-9DF6-221336A9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00650"/>
            <a:ext cx="857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EF9A5C-08E8-49FE-BFF2-5B5FFD08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3400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確認: IDE / CLI / SDKを、それぞれ一言で説明できますか？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31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d4a086de94c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33B60-5632-43CF-80A5-5C826891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Q&amp;A PROMPT 7  |  OFFICIAL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C10EB-515E-4EDA-940B-0988DC16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公式性を照合してから、指定動画だけを追加します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1A0D7-6227-486A-88E6-23AE85C9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5552E-C650-4133-804C-F72E5195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Q&amp;A / VIDEO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42677-02FE-48CD-B2F3-6BB8FCB1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DE004-9049-4659-812A-B12B5437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082532"/>
          </a:solidFill>
          <a:ln xmlns:a="http://schemas.openxmlformats.org/drawingml/2006/main" w="0">
            <a:solidFill>
              <a:srgbClr val="0825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1E37B6-C8B4-49A8-A31C-7F30CB05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013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Prompt 7 / Q&amp;A用: 公式動画を出典確認して追加する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/browser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AI Agent Learning HubのAntigravityカード付近に、次の動画をサイト内で再生できる導線を追加してください。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URL: https://www.youtube.com/watch?v=SVCBA-pBgt0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動画ID: SVCBA-pBgt0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実装前にYouTube oEmbedまたは動画ページで、titleが「Welcome to Google Antigravity」、author_nameが「Google Antigravity」、author_urlが`https://www.youtube.com/@googleantigravity`であることを確認してください。1項目でも確認できなければ「公式」と表示せず、ファイルを変更しないで停止してください。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確認できた場合だけ、privacy-enhanced modeの`https://www.youtube-nocookie.com/embed/SVCBA-pBgt0`を使い、Antigravityカードの近くに「Google Antigravity公式紹介動画」として追加してください。モーダルを使う場合は、閉じるボタン、Escape、背景クリック、focus復帰、YouTubeで開くリンクに対応してください。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5製品を増やさず、料金、クォータ、他製品の動画、外部フォント、診断、検索、エクスポート、テーマ切替を追加しないでください。commitとpushは実行しないでください。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1440x900と390x844で、動画導線、モーダル、キーボード操作、横スクロール、既存の絞り込みと2製品比較を確認し、「出典確認／変更ファイル／ブラウザ確認」を3行で報告してください。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00017E-9E7D-4F1D-BDC5-B42724B5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74C8D8"/>
                </a:solidFill>
                <a:latin typeface="Yu Gothic UI"/>
                <a:ea typeface="Yu Gothic UI"/>
                <a:cs typeface="Yu Gothic UI"/>
              </a:rPr>
              <a:t>正本: docs/demo/antigravity_workshop/PROMPT_07_OFFICIAL_VIDEO.txt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32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0e5327c9444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220D1-5185-4343-91E7-5E963F3F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Q&amp;A PROMPT 8  |  NANO BANANA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38F2F-175A-4CD5-9345-1DF1AB69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Nano Bananaは模擬UIではなく、実画像を1枚作って見せます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49B98-F60F-4C4B-9146-7FC4D463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9B9EC-283C-4F20-9675-878C6BDC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Q&amp;A / IMAGE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DBBF9-AA28-46F4-B8D8-5045AE92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3601C-C7A3-4EF6-A9E2-33B1D24D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082532"/>
          </a:solidFill>
          <a:ln xmlns:a="http://schemas.openxmlformats.org/drawingml/2006/main" w="0">
            <a:solidFill>
              <a:srgbClr val="0825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B77B7-B638-4097-B88B-70FEDFD8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728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Prompt 8 / Q&amp;A用: Nano Bananaで実画像を作って差し替える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/frontend-design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Antigravityのgenerative image toolを使い、AI Agent Learning Hubのヒーロー用画像を1枚だけ生成してください。Antigravity公式Modelsページで、画像生成ToolがNano Banana 2を使用することを確認してから実行してください。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画像要件: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- 1600x900の横長ラスター画像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日本の社内研修で、非エンジニアと開発者がAIエージェントの画面を一緒に確認している実写調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画面内に読める文字、製品ロゴ、人物名、顧客情報を入れない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既存の明るい業務向け配色と本文の可読性を損なわない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- assets/agent-workflow-hero.pngへ保存し、適切な日本語altを付ける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重要: CSSの色切替やプリセットボタンを「Nano Banana」と呼ばないでください。Nano Bananaシミュレーター、テーマ切替、別製品、料金、クォータを追加しないでください。画像生成Toolが使えない場合は既存画像を維持し、模擬実装をせず「SKIPPED」と報告して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/browserで1440x900と390x844を確認し、「使用したTool／生成画像／ブラウザ確認」を3行で報告してください。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292A6-D612-40F8-86BC-7BEBC3A1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74C8D8"/>
                </a:solidFill>
                <a:latin typeface="Yu Gothic UI"/>
                <a:ea typeface="Yu Gothic UI"/>
                <a:cs typeface="Yu Gothic UI"/>
              </a:rPr>
              <a:t>正本: docs/demo/antigravity_workshop/PROMPT_08_NANO_BANANA.txt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33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cd5612ca14e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5C169-9994-4825-9A4C-0CD08D77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Q&amp;A PROMPT 9  |  VISUAL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471AB-3866-4101-89A9-5098D0D7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Screenshot Artifactの位置へコメントし、重なりだけを直します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819B9-894A-4D45-80D9-A4B7515E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A05F8-CFBA-4084-9B16-4F293E44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ARTIFACT COMMENT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EDCA2-8593-4E3A-B506-B92AA6FC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E12E5-F9E3-48AC-B8EF-3756E0B8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082532"/>
          </a:solidFill>
          <a:ln xmlns:a="http://schemas.openxmlformats.org/drawingml/2006/main" w="0">
            <a:solidFill>
              <a:srgbClr val="0825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5A240-F16A-41EC-A8C6-1FD88BAD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99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Prompt 9 / Q&amp;A用: Screenshot Artifactへ位置指定コメントを残す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/browser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ローカルのAI Agent Learning Hubを1440x900で開き、ページ上部からVisual Feedback用のScreenshot Artifactを1枚作成してください。ファイルはまだ変更せず、Screenshot Artifactが表示されたら停止してください。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Artifactが表示されたら、比較サマリーが他の内容へ重なる位置をクリックし、次のコメント全文を貼り付けます。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この固定比較サマリーが下のセクションを隠しています。デスクトップでは右下の非遮蔽パネル、モバイルでは通常フローへ変更し、1440x900と390x844で重なり0・横スクロール0を確認してください。ほかの機能、5製品、文言、公式動画、画像は変更しないで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修正後は新しいScreenshot Artifactを作り、変更ファイル、重なり検証、維持した範囲を3行で報告してください。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D803C-3CD2-4A8F-B92C-756B78BB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74C8D8"/>
                </a:solidFill>
                <a:latin typeface="Yu Gothic UI"/>
                <a:ea typeface="Yu Gothic UI"/>
                <a:cs typeface="Yu Gothic UI"/>
              </a:rPr>
              <a:t>正本: docs/demo/antigravity_workshop/PROMPT_09_VISUAL_FEEDBACK_COMMENT.txt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34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D78E0-AC9B-4B44-B430-F1D29C53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RESET  |  AFTER REHEARSAL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B1BC6-9DA0-4BA9-BCB0-785859B0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Skillを削除し、履歴を残すgit revertで準備状態へ戻します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54313-4859-4E7C-A46B-F5AE0FDF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667500" cy="4000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02635-6A99-47B8-A8B0-07441788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RUN AFTER REHEARSAL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5281F-6930-48FA-AD81-B583648C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60960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npx skills remove frontend-design --agent antigravity -y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$root = (Resolve-Path .agents/skills).Path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$skill = Join-Path $root 'frontend-design'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if (Test-Path $skill) {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$resolved = (Resolve-Path $skill).Path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if ((Split-Path $resolved -Parent) -ne $root) { throw 'stop' }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Remove-Item -LiteralPath $resolved -Recurse -Force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Remove-Item .\skills-lock.json -Force -ErrorAction SilentlyContinue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npx skills list --json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git revert --no-commit 4fc2ec4..347ce89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git commit -m "Restore Antigravity rehearsal baseline"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git push origin 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A6F9D-E063-4B74-A1B9-50217D71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00050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FC021-CE1F-4679-9CD3-D2D08E00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復元後の5証拠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49B9C-0793-48E9-BA0E-1C7F59BD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05100"/>
            <a:ext cx="3352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1  frontend-designがない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2  /grill-me と /find-skillsは残る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3  11 commitsを1件のrevert commitで戻す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4  公開URLが準備ページへ戻る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5  git status --short が空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1A6E3-1880-44A6-80B6-1EB8258C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1970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FF8A00"/>
                </a:solidFill>
                <a:latin typeface="Yu Gothic UI"/>
                <a:ea typeface="Yu Gothic UI"/>
                <a:cs typeface="Yu Gothic UI"/>
              </a:rPr>
              <a:t>reset --hard / force push は使わない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35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53378-31A2-4CC2-B9A1-D8FF3613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90-SECOND RECOVERY  |  FAILBACK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6840F-9F35-4FCF-89C7-919D5CA8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止まったら理由を短く伝え、完成済み成果物で流れを続けます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4F493-0E41-4479-8F1A-F41ACE5A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77A25-3AC4-4150-ABC8-DA4222DC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90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625C5-2991-4792-A1B1-C8048543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C1E84-F21C-46ED-98D3-BEDAFE95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45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SKILL SEARCH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既知候補frontend-designを説明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BUILD / BROWSER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完成済み成果物へ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CLI / SDK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導入・認証せず検証済み画面へ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MCP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『読み取り確認は省略』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PAGES / Q&amp;A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実URLとcommit evidenceへ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D5D2D-2ED1-433D-9CD8-F9025DAD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62DA5-D356-46F7-8923-C7F39F5B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会場でやらないこと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67AEA-0199-48E5-988B-A1516C6A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4B3AF-42BB-42D0-9928-20E17085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× global Skill install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× MCPの新規認証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× 本番repo / 本番URL変更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× secretの入力・表示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× force push / reset --hard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× その場の大幅な要件変更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観客へ伝える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CF5F7"/>
                </a:solidFill>
                <a:latin typeface="Yu Gothic UI"/>
                <a:ea typeface="Yu Gothic UI"/>
                <a:cs typeface="Yu Gothic UI"/>
              </a:rPr>
              <a:t>『安全な境界を守ることも、AIエージェント運用の一部です』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E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36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52E66-5A25-4BBE-B3BC-A7F18423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MIGHTYLINK  |  OUTCOME CHECK  |  Q&amp;A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05850-057E-46BA-A173-184154E4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最初に約束した3つを、実演の証拠で振り返ります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06BCE-97A6-4DE1-8A18-0E0B6061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3467100" cy="209550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98EC6-919F-4881-AE3E-EFDEE379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B03F6-60EE-4951-BF62-295CF334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7C7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5AABD-86A3-4C64-8229-05B2BFA3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説明できる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864FD-D49C-42F0-A795-D5011DB1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期待結果 → RED → 実装 → GREEN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AIが会話だけで終わらない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FBE8C-E819-49E1-8B81-0A3731C4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85950"/>
            <a:ext cx="3467100" cy="209550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B2B4F-B74D-4714-B77E-2D0A6E41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8595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CF41E-5BD2-4F4B-AF85-1B214425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8A00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9E5DF5-F88B-4924-8D2B-4BBA7C1A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使い分けられる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9BC4D-D168-4189-A888-0B3B3F46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IDEで見る / CLIで確認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SDKで仕組みにする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69A38-8866-49D9-A5CC-0438B20D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85950"/>
            <a:ext cx="3467100" cy="209550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FAE49-5217-425D-BB63-4451FEAC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8595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BCF21-60E6-491F-9CEA-228E27C6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6A56A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539FE1-0FB2-4EE6-B30F-33D12E5B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01820"/>
                </a:solidFill>
                <a:latin typeface="Yu Gothic UI"/>
                <a:ea typeface="Yu Gothic UI"/>
                <a:cs typeface="Yu Gothic UI"/>
              </a:rPr>
              <a:t>安全に任せられる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962F4-0197-40AB-8C60-E14BCFC0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38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目的・境界・証拠・承認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2616B"/>
                </a:solidFill>
                <a:latin typeface="Yu Gothic UI"/>
                <a:ea typeface="Yu Gothic UI"/>
                <a:cs typeface="Yu Gothic UI"/>
              </a:rPr>
              <a:t>重要判断は人が持つ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266B05-0717-43B6-ADB2-3FE02D9B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62450"/>
            <a:ext cx="92583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56BA41-FC99-4EA0-924A-2702351B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10100"/>
            <a:ext cx="849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明日の10分: 小さな仕事を /grill-me で問い直し、期待結果をテスト1件にする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27CD20-CE43-4E04-8B9E-5659D5CF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29200"/>
            <a:ext cx="849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>
                <a:solidFill>
                  <a:srgbClr val="B9D6E4"/>
                </a:solidFill>
                <a:latin typeface="Yu Gothic UI"/>
                <a:ea typeface="Yu Gothic UI"/>
                <a:cs typeface="Yu Gothic UI"/>
              </a:defRPr>
            </a:pPr>
            <a:r>
              <a:rPr sz="1013">
                <a:solidFill>
                  <a:srgbClr val="B9DDE4"/>
                </a:solidFill>
                <a:latin typeface="Yu Gothic UI"/>
                <a:ea typeface="Yu Gothic UI"/>
                <a:cs typeface="Yu Gothic UI"/>
              </a:rPr>
              <a:t>その後は Q&amp;A。公式動画 / Nano Banana / Visual Feedbackは質問に応じて実演します。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2026-08-15T12:44:52.0190000Z</dcterms:created>
  <dcterms:modified xsi:type="dcterms:W3CDTF">2026-08-15T12:44:52.0190000Z</dcterms:modified>
</coreProperties>
</file>