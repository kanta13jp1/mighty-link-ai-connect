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34747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1A73E8"/>
                </a:solidFill>
                <a:latin typeface="Yu Gothic"/>
              </a:rPr>
              <a:t>6/2 CEO Decision Meeting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789920" cy="6766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19222D"/>
                </a:solidFill>
                <a:latin typeface="Yu Gothic"/>
              </a:rPr>
              <a:t>本日決めたいこと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41248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Yu Gothic"/>
              </a:rPr>
              <a:t>01 / 08   NotebookLM CLI outline / notebook 75521ea6-6b9b-47b2-9508-50050d8ab2d5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510528"/>
            <a:ext cx="21031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Yu Gothic"/>
              </a:rPr>
              <a:t>Mighty Skill-Bridge / CEO meeting 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1069848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800" b="0">
                <a:solidFill>
                  <a:srgbClr val="5B6978"/>
                </a:solidFill>
                <a:latin typeface="Yu Gothic"/>
              </a:rPr>
              <a:t>企画を決め打ちする場ではなく、次の開発の向きと優先順位を決める場です。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295144"/>
            <a:ext cx="2834640" cy="42062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2400" b="1">
                <a:solidFill>
                  <a:srgbClr val="10489A"/>
                </a:solidFill>
                <a:latin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788920"/>
            <a:ext cx="278892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200" b="1">
                <a:solidFill>
                  <a:srgbClr val="19222D"/>
                </a:solidFill>
                <a:latin typeface="Yu Gothic"/>
              </a:rPr>
              <a:t>サービス方向性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081528"/>
            <a:ext cx="278892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0">
                <a:solidFill>
                  <a:srgbClr val="5B6978"/>
                </a:solidFill>
                <a:latin typeface="Yu Gothic"/>
              </a:rPr>
              <a:t>A/B/Cのどれを最初に育てるか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7" y="2295144"/>
            <a:ext cx="2834640" cy="42062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2400" b="1">
                <a:solidFill>
                  <a:srgbClr val="10489A"/>
                </a:solidFill>
                <a:latin typeface="Yu Gothic"/>
              </a:rPr>
              <a:t>4候補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4296" y="2788920"/>
            <a:ext cx="278892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200" b="1">
                <a:solidFill>
                  <a:srgbClr val="19222D"/>
                </a:solidFill>
                <a:latin typeface="Yu Gothic"/>
              </a:rPr>
              <a:t>公式化する連携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3081528"/>
            <a:ext cx="278892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0">
                <a:solidFill>
                  <a:srgbClr val="5B6978"/>
                </a:solidFill>
                <a:latin typeface="Yu Gothic"/>
              </a:rPr>
              <a:t>NotebookLM / Slack / Notion / Obsidian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295144"/>
            <a:ext cx="2834640" cy="42062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2400" b="1">
                <a:solidFill>
                  <a:srgbClr val="10489A"/>
                </a:solidFill>
                <a:latin typeface="Yu Gothic"/>
              </a:rPr>
              <a:t>即時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7616" y="2788920"/>
            <a:ext cx="278892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200" b="1">
                <a:solidFill>
                  <a:srgbClr val="19222D"/>
                </a:solidFill>
                <a:latin typeface="Yu Gothic"/>
              </a:rPr>
              <a:t>打合せ後の反映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3081528"/>
            <a:ext cx="278892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0">
                <a:solidFill>
                  <a:srgbClr val="5B6978"/>
                </a:solidFill>
                <a:latin typeface="Yu Gothic"/>
              </a:rPr>
              <a:t>WBS / Calendar / Issues / Docs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977639"/>
            <a:ext cx="10287000" cy="841248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9222D"/>
                </a:solidFill>
                <a:latin typeface="Yu Gothic"/>
              </a:defRPr>
            </a:pPr>
            <a:r>
              <a:t>公開URLで動くデモと、Google Workspace同期の到達点を確認する。</a:t>
            </a:r>
          </a:p>
          <a:p>
            <a:pPr>
              <a:spcAft>
                <a:spcPts val="800"/>
              </a:spcAft>
              <a:defRPr sz="1600">
                <a:solidFill>
                  <a:srgbClr val="19222D"/>
                </a:solidFill>
                <a:latin typeface="Yu Gothic"/>
              </a:defRPr>
            </a:pPr>
            <a:r>
              <a:t>NotebookLMが生成した論点を材料に、社長への質問を短く整理する。</a:t>
            </a:r>
          </a:p>
          <a:p>
            <a:pPr>
              <a:spcAft>
                <a:spcPts val="800"/>
              </a:spcAft>
              <a:defRPr sz="1600">
                <a:solidFill>
                  <a:srgbClr val="19222D"/>
                </a:solidFill>
                <a:latin typeface="Yu Gothic"/>
              </a:defRPr>
            </a:pPr>
            <a:r>
              <a:t>未決事項は未決のまま残し、6/2後にWBSへ差し替える受け皿を用意する。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394959"/>
            <a:ext cx="12801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Yu Gothic"/>
              </a:rPr>
              <a:t>見せる証跡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5358383"/>
            <a:ext cx="9464040" cy="786384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CEO slide outline: exports/knowledge_flow/notebooklm_ceo_slide_outline.md</a:t>
            </a:r>
          </a:p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PPTX: exports/knowledge_flow/mighty_skill_bridge_ceo_presentation_2026-06-02.pptx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34747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1A73E8"/>
                </a:solidFill>
                <a:latin typeface="Yu Gothic"/>
              </a:rPr>
              <a:t>Prototype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789920" cy="6766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19222D"/>
                </a:solidFill>
                <a:latin typeface="Yu Gothic"/>
              </a:rPr>
              <a:t>現在の到達点と公開デモ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41248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Yu Gothic"/>
              </a:rPr>
              <a:t>02 / 08   NotebookLM CLI outline / notebook 75521ea6-6b9b-47b2-9508-50050d8ab2d5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510528"/>
            <a:ext cx="21031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Yu Gothic"/>
              </a:rPr>
              <a:t>Mighty Skill-Bridge / CEO meeting 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1069848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700" b="0">
                <a:solidFill>
                  <a:srgbClr val="5B6978"/>
                </a:solidFill>
                <a:latin typeface="Yu Gothic"/>
              </a:rPr>
              <a:t>社長に見せる公開URLは、UIデグレを防ぐガードを通して維持します。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84832"/>
            <a:ext cx="2834640" cy="42062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2400" b="1">
                <a:solidFill>
                  <a:srgbClr val="10489A"/>
                </a:solidFill>
                <a:latin typeface="Yu Gothic"/>
              </a:rPr>
              <a:t>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578608"/>
            <a:ext cx="278892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200" b="1">
                <a:solidFill>
                  <a:srgbClr val="19222D"/>
                </a:solidFill>
                <a:latin typeface="Yu Gothic"/>
              </a:rPr>
              <a:t>Public Demo Guard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871216"/>
            <a:ext cx="278892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0">
                <a:solidFill>
                  <a:srgbClr val="5B6978"/>
                </a:solidFill>
                <a:latin typeface="Yu Gothic"/>
              </a:rPr>
              <a:t>公開URLのREADME fallbackを検知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7" y="2084832"/>
            <a:ext cx="2834640" cy="42062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2400" b="1">
                <a:solidFill>
                  <a:srgbClr val="10489A"/>
                </a:solidFill>
                <a:latin typeface="Yu Gothic"/>
              </a:rPr>
              <a:t>LIVE/MOCK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4296" y="2578608"/>
            <a:ext cx="278892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200" b="1">
                <a:solidFill>
                  <a:srgbClr val="19222D"/>
                </a:solidFill>
                <a:latin typeface="Yu Gothic"/>
              </a:rPr>
              <a:t>AI 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871216"/>
            <a:ext cx="278892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0">
                <a:solidFill>
                  <a:srgbClr val="5B6978"/>
                </a:solidFill>
                <a:latin typeface="Yu Gothic"/>
              </a:rPr>
              <a:t>Gemini quota中も停止しない構成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084832"/>
            <a:ext cx="2834640" cy="42062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2400" b="1">
                <a:solidFill>
                  <a:srgbClr val="10489A"/>
                </a:solidFill>
                <a:latin typeface="Yu Gothic"/>
              </a:rPr>
              <a:t>113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7616" y="2578608"/>
            <a:ext cx="278892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200" b="1">
                <a:solidFill>
                  <a:srgbClr val="19222D"/>
                </a:solidFill>
                <a:latin typeface="Yu Gothic"/>
              </a:rPr>
              <a:t>WBS sync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2871216"/>
            <a:ext cx="278892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0">
                <a:solidFill>
                  <a:srgbClr val="5B6978"/>
                </a:solidFill>
                <a:latin typeface="Yu Gothic"/>
              </a:rPr>
              <a:t>Sheets / Calendarへ同期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794760"/>
            <a:ext cx="10241280" cy="89611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9222D"/>
                </a:solidFill>
                <a:latin typeface="Yu Gothic"/>
              </a:defRPr>
            </a:pPr>
            <a:r>
              <a:t>経歴書・案件票から4軸フィット診断へ進むUIを維持。</a:t>
            </a:r>
          </a:p>
          <a:p>
            <a:pPr>
              <a:spcAft>
                <a:spcPts val="800"/>
              </a:spcAft>
              <a:defRPr sz="1600">
                <a:solidFill>
                  <a:srgbClr val="19222D"/>
                </a:solidFill>
                <a:latin typeface="Yu Gothic"/>
              </a:defRPr>
            </a:pPr>
            <a:r>
              <a:t>Gemini制限中はdeterministic fallbackとCodexで開発を継続。</a:t>
            </a:r>
          </a:p>
          <a:p>
            <a:pPr>
              <a:spcAft>
                <a:spcPts val="800"/>
              </a:spcAft>
              <a:defRPr sz="1600">
                <a:solidFill>
                  <a:srgbClr val="19222D"/>
                </a:solidFill>
                <a:latin typeface="Yu Gothic"/>
              </a:defRPr>
            </a:pPr>
            <a:r>
              <a:t>公開URLは社長共有済みのため、push前後のPublic Demo Guardを必須化。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394959"/>
            <a:ext cx="12801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Yu Gothic"/>
              </a:rPr>
              <a:t>見せる証跡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5358383"/>
            <a:ext cx="9464040" cy="786384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Public URL: https://kanta13jp1.github.io/mighty-link-ai-connect/</a:t>
            </a:r>
          </a:p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Guard script: scripts/verify_public_demo.py</a:t>
            </a:r>
          </a:p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Quota-safe flow: docs/CODEX_CONTINUATION_NOTES.md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34747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1A73E8"/>
                </a:solidFill>
                <a:latin typeface="Yu Gothic"/>
              </a:rPr>
              <a:t>Google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789920" cy="6766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19222D"/>
                </a:solidFill>
                <a:latin typeface="Yu Gothic"/>
              </a:rPr>
              <a:t>Google Workspaceで進捗が回る基盤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41248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Yu Gothic"/>
              </a:rPr>
              <a:t>03 / 08   NotebookLM CLI outline / notebook 75521ea6-6b9b-47b2-9508-50050d8ab2d5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510528"/>
            <a:ext cx="21031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Yu Gothic"/>
              </a:rPr>
              <a:t>Mighty Skill-Bridge / CEO meeting 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176272"/>
            <a:ext cx="178308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19222D"/>
                </a:solidFill>
                <a:latin typeface="Yu Gothic"/>
              </a:rPr>
              <a:t>Codex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87168"/>
            <a:ext cx="17373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800" b="0">
                <a:solidFill>
                  <a:srgbClr val="5B6978"/>
                </a:solidFill>
                <a:latin typeface="Yu Gothic"/>
              </a:rPr>
              <a:t>実装・文書・WBS更新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7248" y="2176272"/>
            <a:ext cx="178308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19222D"/>
                </a:solidFill>
                <a:latin typeface="Yu Gothic"/>
              </a:rPr>
              <a:t>WBS.tsv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5536" y="2487168"/>
            <a:ext cx="17373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800" b="0">
                <a:solidFill>
                  <a:srgbClr val="5B6978"/>
                </a:solidFill>
                <a:latin typeface="Yu Gothic"/>
              </a:rPr>
              <a:t>日程と状態の主ソース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58384" y="2176272"/>
            <a:ext cx="178308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19222D"/>
                </a:solidFill>
                <a:latin typeface="Yu Gothic"/>
              </a:rPr>
              <a:t>Google Sheets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76672" y="2487168"/>
            <a:ext cx="17373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800" b="0">
                <a:solidFill>
                  <a:srgbClr val="5B6978"/>
                </a:solidFill>
                <a:latin typeface="Yu Gothic"/>
              </a:rPr>
              <a:t>CATS型WBS /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176272"/>
            <a:ext cx="178308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19222D"/>
                </a:solidFill>
                <a:latin typeface="Yu Gothic"/>
              </a:rPr>
              <a:t>Calendar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487168"/>
            <a:ext cx="17373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800" b="0">
                <a:solidFill>
                  <a:srgbClr val="5B6978"/>
                </a:solidFill>
                <a:latin typeface="Yu Gothic"/>
              </a:rPr>
              <a:t>開発予定を同期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0656" y="2176272"/>
            <a:ext cx="178308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19222D"/>
                </a:solidFill>
                <a:latin typeface="Yu Gothic"/>
              </a:rPr>
              <a:t>Docs / Drive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38944" y="2487168"/>
            <a:ext cx="17373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800" b="0">
                <a:solidFill>
                  <a:srgbClr val="5B6978"/>
                </a:solidFill>
                <a:latin typeface="Yu Gothic"/>
              </a:rPr>
              <a:t>NotebookLM投入資料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2267712"/>
            <a:ext cx="32004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2000" b="1">
                <a:solidFill>
                  <a:srgbClr val="1A73E8"/>
                </a:solidFill>
                <a:latin typeface="Yu Gothic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9744" y="2267712"/>
            <a:ext cx="32004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2000" b="1">
                <a:solidFill>
                  <a:srgbClr val="1A73E8"/>
                </a:solidFill>
                <a:latin typeface="Yu Gothic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267712"/>
            <a:ext cx="32004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2000" b="1">
                <a:solidFill>
                  <a:srgbClr val="1A73E8"/>
                </a:solidFill>
                <a:latin typeface="Yu Gothic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2016" y="2267712"/>
            <a:ext cx="32004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2000" b="1">
                <a:solidFill>
                  <a:srgbClr val="1A73E8"/>
                </a:solidFill>
                <a:latin typeface="Y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730752"/>
            <a:ext cx="9966960" cy="841248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9222D"/>
                </a:solidFill>
                <a:latin typeface="Yu Gothic"/>
              </a:defRPr>
            </a:pPr>
            <a:r>
              <a:t>OAuth実行アカウントは k-umezawa@ml-mightylink.com に固定。</a:t>
            </a:r>
          </a:p>
          <a:p>
            <a:pPr>
              <a:spcAft>
                <a:spcPts val="800"/>
              </a:spcAft>
              <a:defRPr sz="1600">
                <a:solidFill>
                  <a:srgbClr val="19222D"/>
                </a:solidFill>
                <a:latin typeface="Yu Gothic"/>
              </a:defRPr>
            </a:pPr>
            <a:r>
              <a:t>WBSはGoogle Sheetsへ、主要予定はCalendarへ同期。</a:t>
            </a:r>
          </a:p>
          <a:p>
            <a:pPr>
              <a:spcAft>
                <a:spcPts val="800"/>
              </a:spcAft>
              <a:defRPr sz="1600">
                <a:solidFill>
                  <a:srgbClr val="19222D"/>
                </a:solidFill>
                <a:latin typeface="Yu Gothic"/>
              </a:defRPr>
            </a:pPr>
            <a:r>
              <a:t>docs配下はGoogle Docs化し、NotebookLM sourceとして再利用。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394959"/>
            <a:ext cx="12801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Yu Gothic"/>
              </a:rPr>
              <a:t>見せる証跡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5358383"/>
            <a:ext cx="9464040" cy="786384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Workspace account: k-umezawa@ml-mightylink.com</a:t>
            </a:r>
          </a:p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NotebookLM sources ready: 28</a:t>
            </a:r>
          </a:p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Spreadsheet ID: 1L99HCBHr4IsVUWqnUuG6OgoUmxEQUdfaYQim1n6etB8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34747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1A73E8"/>
                </a:solidFill>
                <a:latin typeface="Yu Gothic"/>
              </a:rPr>
              <a:t>Knowledge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789920" cy="6766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19222D"/>
                </a:solidFill>
                <a:latin typeface="Yu Gothic"/>
              </a:rPr>
              <a:t>開発ナレッジ連携の実績とデモ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41248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Yu Gothic"/>
              </a:rPr>
              <a:t>04 / 08   NotebookLM CLI outline / notebook 75521ea6-6b9b-47b2-9508-50050d8ab2d5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510528"/>
            <a:ext cx="21031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Yu Gothic"/>
              </a:rPr>
              <a:t>Mighty Skill-Bridge / CEO meeting 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135124"/>
            <a:ext cx="1088136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10489A"/>
                </a:solidFill>
                <a:latin typeface="Yu Gothic"/>
              </a:rPr>
              <a:t>完了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78608"/>
            <a:ext cx="20116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19222D"/>
                </a:solidFill>
                <a:latin typeface="Yu Gothic"/>
              </a:rPr>
              <a:t>NotebookLM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1993392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5B6978"/>
                </a:solidFill>
                <a:latin typeface="Yu Gothic"/>
              </a:rPr>
              <a:t>22 source ready
Agent Brief / CEO outline取得済み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3904" y="2135124"/>
            <a:ext cx="1088136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10489A"/>
                </a:solidFill>
                <a:latin typeface="Yu Gothic"/>
              </a:rPr>
              <a:t>権限確認待ち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0752" y="2578608"/>
            <a:ext cx="20116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19222D"/>
                </a:solidFill>
                <a:latin typeface="Yu Gothic"/>
              </a:rPr>
              <a:t>Slack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3063240"/>
            <a:ext cx="1993392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5B6978"/>
                </a:solidFill>
                <a:latin typeface="Yu Gothic"/>
              </a:rPr>
              <a:t>投稿案生成済み
CLI/MCP送信ツールは未露出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0256" y="2135124"/>
            <a:ext cx="1088136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10489A"/>
                </a:solidFill>
                <a:latin typeface="Yu Gothic"/>
              </a:rPr>
              <a:t>MCP実行済み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578608"/>
            <a:ext cx="20116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19222D"/>
                </a:solidFill>
                <a:latin typeface="Yu Gothic"/>
              </a:rPr>
              <a:t>Notion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3063240"/>
            <a:ext cx="1993392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5B6978"/>
                </a:solidFill>
                <a:latin typeface="Yu Gothic"/>
              </a:rPr>
              <a:t>証跡ページ作成
意思決定DB候補を管理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6608" y="2135124"/>
            <a:ext cx="1088136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10489A"/>
                </a:solidFill>
                <a:latin typeface="Yu Gothic"/>
              </a:rPr>
              <a:t>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63456" y="2578608"/>
            <a:ext cx="201168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19222D"/>
                </a:solidFill>
                <a:latin typeface="Yu Gothic"/>
              </a:rPr>
              <a:t>Obsidian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6" y="3063240"/>
            <a:ext cx="1993392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5B6978"/>
                </a:solidFill>
                <a:latin typeface="Yu Gothic"/>
              </a:rPr>
              <a:t>ローカルvault生成
ADR / Prompt / Meeting導線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572000"/>
            <a:ext cx="10332720" cy="603504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9222D"/>
                </a:solidFill>
                <a:latin typeface="Yu Gothic"/>
              </a:defRPr>
            </a:pPr>
            <a:r>
              <a:t>NotebookLMはプレゼンの草案作成に使い、AIエージェントの開発入力にもする。</a:t>
            </a:r>
          </a:p>
          <a:p>
            <a:pPr>
              <a:spcAft>
                <a:spcPts val="800"/>
              </a:spcAft>
              <a:defRPr sz="1400">
                <a:solidFill>
                  <a:srgbClr val="19222D"/>
                </a:solidFill>
                <a:latin typeface="Yu Gothic"/>
              </a:defRPr>
            </a:pPr>
            <a:r>
              <a:t>Slackは投稿先と共有範囲の社長確認後に実送信へ進める。</a:t>
            </a:r>
          </a:p>
          <a:p>
            <a:pPr>
              <a:spcAft>
                <a:spcPts val="800"/>
              </a:spcAft>
              <a:defRPr sz="1400">
                <a:solidFill>
                  <a:srgbClr val="19222D"/>
                </a:solidFill>
                <a:latin typeface="Yu Gothic"/>
              </a:defRPr>
            </a:pPr>
            <a:r>
              <a:t>Notionは議事録・意思決定・バックログの公式台帳候補、Obsidianはローカル思考メモ候補。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577840"/>
            <a:ext cx="12801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Yu Gothic"/>
              </a:rPr>
              <a:t>見せる証跡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5541264"/>
            <a:ext cx="9464040" cy="786384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Notion evidence page: https://www.notion.so/3671d736b9db818aaa33da0a5f1a3951</a:t>
            </a:r>
          </a:p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Slack draft: exports/knowledge_flow/slack_ceo_update.md</a:t>
            </a:r>
          </a:p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Obsidian vault: exports/knowledge_flow/obsidian_vault/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34747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1A73E8"/>
                </a:solidFill>
                <a:latin typeface="Yu Gothic"/>
              </a:rPr>
              <a:t>NotebookLM to PPTX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789920" cy="6766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19222D"/>
                </a:solidFill>
                <a:latin typeface="Yu Gothic"/>
              </a:rPr>
              <a:t>NotebookLMからPPTXへ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41248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Yu Gothic"/>
              </a:rPr>
              <a:t>05 / 08   NotebookLM CLI outline / notebook 75521ea6-6b9b-47b2-9508-50050d8ab2d5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510528"/>
            <a:ext cx="21031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Yu Gothic"/>
              </a:rPr>
              <a:t>Mighty Skill-Bridge / CEO meeting 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2039112"/>
            <a:ext cx="178308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19222D"/>
                </a:solidFill>
                <a:latin typeface="Yu Gothic"/>
              </a:rPr>
              <a:t>docs/ + WBS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350008"/>
            <a:ext cx="17373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800" b="0">
                <a:solidFill>
                  <a:srgbClr val="5B6978"/>
                </a:solidFill>
                <a:latin typeface="Yu Gothic"/>
              </a:rPr>
              <a:t>公式手順・WBSを同期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82112" y="2139696"/>
            <a:ext cx="32004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2000" b="1">
                <a:solidFill>
                  <a:srgbClr val="1A73E8"/>
                </a:solidFill>
                <a:latin typeface="Yu Gothic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58184" y="2039112"/>
            <a:ext cx="178308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19222D"/>
                </a:solidFill>
                <a:latin typeface="Yu Gothic"/>
              </a:rPr>
              <a:t>Google Docs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6472" y="2350008"/>
            <a:ext cx="17373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800" b="0">
                <a:solidFill>
                  <a:srgbClr val="5B6978"/>
                </a:solidFill>
                <a:latin typeface="Yu Gothic"/>
              </a:rPr>
              <a:t>Workspace所有で22件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9592" y="2139696"/>
            <a:ext cx="32004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2000" b="1">
                <a:solidFill>
                  <a:srgbClr val="1A73E8"/>
                </a:solidFill>
                <a:latin typeface="Yu Gothic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039112"/>
            <a:ext cx="178308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19222D"/>
                </a:solidFill>
                <a:latin typeface="Yu Gothic"/>
              </a:rPr>
              <a:t>NotebookLM CLI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350008"/>
            <a:ext cx="17373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800" b="0">
                <a:solidFill>
                  <a:srgbClr val="5B6978"/>
                </a:solidFill>
                <a:latin typeface="Yu Gothic"/>
              </a:rPr>
              <a:t>要約・QA・8枚構成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2139696"/>
            <a:ext cx="32004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2000" b="1">
                <a:solidFill>
                  <a:srgbClr val="1A73E8"/>
                </a:solidFill>
                <a:latin typeface="Yu Gothic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53144" y="2039112"/>
            <a:ext cx="178308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19222D"/>
                </a:solidFill>
                <a:latin typeface="Yu Gothic"/>
              </a:rPr>
              <a:t>PowerPoint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2" y="2350008"/>
            <a:ext cx="17373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800" b="0">
                <a:solidFill>
                  <a:srgbClr val="5B6978"/>
                </a:solidFill>
                <a:latin typeface="Yu Gothic"/>
              </a:rPr>
              <a:t>社長説明用PPTX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520440"/>
            <a:ext cx="9875520" cy="841248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9222D"/>
                </a:solidFill>
                <a:latin typeface="Yu Gothic"/>
              </a:defRPr>
            </a:pPr>
            <a:r>
              <a:t>NotebookLM CLIで取得したCEO Slide Outlineを、説明用PPTXのストーリー骨子に反映。</a:t>
            </a:r>
          </a:p>
          <a:p>
            <a:pPr>
              <a:spcAft>
                <a:spcPts val="800"/>
              </a:spcAft>
              <a:defRPr sz="1500">
                <a:solidFill>
                  <a:srgbClr val="19222D"/>
                </a:solidFill>
                <a:latin typeface="Yu Gothic"/>
              </a:defRPr>
            </a:pPr>
            <a:r>
              <a:t>PPTXは編集可能なPowerPointファイルとしてexports配下に保存し、Driveにもアップロード対象化。</a:t>
            </a:r>
          </a:p>
          <a:p>
            <a:pPr>
              <a:spcAft>
                <a:spcPts val="800"/>
              </a:spcAft>
              <a:defRPr sz="1500">
                <a:solidFill>
                  <a:srgbClr val="19222D"/>
                </a:solidFill>
                <a:latin typeface="Yu Gothic"/>
              </a:defRPr>
            </a:pPr>
            <a:r>
              <a:t>artifact-tool runtimeはこのWindowsシェルで解決できないため、PPTX組版はpython-pptxで代替。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394959"/>
            <a:ext cx="12801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Yu Gothic"/>
              </a:rPr>
              <a:t>見せる証跡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5358383"/>
            <a:ext cx="9464040" cy="786384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NotebookLM notebook: 75521ea6-6b9b-47b2-9508-50050d8ab2d5</a:t>
            </a:r>
          </a:p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Outline: exports/knowledge_flow/notebooklm_ceo_slide_outline.md</a:t>
            </a:r>
          </a:p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Generator: scripts/generate_ceo_presentation_deck.py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34747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1A73E8"/>
                </a:solidFill>
                <a:latin typeface="Yu Gothic"/>
              </a:rPr>
              <a:t>Decision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789920" cy="6766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19222D"/>
                </a:solidFill>
                <a:latin typeface="Yu Gothic"/>
              </a:rPr>
              <a:t>サービス方向性の選択肢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41248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Yu Gothic"/>
              </a:rPr>
              <a:t>06 / 08   NotebookLM CLI outline / notebook 75521ea6-6b9b-47b2-9508-50050d8ab2d5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510528"/>
            <a:ext cx="21031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Yu Gothic"/>
              </a:rPr>
              <a:t>Mighty Skill-Bridge / CEO meeting 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011680"/>
            <a:ext cx="29718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500" b="1">
                <a:solidFill>
                  <a:srgbClr val="10489A"/>
                </a:solidFill>
                <a:latin typeface="Yu Gothic"/>
              </a:rPr>
              <a:t>A. AIフィット診断支援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822960" cy="2103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Yu Gothic"/>
              </a:rPr>
              <a:t>想定対象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2496" y="2459736"/>
            <a:ext cx="20116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19222D"/>
                </a:solidFill>
                <a:latin typeface="Yu Gothic"/>
              </a:rPr>
              <a:t>営業 / 人材担当 / エンジニア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44368"/>
            <a:ext cx="822960" cy="2103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Yu Gothic"/>
              </a:rPr>
              <a:t>価値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2496" y="2880360"/>
            <a:ext cx="214884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19222D"/>
                </a:solidFill>
                <a:latin typeface="Yu Gothic"/>
              </a:rPr>
              <a:t>採用・SES・案件配属の効率化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584448"/>
            <a:ext cx="822960" cy="2103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Yu Gothic"/>
              </a:rPr>
              <a:t>初手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82496" y="3529584"/>
            <a:ext cx="214884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19222D"/>
                </a:solidFill>
                <a:latin typeface="Yu Gothic"/>
              </a:rPr>
              <a:t>デモの診断体験を磨く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11680"/>
            <a:ext cx="29718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500" b="1">
                <a:solidFill>
                  <a:srgbClr val="10489A"/>
                </a:solidFill>
                <a:latin typeface="Yu Gothic"/>
              </a:rPr>
              <a:t>B. Workspace連携型PM支援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87168"/>
            <a:ext cx="822960" cy="2103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Yu Gothic"/>
              </a:rPr>
              <a:t>想定対象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58384" y="2459736"/>
            <a:ext cx="20116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19222D"/>
                </a:solidFill>
                <a:latin typeface="Yu Gothic"/>
              </a:rPr>
              <a:t>経営 / PM / 現場責任者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44368"/>
            <a:ext cx="822960" cy="2103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Yu Gothic"/>
              </a:rPr>
              <a:t>価値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8384" y="2880360"/>
            <a:ext cx="214884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19222D"/>
                </a:solidFill>
                <a:latin typeface="Yu Gothic"/>
              </a:rPr>
              <a:t>進捗・報告・予定同期の高速化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584448"/>
            <a:ext cx="822960" cy="2103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Yu Gothic"/>
              </a:rPr>
              <a:t>初手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8384" y="3529584"/>
            <a:ext cx="214884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19222D"/>
                </a:solidFill>
                <a:latin typeface="Yu Gothic"/>
              </a:rPr>
              <a:t>WBS/Calendar同期を商品化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011680"/>
            <a:ext cx="29718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500" b="1">
                <a:solidFill>
                  <a:srgbClr val="10489A"/>
                </a:solidFill>
                <a:latin typeface="Yu Gothic"/>
              </a:rPr>
              <a:t>C. AI PoC高速構築支援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487168"/>
            <a:ext cx="822960" cy="2103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Yu Gothic"/>
              </a:rPr>
              <a:t>想定対象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4272" y="2459736"/>
            <a:ext cx="20116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19222D"/>
                </a:solidFill>
                <a:latin typeface="Yu Gothic"/>
              </a:rPr>
              <a:t>新規事業 / 企画 / 開発責任者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944368"/>
            <a:ext cx="822960" cy="2103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Yu Gothic"/>
              </a:rPr>
              <a:t>価値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4272" y="2880360"/>
            <a:ext cx="214884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19222D"/>
                </a:solidFill>
                <a:latin typeface="Yu Gothic"/>
              </a:rPr>
              <a:t>検証回数と提案速度を増やす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3584448"/>
            <a:ext cx="822960" cy="2103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Yu Gothic"/>
              </a:rPr>
              <a:t>初手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272" y="3529584"/>
            <a:ext cx="214884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100" b="0">
                <a:solidFill>
                  <a:srgbClr val="19222D"/>
                </a:solidFill>
                <a:latin typeface="Yu Gothic"/>
              </a:rPr>
              <a:t>NotebookLM/Docs連携を型化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4526280"/>
            <a:ext cx="10241280" cy="45720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9222D"/>
                </a:solidFill>
                <a:latin typeface="Yu Gothic"/>
              </a:defRPr>
            </a:pPr>
            <a:r>
              <a:t>6/2では最初の適用業務と最初に見せる相手を決める。</a:t>
            </a:r>
          </a:p>
          <a:p>
            <a:pPr>
              <a:spcAft>
                <a:spcPts val="800"/>
              </a:spcAft>
              <a:defRPr sz="1500">
                <a:solidFill>
                  <a:srgbClr val="19222D"/>
                </a:solidFill>
                <a:latin typeface="Yu Gothic"/>
              </a:defRPr>
            </a:pPr>
            <a:r>
              <a:t>正式企画は決め打ちせず、社長判断後にWBSとロードマップへ反映する。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394959"/>
            <a:ext cx="12801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Yu Gothic"/>
              </a:rPr>
              <a:t>見せる証跡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5358383"/>
            <a:ext cx="9464040" cy="786384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Decision pack: docs/CEO_PRESENTATION_DECISION_PACK_2026-06-02.md</a:t>
            </a:r>
          </a:p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WBS tasks: T605 / T611 / T623 / T615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34747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1A73E8"/>
                </a:solidFill>
                <a:latin typeface="Yu Gothic"/>
              </a:rPr>
              <a:t>Risks and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789920" cy="6766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19222D"/>
                </a:solidFill>
                <a:latin typeface="Yu Gothic"/>
              </a:rPr>
              <a:t>運用・リスク論点と未完了項目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41248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Yu Gothic"/>
              </a:rPr>
              <a:t>07 / 08   NotebookLM CLI outline / notebook 75521ea6-6b9b-47b2-9508-50050d8ab2d5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510528"/>
            <a:ext cx="21031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Yu Gothic"/>
              </a:rPr>
              <a:t>Mighty Skill-Bridge / CEO meeting 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764792"/>
            <a:ext cx="128016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19222D"/>
                </a:solidFill>
                <a:latin typeface="Yu Gothic"/>
              </a:rPr>
              <a:t>論点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764792"/>
            <a:ext cx="411480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19222D"/>
                </a:solidFill>
                <a:latin typeface="Yu Gothic"/>
              </a:rPr>
              <a:t>現状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4848" y="1764792"/>
            <a:ext cx="411480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19222D"/>
                </a:solidFill>
                <a:latin typeface="Yu Gothic"/>
              </a:rPr>
              <a:t>次の扱い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304288"/>
            <a:ext cx="1234440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100" b="1">
                <a:solidFill>
                  <a:srgbClr val="19222D"/>
                </a:solidFill>
                <a:latin typeface="Yu Gothic"/>
              </a:rPr>
              <a:t>公開URL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276856"/>
            <a:ext cx="406908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000" b="0">
                <a:solidFill>
                  <a:srgbClr val="5B6978"/>
                </a:solidFill>
                <a:latin typeface="Yu Gothic"/>
              </a:rPr>
              <a:t>社長共有済み。UIデグレは許容しない。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4848" y="2276856"/>
            <a:ext cx="406908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000" b="0">
                <a:solidFill>
                  <a:srgbClr val="19222D"/>
                </a:solidFill>
                <a:latin typeface="Yu Gothic"/>
              </a:rPr>
              <a:t>Public Demo Guardをpush前後で実行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962656"/>
            <a:ext cx="1234440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100" b="1">
                <a:solidFill>
                  <a:srgbClr val="19222D"/>
                </a:solidFill>
                <a:latin typeface="Yu Gothic"/>
              </a:rPr>
              <a:t>Slack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935224"/>
            <a:ext cx="406908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000" b="0">
                <a:solidFill>
                  <a:srgbClr val="5B6978"/>
                </a:solidFill>
                <a:latin typeface="Yu Gothic"/>
              </a:rPr>
              <a:t>CLI未検出、送信MCP未露出。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2935224"/>
            <a:ext cx="406908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000" b="0">
                <a:solidFill>
                  <a:srgbClr val="19222D"/>
                </a:solidFill>
                <a:latin typeface="Yu Gothic"/>
              </a:rPr>
              <a:t>投稿先と共有範囲をIssue #2で管理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621024"/>
            <a:ext cx="1234440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100" b="1">
                <a:solidFill>
                  <a:srgbClr val="19222D"/>
                </a:solidFill>
                <a:latin typeface="Yu Gothic"/>
              </a:rPr>
              <a:t>GitHub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593592"/>
            <a:ext cx="406908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000" b="0">
                <a:solidFill>
                  <a:srgbClr val="5B6978"/>
                </a:solidFill>
                <a:latin typeface="Yu Gothic"/>
              </a:rPr>
              <a:t>read:project / project scope不足。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4848" y="3593592"/>
            <a:ext cx="406908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000" b="0">
                <a:solidFill>
                  <a:srgbClr val="19222D"/>
                </a:solidFill>
                <a:latin typeface="Yu Gothic"/>
              </a:rPr>
              <a:t>Issue #8でOAuth復旧後に配置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279392"/>
            <a:ext cx="1234440" cy="1828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100" b="1">
                <a:solidFill>
                  <a:srgbClr val="19222D"/>
                </a:solidFill>
                <a:latin typeface="Yu Gothic"/>
              </a:rPr>
              <a:t>外部投入情報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251960"/>
            <a:ext cx="406908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000" b="0">
                <a:solidFill>
                  <a:srgbClr val="5B6978"/>
                </a:solidFill>
                <a:latin typeface="Yu Gothic"/>
              </a:rPr>
              <a:t>認証情報・個人情報・未承認顧客情報は投入禁止。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4251960"/>
            <a:ext cx="406908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000" b="0">
                <a:solidFill>
                  <a:srgbClr val="19222D"/>
                </a:solidFill>
                <a:latin typeface="Yu Gothic"/>
              </a:rPr>
              <a:t>docs/とWBSに安全ルールを明記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394959"/>
            <a:ext cx="12801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Yu Gothic"/>
              </a:rPr>
              <a:t>見せる証跡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5358383"/>
            <a:ext cx="9464040" cy="786384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GitHub Project check: gh project list -&gt; missing read:project</a:t>
            </a:r>
          </a:p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Slack check: local slack CLI not found; connector send tool not exposed</a:t>
            </a:r>
          </a:p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Issue #8 / #2で残課題化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34747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900" b="1">
                <a:solidFill>
                  <a:srgbClr val="1A73E8"/>
                </a:solidFill>
                <a:latin typeface="Yu Gothic"/>
              </a:rPr>
              <a:t>Next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21792"/>
            <a:ext cx="10789920" cy="6766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19222D"/>
                </a:solidFill>
                <a:latin typeface="Yu Gothic"/>
              </a:rPr>
              <a:t>次アクションとWBSへの即時反映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41248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5B6978"/>
                </a:solidFill>
                <a:latin typeface="Yu Gothic"/>
              </a:rPr>
              <a:t>08 / 08   NotebookLM CLI outline / notebook 75521ea6-6b9b-47b2-9508-50050d8ab2d5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510528"/>
            <a:ext cx="21031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5B6978"/>
                </a:solidFill>
                <a:latin typeface="Yu Gothic"/>
              </a:rPr>
              <a:t>Mighty Skill-Bridge / CEO meeting 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2107692"/>
            <a:ext cx="566928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10489A"/>
                </a:solidFill>
                <a:latin typeface="Yu Gothic"/>
              </a:rPr>
              <a:t>5/22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2523744"/>
            <a:ext cx="1371600" cy="23774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19222D"/>
                </a:solidFill>
                <a:latin typeface="Yu Gothic"/>
              </a:rPr>
              <a:t>PPTX生成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871216"/>
            <a:ext cx="1444752" cy="3108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800" b="0">
                <a:solidFill>
                  <a:srgbClr val="5B6978"/>
                </a:solidFill>
                <a:latin typeface="Yu Gothic"/>
              </a:rPr>
              <a:t>NotebookLM outlineをPowerPoint化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15184" y="2487168"/>
            <a:ext cx="32004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2000" b="1">
                <a:solidFill>
                  <a:srgbClr val="1A73E8"/>
                </a:solidFill>
                <a:latin typeface="Yu Gothic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28415" y="2107692"/>
            <a:ext cx="566928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10489A"/>
                </a:solidFill>
                <a:latin typeface="Yu Gothic"/>
              </a:rPr>
              <a:t>5/24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6976" y="2523744"/>
            <a:ext cx="1371600" cy="23774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19222D"/>
                </a:solidFill>
                <a:latin typeface="Yu Gothic"/>
              </a:rPr>
              <a:t>権限確認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71216"/>
            <a:ext cx="1444752" cy="3108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800" b="0">
                <a:solidFill>
                  <a:srgbClr val="5B6978"/>
                </a:solidFill>
                <a:latin typeface="Yu Gothic"/>
              </a:rPr>
              <a:t>Slack / GitHub Projectの復旧確認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896" y="2487168"/>
            <a:ext cx="32004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2000" b="1">
                <a:solidFill>
                  <a:srgbClr val="1A73E8"/>
                </a:solidFill>
                <a:latin typeface="Yu Gothic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96128" y="2107692"/>
            <a:ext cx="566928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10489A"/>
                </a:solidFill>
                <a:latin typeface="Yu Gothic"/>
              </a:rPr>
              <a:t>5/30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04688" y="2523744"/>
            <a:ext cx="1371600" cy="23774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19222D"/>
                </a:solidFill>
                <a:latin typeface="Yu Gothic"/>
              </a:rPr>
              <a:t>判断材料レビュー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8112" y="2871216"/>
            <a:ext cx="1444752" cy="3108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800" b="0">
                <a:solidFill>
                  <a:srgbClr val="5B6978"/>
                </a:solidFill>
                <a:latin typeface="Yu Gothic"/>
              </a:rPr>
              <a:t>社長説明資料の最終確認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8" y="2487168"/>
            <a:ext cx="32004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2000" b="1">
                <a:solidFill>
                  <a:srgbClr val="1A73E8"/>
                </a:solidFill>
                <a:latin typeface="Yu Gothic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107692"/>
            <a:ext cx="566928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10489A"/>
                </a:solidFill>
                <a:latin typeface="Yu Gothic"/>
              </a:rPr>
              <a:t>6/1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523744"/>
            <a:ext cx="1371600" cy="23774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19222D"/>
                </a:solidFill>
                <a:latin typeface="Yu Gothic"/>
              </a:rPr>
              <a:t>最終リハーサル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35823" y="2871216"/>
            <a:ext cx="1444752" cy="3108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800" b="0">
                <a:solidFill>
                  <a:srgbClr val="5B6978"/>
                </a:solidFill>
                <a:latin typeface="Yu Gothic"/>
              </a:rPr>
              <a:t>公開URL / WBS / Calendar / 資料確認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487168"/>
            <a:ext cx="32004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2000" b="1">
                <a:solidFill>
                  <a:srgbClr val="1A73E8"/>
                </a:solidFill>
                <a:latin typeface="Yu Gothic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31552" y="2107692"/>
            <a:ext cx="566928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10489A"/>
                </a:solidFill>
                <a:latin typeface="Yu Gothic"/>
              </a:rPr>
              <a:t>6/2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40112" y="2523744"/>
            <a:ext cx="1371600" cy="23774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19222D"/>
                </a:solidFill>
                <a:latin typeface="Yu Gothic"/>
              </a:rPr>
              <a:t>社長判断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03536" y="2871216"/>
            <a:ext cx="1444752" cy="3108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/>
            <a:r>
              <a:rPr sz="800" b="0">
                <a:solidFill>
                  <a:srgbClr val="5B6978"/>
                </a:solidFill>
                <a:latin typeface="Yu Gothic"/>
              </a:rPr>
              <a:t>決定事項をWBSへ即時反映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977639"/>
            <a:ext cx="10287000" cy="749808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9222D"/>
                </a:solidFill>
                <a:latin typeface="Yu Gothic"/>
              </a:defRPr>
            </a:pPr>
            <a:r>
              <a:t>社長に決めてもらうこと: 最初の業務課題、最初の利用者、公式化する連携、公開範囲。</a:t>
            </a:r>
          </a:p>
          <a:p>
            <a:pPr>
              <a:spcAft>
                <a:spcPts val="800"/>
              </a:spcAft>
              <a:defRPr sz="1500">
                <a:solidFill>
                  <a:srgbClr val="19222D"/>
                </a:solidFill>
                <a:latin typeface="Yu Gothic"/>
              </a:defRPr>
            </a:pPr>
            <a:r>
              <a:t>決定直後にやること: WBS・Calendar・Issues・Docsへ反映し、次回レビュー日を固定。</a:t>
            </a:r>
          </a:p>
          <a:p>
            <a:pPr>
              <a:spcAft>
                <a:spcPts val="800"/>
              </a:spcAft>
              <a:defRPr sz="1500">
                <a:solidFill>
                  <a:srgbClr val="19222D"/>
                </a:solidFill>
                <a:latin typeface="Yu Gothic"/>
              </a:defRPr>
            </a:pPr>
            <a:r>
              <a:t>保留にすること: サービス名、課金、外部共有範囲、Slack/Notionの正式運用範囲。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394959"/>
            <a:ext cx="128016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Yu Gothic"/>
              </a:rPr>
              <a:t>見せる証跡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5358383"/>
            <a:ext cx="9464040" cy="786384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WBS: data/WBS.tsv / docs/WBS.md</a:t>
            </a:r>
          </a:p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Calendar sync: scripts/sync_wbs_to_calendar.py</a:t>
            </a:r>
          </a:p>
          <a:p>
            <a:pPr>
              <a:spcAft>
                <a:spcPts val="800"/>
              </a:spcAft>
              <a:defRPr sz="1100">
                <a:solidFill>
                  <a:srgbClr val="19222D"/>
                </a:solidFill>
                <a:latin typeface="Yu Gothic"/>
              </a:defRPr>
            </a:pPr>
            <a:r>
              <a:t>Issue tracking: GitHub Issues #1-#11/#13/#14/#16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