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9e7db11aeaa4f34" /><Relationship Type="http://schemas.openxmlformats.org/officeDocument/2006/relationships/extended-properties" Target="/docProps/app.xml" Id="Rd4d461d779fb4733" /><Relationship Type="http://schemas.openxmlformats.org/officeDocument/2006/relationships/officeDocument" Target="/ppt/presentation.xml" Id="Rb3d1de7994684a24" /></Relationships>
</file>

<file path=ppt/presentation.xml><?xml version="1.0" encoding="utf-8"?>
<p:presentation xmlns:p="http://schemas.openxmlformats.org/presentationml/2006/main">
  <p:sldMasterIdLst>
    <p:sldMasterId xmlns:r="http://schemas.openxmlformats.org/officeDocument/2006/relationships" id="2147483648" r:id="R6f92df12f3404718"/>
  </p:sldMasterIdLst>
  <p:notesMasterIdLst>
    <p:notesMasterId xmlns:r="http://schemas.openxmlformats.org/officeDocument/2006/relationships" r:id="R189af90e3e7d4d38"/>
  </p:notesMasterIdLst>
  <p:sldIdLst>
    <p:sldId xmlns:r="http://schemas.openxmlformats.org/officeDocument/2006/relationships" id="256" r:id="Red61781158b44fcb"/>
    <p:sldId xmlns:r="http://schemas.openxmlformats.org/officeDocument/2006/relationships" id="257" r:id="Rba1cac9097134ea0"/>
    <p:sldId xmlns:r="http://schemas.openxmlformats.org/officeDocument/2006/relationships" id="258" r:id="R7a2342ecb33447c1"/>
    <p:sldId xmlns:r="http://schemas.openxmlformats.org/officeDocument/2006/relationships" id="259" r:id="R242f6ba230074c6e"/>
    <p:sldId xmlns:r="http://schemas.openxmlformats.org/officeDocument/2006/relationships" id="260" r:id="R21348069d13a4c69"/>
    <p:sldId xmlns:r="http://schemas.openxmlformats.org/officeDocument/2006/relationships" id="261" r:id="R60548073963e408e"/>
    <p:sldId xmlns:r="http://schemas.openxmlformats.org/officeDocument/2006/relationships" id="262" r:id="R18b7b0174c9e49c3"/>
    <p:sldId xmlns:r="http://schemas.openxmlformats.org/officeDocument/2006/relationships" id="263" r:id="Rb28fd6492c5b420c"/>
    <p:sldId xmlns:r="http://schemas.openxmlformats.org/officeDocument/2006/relationships" id="264" r:id="R872f8a81b86548a2"/>
    <p:sldId xmlns:r="http://schemas.openxmlformats.org/officeDocument/2006/relationships" id="265" r:id="Rb4e4f00eeaaf47e3"/>
    <p:sldId xmlns:r="http://schemas.openxmlformats.org/officeDocument/2006/relationships" id="266" r:id="Ra6f5ea81ba7642fc"/>
    <p:sldId xmlns:r="http://schemas.openxmlformats.org/officeDocument/2006/relationships" id="267" r:id="R638eeb8278e84a37"/>
    <p:sldId xmlns:r="http://schemas.openxmlformats.org/officeDocument/2006/relationships" id="268" r:id="R2159023730f34df8"/>
    <p:sldId xmlns:r="http://schemas.openxmlformats.org/officeDocument/2006/relationships" id="269" r:id="R61ab28f264ab4b24"/>
    <p:sldId xmlns:r="http://schemas.openxmlformats.org/officeDocument/2006/relationships" id="270" r:id="Rc0ff649dbae647d2"/>
    <p:sldId xmlns:r="http://schemas.openxmlformats.org/officeDocument/2006/relationships" id="271" r:id="Rf25ebc62522941bc"/>
    <p:sldId xmlns:r="http://schemas.openxmlformats.org/officeDocument/2006/relationships" id="272" r:id="Rf3683baae4ea4e46"/>
    <p:sldId xmlns:r="http://schemas.openxmlformats.org/officeDocument/2006/relationships" id="273" r:id="R41775e524c504bb1"/>
    <p:sldId xmlns:r="http://schemas.openxmlformats.org/officeDocument/2006/relationships" id="274" r:id="R2cf8838b017d4e4b"/>
    <p:sldId xmlns:r="http://schemas.openxmlformats.org/officeDocument/2006/relationships" id="275" r:id="R6b0d52ac78324f98"/>
    <p:sldId xmlns:r="http://schemas.openxmlformats.org/officeDocument/2006/relationships" id="276" r:id="R563161a96ecc4754"/>
    <p:sldId xmlns:r="http://schemas.openxmlformats.org/officeDocument/2006/relationships" id="277" r:id="Refeb35bbc10e493d"/>
    <p:sldId xmlns:r="http://schemas.openxmlformats.org/officeDocument/2006/relationships" id="278" r:id="Ra67e66ac89794cd8"/>
    <p:sldId xmlns:r="http://schemas.openxmlformats.org/officeDocument/2006/relationships" id="279" r:id="Rb802150df63e42d7"/>
    <p:sldId xmlns:r="http://schemas.openxmlformats.org/officeDocument/2006/relationships" id="280" r:id="Raad6fd7b974c4d64"/>
    <p:sldId xmlns:r="http://schemas.openxmlformats.org/officeDocument/2006/relationships" id="281" r:id="R8584c996a77e4b82"/>
    <p:sldId xmlns:r="http://schemas.openxmlformats.org/officeDocument/2006/relationships" id="282" r:id="R6cc5677d330b4501"/>
    <p:sldId xmlns:r="http://schemas.openxmlformats.org/officeDocument/2006/relationships" id="283" r:id="Rd86adf9916774f65"/>
    <p:sldId xmlns:r="http://schemas.openxmlformats.org/officeDocument/2006/relationships" id="284" r:id="R3ecaf57fd80e4b00"/>
    <p:sldId xmlns:r="http://schemas.openxmlformats.org/officeDocument/2006/relationships" id="285" r:id="R300c72b282864998"/>
    <p:sldId xmlns:r="http://schemas.openxmlformats.org/officeDocument/2006/relationships" id="286" r:id="R8e104a13767040ea"/>
    <p:sldId xmlns:r="http://schemas.openxmlformats.org/officeDocument/2006/relationships" id="287" r:id="R168e77c1ef984980"/>
    <p:sldId xmlns:r="http://schemas.openxmlformats.org/officeDocument/2006/relationships" id="288" r:id="R2b5bf40842d4402f"/>
    <p:sldId xmlns:r="http://schemas.openxmlformats.org/officeDocument/2006/relationships" id="289" r:id="Rb71a13a77f8c48b3"/>
    <p:sldId xmlns:r="http://schemas.openxmlformats.org/officeDocument/2006/relationships" id="290" r:id="R6b4dd42f75d842c0"/>
    <p:sldId xmlns:r="http://schemas.openxmlformats.org/officeDocument/2006/relationships" id="291" r:id="Ra566d546348146f6"/>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edff49ac06ad4fbe" /><Relationship Type="http://schemas.openxmlformats.org/officeDocument/2006/relationships/slideMaster" Target="/ppt/slideMasters/slideMaster1.xml" Id="R6f92df12f3404718" /><Relationship Type="http://schemas.openxmlformats.org/officeDocument/2006/relationships/notesMaster" Target="/ppt/notesMasters/notesMaster1.xml" Id="R189af90e3e7d4d38" /><Relationship Type="http://schemas.openxmlformats.org/officeDocument/2006/relationships/presProps" Target="/ppt/presProps.xml" Id="R40df9423ab6a4d56" /><Relationship Type="http://schemas.openxmlformats.org/officeDocument/2006/relationships/viewProps" Target="/ppt/viewProps.xml" Id="R53ea943dce23499d" /><Relationship Type="http://schemas.openxmlformats.org/officeDocument/2006/relationships/tableStyles" Target="/ppt/tableStyles.xml" Id="Re66ab67db1864244" /><Relationship Type="http://schemas.openxmlformats.org/officeDocument/2006/relationships/slide" Target="/ppt/slides/slide1.xml" Id="Red61781158b44fcb" /><Relationship Type="http://schemas.openxmlformats.org/officeDocument/2006/relationships/slide" Target="/ppt/slides/slide2.xml" Id="Rba1cac9097134ea0" /><Relationship Type="http://schemas.openxmlformats.org/officeDocument/2006/relationships/slide" Target="/ppt/slides/slide3.xml" Id="R7a2342ecb33447c1" /><Relationship Type="http://schemas.openxmlformats.org/officeDocument/2006/relationships/slide" Target="/ppt/slides/slide4.xml" Id="R242f6ba230074c6e" /><Relationship Type="http://schemas.openxmlformats.org/officeDocument/2006/relationships/slide" Target="/ppt/slides/slide5.xml" Id="R21348069d13a4c69" /><Relationship Type="http://schemas.openxmlformats.org/officeDocument/2006/relationships/slide" Target="/ppt/slides/slide6.xml" Id="R60548073963e408e" /><Relationship Type="http://schemas.openxmlformats.org/officeDocument/2006/relationships/slide" Target="/ppt/slides/slide7.xml" Id="R18b7b0174c9e49c3" /><Relationship Type="http://schemas.openxmlformats.org/officeDocument/2006/relationships/slide" Target="/ppt/slides/slide8.xml" Id="Rb28fd6492c5b420c" /><Relationship Type="http://schemas.openxmlformats.org/officeDocument/2006/relationships/slide" Target="/ppt/slides/slide9.xml" Id="R872f8a81b86548a2" /><Relationship Type="http://schemas.openxmlformats.org/officeDocument/2006/relationships/slide" Target="/ppt/slides/slide10.xml" Id="Rb4e4f00eeaaf47e3" /><Relationship Type="http://schemas.openxmlformats.org/officeDocument/2006/relationships/slide" Target="/ppt/slides/slide11.xml" Id="Ra6f5ea81ba7642fc" /><Relationship Type="http://schemas.openxmlformats.org/officeDocument/2006/relationships/slide" Target="/ppt/slides/slide12.xml" Id="R638eeb8278e84a37" /><Relationship Type="http://schemas.openxmlformats.org/officeDocument/2006/relationships/slide" Target="/ppt/slides/slide13.xml" Id="R2159023730f34df8" /><Relationship Type="http://schemas.openxmlformats.org/officeDocument/2006/relationships/slide" Target="/ppt/slides/slide14.xml" Id="R61ab28f264ab4b24" /><Relationship Type="http://schemas.openxmlformats.org/officeDocument/2006/relationships/slide" Target="/ppt/slides/slide15.xml" Id="Rc0ff649dbae647d2" /><Relationship Type="http://schemas.openxmlformats.org/officeDocument/2006/relationships/slide" Target="/ppt/slides/slide16.xml" Id="Rf25ebc62522941bc" /><Relationship Type="http://schemas.openxmlformats.org/officeDocument/2006/relationships/slide" Target="/ppt/slides/slide17.xml" Id="Rf3683baae4ea4e46" /><Relationship Type="http://schemas.openxmlformats.org/officeDocument/2006/relationships/slide" Target="/ppt/slides/slide18.xml" Id="R41775e524c504bb1" /><Relationship Type="http://schemas.openxmlformats.org/officeDocument/2006/relationships/slide" Target="/ppt/slides/slide19.xml" Id="R2cf8838b017d4e4b" /><Relationship Type="http://schemas.openxmlformats.org/officeDocument/2006/relationships/slide" Target="/ppt/slides/slide20.xml" Id="R6b0d52ac78324f98" /><Relationship Type="http://schemas.openxmlformats.org/officeDocument/2006/relationships/slide" Target="/ppt/slides/slide21.xml" Id="R563161a96ecc4754" /><Relationship Type="http://schemas.openxmlformats.org/officeDocument/2006/relationships/slide" Target="/ppt/slides/slide22.xml" Id="Refeb35bbc10e493d" /><Relationship Type="http://schemas.openxmlformats.org/officeDocument/2006/relationships/slide" Target="/ppt/slides/slide23.xml" Id="Ra67e66ac89794cd8" /><Relationship Type="http://schemas.openxmlformats.org/officeDocument/2006/relationships/slide" Target="/ppt/slides/slide24.xml" Id="Rb802150df63e42d7" /><Relationship Type="http://schemas.openxmlformats.org/officeDocument/2006/relationships/slide" Target="/ppt/slides/slide25.xml" Id="Raad6fd7b974c4d64" /><Relationship Type="http://schemas.openxmlformats.org/officeDocument/2006/relationships/slide" Target="/ppt/slides/slide26.xml" Id="R8584c996a77e4b82" /><Relationship Type="http://schemas.openxmlformats.org/officeDocument/2006/relationships/slide" Target="/ppt/slides/slide27.xml" Id="R6cc5677d330b4501" /><Relationship Type="http://schemas.openxmlformats.org/officeDocument/2006/relationships/slide" Target="/ppt/slides/slide28.xml" Id="Rd86adf9916774f65" /><Relationship Type="http://schemas.openxmlformats.org/officeDocument/2006/relationships/slide" Target="/ppt/slides/slide29.xml" Id="R3ecaf57fd80e4b00" /><Relationship Type="http://schemas.openxmlformats.org/officeDocument/2006/relationships/slide" Target="/ppt/slides/slide30.xml" Id="R300c72b282864998" /><Relationship Type="http://schemas.openxmlformats.org/officeDocument/2006/relationships/slide" Target="/ppt/slides/slide31.xml" Id="R8e104a13767040ea" /><Relationship Type="http://schemas.openxmlformats.org/officeDocument/2006/relationships/slide" Target="/ppt/slides/slide32.xml" Id="R168e77c1ef984980" /><Relationship Type="http://schemas.openxmlformats.org/officeDocument/2006/relationships/slide" Target="/ppt/slides/slide33.xml" Id="R2b5bf40842d4402f" /><Relationship Type="http://schemas.openxmlformats.org/officeDocument/2006/relationships/slide" Target="/ppt/slides/slide34.xml" Id="Rb71a13a77f8c48b3" /><Relationship Type="http://schemas.openxmlformats.org/officeDocument/2006/relationships/slide" Target="/ppt/slides/slide35.xml" Id="R6b4dd42f75d842c0" /><Relationship Type="http://schemas.openxmlformats.org/officeDocument/2006/relationships/slide" Target="/ppt/slides/slide36.xml" Id="Ra566d546348146f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ba346c2721f490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a353a4556774d68" /><Relationship Type="http://schemas.openxmlformats.org/officeDocument/2006/relationships/notesMaster" Target="/ppt/notesMasters/notesMaster1.xml" Id="R4c391f7a6bb846e5" /></Relationships>
</file>

<file path=ppt/notesSlides/_rels/notesSlide2.xml.rels>&#65279;<?xml version="1.0" encoding="utf-8"?><Relationships xmlns="http://schemas.openxmlformats.org/package/2006/relationships"><Relationship Type="http://schemas.openxmlformats.org/officeDocument/2006/relationships/slide" Target="/ppt/slides/slide2.xml" Id="Rde721ef54090499b" /><Relationship Type="http://schemas.openxmlformats.org/officeDocument/2006/relationships/notesMaster" Target="/ppt/notesMasters/notesMaster1.xml" Id="Rd4d2a8a41cc24d7f" /></Relationships>
</file>

<file path=ppt/notesSlides/_rels/notesSlide3.xml.rels>&#65279;<?xml version="1.0" encoding="utf-8"?><Relationships xmlns="http://schemas.openxmlformats.org/package/2006/relationships"><Relationship Type="http://schemas.openxmlformats.org/officeDocument/2006/relationships/slide" Target="/ppt/slides/slide3.xml" Id="R8fe208e3936f4b2b" /><Relationship Type="http://schemas.openxmlformats.org/officeDocument/2006/relationships/notesMaster" Target="/ppt/notesMasters/notesMaster1.xml" Id="Rc7a5d33c94dc4b3e" /></Relationships>
</file>

<file path=ppt/notesSlides/_rels/notesSlide4.xml.rels>&#65279;<?xml version="1.0" encoding="utf-8"?><Relationships xmlns="http://schemas.openxmlformats.org/package/2006/relationships"><Relationship Type="http://schemas.openxmlformats.org/officeDocument/2006/relationships/slide" Target="/ppt/slides/slide4.xml" Id="Re7da339929334f09" /><Relationship Type="http://schemas.openxmlformats.org/officeDocument/2006/relationships/notesMaster" Target="/ppt/notesMasters/notesMaster1.xml" Id="R462a973dd78c4e58" /></Relationships>
</file>

<file path=ppt/notesSlides/_rels/notesSlide5.xml.rels>&#65279;<?xml version="1.0" encoding="utf-8"?><Relationships xmlns="http://schemas.openxmlformats.org/package/2006/relationships"><Relationship Type="http://schemas.openxmlformats.org/officeDocument/2006/relationships/slide" Target="/ppt/slides/slide5.xml" Id="Rd44afdb34366461e" /><Relationship Type="http://schemas.openxmlformats.org/officeDocument/2006/relationships/notesMaster" Target="/ppt/notesMasters/notesMaster1.xml" Id="Rcb8d7a5f345b46dc" /></Relationships>
</file>

<file path=ppt/notesSlides/_rels/notesSlide6.xml.rels>&#65279;<?xml version="1.0" encoding="utf-8"?><Relationships xmlns="http://schemas.openxmlformats.org/package/2006/relationships"><Relationship Type="http://schemas.openxmlformats.org/officeDocument/2006/relationships/slide" Target="/ppt/slides/slide6.xml" Id="R93fd71483e744d70" /><Relationship Type="http://schemas.openxmlformats.org/officeDocument/2006/relationships/notesMaster" Target="/ppt/notesMasters/notesMaster1.xml" Id="Rc64ba31256cc4f5c" /></Relationships>
</file>

<file path=ppt/notesSlides/_rels/notesSlide7.xml.rels>&#65279;<?xml version="1.0" encoding="utf-8"?><Relationships xmlns="http://schemas.openxmlformats.org/package/2006/relationships"><Relationship Type="http://schemas.openxmlformats.org/officeDocument/2006/relationships/slide" Target="/ppt/slides/slide7.xml" Id="R64128d8556494b00" /><Relationship Type="http://schemas.openxmlformats.org/officeDocument/2006/relationships/notesMaster" Target="/ppt/notesMasters/notesMaster1.xml" Id="R62964b1cc1844489" /></Relationships>
</file>

<file path=ppt/notesSlides/_rels/notesSlide8.xml.rels>&#65279;<?xml version="1.0" encoding="utf-8"?><Relationships xmlns="http://schemas.openxmlformats.org/package/2006/relationships"><Relationship Type="http://schemas.openxmlformats.org/officeDocument/2006/relationships/slide" Target="/ppt/slides/slide8.xml" Id="R046fb23372e04131" /><Relationship Type="http://schemas.openxmlformats.org/officeDocument/2006/relationships/notesMaster" Target="/ppt/notesMasters/notesMaster1.xml" Id="R808f3da43a044e8a" /></Relationships>
</file>

<file path=ppt/notesSlides/_rels/notesSlide9.xml.rels>&#65279;<?xml version="1.0" encoding="utf-8"?><Relationships xmlns="http://schemas.openxmlformats.org/package/2006/relationships"><Relationship Type="http://schemas.openxmlformats.org/officeDocument/2006/relationships/slide" Target="/ppt/slides/slide9.xml" Id="Rb08d89258a0c406f" /><Relationship Type="http://schemas.openxmlformats.org/officeDocument/2006/relationships/notesMaster" Target="/ppt/notesMasters/notesMaster1.xml" Id="R6a0d5b907105495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95757cfb0524b38" /><Relationship Type="http://schemas.openxmlformats.org/officeDocument/2006/relationships/notesMaster" Target="/ppt/notesMasters/notesMaster1.xml" Id="Rd0dfa740e37046a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2159acc988544d0" /><Relationship Type="http://schemas.openxmlformats.org/officeDocument/2006/relationships/notesMaster" Target="/ppt/notesMasters/notesMaster1.xml" Id="R823af847be05459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9b30bf316c4410d" /><Relationship Type="http://schemas.openxmlformats.org/officeDocument/2006/relationships/notesMaster" Target="/ppt/notesMasters/notesMaster1.xml" Id="R40cc2d5c5fe94b9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5a72dec2ea54036" /><Relationship Type="http://schemas.openxmlformats.org/officeDocument/2006/relationships/notesMaster" Target="/ppt/notesMasters/notesMaster1.xml" Id="R701bfc250f7948a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93fa3c7ceb04b68" /><Relationship Type="http://schemas.openxmlformats.org/officeDocument/2006/relationships/notesMaster" Target="/ppt/notesMasters/notesMaster1.xml" Id="R656014cd5106409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7a31586cf39477e" /><Relationship Type="http://schemas.openxmlformats.org/officeDocument/2006/relationships/notesMaster" Target="/ppt/notesMasters/notesMaster1.xml" Id="R416729b1035e482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2ca2e1c6dac4bc6" /><Relationship Type="http://schemas.openxmlformats.org/officeDocument/2006/relationships/notesMaster" Target="/ppt/notesMasters/notesMaster1.xml" Id="R7d825a8590fc448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60c7cb4db8c4229" /><Relationship Type="http://schemas.openxmlformats.org/officeDocument/2006/relationships/notesMaster" Target="/ppt/notesMasters/notesMaster1.xml" Id="Rd2c414154859450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e5cb2a3b9ce465d" /><Relationship Type="http://schemas.openxmlformats.org/officeDocument/2006/relationships/notesMaster" Target="/ppt/notesMasters/notesMaster1.xml" Id="R081e25287b554dc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688019c6d8744d1" /><Relationship Type="http://schemas.openxmlformats.org/officeDocument/2006/relationships/notesMaster" Target="/ppt/notesMasters/notesMaster1.xml" Id="Rb354249fe4b1419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ebaac86569741df" /><Relationship Type="http://schemas.openxmlformats.org/officeDocument/2006/relationships/notesMaster" Target="/ppt/notesMasters/notesMaster1.xml" Id="Re7fb308e8e7e4e8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639319303c44bd5" /><Relationship Type="http://schemas.openxmlformats.org/officeDocument/2006/relationships/notesMaster" Target="/ppt/notesMasters/notesMaster1.xml" Id="R4c2fe17d8b1046b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a1badaaefc04c7c" /><Relationship Type="http://schemas.openxmlformats.org/officeDocument/2006/relationships/notesMaster" Target="/ppt/notesMasters/notesMaster1.xml" Id="Rab18e86479ab48e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b96af314a2a4cd4" /><Relationship Type="http://schemas.openxmlformats.org/officeDocument/2006/relationships/notesMaster" Target="/ppt/notesMasters/notesMaster1.xml" Id="R93c41dab277145c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90962f912cf4049" /><Relationship Type="http://schemas.openxmlformats.org/officeDocument/2006/relationships/notesMaster" Target="/ppt/notesMasters/notesMaster1.xml" Id="Ra7608a621907480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cb6579c12ae4172" /><Relationship Type="http://schemas.openxmlformats.org/officeDocument/2006/relationships/notesMaster" Target="/ppt/notesMasters/notesMaster1.xml" Id="Re1f7f23881be48d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f1a0c3b9f454ebe" /><Relationship Type="http://schemas.openxmlformats.org/officeDocument/2006/relationships/notesMaster" Target="/ppt/notesMasters/notesMaster1.xml" Id="Rcc725b10371e48b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216952c77724cda" /><Relationship Type="http://schemas.openxmlformats.org/officeDocument/2006/relationships/notesMaster" Target="/ppt/notesMasters/notesMaster1.xml" Id="R374642518b8d4fc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ba3a596a48246b6" /><Relationship Type="http://schemas.openxmlformats.org/officeDocument/2006/relationships/notesMaster" Target="/ppt/notesMasters/notesMaster1.xml" Id="Rc2b43fe92263477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17449e39da2423a" /><Relationship Type="http://schemas.openxmlformats.org/officeDocument/2006/relationships/notesMaster" Target="/ppt/notesMasters/notesMaster1.xml" Id="R13bdd9818459409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49581719b594708" /><Relationship Type="http://schemas.openxmlformats.org/officeDocument/2006/relationships/notesMaster" Target="/ppt/notesMasters/notesMaster1.xml" Id="Rba3d34f9b73f4ca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019079020b1476a" /><Relationship Type="http://schemas.openxmlformats.org/officeDocument/2006/relationships/notesMaster" Target="/ppt/notesMasters/notesMaster1.xml" Id="Rfc71ff765aed474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17f964c2e444847" /><Relationship Type="http://schemas.openxmlformats.org/officeDocument/2006/relationships/notesMaster" Target="/ppt/notesMasters/notesMaster1.xml" Id="Re71ab48b1a2d4383"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f125b61edbf42c7" /><Relationship Type="http://schemas.openxmlformats.org/officeDocument/2006/relationships/notesMaster" Target="/ppt/notesMasters/notesMaster1.xml" Id="Rfb87f0d7547a4964"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eec9f63b3e9145be" /><Relationship Type="http://schemas.openxmlformats.org/officeDocument/2006/relationships/notesMaster" Target="/ppt/notesMasters/notesMaster1.xml" Id="R1c876d21e27c416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aa8e65f2c1cd4870" /><Relationship Type="http://schemas.openxmlformats.org/officeDocument/2006/relationships/notesMaster" Target="/ppt/notesMasters/notesMaster1.xml" Id="Re97679fdbf384a94"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002dcc6db7d345de" /><Relationship Type="http://schemas.openxmlformats.org/officeDocument/2006/relationships/notesMaster" Target="/ppt/notesMasters/notesMaster1.xml" Id="Re5f8161ade4d44f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ゴールはサイトの内容を教えることではなく、AIエージェントに要件整理から公開まで任せる流れを理解してもらうこと。</a:t>
            </a:r>
          </a:p>
          <a:p xmlns:a="http://schemas.openxmlformats.org/drawingml/2006/main">
            <a:r>
              <a:t/>
            </a:r>
          </a:p>
          <a:p xmlns:a="http://schemas.openxmlformats.org/drawingml/2006/main">
            <a:r>
              <a:t>[Sources]</a:t>
            </a:r>
          </a:p>
          <a:p xmlns:a="http://schemas.openxmlformats.org/drawingml/2006/main">
            <a:r>
              <a:t>- https://antigravity.google/docs/artifacts</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冒頭で到達目標を具体化し、最後に同じ3項目へ戻る。MIXIのAI研修Day1も、共通言語、モデルの処理、評価、運用までを冒頭で到達点として示してから講義へ入る。</a:t>
            </a:r>
          </a:p>
          <a:p xmlns:a="http://schemas.openxmlformats.org/drawingml/2006/main">
            <a:r>
              <a:t/>
            </a:r>
          </a:p>
          <a:p xmlns:a="http://schemas.openxmlformats.org/drawingml/2006/main">
            <a:r>
              <a:t>[Sources]</a:t>
            </a:r>
          </a:p>
          <a:p xmlns:a="http://schemas.openxmlformats.org/drawingml/2006/main">
            <a:r>
              <a:t>- https://www.youtube.com/watch?v=da7hWlccpxw</a:t>
            </a:r>
          </a:p>
          <a:p xmlns:a="http://schemas.openxmlformats.org/drawingml/2006/main">
            <a:r>
              <a:t>- https://mixi.co.jp/news/2026/0727/55293/</a:t>
            </a:r>
          </a:p>
          <a:p xmlns:a="http://schemas.openxmlformats.org/drawingml/2006/main">
            <a:r>
              <a:t>- https://antigravity.google/docs/artifacts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ライブ操作は価格と準備負荷を抑えるためAntigravityだけを使う。比較は製品選定の優劣ではなく用途理解のため。</a:t>
            </a:r>
          </a:p>
          <a:p xmlns:a="http://schemas.openxmlformats.org/drawingml/2006/main">
            <a:r>
              <a:t/>
            </a:r>
          </a:p>
          <a:p xmlns:a="http://schemas.openxmlformats.org/drawingml/2006/main">
            <a:r>
              <a:t>[Sources]</a:t>
            </a:r>
          </a:p>
          <a:p xmlns:a="http://schemas.openxmlformats.org/drawingml/2006/main">
            <a:r>
              <a:t>- https://learn.chatgpt.com/docs</a:t>
            </a:r>
          </a:p>
          <a:p xmlns:a="http://schemas.openxmlformats.org/drawingml/2006/main">
            <a:r>
              <a:t>- https://code.claude.com/docs/en/overview</a:t>
            </a:r>
          </a:p>
          <a:p xmlns:a="http://schemas.openxmlformats.org/drawingml/2006/main">
            <a:r>
              <a:t>- https://claude.com/product/cowork</a:t>
            </a:r>
          </a:p>
          <a:p xmlns:a="http://schemas.openxmlformats.org/drawingml/2006/main">
            <a:r>
              <a:t>- https://kiro.dev/docs/</a:t>
            </a:r>
          </a:p>
          <a:p xmlns:a="http://schemas.openxmlformats.org/drawingml/2006/main">
            <a:r>
              <a:t>- https://antigravity.google/docs/artifacts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公式ドキュメントに基づく代表的な使い分け。料金や網羅的機能比較ではない。</a:t>
            </a:r>
          </a:p>
          <a:p xmlns:a="http://schemas.openxmlformats.org/drawingml/2006/main">
            <a:r>
              <a:t/>
            </a:r>
          </a:p>
          <a:p xmlns:a="http://schemas.openxmlformats.org/drawingml/2006/main">
            <a:r>
              <a:t>[Sources]</a:t>
            </a:r>
          </a:p>
          <a:p xmlns:a="http://schemas.openxmlformats.org/drawingml/2006/main">
            <a:r>
              <a:t>- https://learn.chatgpt.com/docs</a:t>
            </a:r>
          </a:p>
          <a:p xmlns:a="http://schemas.openxmlformats.org/drawingml/2006/main">
            <a:r>
              <a:t>- https://code.claude.com/docs/en/overview</a:t>
            </a:r>
          </a:p>
          <a:p xmlns:a="http://schemas.openxmlformats.org/drawingml/2006/main">
            <a:r>
              <a:t>- https://support.claude.com/en/articles/13345190-get-started-with-claude-cowork</a:t>
            </a:r>
          </a:p>
          <a:p xmlns:a="http://schemas.openxmlformats.org/drawingml/2006/main">
            <a:r>
              <a:t>- https://kiro.dev/docs/</a:t>
            </a:r>
          </a:p>
          <a:p xmlns:a="http://schemas.openxmlformats.org/drawingml/2006/main">
            <a:r>
              <a:t>- https://antigravity.google/docs/artifacts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同名の機能でも保存場所、権限、呼び出し方法は製品ごとに異なる。</a:t>
            </a:r>
          </a:p>
          <a:p xmlns:a="http://schemas.openxmlformats.org/drawingml/2006/main">
            <a:r>
              <a:t/>
            </a:r>
          </a:p>
          <a:p xmlns:a="http://schemas.openxmlformats.org/drawingml/2006/main">
            <a:r>
              <a:t>[Sources]</a:t>
            </a:r>
          </a:p>
          <a:p xmlns:a="http://schemas.openxmlformats.org/drawingml/2006/main">
            <a:r>
              <a:t>- https://learn.chatgpt.com/docs/agent-configuration/agents-md</a:t>
            </a:r>
          </a:p>
          <a:p xmlns:a="http://schemas.openxmlformats.org/drawingml/2006/main">
            <a:r>
              <a:t>- https://code.claude.com/docs/en/memory</a:t>
            </a:r>
          </a:p>
          <a:p xmlns:a="http://schemas.openxmlformats.org/drawingml/2006/main">
            <a:r>
              <a:t>- https://kiro.dev/docs/steering/</a:t>
            </a:r>
          </a:p>
          <a:p xmlns:a="http://schemas.openxmlformats.org/drawingml/2006/main">
            <a:r>
              <a:t>- https://antigravity.google/docs/rules-workflows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Steeringという一般動詞とKiroの正式機能名を分ける。Antigravityで方向修正を説明するときはfeedbackまたはRulesを使う。</a:t>
            </a:r>
          </a:p>
          <a:p xmlns:a="http://schemas.openxmlformats.org/drawingml/2006/main">
            <a:r>
              <a:t/>
            </a:r>
          </a:p>
          <a:p xmlns:a="http://schemas.openxmlformats.org/drawingml/2006/main">
            <a:r>
              <a:t>[Sources]</a:t>
            </a:r>
          </a:p>
          <a:p xmlns:a="http://schemas.openxmlformats.org/drawingml/2006/main">
            <a:r>
              <a:t>- https://kiro.dev/docs/steering/</a:t>
            </a:r>
          </a:p>
          <a:p xmlns:a="http://schemas.openxmlformats.org/drawingml/2006/main">
            <a:r>
              <a:t>- https://kiro.dev/docs/powers/</a:t>
            </a:r>
          </a:p>
          <a:p xmlns:a="http://schemas.openxmlformats.org/drawingml/2006/main">
            <a:r>
              <a:t>- https://antigravity.google/docs/rules-workflows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各ブロックは説明を30秒以内にし、すぐ操作へ移る。操作後は『何が変わったか』『どの証拠を見たか』を一言で回収する。残り30分は質疑応答または予備。</a:t>
            </a:r>
          </a:p>
          <a:p xmlns:a="http://schemas.openxmlformats.org/drawingml/2006/main">
            <a:r>
              <a:t/>
            </a:r>
          </a:p>
          <a:p xmlns:a="http://schemas.openxmlformats.org/drawingml/2006/main">
            <a:r>
              <a:t>[Sources]</a:t>
            </a:r>
          </a:p>
          <a:p xmlns:a="http://schemas.openxmlformats.org/drawingml/2006/main">
            <a:r>
              <a:t>- https://www.youtube.com/watch?v=da7hWlccpxw</a:t>
            </a:r>
          </a:p>
          <a:p xmlns:a="http://schemas.openxmlformats.org/drawingml/2006/main">
            <a:r>
              <a:t>- https://zenn.dev/mixi/articles/fd62f8ddc178f6</a:t>
            </a:r>
          </a:p>
          <a:p xmlns:a="http://schemas.openxmlformats.org/drawingml/2006/main">
            <a:r>
              <a:t>- local: docs/demo/antigravity_workshop/README.md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挙手の回答は評価に使わず、説明速度の調整だけに使う。remote、branch、公開URLが一つでも違えばデモを停止する。MIXI研修も冒頭で受講者の機械学習経験を確認している。</a:t>
            </a:r>
          </a:p>
          <a:p xmlns:a="http://schemas.openxmlformats.org/drawingml/2006/main">
            <a:r>
              <a:t/>
            </a:r>
          </a:p>
          <a:p xmlns:a="http://schemas.openxmlformats.org/drawingml/2006/main">
            <a:r>
              <a:t>[Sources]</a:t>
            </a:r>
          </a:p>
          <a:p xmlns:a="http://schemas.openxmlformats.org/drawingml/2006/main">
            <a:r>
              <a:t>- https://www.youtube.com/watch?v=da7hWlccpxw</a:t>
            </a:r>
          </a:p>
          <a:p xmlns:a="http://schemas.openxmlformats.org/drawingml/2006/main">
            <a:r>
              <a:t>- https://docs.github.com/en/pages/getting-started-with-github-pages/configuring-a-publishing-source-for-your-github-pages-site</a:t>
            </a:r>
          </a:p>
          <a:p xmlns:a="http://schemas.openxmlformats.org/drawingml/2006/main">
            <a:r>
              <a:t>- local: docs/demo/antigravity_workshop/README.md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このスライドの濃紺枠を全文コピーし、Antigravityへ貼り付ける。質問は最大2問。ここでは実装しない。</a:t>
            </a:r>
          </a:p>
          <a:p xmlns:a="http://schemas.openxmlformats.org/drawingml/2006/main">
            <a:r>
              <a:t/>
            </a:r>
          </a:p>
          <a:p xmlns:a="http://schemas.openxmlformats.org/drawingml/2006/main">
            <a:r>
              <a:t>[Sources]</a:t>
            </a:r>
          </a:p>
          <a:p xmlns:a="http://schemas.openxmlformats.org/drawingml/2006/main">
            <a:r>
              <a:t>- local: docs/demo/antigravity_workshop/PROMPT_00_GRILL_ME.txt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Skillは名前と説明から発見され、必要時にSKILL.mdを読み、必要な資料やスクリプトだけを使う。</a:t>
            </a:r>
          </a:p>
          <a:p xmlns:a="http://schemas.openxmlformats.org/drawingml/2006/main">
            <a:r>
              <a:t/>
            </a:r>
          </a:p>
          <a:p xmlns:a="http://schemas.openxmlformats.org/drawingml/2006/main">
            <a:r>
              <a:t>[Sources]</a:t>
            </a:r>
          </a:p>
          <a:p xmlns:a="http://schemas.openxmlformats.org/drawingml/2006/main">
            <a:r>
              <a:t>- https://antigravity.google/docs/skills</a:t>
            </a:r>
          </a:p>
          <a:p xmlns:a="http://schemas.openxmlformats.org/drawingml/2006/main">
            <a:r>
              <a:t>- https://learn.chatgpt.com/docs/build-skills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このスライドの濃紺枠を全文コピーし、Antigravityへ貼り付ける。まだインストールしない。</a:t>
            </a:r>
          </a:p>
          <a:p xmlns:a="http://schemas.openxmlformats.org/drawingml/2006/main">
            <a:r>
              <a:t/>
            </a:r>
          </a:p>
          <a:p xmlns:a="http://schemas.openxmlformats.org/drawingml/2006/main">
            <a:r>
              <a:t>[Sources]</a:t>
            </a:r>
          </a:p>
          <a:p xmlns:a="http://schemas.openxmlformats.org/drawingml/2006/main">
            <a:r>
              <a:t>- local: docs/demo/antigravity_workshop/PROMPT_01_FIND_SKILLS.txt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インストール数は変動するため検索時点の参考値。候補の比較軸を見せることが目的。</a:t>
            </a:r>
          </a:p>
          <a:p xmlns:a="http://schemas.openxmlformats.org/drawingml/2006/main">
            <a:r>
              <a:t/>
            </a:r>
          </a:p>
          <a:p xmlns:a="http://schemas.openxmlformats.org/drawingml/2006/main">
            <a:r>
              <a:t>[Sources]</a:t>
            </a:r>
          </a:p>
          <a:p xmlns:a="http://schemas.openxmlformats.org/drawingml/2006/main">
            <a:r>
              <a:t>- https://skills.sh/anthropics/skills/frontend-design</a:t>
            </a:r>
          </a:p>
          <a:p xmlns:a="http://schemas.openxmlformats.org/drawingml/2006/main">
            <a:r>
              <a:t>- https://github.com/anthropics/skills/tree/main/skills/frontend-design</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このスライドの濃紺枠を全文コピーし、Antigravityへ貼り付ける。remote / branch / status / existing Skillを先に確認する。</a:t>
            </a:r>
          </a:p>
          <a:p xmlns:a="http://schemas.openxmlformats.org/drawingml/2006/main">
            <a:r>
              <a:t/>
            </a:r>
          </a:p>
          <a:p xmlns:a="http://schemas.openxmlformats.org/drawingml/2006/main">
            <a:r>
              <a:t>[Sources]</a:t>
            </a:r>
          </a:p>
          <a:p xmlns:a="http://schemas.openxmlformats.org/drawingml/2006/main">
            <a:r>
              <a:t>- local: docs/demo/antigravity_workshop/PROMPT_02_INSTALL_SKILL.txt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frontend-designはproduction-gradeで独自性のあるUI判断を促すが、事実・権限・公開判断の責任は持たせない。</a:t>
            </a:r>
          </a:p>
          <a:p xmlns:a="http://schemas.openxmlformats.org/drawingml/2006/main">
            <a:r>
              <a:t/>
            </a:r>
          </a:p>
          <a:p xmlns:a="http://schemas.openxmlformats.org/drawingml/2006/main">
            <a:r>
              <a:t>[Sources]</a:t>
            </a:r>
          </a:p>
          <a:p xmlns:a="http://schemas.openxmlformats.org/drawingml/2006/main">
            <a:r>
              <a:t>- https://github.com/anthropics/skills/tree/main/skills/frontend-design</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このスライドの濃紺枠を全文コピーし、Antigravityへ貼り付ける。index.htmlとstyles.cssだけを変更する。</a:t>
            </a:r>
          </a:p>
          <a:p xmlns:a="http://schemas.openxmlformats.org/drawingml/2006/main">
            <a:r>
              <a:t/>
            </a:r>
          </a:p>
          <a:p xmlns:a="http://schemas.openxmlformats.org/drawingml/2006/main">
            <a:r>
              <a:t>[Sources]</a:t>
            </a:r>
          </a:p>
          <a:p xmlns:a="http://schemas.openxmlformats.org/drawingml/2006/main">
            <a:r>
              <a:t>- local: docs/demo/antigravity_workshop/PROMPT_03_BUILD.txt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初版と改善版を分けることで、Skillがどの判断を変えたかを観客へ見せる。</a:t>
            </a:r>
          </a:p>
          <a:p xmlns:a="http://schemas.openxmlformats.org/drawingml/2006/main">
            <a:r>
              <a:t/>
            </a:r>
          </a:p>
          <a:p xmlns:a="http://schemas.openxmlformats.org/drawingml/2006/main">
            <a:r>
              <a:t>[Sources]</a:t>
            </a:r>
          </a:p>
          <a:p xmlns:a="http://schemas.openxmlformats.org/drawingml/2006/main">
            <a:r>
              <a:t>- https://antigravity.google/docs/artifacts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このスライドの濃紺枠を全文コピーし、Antigravityへ貼り付ける。フィルター件数と最大2比較を数値で検証する。</a:t>
            </a:r>
          </a:p>
          <a:p xmlns:a="http://schemas.openxmlformats.org/drawingml/2006/main">
            <a:r>
              <a:t/>
            </a:r>
          </a:p>
          <a:p xmlns:a="http://schemas.openxmlformats.org/drawingml/2006/main">
            <a:r>
              <a:t>[Sources]</a:t>
            </a:r>
          </a:p>
          <a:p xmlns:a="http://schemas.openxmlformats.org/drawingml/2006/main">
            <a:r>
              <a:t>- local: docs/demo/antigravity_workshop/PROMPT_04_APPLY_SKILL.txt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Skillが変えた判断、追加機能、ブラウザ検証の3行をAntigravityから報告させる。</a:t>
            </a:r>
          </a:p>
          <a:p xmlns:a="http://schemas.openxmlformats.org/drawingml/2006/main">
            <a:r>
              <a:t/>
            </a:r>
          </a:p>
          <a:p xmlns:a="http://schemas.openxmlformats.org/drawingml/2006/main">
            <a:r>
              <a:t>[Sources]</a:t>
            </a:r>
          </a:p>
          <a:p xmlns:a="http://schemas.openxmlformats.org/drawingml/2006/main">
            <a:r>
              <a:t>- https://github.com/anthropics/skills/tree/main/skills/frontend-design</a:t>
            </a:r>
          </a:p>
          <a:p xmlns:a="http://schemas.openxmlformats.org/drawingml/2006/main">
            <a:r>
              <a:t>- https://antigravity.google/docs/artifacts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このスライドの濃紺枠を全文コピーし、Antigravityへ貼り付ける。未接続なら会場で認証せず省略する。</a:t>
            </a:r>
          </a:p>
          <a:p xmlns:a="http://schemas.openxmlformats.org/drawingml/2006/main">
            <a:r>
              <a:t/>
            </a:r>
          </a:p>
          <a:p xmlns:a="http://schemas.openxmlformats.org/drawingml/2006/main">
            <a:r>
              <a:t>[Sources]</a:t>
            </a:r>
          </a:p>
          <a:p xmlns:a="http://schemas.openxmlformats.org/drawingml/2006/main">
            <a:r>
              <a:t>- local: docs/demo/antigravity_workshop/PROMPT_05_MCP_CHECK.txt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MCP未接続なら認証を始めず、gitと公開URL確認へ進む。</a:t>
            </a:r>
          </a:p>
          <a:p xmlns:a="http://schemas.openxmlformats.org/drawingml/2006/main">
            <a:r>
              <a:t/>
            </a:r>
          </a:p>
          <a:p xmlns:a="http://schemas.openxmlformats.org/drawingml/2006/main">
            <a:r>
              <a:t>[Sources]</a:t>
            </a:r>
          </a:p>
          <a:p xmlns:a="http://schemas.openxmlformats.org/drawingml/2006/main">
            <a:r>
              <a:t>- https://modelcontextprotocol.io/</a:t>
            </a:r>
          </a:p>
          <a:p xmlns:a="http://schemas.openxmlformats.org/drawingml/2006/main">
            <a:r>
              <a:t>- https://antigravity.google/docs/mcp</a:t>
            </a:r>
          </a:p>
          <a:p xmlns:a="http://schemas.openxmlformats.org/drawingml/2006/main">
            <a:r>
              <a:t>- https://learn.chatgpt.com/docs/extend/mcp?surface=cli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このスライドの濃紺枠を全文コピーし、Antigravityへ貼り付ける。正確な『公開して』までgit add / commit / pushを禁止する。</a:t>
            </a:r>
          </a:p>
          <a:p xmlns:a="http://schemas.openxmlformats.org/drawingml/2006/main">
            <a:r>
              <a:t/>
            </a:r>
          </a:p>
          <a:p xmlns:a="http://schemas.openxmlformats.org/drawingml/2006/main">
            <a:r>
              <a:t>[Sources]</a:t>
            </a:r>
          </a:p>
          <a:p xmlns:a="http://schemas.openxmlformats.org/drawingml/2006/main">
            <a:r>
              <a:t>- local: docs/demo/antigravity_workshop/PROMPT_06_PUBLISH.txt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公開URLを開き、タイトル、件数、2製品比較まで動かして証拠にする。</a:t>
            </a:r>
          </a:p>
          <a:p xmlns:a="http://schemas.openxmlformats.org/drawingml/2006/main">
            <a:r>
              <a:t/>
            </a:r>
          </a:p>
          <a:p xmlns:a="http://schemas.openxmlformats.org/drawingml/2006/main">
            <a:r>
              <a:t>[Sources]</a:t>
            </a:r>
          </a:p>
          <a:p xmlns:a="http://schemas.openxmlformats.org/drawingml/2006/main">
            <a:r>
              <a:t>- https://docs.github.com/en/pages/getting-started-with-github-pages/configuring-a-publishing-source-for-your-github-pages-site</a:t>
            </a:r>
          </a:p>
          <a:p xmlns:a="http://schemas.openxmlformats.org/drawingml/2006/main">
            <a:r>
              <a:t>- https://docs.github.com/en/pages/getting-started-with-github-pages/securing-your-github-pages-site-with-https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初回公開05cfa7cから最終改善347ce89までの実リハーサル結果。時間はgit commit時刻21:16:29から22:34:44の差。</a:t>
            </a:r>
          </a:p>
          <a:p xmlns:a="http://schemas.openxmlformats.org/drawingml/2006/main">
            <a:r>
              <a:t/>
            </a:r>
          </a:p>
          <a:p xmlns:a="http://schemas.openxmlformats.org/drawingml/2006/main">
            <a:r>
              <a:t>[Sources]</a:t>
            </a:r>
          </a:p>
          <a:p xmlns:a="http://schemas.openxmlformats.org/drawingml/2006/main">
            <a:r>
              <a:t>- https://kanta13jp1.github.io/mighty-link-antigravity-live-demo/</a:t>
            </a:r>
          </a:p>
          <a:p xmlns:a="http://schemas.openxmlformats.org/drawingml/2006/main">
            <a:r>
              <a:t>- https://github.com/kanta13jp1/mighty-link-antigravity-live-demo/commits/main/</a:t>
            </a:r>
          </a:p>
          <a:p xmlns:a="http://schemas.openxmlformats.org/drawingml/2006/main">
            <a:r>
              <a:t>- local: .codex/tmp/ai-agent-demo-deck-20260809/rehearsal-site/qa.json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XIのDay1は、到達目標と共通言語を先に示し、説明の直後にhands-onを置き、出力・速度・ファイルサイズなどの観察点を回収し、最後に評価・高速化・デプロイ・運用へ接続して振り返る。本デモでは同じ学習リズムを4つの実演ブロックへ適用する。</a:t>
            </a:r>
          </a:p>
          <a:p xmlns:a="http://schemas.openxmlformats.org/drawingml/2006/main">
            <a:r>
              <a:t/>
            </a:r>
          </a:p>
          <a:p xmlns:a="http://schemas.openxmlformats.org/drawingml/2006/main">
            <a:r>
              <a:t>[Sources]</a:t>
            </a:r>
          </a:p>
          <a:p xmlns:a="http://schemas.openxmlformats.org/drawingml/2006/main">
            <a:r>
              <a:t>- https://www.youtube.com/watch?v=da7hWlccpxw</a:t>
            </a:r>
          </a:p>
          <a:p xmlns:a="http://schemas.openxmlformats.org/drawingml/2006/main">
            <a:r>
              <a:t>- https://speakerdeck.com/mixi_engineers/2026_new_grad_training_ai_day1</a:t>
            </a:r>
          </a:p>
          <a:p xmlns:a="http://schemas.openxmlformats.org/drawingml/2006/main">
            <a:r>
              <a:t>- https://mixi.co.jp/news/2026/0727/55293/</a:t>
            </a:r>
          </a:p>
          <a:p xmlns:a="http://schemas.openxmlformats.org/drawingml/2006/main">
            <a:r>
              <a:t>- https://zenn.dev/mixi/articles/fd62f8ddc178f6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3つは別モデルの比較ではなく、同じAntigravity agent harnessをどう操作するかの比較。</a:t>
            </a:r>
          </a:p>
          <a:p xmlns:a="http://schemas.openxmlformats.org/drawingml/2006/main">
            <a:r>
              <a:t/>
            </a:r>
          </a:p>
          <a:p xmlns:a="http://schemas.openxmlformats.org/drawingml/2006/main">
            <a:r>
              <a:t>[Sources]</a:t>
            </a:r>
          </a:p>
          <a:p xmlns:a="http://schemas.openxmlformats.org/drawingml/2006/main">
            <a:r>
              <a:t>- https://antigravity.google/docs/cli/overview</a:t>
            </a:r>
          </a:p>
          <a:p xmlns:a="http://schemas.openxmlformats.org/drawingml/2006/main">
            <a:r>
              <a:t>- https://antigravity.google/docs/sdk/overview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ユーザー提供の実リハーサル画面。IDEとBrowserを横に置き、指示から画面確認までを一続きで見せる。</a:t>
            </a:r>
          </a:p>
          <a:p xmlns:a="http://schemas.openxmlformats.org/drawingml/2006/main">
            <a:r>
              <a:t/>
            </a:r>
          </a:p>
          <a:p xmlns:a="http://schemas.openxmlformats.org/drawingml/2006/main">
            <a:r>
              <a:t>[Sources]</a:t>
            </a:r>
          </a:p>
          <a:p xmlns:a="http://schemas.openxmlformats.org/drawingml/2006/main">
            <a:r>
              <a:t>- local: C:/Users/kanta/AppData/Local/Temp/codex-clipboard-9ac195ea-5495-4b22-b301-2e22b2eb9e80.png</a:t>
            </a:r>
          </a:p>
          <a:p xmlns:a="http://schemas.openxmlformats.org/drawingml/2006/main">
            <a:r>
              <a:t>- https://antigravity.google/docs/artifacts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このスライドの濃紺枠を全文コピーし、Antigravityへ貼り付ける。対話TUIのagyへ全文貼付。対象4ファイルのreadだけ許可し、書き込み確認は拒否する。</a:t>
            </a:r>
          </a:p>
          <a:p xmlns:a="http://schemas.openxmlformats.org/drawingml/2006/main">
            <a:r>
              <a:t/>
            </a:r>
          </a:p>
          <a:p xmlns:a="http://schemas.openxmlformats.org/drawingml/2006/main">
            <a:r>
              <a:t>[Sources]</a:t>
            </a:r>
          </a:p>
          <a:p xmlns:a="http://schemas.openxmlformats.org/drawingml/2006/main">
            <a:r>
              <a:t>- local: docs/demo/antigravity_workshop/PROMPT_10_CLI_READONLY.txt</a:t>
            </a:r>
          </a:p>
          <a:p xmlns:a="http://schemas.openxmlformats.org/drawingml/2006/main">
            <a:r>
              <a:t>- https://antigravity.google/docs/skills</a:t>
            </a:r>
          </a:p>
          <a:p xmlns:a="http://schemas.openxmlformats.org/drawingml/2006/main">
            <a:r>
              <a:t>- https://antigravity.google/docs/cli/overview</a:t>
            </a:r>
          </a:p>
          <a:p xmlns:a="http://schemas.openxmlformats.org/drawingml/2006/main">
            <a:r>
              <a:t>- https://antigravity.google/docs/cli/getting-started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read-only toolsだけをmodel contextへ公開し、書き込みの選択肢自体を見せない。現在のPCはpackage導入済みで、API key未設定時は一行で安全停止する。</a:t>
            </a:r>
          </a:p>
          <a:p xmlns:a="http://schemas.openxmlformats.org/drawingml/2006/main">
            <a:r>
              <a:t/>
            </a:r>
          </a:p>
          <a:p xmlns:a="http://schemas.openxmlformats.org/drawingml/2006/main">
            <a:r>
              <a:t>[Sources]</a:t>
            </a:r>
          </a:p>
          <a:p xmlns:a="http://schemas.openxmlformats.org/drawingml/2006/main">
            <a:r>
              <a:t>- https://antigravity.google/docs/sdk/overview</a:t>
            </a:r>
          </a:p>
          <a:p xmlns:a="http://schemas.openxmlformats.org/drawingml/2006/main">
            <a:r>
              <a:t>- https://github.com/google-antigravity/antigravity-sdk-python</a:t>
            </a:r>
          </a:p>
          <a:p xmlns:a="http://schemas.openxmlformats.org/drawingml/2006/main">
            <a:r>
              <a:t>- local: docs/demo/antigravity_workshop/antigravity_sdk_readonly.py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このスライドの濃紺枠を全文コピーし、Antigravityへ貼り付ける。runnerがこの全文を自動投入する。実行は前スライドの2コマンドだけ。</a:t>
            </a:r>
          </a:p>
          <a:p xmlns:a="http://schemas.openxmlformats.org/drawingml/2006/main">
            <a:r>
              <a:t/>
            </a:r>
          </a:p>
          <a:p xmlns:a="http://schemas.openxmlformats.org/drawingml/2006/main">
            <a:r>
              <a:t>[Sources]</a:t>
            </a:r>
          </a:p>
          <a:p xmlns:a="http://schemas.openxmlformats.org/drawingml/2006/main">
            <a:r>
              <a:t>- local: docs/demo/antigravity_workshop/PROMPT_11_SDK_READONLY.txt</a:t>
            </a:r>
          </a:p>
          <a:p xmlns:a="http://schemas.openxmlformats.org/drawingml/2006/main">
            <a:r>
              <a:t>- https://antigravity.google/docs/skills</a:t>
            </a:r>
          </a:p>
          <a:p xmlns:a="http://schemas.openxmlformats.org/drawingml/2006/main">
            <a:r>
              <a:t>- https://antigravity.google/docs/sdk/overview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答えは『IDEで見る・相談する、CLIで速く確かめる、SDKで仕組みにする』。参加者に声に出してもらわなくても、講師が3秒置いてから答えを言う。</a:t>
            </a:r>
          </a:p>
          <a:p xmlns:a="http://schemas.openxmlformats.org/drawingml/2006/main">
            <a:r>
              <a:t/>
            </a:r>
          </a:p>
          <a:p xmlns:a="http://schemas.openxmlformats.org/drawingml/2006/main">
            <a:r>
              <a:t>[Sources]</a:t>
            </a:r>
          </a:p>
          <a:p xmlns:a="http://schemas.openxmlformats.org/drawingml/2006/main">
            <a:r>
              <a:t>- https://www.youtube.com/watch?v=da7hWlccpxw</a:t>
            </a:r>
          </a:p>
          <a:p xmlns:a="http://schemas.openxmlformats.org/drawingml/2006/main">
            <a:r>
              <a:t>- https://antigravity.google/docs/cli/overview</a:t>
            </a:r>
          </a:p>
          <a:p xmlns:a="http://schemas.openxmlformats.org/drawingml/2006/main">
            <a:r>
              <a:t>- https://antigravity.google/docs/sdk/overview</a:t>
            </a:r>
          </a:p>
          <a:p xmlns:a="http://schemas.openxmlformats.org/drawingml/2006/main">
            <a:r>
              <a:t>- local: docs/demo/antigravity_workshop/README.md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このスライドの濃紺枠を全文コピーし、Antigravityへ貼り付ける。本編では実行しない。title / author_name / author_urlを確認できなければ停止する。</a:t>
            </a:r>
          </a:p>
          <a:p xmlns:a="http://schemas.openxmlformats.org/drawingml/2006/main">
            <a:r>
              <a:t/>
            </a:r>
          </a:p>
          <a:p xmlns:a="http://schemas.openxmlformats.org/drawingml/2006/main">
            <a:r>
              <a:t>[Sources]</a:t>
            </a:r>
          </a:p>
          <a:p xmlns:a="http://schemas.openxmlformats.org/drawingml/2006/main">
            <a:r>
              <a:t>- local: docs/demo/antigravity_workshop/PROMPT_07_OFFICIAL_VIDEO.txt</a:t>
            </a:r>
          </a:p>
          <a:p xmlns:a="http://schemas.openxmlformats.org/drawingml/2006/main">
            <a:r>
              <a:t>- https://antigravity.google/docs/skills</a:t>
            </a:r>
          </a:p>
          <a:p xmlns:a="http://schemas.openxmlformats.org/drawingml/2006/main">
            <a:r>
              <a:t>- https://www.youtube.com/watch?v=SVCBA-pBgt0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このスライドの濃紺枠を全文コピーし、Antigravityへ貼り付ける。画像生成Toolが使えなければ既存画像を維持し、SKIPPEDとする。</a:t>
            </a:r>
          </a:p>
          <a:p xmlns:a="http://schemas.openxmlformats.org/drawingml/2006/main">
            <a:r>
              <a:t/>
            </a:r>
          </a:p>
          <a:p xmlns:a="http://schemas.openxmlformats.org/drawingml/2006/main">
            <a:r>
              <a:t>[Sources]</a:t>
            </a:r>
          </a:p>
          <a:p xmlns:a="http://schemas.openxmlformats.org/drawingml/2006/main">
            <a:r>
              <a:t>- local: docs/demo/antigravity_workshop/PROMPT_08_NANO_BANANA.txt</a:t>
            </a:r>
          </a:p>
          <a:p xmlns:a="http://schemas.openxmlformats.org/drawingml/2006/main">
            <a:r>
              <a:t>- https://antigravity.google/docs/skills</a:t>
            </a:r>
          </a:p>
          <a:p xmlns:a="http://schemas.openxmlformats.org/drawingml/2006/main">
            <a:r>
              <a:t>- https://antigravity.google/docs/models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このスライドの濃紺枠を全文コピーし、Antigravityへ貼り付ける。サイト内の模擬pin UIではなく、AntigravityのScreenshot Artifactへ貼り付ける。</a:t>
            </a:r>
          </a:p>
          <a:p xmlns:a="http://schemas.openxmlformats.org/drawingml/2006/main">
            <a:r>
              <a:t/>
            </a:r>
          </a:p>
          <a:p xmlns:a="http://schemas.openxmlformats.org/drawingml/2006/main">
            <a:r>
              <a:t>[Sources]</a:t>
            </a:r>
          </a:p>
          <a:p xmlns:a="http://schemas.openxmlformats.org/drawingml/2006/main">
            <a:r>
              <a:t>- local: docs/demo/antigravity_workshop/PROMPT_09_VISUAL_FEEDBACK_COMMENT.txt</a:t>
            </a:r>
          </a:p>
          <a:p xmlns:a="http://schemas.openxmlformats.org/drawingml/2006/main">
            <a:r>
              <a:t>- https://antigravity.google/docs/skills</a:t>
            </a:r>
          </a:p>
          <a:p xmlns:a="http://schemas.openxmlformats.org/drawingml/2006/main">
            <a:r>
              <a:t>- https://antigravity.google/docs/screenshots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基礎Skillの/grill-meと/find-skillsは本番でも使うため削除しない。ライブ導入したfrontend-designだけを削除する。</a:t>
            </a:r>
          </a:p>
          <a:p xmlns:a="http://schemas.openxmlformats.org/drawingml/2006/main">
            <a:r>
              <a:t/>
            </a:r>
          </a:p>
          <a:p xmlns:a="http://schemas.openxmlformats.org/drawingml/2006/main">
            <a:r>
              <a:t>[Sources]</a:t>
            </a:r>
          </a:p>
          <a:p xmlns:a="http://schemas.openxmlformats.org/drawingml/2006/main">
            <a:r>
              <a:t>- https://antigravity.google/docs/skills</a:t>
            </a:r>
          </a:p>
          <a:p xmlns:a="http://schemas.openxmlformats.org/drawingml/2006/main">
            <a:r>
              <a:t>- https://git-scm.com/docs/git-revert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エラーの復旧を延々見せない。デモの学習目標を維持する。</a:t>
            </a:r>
          </a:p>
          <a:p xmlns:a="http://schemas.openxmlformats.org/drawingml/2006/main">
            <a:r>
              <a:t/>
            </a:r>
          </a:p>
          <a:p xmlns:a="http://schemas.openxmlformats.org/drawingml/2006/main">
            <a:r>
              <a:t>[Sources]</a:t>
            </a:r>
          </a:p>
          <a:p xmlns:a="http://schemas.openxmlformats.org/drawingml/2006/main">
            <a:r>
              <a:t>- local: docs/demo/antigravity_workshop/BACKUP_PROMPTS.txt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冒頭の3到達目標をそのまま再提示し、実演中に見た証拠と結び付ける。最後に、自分の仕事へ持ち帰る小さな行動を一つだけ示してQ&amp;Aへ移る。</a:t>
            </a:r>
          </a:p>
          <a:p xmlns:a="http://schemas.openxmlformats.org/drawingml/2006/main">
            <a:r>
              <a:t/>
            </a:r>
          </a:p>
          <a:p xmlns:a="http://schemas.openxmlformats.org/drawingml/2006/main">
            <a:r>
              <a:t>[Sources]</a:t>
            </a:r>
          </a:p>
          <a:p xmlns:a="http://schemas.openxmlformats.org/drawingml/2006/main">
            <a:r>
              <a:t>- https://www.youtube.com/watch?v=da7hWlccpxw</a:t>
            </a:r>
          </a:p>
          <a:p xmlns:a="http://schemas.openxmlformats.org/drawingml/2006/main">
            <a:r>
              <a:t>- https://mixi.co.jp/news/2026/0727/55293/</a:t>
            </a:r>
          </a:p>
          <a:p xmlns:a="http://schemas.openxmlformats.org/drawingml/2006/main">
            <a:r>
              <a:t>- https://antigravity.google/docs/artifacts</a:t>
            </a:r>
          </a:p>
          <a:p xmlns:a="http://schemas.openxmlformats.org/drawingml/2006/main">
            <a:r>
              <a:t>- https://antigravity.google/docs/skills</a:t>
            </a:r>
          </a:p>
          <a:p xmlns:a="http://schemas.openxmlformats.org/drawingml/2006/main">
            <a:r>
              <a:t>- https://antigravity.google/docs/mcp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bda09cf5dba405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26683c0a045412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2fa35ba38bc4db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a101ce025c44cd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535c671d02349d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4d68a6dff244f1c"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45e1ada946fc46b2"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48b8264fad38499c"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3e2b2aa91c8f4b99"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6f1bd7ee906e4d4a"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bab983413fc44100"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EF2005F-010D-4879-B4A5-2F0B4A35DFD9}"/>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2D43F7C2-4BC4-4DBA-B92A-FB2D13D2448E}"/>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D6581E8D-E9A6-4A51-ADCF-DF6DFF62E0B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D7871991-FE0F-4ABE-84C8-8911307FADA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390965A2-6D0F-4FAF-8919-75625CFA2F7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0F782CA-06EF-4CAD-909B-8401A5FFB5F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3C62E98B-7F02-40BD-99BA-39B3D8CC51DA}"/>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59C0CD4E-AC4D-4C04-B20B-AD95B8867C3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84D7E4C9-C46C-4394-8E02-F0D72F3A284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A6E0D42-C926-4A0E-B4F7-999B8A3643A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A3E78E3-652E-4C8C-A507-07CA44CC7602}"/>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2B173EAC-50B5-46EB-960E-F2010C5D8562}"/>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EACE1AFB-BAB3-4D6A-B547-7C77C046724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04A8E308-276F-458B-870A-C31A511F5B0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BDE78DC-79CD-4E91-A67D-BE6EF04D838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B946986-8BF6-4B0E-A71C-78AF370D391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25419A9A-A270-4616-AF9B-0CFB74E86836}"/>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8AEA15DB-4793-4205-91A7-DF75AABC2A65}"/>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49B073DE-C6F9-4B02-9A65-8C8FC5E2E1A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81BE8C75-E191-49E7-9687-890EDB25E9D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277CCF35-17C3-4454-B5EA-0FA9C230E78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344304F-D9C3-481C-9D67-86194F8131B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56BEA75B-9BDA-46B5-9614-839EA8DF037A}"/>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36AD4F4D-55E7-4A3C-8D01-9C892F26C9E4}"/>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EA7C7741-BA5B-4BF1-BAAF-99DFADE5F1AD}"/>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28DB9F93-81C9-4B4E-A498-6611C7B37FF3}"/>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BFAE4694-44A9-4DA2-8AD8-15AC6CE13DB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4F73A481-9A72-4F09-AB44-4D87B172366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CAF4FE67-EA9F-4B70-A2F8-9E4F6CEEACE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E1B7798-3BDD-4A69-9A32-460B68C6067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2A5A5020-D3DA-41C3-ACDB-3094F9888EF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3E9FB9D4-695C-4325-B531-A5B031502E1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CAA37A3D-DCF0-400E-9CE9-6BAF3FDBDA2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33C0E483-8CD9-4CCE-A073-4A9962126FC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85242A54-C18D-40BC-B529-3698392EAC2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12183B91-11D1-4C8F-9505-96CE6A3B496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0D49209-3F08-46EB-87F5-C80A503C0EA0}"/>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A49364E4-58F2-4F1D-90E2-439B64F612F2}"/>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70D6ADE0-65C3-4D7D-B8B2-8283E82BD327}"/>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6529E67D-E0F9-4532-A321-E7FA2F6CF7F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33ABC3D7-3C7C-4FC2-B322-FCAE24E681E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C081958D-8336-48FC-AE8D-6BFBA5CE455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14CBA31-A261-46D3-8835-90E5E781C235}"/>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73093C3F-8F84-45AF-8FCE-42D5CE103798}"/>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7DC1B413-F42A-457B-BF70-9CF33C34BB01}"/>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8A4E11C9-602C-4F1D-AD1B-6000B0C9F65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280E42CE-8D03-4612-8824-C718F54AF1E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25C55257-8FBE-46A0-B283-1E231A85CBE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1E46B00-003E-4C93-8834-B7C192BFF74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22027A45-44B5-49C6-AAED-2AD4835F32A8}"/>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AE5FA00D-AF57-4E30-A01B-4BB6D35A3D0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76DD1F3F-9F5C-4E26-83A5-2DC1231588B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CB604C7-AEB2-4B33-ABA1-AA8C924F43A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4DEE97CB-4B36-4674-BF60-47956ADBE57E}"/>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7C47F25F-95C5-48D2-80FF-66956370ABA6}"/>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8E63C951-9C61-4725-B26A-0E352D2D5F2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E71AE6A7-B888-4634-82B6-AF0855F6F1F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D38618E-65C1-4959-98B1-BB7A6FDD592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4265d0a064d43ef" /><Relationship Type="http://schemas.openxmlformats.org/officeDocument/2006/relationships/slideLayout" Target="/ppt/slideLayouts/slideLayout1.xml" Id="Re0106e9ef92046a0" /><Relationship Type="http://schemas.openxmlformats.org/officeDocument/2006/relationships/slideLayout" Target="/ppt/slideLayouts/slideLayout2.xml" Id="Ref2df486bcef4cb6" /><Relationship Type="http://schemas.openxmlformats.org/officeDocument/2006/relationships/slideLayout" Target="/ppt/slideLayouts/slideLayout3.xml" Id="R8e99e659a10b407f" /><Relationship Type="http://schemas.openxmlformats.org/officeDocument/2006/relationships/slideLayout" Target="/ppt/slideLayouts/slideLayout4.xml" Id="R19b8ed3f33c64a19" /><Relationship Type="http://schemas.openxmlformats.org/officeDocument/2006/relationships/slideLayout" Target="/ppt/slideLayouts/slideLayout5.xml" Id="R98c7647163f543bd" /><Relationship Type="http://schemas.openxmlformats.org/officeDocument/2006/relationships/slideLayout" Target="/ppt/slideLayouts/slideLayout6.xml" Id="Re49951ef13704ba2" /><Relationship Type="http://schemas.openxmlformats.org/officeDocument/2006/relationships/slideLayout" Target="/ppt/slideLayouts/slideLayout7.xml" Id="R4f129fc310cd4554" /><Relationship Type="http://schemas.openxmlformats.org/officeDocument/2006/relationships/slideLayout" Target="/ppt/slideLayouts/slideLayout8.xml" Id="R944ed97de84b4a5a" /><Relationship Type="http://schemas.openxmlformats.org/officeDocument/2006/relationships/slideLayout" Target="/ppt/slideLayouts/slideLayout9.xml" Id="Rb2661f586264483f" /><Relationship Type="http://schemas.openxmlformats.org/officeDocument/2006/relationships/slideLayout" Target="/ppt/slideLayouts/slideLayout10.xml" Id="R3ddab87b8e5645c0" /><Relationship Type="http://schemas.openxmlformats.org/officeDocument/2006/relationships/slideLayout" Target="/ppt/slideLayouts/slideLayout11.xml" Id="Rfb8c653b55d9460c"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2A2A5C51-A346-4EA8-AF14-DAB2FC57200E}"/>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6BC0995A-002C-4095-ADCD-05161173E7D0}"/>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AD102396-6D45-4188-8E9C-92B2EFE6FA42}"/>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D169B75E-F3F2-45FE-9624-6DE8143DFB4F}"/>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44A33AB-596F-4E82-BE63-F4D9C240D614}"/>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0106e9ef92046a0"/>
    <p:sldLayoutId xmlns:r="http://schemas.openxmlformats.org/officeDocument/2006/relationships" id="2147483650" r:id="Ref2df486bcef4cb6"/>
    <p:sldLayoutId xmlns:r="http://schemas.openxmlformats.org/officeDocument/2006/relationships" id="2147483651" r:id="R8e99e659a10b407f"/>
    <p:sldLayoutId xmlns:r="http://schemas.openxmlformats.org/officeDocument/2006/relationships" id="2147483652" r:id="R19b8ed3f33c64a19"/>
    <p:sldLayoutId xmlns:r="http://schemas.openxmlformats.org/officeDocument/2006/relationships" id="2147483653" r:id="R98c7647163f543bd"/>
    <p:sldLayoutId xmlns:r="http://schemas.openxmlformats.org/officeDocument/2006/relationships" id="2147483654" r:id="Re49951ef13704ba2"/>
    <p:sldLayoutId xmlns:r="http://schemas.openxmlformats.org/officeDocument/2006/relationships" id="2147483655" r:id="R4f129fc310cd4554"/>
    <p:sldLayoutId xmlns:r="http://schemas.openxmlformats.org/officeDocument/2006/relationships" id="2147483656" r:id="R944ed97de84b4a5a"/>
    <p:sldLayoutId xmlns:r="http://schemas.openxmlformats.org/officeDocument/2006/relationships" id="2147483657" r:id="Rb2661f586264483f"/>
    <p:sldLayoutId xmlns:r="http://schemas.openxmlformats.org/officeDocument/2006/relationships" id="2147483658" r:id="R3ddab87b8e5645c0"/>
    <p:sldLayoutId xmlns:r="http://schemas.openxmlformats.org/officeDocument/2006/relationships" id="2147483659" r:id="Rfb8c653b55d9460c"/>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b9bf36701b994a5e" /><Relationship Type="http://schemas.openxmlformats.org/officeDocument/2006/relationships/image" Target="/ppt/media/image.png" Id="R0a35a395a51b44b9" /><Relationship Type="http://schemas.openxmlformats.org/officeDocument/2006/relationships/image" Target="/ppt/media/image2.png" Id="R49a76a4f6f3b42d1" /><Relationship Type="http://schemas.openxmlformats.org/officeDocument/2006/relationships/notesSlide" Target="/ppt/notesSlides/notesSlide1.xml" Id="Rcaba2387b44940c3"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f271940c9bb84585" /><Relationship Type="http://schemas.openxmlformats.org/officeDocument/2006/relationships/notesSlide" Target="/ppt/notesSlides/notesSlide2.xml" Id="R2b4910c2c04a4da2"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1e9d7667cc814d26" /><Relationship Type="http://schemas.openxmlformats.org/officeDocument/2006/relationships/notesSlide" Target="/ppt/notesSlides/notesSlide3.xml" Id="R31551145496d46be"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5b6747bee8e54a66" /><Relationship Type="http://schemas.openxmlformats.org/officeDocument/2006/relationships/notesSlide" Target="/ppt/notesSlides/notesSlide4.xml" Id="Rc681fa870a964b28"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41d2c688127e465d" /><Relationship Type="http://schemas.openxmlformats.org/officeDocument/2006/relationships/notesSlide" Target="/ppt/notesSlides/notesSlide5.xml" Id="R0adbd4064868496c"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7a7460df29604d31" /><Relationship Type="http://schemas.openxmlformats.org/officeDocument/2006/relationships/notesSlide" Target="/ppt/notesSlides/notesSlide6.xml" Id="R6647b8b790004dce"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54ed5483adea4ed6" /><Relationship Type="http://schemas.openxmlformats.org/officeDocument/2006/relationships/notesSlide" Target="/ppt/notesSlides/notesSlide7.xml" Id="R738b18c15ee04219"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2794a0224a98425c" /><Relationship Type="http://schemas.openxmlformats.org/officeDocument/2006/relationships/notesSlide" Target="/ppt/notesSlides/notesSlide8.xml" Id="Rbb9981e760ef4cc3"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884e261305ee4085" /><Relationship Type="http://schemas.openxmlformats.org/officeDocument/2006/relationships/image" Target="/ppt/media/image3.png" Id="R35a01b28e2564e08" /><Relationship Type="http://schemas.openxmlformats.org/officeDocument/2006/relationships/notesSlide" Target="/ppt/notesSlides/notesSlide9.xml" Id="R8eef90e940ad441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be467f4e814f4c16" /><Relationship Type="http://schemas.openxmlformats.org/officeDocument/2006/relationships/notesSlide" Target="/ppt/notesSlides/notesSlide10.xml" Id="R7570fad93e54409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5012abf45bf542d3" /><Relationship Type="http://schemas.openxmlformats.org/officeDocument/2006/relationships/image" Target="/ppt/media/image3.png" Id="Rc184393967734fd0" /><Relationship Type="http://schemas.openxmlformats.org/officeDocument/2006/relationships/notesSlide" Target="/ppt/notesSlides/notesSlide11.xml" Id="Rffe4cb11aceb4ea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34a958b8e23d4050" /><Relationship Type="http://schemas.openxmlformats.org/officeDocument/2006/relationships/notesSlide" Target="/ppt/notesSlides/notesSlide12.xml" Id="Rb3391ee3148f4e1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7.xml" Id="Re9c97a1ce4ed41ed" /><Relationship Type="http://schemas.openxmlformats.org/officeDocument/2006/relationships/image" Target="/ppt/media/image3.png" Id="R50f41ddec1e04f98" /><Relationship Type="http://schemas.openxmlformats.org/officeDocument/2006/relationships/notesSlide" Target="/ppt/notesSlides/notesSlide13.xml" Id="R73af108df40042c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7.xml" Id="R1659826894de4c86" /><Relationship Type="http://schemas.openxmlformats.org/officeDocument/2006/relationships/notesSlide" Target="/ppt/notesSlides/notesSlide14.xml" Id="R8aa0dca5f3be4a2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7.xml" Id="Rec6dd6fe2c934d5e" /><Relationship Type="http://schemas.openxmlformats.org/officeDocument/2006/relationships/image" Target="/ppt/media/image3.png" Id="R27c71940578942cd" /><Relationship Type="http://schemas.openxmlformats.org/officeDocument/2006/relationships/notesSlide" Target="/ppt/notesSlides/notesSlide15.xml" Id="R05b06c26a90a41f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7.xml" Id="R45b24fd779d84cca" /><Relationship Type="http://schemas.openxmlformats.org/officeDocument/2006/relationships/notesSlide" Target="/ppt/notesSlides/notesSlide16.xml" Id="R6a6c715a5142401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7.xml" Id="R01be5a4d8f4b4797" /><Relationship Type="http://schemas.openxmlformats.org/officeDocument/2006/relationships/image" Target="/ppt/media/image3.png" Id="Rdea261d9037b4401" /><Relationship Type="http://schemas.openxmlformats.org/officeDocument/2006/relationships/notesSlide" Target="/ppt/notesSlides/notesSlide17.xml" Id="R6582f9a3989d47d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7.xml" Id="Rfbae52fe81bb426c" /><Relationship Type="http://schemas.openxmlformats.org/officeDocument/2006/relationships/notesSlide" Target="/ppt/notesSlides/notesSlide18.xml" Id="Rb0b0dd6047d54af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7.xml" Id="R11f173531aff425a" /><Relationship Type="http://schemas.openxmlformats.org/officeDocument/2006/relationships/image" Target="/ppt/media/image3.png" Id="R9a9df327168b4e3b" /><Relationship Type="http://schemas.openxmlformats.org/officeDocument/2006/relationships/notesSlide" Target="/ppt/notesSlides/notesSlide19.xml" Id="R586ced3e8aae4e3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7.xml" Id="R4a86277934c14d0e" /><Relationship Type="http://schemas.openxmlformats.org/officeDocument/2006/relationships/notesSlide" Target="/ppt/notesSlides/notesSlide20.xml" Id="Re82374ae5c8945a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7.xml" Id="R7d0d5d4d34b64b12" /><Relationship Type="http://schemas.openxmlformats.org/officeDocument/2006/relationships/image" Target="/ppt/media/image3.png" Id="R3dd727e7a3ec44b9" /><Relationship Type="http://schemas.openxmlformats.org/officeDocument/2006/relationships/notesSlide" Target="/ppt/notesSlides/notesSlide21.xml" Id="R508a96405f76457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7.xml" Id="Rd4ed3ee6b6a74b47" /><Relationship Type="http://schemas.openxmlformats.org/officeDocument/2006/relationships/notesSlide" Target="/ppt/notesSlides/notesSlide22.xml" Id="R1cff08b5d049405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7.xml" Id="R8a56efe6fcec4dc1" /><Relationship Type="http://schemas.openxmlformats.org/officeDocument/2006/relationships/image" Target="/ppt/media/image4.png" Id="R8514ca36ef1345f2" /><Relationship Type="http://schemas.openxmlformats.org/officeDocument/2006/relationships/notesSlide" Target="/ppt/notesSlides/notesSlide23.xml" Id="R6b05e1081778476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7.xml" Id="R278f373bfe014a8c" /><Relationship Type="http://schemas.openxmlformats.org/officeDocument/2006/relationships/notesSlide" Target="/ppt/notesSlides/notesSlide24.xml" Id="R79b276b04e5b40a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7.xml" Id="R6cd6dd7ecd1b4ac5" /><Relationship Type="http://schemas.openxmlformats.org/officeDocument/2006/relationships/notesSlide" Target="/ppt/notesSlides/notesSlide25.xml" Id="R717514310c5f4ca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7.xml" Id="R428de1a9886144d2" /><Relationship Type="http://schemas.openxmlformats.org/officeDocument/2006/relationships/image" Target="/ppt/media/image5.png" Id="Rf7c497bcf09c4079" /><Relationship Type="http://schemas.openxmlformats.org/officeDocument/2006/relationships/notesSlide" Target="/ppt/notesSlides/notesSlide26.xml" Id="Ra88d3b9d56074c9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7.xml" Id="R25e80ed7b0af4ff2" /><Relationship Type="http://schemas.openxmlformats.org/officeDocument/2006/relationships/image" Target="/ppt/media/image3.png" Id="Rf94adafd13b0441c" /><Relationship Type="http://schemas.openxmlformats.org/officeDocument/2006/relationships/notesSlide" Target="/ppt/notesSlides/notesSlide27.xml" Id="Rc53939e65dc749f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7.xml" Id="Ra60de3c9fa3647ac" /><Relationship Type="http://schemas.openxmlformats.org/officeDocument/2006/relationships/notesSlide" Target="/ppt/notesSlides/notesSlide28.xml" Id="R53c9682ad8d74d4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7.xml" Id="R215eeb1714a343c3" /><Relationship Type="http://schemas.openxmlformats.org/officeDocument/2006/relationships/image" Target="/ppt/media/image3.png" Id="R4e3d87c7061c4411" /><Relationship Type="http://schemas.openxmlformats.org/officeDocument/2006/relationships/notesSlide" Target="/ppt/notesSlides/notesSlide29.xml" Id="R511077be3adb44b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7.xml" Id="R08c977808fb34c48" /><Relationship Type="http://schemas.openxmlformats.org/officeDocument/2006/relationships/notesSlide" Target="/ppt/notesSlides/notesSlide30.xml" Id="Rb76314824aa94828" /></Relationships>
</file>

<file path=ppt/slides/_rels/slide31.xml.rels>&#65279;<?xml version="1.0" encoding="utf-8"?><Relationships xmlns="http://schemas.openxmlformats.org/package/2006/relationships"><Relationship Type="http://schemas.openxmlformats.org/officeDocument/2006/relationships/slideLayout" Target="/ppt/slideLayouts/slideLayout7.xml" Id="R8c881095e7c4493c" /><Relationship Type="http://schemas.openxmlformats.org/officeDocument/2006/relationships/image" Target="/ppt/media/image3.png" Id="R8075a3803c894a98" /><Relationship Type="http://schemas.openxmlformats.org/officeDocument/2006/relationships/notesSlide" Target="/ppt/notesSlides/notesSlide31.xml" Id="R1881681e928f425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7.xml" Id="R13cf332eb6ab4958" /><Relationship Type="http://schemas.openxmlformats.org/officeDocument/2006/relationships/image" Target="/ppt/media/image3.png" Id="Rbdc47c371da54a7d" /><Relationship Type="http://schemas.openxmlformats.org/officeDocument/2006/relationships/notesSlide" Target="/ppt/notesSlides/notesSlide32.xml" Id="Rdbfa3249b79b490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7.xml" Id="R840d58bfb9194d41" /><Relationship Type="http://schemas.openxmlformats.org/officeDocument/2006/relationships/image" Target="/ppt/media/image3.png" Id="Rdbdbe90ab15a488b" /><Relationship Type="http://schemas.openxmlformats.org/officeDocument/2006/relationships/notesSlide" Target="/ppt/notesSlides/notesSlide33.xml" Id="R2558ae1a3d8d4c40" /></Relationships>
</file>

<file path=ppt/slides/_rels/slide34.xml.rels>&#65279;<?xml version="1.0" encoding="utf-8"?><Relationships xmlns="http://schemas.openxmlformats.org/package/2006/relationships"><Relationship Type="http://schemas.openxmlformats.org/officeDocument/2006/relationships/slideLayout" Target="/ppt/slideLayouts/slideLayout7.xml" Id="R7ab4438cf2994a4e" /><Relationship Type="http://schemas.openxmlformats.org/officeDocument/2006/relationships/notesSlide" Target="/ppt/notesSlides/notesSlide34.xml" Id="R19af8e281f014d1c" /></Relationships>
</file>

<file path=ppt/slides/_rels/slide35.xml.rels>&#65279;<?xml version="1.0" encoding="utf-8"?><Relationships xmlns="http://schemas.openxmlformats.org/package/2006/relationships"><Relationship Type="http://schemas.openxmlformats.org/officeDocument/2006/relationships/slideLayout" Target="/ppt/slideLayouts/slideLayout7.xml" Id="Re0e84d6192eb45a2" /><Relationship Type="http://schemas.openxmlformats.org/officeDocument/2006/relationships/notesSlide" Target="/ppt/notesSlides/notesSlide35.xml" Id="Rf8d57033e86a4c5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7.xml" Id="R48985f47fec745aa" /><Relationship Type="http://schemas.openxmlformats.org/officeDocument/2006/relationships/notesSlide" Target="/ppt/notesSlides/notesSlide36.xml" Id="R818a9e5970e04f22" /></Relationships>
</file>

<file path=ppt/slides/slide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5451BB22-5A9D-498B-B4A7-832312C6089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8450AFC5-3358-459D-BAE9-3CD632534757}"/>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58B33D43-0D18-404E-A4B5-426E0E37B758}"/>
              </a:ext>
            </a:extLst>
          </p:cNvPr>
          <p:cNvSpPr>
            <a:spLocks xmlns:a="http://schemas.openxmlformats.org/drawingml/2006/main" noGrp="1"/>
          </p:cNvSpPr>
          <p:nvPr/>
        </p:nvSpPr>
        <p:spPr>
          <a:xfrm xmlns:a="http://schemas.openxmlformats.org/drawingml/2006/main">
            <a:off x="171450" y="0"/>
            <a:ext cx="47625" cy="68580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C9D38E9-F2F1-4C60-B862-159212F7F4CC}"/>
              </a:ext>
            </a:extLst>
          </p:cNvPr>
          <p:cNvSpPr>
            <a:spLocks xmlns:a="http://schemas.openxmlformats.org/drawingml/2006/main" noGrp="1"/>
          </p:cNvSpPr>
          <p:nvPr/>
        </p:nvSpPr>
        <p:spPr>
          <a:xfrm xmlns:a="http://schemas.openxmlformats.org/drawingml/2006/main">
            <a:off x="723900" y="64770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350" b="1">
                <a:solidFill>
                  <a:srgbClr val="00A5E3"/>
                </a:solidFill>
                <a:latin typeface="Yu Gothic UI"/>
                <a:ea typeface="Yu Gothic UI"/>
                <a:cs typeface="Yu Gothic UI"/>
              </a:defRPr>
            </a:pPr>
            <a:r>
              <a:rPr sz="1350" b="1">
                <a:solidFill>
                  <a:srgbClr val="00A5E3"/>
                </a:solidFill>
                <a:latin typeface="Yu Gothic UI"/>
                <a:ea typeface="Yu Gothic UI"/>
                <a:cs typeface="Yu Gothic UI"/>
              </a:rPr>
              <a:t>MIGHTYLINK  |  ANTIGRAVITY LIVE DEMO</a:t>
            </a:r>
          </a:p>
        </p:txBody>
      </p:sp>
      <p:sp>
        <p:nvSpPr>
          <p:cNvPr id="6" name="TextBox 5">
            <a:extLst xmlns:a="http://schemas.openxmlformats.org/drawingml/2006/main">
              <a:ext uri="{FF2B5EF4-FFF2-40B4-BE49-F238E27FC236}">
                <a16:creationId xmlns:a16="http://schemas.microsoft.com/office/drawing/2014/main" id="{F9DBFE0E-4D5A-40D9-86E0-B5A15118F616}"/>
              </a:ext>
            </a:extLst>
          </p:cNvPr>
          <p:cNvSpPr>
            <a:spLocks xmlns:a="http://schemas.openxmlformats.org/drawingml/2006/main" noGrp="1"/>
          </p:cNvSpPr>
          <p:nvPr/>
        </p:nvSpPr>
        <p:spPr>
          <a:xfrm xmlns:a="http://schemas.openxmlformats.org/drawingml/2006/main">
            <a:off x="723900" y="1257300"/>
            <a:ext cx="5715000" cy="1885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3000" b="1">
                <a:solidFill>
                  <a:srgbClr val="17242B"/>
                </a:solidFill>
                <a:latin typeface="Yu Gothic UI"/>
                <a:ea typeface="Yu Gothic UI"/>
                <a:cs typeface="Yu Gothic UI"/>
              </a:defRPr>
            </a:pPr>
            <a:r>
              <a:rPr sz="3000" b="1">
                <a:solidFill>
                  <a:srgbClr val="17242B"/>
                </a:solidFill>
                <a:latin typeface="Yu Gothic UI"/>
                <a:ea typeface="Yu Gothic UI"/>
                <a:cs typeface="Yu Gothic UI"/>
              </a:rPr>
              <a:t>AIエージェントの使い方を</a:t>
            </a:r>
          </a:p>
          <a:p xmlns:a="http://schemas.openxmlformats.org/drawingml/2006/main">
            <a:pPr algn="l">
              <a:lnSpc>
                <a:spcPct val="95000"/>
              </a:lnSpc>
              <a:buNone/>
              <a:defRPr sz="3000" b="1">
                <a:solidFill>
                  <a:srgbClr val="17242B"/>
                </a:solidFill>
                <a:latin typeface="Yu Gothic UI"/>
                <a:ea typeface="Yu Gothic UI"/>
                <a:cs typeface="Yu Gothic UI"/>
              </a:defRPr>
            </a:pPr>
            <a:r>
              <a:rPr sz="3000" b="1">
                <a:solidFill>
                  <a:srgbClr val="17242B"/>
                </a:solidFill>
                <a:latin typeface="Yu Gothic UI"/>
                <a:ea typeface="Yu Gothic UI"/>
                <a:cs typeface="Yu Gothic UI"/>
              </a:rPr>
              <a:t>30分で体験する</a:t>
            </a:r>
          </a:p>
        </p:txBody>
      </p:sp>
      <p:sp>
        <p:nvSpPr>
          <p:cNvPr id="7" name="Rectangle 6">
            <a:extLst xmlns:a="http://schemas.openxmlformats.org/drawingml/2006/main">
              <a:ext uri="{FF2B5EF4-FFF2-40B4-BE49-F238E27FC236}">
                <a16:creationId xmlns:a16="http://schemas.microsoft.com/office/drawing/2014/main" id="{00349D2D-B546-4350-A909-C9C9385D2F75}"/>
              </a:ext>
            </a:extLst>
          </p:cNvPr>
          <p:cNvSpPr>
            <a:spLocks xmlns:a="http://schemas.openxmlformats.org/drawingml/2006/main" noGrp="1"/>
          </p:cNvSpPr>
          <p:nvPr/>
        </p:nvSpPr>
        <p:spPr>
          <a:xfrm xmlns:a="http://schemas.openxmlformats.org/drawingml/2006/main">
            <a:off x="723900" y="3162300"/>
            <a:ext cx="5334000" cy="723900"/>
          </a:xfrm>
          <a:prstGeom xmlns:a="http://schemas.openxmlformats.org/drawingml/2006/main" prst="rect">
            <a:avLst/>
          </a:prstGeom>
          <a:noFill xmlns:a="http://schemas.openxmlformats.org/drawingml/2006/main"/>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1950" b="1">
                <a:solidFill>
                  <a:srgbClr val="17242B"/>
                </a:solidFill>
                <a:latin typeface="Yu Gothic UI"/>
                <a:ea typeface="Yu Gothic UI"/>
                <a:cs typeface="Yu Gothic UI"/>
              </a:defRPr>
            </a:pPr>
            <a:r>
              <a:rPr sz="1950" b="1">
                <a:solidFill>
                  <a:srgbClr val="17242B"/>
                </a:solidFill>
                <a:latin typeface="Yu Gothic UI"/>
                <a:ea typeface="Yu Gothic UI"/>
                <a:cs typeface="Yu Gothic UI"/>
              </a:rPr>
              <a:t>IDEで作る → CLIで確かめる → SDKで自動化する → 公開する</a:t>
            </a:r>
          </a:p>
        </p:txBody>
      </p:sp>
      <p:sp>
        <p:nvSpPr>
          <p:cNvPr id="8" name="TextBox 7">
            <a:extLst xmlns:a="http://schemas.openxmlformats.org/drawingml/2006/main">
              <a:ext uri="{FF2B5EF4-FFF2-40B4-BE49-F238E27FC236}">
                <a16:creationId xmlns:a16="http://schemas.microsoft.com/office/drawing/2014/main" id="{CD8F1CF6-78B1-4776-843B-6F1DEA0B7639}"/>
              </a:ext>
            </a:extLst>
          </p:cNvPr>
          <p:cNvSpPr>
            <a:spLocks xmlns:a="http://schemas.openxmlformats.org/drawingml/2006/main" noGrp="1"/>
          </p:cNvSpPr>
          <p:nvPr/>
        </p:nvSpPr>
        <p:spPr>
          <a:xfrm xmlns:a="http://schemas.openxmlformats.org/drawingml/2006/main">
            <a:off x="762000" y="4133850"/>
            <a:ext cx="495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1500" b="1">
                <a:solidFill>
                  <a:srgbClr val="4A5F68"/>
                </a:solidFill>
                <a:latin typeface="Yu Gothic UI"/>
                <a:ea typeface="Yu Gothic UI"/>
                <a:cs typeface="Yu Gothic UI"/>
              </a:defRPr>
            </a:pPr>
            <a:r>
              <a:rPr sz="1500" b="1">
                <a:solidFill>
                  <a:srgbClr val="4A5F68"/>
                </a:solidFill>
                <a:latin typeface="Yu Gothic UI"/>
                <a:ea typeface="Yu Gothic UI"/>
                <a:cs typeface="Yu Gothic UI"/>
              </a:rPr>
              <a:t>成果物: 5製品を比較できる AI Agent Learning Hub</a:t>
            </a:r>
          </a:p>
        </p:txBody>
      </p:sp>
      <p:sp>
        <p:nvSpPr>
          <p:cNvPr id="9" name="TextBox 8">
            <a:extLst xmlns:a="http://schemas.openxmlformats.org/drawingml/2006/main">
              <a:ext uri="{FF2B5EF4-FFF2-40B4-BE49-F238E27FC236}">
                <a16:creationId xmlns:a16="http://schemas.microsoft.com/office/drawing/2014/main" id="{84EFCE2C-0A87-417F-8CF7-76A7F464F6C0}"/>
              </a:ext>
            </a:extLst>
          </p:cNvPr>
          <p:cNvSpPr>
            <a:spLocks xmlns:a="http://schemas.openxmlformats.org/drawingml/2006/main" noGrp="1"/>
          </p:cNvSpPr>
          <p:nvPr/>
        </p:nvSpPr>
        <p:spPr>
          <a:xfrm xmlns:a="http://schemas.openxmlformats.org/drawingml/2006/main">
            <a:off x="723900" y="4838700"/>
            <a:ext cx="4000500" cy="552450"/>
          </a:xfrm>
          <a:prstGeom xmlns:a="http://schemas.openxmlformats.org/drawingml/2006/main" prst="roundRect">
            <a:avLst>
              <a:gd name="adj" fmla="val 10345"/>
            </a:avLst>
          </a:prstGeom>
          <a:solidFill xmlns:a="http://schemas.openxmlformats.org/drawingml/2006/main">
            <a:srgbClr val="E8F6FC"/>
          </a:solidFill>
          <a:ln xmlns:a="http://schemas.openxmlformats.org/drawingml/2006/main" w="14288">
            <a:solidFill>
              <a:srgbClr val="00A5E3"/>
            </a:solidFill>
            <a:prstDash val="solid"/>
          </a:ln>
        </p:spPr>
        <p:txBody>
          <a:bodyPr xmlns:a="http://schemas.openxmlformats.org/drawingml/2006/main" wrap="square" lIns="171450" tIns="95250" rIns="171450" bIns="95250" anchor="ctr">
            <a:normAutofit fontScale="100000"/>
          </a:bodyPr>
          <a:lstStyle xmlns:a="http://schemas.openxmlformats.org/drawingml/2006/main"/>
          <a:p xmlns:a="http://schemas.openxmlformats.org/drawingml/2006/main">
            <a:pPr algn="l">
              <a:lnSpc>
                <a:spcPct val="114000"/>
              </a:lnSpc>
              <a:buNone/>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30分デモ  |  IDE + CLI + SDK  |  30分 Q&amp;A・予備</a:t>
            </a:r>
          </a:p>
        </p:txBody>
      </p:sp>
      <p:sp>
        <p:nvSpPr>
          <p:cNvPr id="10" name="Rectangle 9">
            <a:extLst xmlns:a="http://schemas.openxmlformats.org/drawingml/2006/main">
              <a:ext uri="{FF2B5EF4-FFF2-40B4-BE49-F238E27FC236}">
                <a16:creationId xmlns:a16="http://schemas.microsoft.com/office/drawing/2014/main" id="{81CE107E-C71F-4DFD-AE39-41627BF7ECF3}"/>
              </a:ext>
            </a:extLst>
          </p:cNvPr>
          <p:cNvSpPr>
            <a:spLocks xmlns:a="http://schemas.openxmlformats.org/drawingml/2006/main" noGrp="1"/>
          </p:cNvSpPr>
          <p:nvPr/>
        </p:nvSpPr>
        <p:spPr>
          <a:xfrm xmlns:a="http://schemas.openxmlformats.org/drawingml/2006/main">
            <a:off x="723900" y="5695950"/>
            <a:ext cx="2286000" cy="323850"/>
          </a:xfrm>
          <a:prstGeom xmlns:a="http://schemas.openxmlformats.org/drawingml/2006/main" prst="rect">
            <a:avLst/>
          </a:prstGeom>
          <a:noFill xmlns:a="http://schemas.openxmlformats.org/drawingml/2006/main"/>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1800" b="1">
                <a:solidFill>
                  <a:srgbClr val="EF7E00"/>
                </a:solidFill>
                <a:latin typeface="Yu Gothic UI"/>
                <a:ea typeface="Yu Gothic UI"/>
                <a:cs typeface="Yu Gothic UI"/>
              </a:defRPr>
            </a:pPr>
            <a:r>
              <a:rPr sz="1800" b="1">
                <a:solidFill>
                  <a:srgbClr val="EF7E00"/>
                </a:solidFill>
                <a:latin typeface="Yu Gothic UI"/>
                <a:ea typeface="Yu Gothic UI"/>
                <a:cs typeface="Yu Gothic UI"/>
              </a:rPr>
              <a:t>2026.08.26</a:t>
            </a:r>
          </a:p>
        </p:txBody>
      </p:sp>
      <p:sp>
        <p:nvSpPr>
          <p:cNvPr id="11" name="TextBox 10">
            <a:extLst xmlns:a="http://schemas.openxmlformats.org/drawingml/2006/main">
              <a:ext uri="{FF2B5EF4-FFF2-40B4-BE49-F238E27FC236}">
                <a16:creationId xmlns:a16="http://schemas.microsoft.com/office/drawing/2014/main" id="{E904AEAD-D46C-4152-AC73-6BCBC81AC93C}"/>
              </a:ext>
            </a:extLst>
          </p:cNvPr>
          <p:cNvSpPr>
            <a:spLocks xmlns:a="http://schemas.openxmlformats.org/drawingml/2006/main" noGrp="1"/>
          </p:cNvSpPr>
          <p:nvPr/>
        </p:nvSpPr>
        <p:spPr>
          <a:xfrm xmlns:a="http://schemas.openxmlformats.org/drawingml/2006/main">
            <a:off x="723900" y="6124575"/>
            <a:ext cx="304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350" b="0">
                <a:solidFill>
                  <a:srgbClr val="526571"/>
                </a:solidFill>
                <a:latin typeface="Yu Gothic UI"/>
                <a:ea typeface="Yu Gothic UI"/>
                <a:cs typeface="Yu Gothic UI"/>
              </a:defRPr>
            </a:pPr>
            <a:r>
              <a:rPr sz="1350" b="0">
                <a:solidFill>
                  <a:srgbClr val="526571"/>
                </a:solidFill>
                <a:latin typeface="Yu Gothic UI"/>
                <a:ea typeface="Yu Gothic UI"/>
                <a:cs typeface="Yu Gothic UI"/>
              </a:rPr>
              <a:t>株式会社MightyLINK</a:t>
            </a:r>
          </a:p>
        </p:txBody>
      </p:sp>
      <p:sp>
        <p:nvSpPr>
          <p:cNvPr id="12" name="TextBox 11">
            <a:extLst xmlns:a="http://schemas.openxmlformats.org/drawingml/2006/main">
              <a:ext uri="{FF2B5EF4-FFF2-40B4-BE49-F238E27FC236}">
                <a16:creationId xmlns:a16="http://schemas.microsoft.com/office/drawing/2014/main" id="{806581E5-1AB2-4BBA-A1CF-E374F14A6096}"/>
              </a:ext>
            </a:extLst>
          </p:cNvPr>
          <p:cNvSpPr>
            <a:spLocks xmlns:a="http://schemas.openxmlformats.org/drawingml/2006/main" noGrp="1"/>
          </p:cNvSpPr>
          <p:nvPr/>
        </p:nvSpPr>
        <p:spPr>
          <a:xfrm xmlns:a="http://schemas.openxmlformats.org/drawingml/2006/main">
            <a:off x="6248400" y="514350"/>
            <a:ext cx="5238750" cy="5829300"/>
          </a:xfrm>
          <a:prstGeom xmlns:a="http://schemas.openxmlformats.org/drawingml/2006/main" prst="roundRect">
            <a:avLst>
              <a:gd name="adj" fmla="val 1091"/>
            </a:avLst>
          </a:prstGeom>
          <a:solidFill xmlns:a="http://schemas.openxmlformats.org/drawingml/2006/main">
            <a:srgbClr val="FFFFFF"/>
          </a:solidFill>
          <a:ln xmlns:a="http://schemas.openxmlformats.org/drawingml/2006/main" w="9525">
            <a:solidFill>
              <a:srgbClr val="C9D8E1"/>
            </a:solidFill>
            <a:prstDash val="solid"/>
          </a:ln>
        </p:spPr>
        <p:txBody>
          <a:bodyPr xmlns:a="http://schemas.openxmlformats.org/drawingml/2006/main" wrap="square" lIns="152400" tIns="95250" rIns="152400" bIns="0" anchor="t">
            <a:noAutofit/>
          </a:bodyPr>
          <a:lstStyle xmlns:a="http://schemas.openxmlformats.org/drawingml/2006/main"/>
          <a:p xmlns:a="http://schemas.openxmlformats.org/drawingml/2006/main">
            <a:pPr algn="r">
              <a:lnSpc>
                <a:spcPct val="114000"/>
              </a:lnSpc>
              <a:buNone/>
              <a:defRPr sz="1125" b="1">
                <a:solidFill>
                  <a:srgbClr val="526571"/>
                </a:solidFill>
                <a:latin typeface="Yu Gothic UI"/>
                <a:ea typeface="Yu Gothic UI"/>
                <a:cs typeface="Yu Gothic UI"/>
              </a:defRPr>
            </a:pPr>
            <a:r>
              <a:rPr sz="1125" b="1">
                <a:solidFill>
                  <a:srgbClr val="526571"/>
                </a:solidFill>
                <a:latin typeface="Yu Gothic UI"/>
                <a:ea typeface="Yu Gothic UI"/>
                <a:cs typeface="Yu Gothic UI"/>
              </a:rPr>
              <a:t>GOOGLE ANTIGRAVITY</a:t>
            </a:r>
          </a:p>
        </p:txBody>
      </p:sp>
      <p:sp>
        <p:nvSpPr>
          <p:cNvPr id="13" name="Rectangle 12">
            <a:extLst xmlns:a="http://schemas.openxmlformats.org/drawingml/2006/main">
              <a:ext uri="{FF2B5EF4-FFF2-40B4-BE49-F238E27FC236}">
                <a16:creationId xmlns:a16="http://schemas.microsoft.com/office/drawing/2014/main" id="{6A9FB01C-28CD-4D29-B9D7-FDFC7F4D294E}"/>
              </a:ext>
            </a:extLst>
          </p:cNvPr>
          <p:cNvSpPr>
            <a:spLocks xmlns:a="http://schemas.openxmlformats.org/drawingml/2006/main" noGrp="1"/>
          </p:cNvSpPr>
          <p:nvPr/>
        </p:nvSpPr>
        <p:spPr>
          <a:xfrm xmlns:a="http://schemas.openxmlformats.org/drawingml/2006/main">
            <a:off x="0" y="0"/>
            <a:ext cx="9525" cy="9525"/>
          </a:xfrm>
          <a:prstGeom xmlns:a="http://schemas.openxmlformats.org/drawingml/2006/main" prst="rect">
            <a:avLst/>
          </a:prstGeom>
          <a:noFill xmlns:a="http://schemas.openxmlformats.org/drawingml/2006/main"/>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pic>
        <p:nvPicPr>
          <p:cNvPr id="28" name="Picture 13"/>
          <p:cNvPicPr>
            <a:picLocks xmlns:a="http://schemas.openxmlformats.org/drawingml/2006/main" noChangeAspect="1"/>
          </p:cNvPicPr>
          <p:nvPr/>
        </p:nvPicPr>
        <p:blipFill>
          <a:blip xmlns:r="http://schemas.openxmlformats.org/officeDocument/2006/relationships" xmlns:a="http://schemas.openxmlformats.org/drawingml/2006/main" r:embed="R0a35a395a51b44b9"/>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49a76a4f6f3b42d1"/>
          <a:stretch xmlns:a="http://schemas.openxmlformats.org/drawingml/2006/main"/>
        </p:blipFill>
        <p:spPr>
          <a:xfrm xmlns:a="http://schemas.openxmlformats.org/drawingml/2006/main">
            <a:off x="6400800" y="2714125"/>
            <a:ext cx="4933950" cy="1467850"/>
          </a:xfrm>
          <a:prstGeom xmlns:a="http://schemas.openxmlformats.org/drawingml/2006/main" prst="roundRect">
            <a:avLst>
              <a:gd name="adj" fmla="val 1158"/>
            </a:avLst>
          </a:prstGeom>
        </p:spPr>
      </p:pic>
    </p:spTree>
    <p:extLst>
      <p:ext uri="{BB962C8B-B14F-4D97-AF65-F5344CB8AC3E}">
        <p14:creationId xmlns:p14="http://schemas.microsoft.com/office/powerpoint/2010/main" val="1640357837"/>
      </p:ext>
    </p:extLst>
  </p:cSld>
</p:sld>
</file>

<file path=ppt/slides/slide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02 / 36</a:t>
            </a:r>
          </a:p>
        </p:txBody>
      </p:sp>
      <p:sp>
        <p:nvSpPr>
          <p:cNvPr id="10" name="">
            <a:extLst xmlns:a="http://schemas.openxmlformats.org/drawingml/2006/main">
              <a:ext uri="{FF2B5EF4-FFF2-40B4-BE49-F238E27FC236}">
                <a16:creationId xmlns:a16="http://schemas.microsoft.com/office/drawing/2014/main" id="{131A9FB2-0B93-4849-B31B-D74DFA4F026A}"/>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LEARNING OUTCOMES  |  30 MINUTES</a:t>
            </a:r>
          </a:p>
        </p:txBody>
      </p:sp>
      <p:sp>
        <p:nvSpPr>
          <p:cNvPr id="11" name="">
            <a:extLst xmlns:a="http://schemas.openxmlformats.org/drawingml/2006/main">
              <a:ext uri="{FF2B5EF4-FFF2-40B4-BE49-F238E27FC236}">
                <a16:creationId xmlns:a16="http://schemas.microsoft.com/office/drawing/2014/main" id="{2315081D-02C7-421E-B52F-945FFB44FA2E}"/>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30分後、AIエージェントの任せ方を3つの言葉で説明できます</a:t>
            </a:r>
          </a:p>
        </p:txBody>
      </p:sp>
      <p:sp>
        <p:nvSpPr>
          <p:cNvPr id="12" name="">
            <a:extLst xmlns:a="http://schemas.openxmlformats.org/drawingml/2006/main">
              <a:ext uri="{FF2B5EF4-FFF2-40B4-BE49-F238E27FC236}">
                <a16:creationId xmlns:a16="http://schemas.microsoft.com/office/drawing/2014/main" id="{7D64A12D-36CD-475D-9636-210D02429606}"/>
              </a:ext>
            </a:extLst>
          </p:cNvPr>
          <p:cNvSpPr>
            <a:spLocks xmlns:a="http://schemas.openxmlformats.org/drawingml/2006/main" noGrp="1"/>
          </p:cNvSpPr>
          <p:nvPr/>
        </p:nvSpPr>
        <p:spPr>
          <a:xfrm xmlns:a="http://schemas.openxmlformats.org/drawingml/2006/main">
            <a:off x="647700" y="1866900"/>
            <a:ext cx="3467100" cy="2628900"/>
          </a:xfrm>
          <a:prstGeom xmlns:a="http://schemas.openxmlformats.org/drawingml/2006/main" prst="roundRect">
            <a:avLst>
              <a:gd name="adj" fmla="val 2899"/>
            </a:avLst>
          </a:prstGeom>
          <a:noFill xmlns:a="http://schemas.openxmlformats.org/drawingml/2006/main"/>
          <a:ln xmlns:a="http://schemas.openxmlformats.org/drawingml/2006/main" w="11430">
            <a:solidFill>
              <a:srgbClr val="C9D8E1"/>
            </a:solidFill>
            <a:prstDash val="solid"/>
          </a:ln>
        </p:spPr>
      </p:sp>
      <p:sp>
        <p:nvSpPr>
          <p:cNvPr id="13" name="">
            <a:extLst xmlns:a="http://schemas.openxmlformats.org/drawingml/2006/main">
              <a:ext uri="{FF2B5EF4-FFF2-40B4-BE49-F238E27FC236}">
                <a16:creationId xmlns:a16="http://schemas.microsoft.com/office/drawing/2014/main" id="{494C3748-0AAA-4AC9-8984-BBC38E1BEF6A}"/>
              </a:ext>
            </a:extLst>
          </p:cNvPr>
          <p:cNvSpPr>
            <a:spLocks xmlns:a="http://schemas.openxmlformats.org/drawingml/2006/main" noGrp="1"/>
          </p:cNvSpPr>
          <p:nvPr/>
        </p:nvSpPr>
        <p:spPr>
          <a:xfrm xmlns:a="http://schemas.openxmlformats.org/drawingml/2006/main">
            <a:off x="647700" y="1866900"/>
            <a:ext cx="3467100" cy="666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8D4739C-1B2C-4A70-AAC9-EFCCFDF4EC25}"/>
              </a:ext>
            </a:extLst>
          </p:cNvPr>
          <p:cNvSpPr>
            <a:spLocks xmlns:a="http://schemas.openxmlformats.org/drawingml/2006/main" noGrp="1"/>
          </p:cNvSpPr>
          <p:nvPr/>
        </p:nvSpPr>
        <p:spPr>
          <a:xfrm xmlns:a="http://schemas.openxmlformats.org/drawingml/2006/main">
            <a:off x="876300" y="2152650"/>
            <a:ext cx="66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2025" b="1">
                <a:solidFill>
                  <a:srgbClr val="00A5E3"/>
                </a:solidFill>
                <a:latin typeface="Yu Gothic UI"/>
                <a:ea typeface="Yu Gothic UI"/>
                <a:cs typeface="Yu Gothic UI"/>
              </a:defRPr>
            </a:pPr>
            <a:r>
              <a:rPr sz="2025" b="1">
                <a:solidFill>
                  <a:srgbClr val="00A5E3"/>
                </a:solidFill>
                <a:latin typeface="Yu Gothic UI"/>
                <a:ea typeface="Yu Gothic UI"/>
                <a:cs typeface="Yu Gothic UI"/>
              </a:rPr>
              <a:t>01</a:t>
            </a:r>
          </a:p>
        </p:txBody>
      </p:sp>
      <p:sp>
        <p:nvSpPr>
          <p:cNvPr id="15" name="">
            <a:extLst xmlns:a="http://schemas.openxmlformats.org/drawingml/2006/main">
              <a:ext uri="{FF2B5EF4-FFF2-40B4-BE49-F238E27FC236}">
                <a16:creationId xmlns:a16="http://schemas.microsoft.com/office/drawing/2014/main" id="{E7DEAEB8-5BEF-4946-B338-DA8196D54EDD}"/>
              </a:ext>
            </a:extLst>
          </p:cNvPr>
          <p:cNvSpPr>
            <a:spLocks xmlns:a="http://schemas.openxmlformats.org/drawingml/2006/main" noGrp="1"/>
          </p:cNvSpPr>
          <p:nvPr/>
        </p:nvSpPr>
        <p:spPr>
          <a:xfrm xmlns:a="http://schemas.openxmlformats.org/drawingml/2006/main">
            <a:off x="876300" y="2762250"/>
            <a:ext cx="3009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00" b="1">
                <a:solidFill>
                  <a:srgbClr val="17242B"/>
                </a:solidFill>
                <a:latin typeface="Yu Gothic UI"/>
                <a:ea typeface="Yu Gothic UI"/>
                <a:cs typeface="Yu Gothic UI"/>
              </a:defRPr>
            </a:pPr>
            <a:r>
              <a:rPr sz="1800" b="1">
                <a:solidFill>
                  <a:srgbClr val="17242B"/>
                </a:solidFill>
                <a:latin typeface="Yu Gothic UI"/>
                <a:ea typeface="Yu Gothic UI"/>
                <a:cs typeface="Yu Gothic UI"/>
              </a:rPr>
              <a:t>説明できる</a:t>
            </a:r>
          </a:p>
        </p:txBody>
      </p:sp>
      <p:sp>
        <p:nvSpPr>
          <p:cNvPr id="16" name="">
            <a:extLst xmlns:a="http://schemas.openxmlformats.org/drawingml/2006/main">
              <a:ext uri="{FF2B5EF4-FFF2-40B4-BE49-F238E27FC236}">
                <a16:creationId xmlns:a16="http://schemas.microsoft.com/office/drawing/2014/main" id="{3E41DECB-E4F2-4A03-8AD5-C675694E8A2D}"/>
              </a:ext>
            </a:extLst>
          </p:cNvPr>
          <p:cNvSpPr>
            <a:spLocks xmlns:a="http://schemas.openxmlformats.org/drawingml/2006/main" noGrp="1"/>
          </p:cNvSpPr>
          <p:nvPr/>
        </p:nvSpPr>
        <p:spPr>
          <a:xfrm xmlns:a="http://schemas.openxmlformats.org/drawingml/2006/main">
            <a:off x="876300" y="3371850"/>
            <a:ext cx="30099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8000"/>
              </a:lnSpc>
              <a:buNone/>
              <a:defRPr sz="1350">
                <a:solidFill>
                  <a:srgbClr val="536978"/>
                </a:solidFill>
                <a:latin typeface="Yu Gothic UI"/>
                <a:ea typeface="Yu Gothic UI"/>
                <a:cs typeface="Yu Gothic UI"/>
              </a:defRPr>
            </a:pPr>
            <a:r>
              <a:rPr sz="1350">
                <a:solidFill>
                  <a:srgbClr val="536978"/>
                </a:solidFill>
                <a:latin typeface="Yu Gothic UI"/>
                <a:ea typeface="Yu Gothic UI"/>
                <a:cs typeface="Yu Gothic UI"/>
              </a:rPr>
              <a:t>チャットとの違い</a:t>
            </a:r>
          </a:p>
          <a:p xmlns:a="http://schemas.openxmlformats.org/drawingml/2006/main">
            <a:pPr>
              <a:lnSpc>
                <a:spcPct val="118000"/>
              </a:lnSpc>
              <a:buNone/>
              <a:defRPr sz="1350">
                <a:solidFill>
                  <a:srgbClr val="536978"/>
                </a:solidFill>
                <a:latin typeface="Yu Gothic UI"/>
                <a:ea typeface="Yu Gothic UI"/>
                <a:cs typeface="Yu Gothic UI"/>
              </a:defRPr>
            </a:pPr>
            <a:r>
              <a:rPr sz="1350">
                <a:solidFill>
                  <a:srgbClr val="536978"/>
                </a:solidFill>
                <a:latin typeface="Yu Gothic UI"/>
                <a:ea typeface="Yu Gothic UI"/>
                <a:cs typeface="Yu Gothic UI"/>
              </a:rPr>
              <a:t>目的 → 計画 → Tool → 証拠</a:t>
            </a:r>
          </a:p>
        </p:txBody>
      </p:sp>
      <p:sp>
        <p:nvSpPr>
          <p:cNvPr id="17" name="">
            <a:extLst xmlns:a="http://schemas.openxmlformats.org/drawingml/2006/main">
              <a:ext uri="{FF2B5EF4-FFF2-40B4-BE49-F238E27FC236}">
                <a16:creationId xmlns:a16="http://schemas.microsoft.com/office/drawing/2014/main" id="{9BD34CDA-622E-467E-BD1F-1178478D3E73}"/>
              </a:ext>
            </a:extLst>
          </p:cNvPr>
          <p:cNvSpPr>
            <a:spLocks xmlns:a="http://schemas.openxmlformats.org/drawingml/2006/main" noGrp="1"/>
          </p:cNvSpPr>
          <p:nvPr/>
        </p:nvSpPr>
        <p:spPr>
          <a:xfrm xmlns:a="http://schemas.openxmlformats.org/drawingml/2006/main">
            <a:off x="4362450" y="1866900"/>
            <a:ext cx="3467100" cy="2628900"/>
          </a:xfrm>
          <a:prstGeom xmlns:a="http://schemas.openxmlformats.org/drawingml/2006/main" prst="roundRect">
            <a:avLst>
              <a:gd name="adj" fmla="val 2899"/>
            </a:avLst>
          </a:prstGeom>
          <a:noFill xmlns:a="http://schemas.openxmlformats.org/drawingml/2006/main"/>
          <a:ln xmlns:a="http://schemas.openxmlformats.org/drawingml/2006/main" w="11430">
            <a:solidFill>
              <a:srgbClr val="C9D8E1"/>
            </a:solidFill>
            <a:prstDash val="solid"/>
          </a:ln>
        </p:spPr>
      </p:sp>
      <p:sp>
        <p:nvSpPr>
          <p:cNvPr id="18" name="">
            <a:extLst xmlns:a="http://schemas.openxmlformats.org/drawingml/2006/main">
              <a:ext uri="{FF2B5EF4-FFF2-40B4-BE49-F238E27FC236}">
                <a16:creationId xmlns:a16="http://schemas.microsoft.com/office/drawing/2014/main" id="{0AC4F48C-E7B1-4316-9E21-F73AC26055A7}"/>
              </a:ext>
            </a:extLst>
          </p:cNvPr>
          <p:cNvSpPr>
            <a:spLocks xmlns:a="http://schemas.openxmlformats.org/drawingml/2006/main" noGrp="1"/>
          </p:cNvSpPr>
          <p:nvPr/>
        </p:nvSpPr>
        <p:spPr>
          <a:xfrm xmlns:a="http://schemas.openxmlformats.org/drawingml/2006/main">
            <a:off x="4362450" y="1866900"/>
            <a:ext cx="3467100" cy="666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E09E3C0-A9D8-4456-A2A1-0C98E9C133B1}"/>
              </a:ext>
            </a:extLst>
          </p:cNvPr>
          <p:cNvSpPr>
            <a:spLocks xmlns:a="http://schemas.openxmlformats.org/drawingml/2006/main" noGrp="1"/>
          </p:cNvSpPr>
          <p:nvPr/>
        </p:nvSpPr>
        <p:spPr>
          <a:xfrm xmlns:a="http://schemas.openxmlformats.org/drawingml/2006/main">
            <a:off x="4591050" y="2152650"/>
            <a:ext cx="66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2025" b="1">
                <a:solidFill>
                  <a:srgbClr val="EF7E00"/>
                </a:solidFill>
                <a:latin typeface="Yu Gothic UI"/>
                <a:ea typeface="Yu Gothic UI"/>
                <a:cs typeface="Yu Gothic UI"/>
              </a:defRPr>
            </a:pPr>
            <a:r>
              <a:rPr sz="2025" b="1">
                <a:solidFill>
                  <a:srgbClr val="EF7E00"/>
                </a:solidFill>
                <a:latin typeface="Yu Gothic UI"/>
                <a:ea typeface="Yu Gothic UI"/>
                <a:cs typeface="Yu Gothic UI"/>
              </a:rPr>
              <a:t>02</a:t>
            </a:r>
          </a:p>
        </p:txBody>
      </p:sp>
      <p:sp>
        <p:nvSpPr>
          <p:cNvPr id="20" name="">
            <a:extLst xmlns:a="http://schemas.openxmlformats.org/drawingml/2006/main">
              <a:ext uri="{FF2B5EF4-FFF2-40B4-BE49-F238E27FC236}">
                <a16:creationId xmlns:a16="http://schemas.microsoft.com/office/drawing/2014/main" id="{D0D35E71-A12C-495D-99E1-D4C6A8AA41E3}"/>
              </a:ext>
            </a:extLst>
          </p:cNvPr>
          <p:cNvSpPr>
            <a:spLocks xmlns:a="http://schemas.openxmlformats.org/drawingml/2006/main" noGrp="1"/>
          </p:cNvSpPr>
          <p:nvPr/>
        </p:nvSpPr>
        <p:spPr>
          <a:xfrm xmlns:a="http://schemas.openxmlformats.org/drawingml/2006/main">
            <a:off x="4591050" y="2762250"/>
            <a:ext cx="3009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00" b="1">
                <a:solidFill>
                  <a:srgbClr val="17242B"/>
                </a:solidFill>
                <a:latin typeface="Yu Gothic UI"/>
                <a:ea typeface="Yu Gothic UI"/>
                <a:cs typeface="Yu Gothic UI"/>
              </a:defRPr>
            </a:pPr>
            <a:r>
              <a:rPr sz="1800" b="1">
                <a:solidFill>
                  <a:srgbClr val="17242B"/>
                </a:solidFill>
                <a:latin typeface="Yu Gothic UI"/>
                <a:ea typeface="Yu Gothic UI"/>
                <a:cs typeface="Yu Gothic UI"/>
              </a:rPr>
              <a:t>使い分けられる</a:t>
            </a:r>
          </a:p>
        </p:txBody>
      </p:sp>
      <p:sp>
        <p:nvSpPr>
          <p:cNvPr id="21" name="">
            <a:extLst xmlns:a="http://schemas.openxmlformats.org/drawingml/2006/main">
              <a:ext uri="{FF2B5EF4-FFF2-40B4-BE49-F238E27FC236}">
                <a16:creationId xmlns:a16="http://schemas.microsoft.com/office/drawing/2014/main" id="{8DD28580-3733-443B-8454-A35F45C6E5B5}"/>
              </a:ext>
            </a:extLst>
          </p:cNvPr>
          <p:cNvSpPr>
            <a:spLocks xmlns:a="http://schemas.openxmlformats.org/drawingml/2006/main" noGrp="1"/>
          </p:cNvSpPr>
          <p:nvPr/>
        </p:nvSpPr>
        <p:spPr>
          <a:xfrm xmlns:a="http://schemas.openxmlformats.org/drawingml/2006/main">
            <a:off x="4591050" y="3371850"/>
            <a:ext cx="30099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8000"/>
              </a:lnSpc>
              <a:buNone/>
              <a:defRPr sz="1350">
                <a:solidFill>
                  <a:srgbClr val="536978"/>
                </a:solidFill>
                <a:latin typeface="Yu Gothic UI"/>
                <a:ea typeface="Yu Gothic UI"/>
                <a:cs typeface="Yu Gothic UI"/>
              </a:defRPr>
            </a:pPr>
            <a:r>
              <a:rPr sz="1350">
                <a:solidFill>
                  <a:srgbClr val="536978"/>
                </a:solidFill>
                <a:latin typeface="Yu Gothic UI"/>
                <a:ea typeface="Yu Gothic UI"/>
                <a:cs typeface="Yu Gothic UI"/>
              </a:rPr>
              <a:t>IDE / CLI / SDK</a:t>
            </a:r>
          </a:p>
          <a:p xmlns:a="http://schemas.openxmlformats.org/drawingml/2006/main">
            <a:pPr>
              <a:lnSpc>
                <a:spcPct val="118000"/>
              </a:lnSpc>
              <a:buNone/>
              <a:defRPr sz="1350">
                <a:solidFill>
                  <a:srgbClr val="536978"/>
                </a:solidFill>
                <a:latin typeface="Yu Gothic UI"/>
                <a:ea typeface="Yu Gothic UI"/>
                <a:cs typeface="Yu Gothic UI"/>
              </a:defRPr>
            </a:pPr>
            <a:r>
              <a:rPr sz="1350">
                <a:solidFill>
                  <a:srgbClr val="536978"/>
                </a:solidFill>
                <a:latin typeface="Yu Gothic UI"/>
                <a:ea typeface="Yu Gothic UI"/>
                <a:cs typeface="Yu Gothic UI"/>
              </a:rPr>
              <a:t>仕事に合う入口を選ぶ</a:t>
            </a:r>
          </a:p>
        </p:txBody>
      </p:sp>
      <p:sp>
        <p:nvSpPr>
          <p:cNvPr id="22" name="">
            <a:extLst xmlns:a="http://schemas.openxmlformats.org/drawingml/2006/main">
              <a:ext uri="{FF2B5EF4-FFF2-40B4-BE49-F238E27FC236}">
                <a16:creationId xmlns:a16="http://schemas.microsoft.com/office/drawing/2014/main" id="{5C72EC1F-766B-4B5A-9728-1397F1A17CEF}"/>
              </a:ext>
            </a:extLst>
          </p:cNvPr>
          <p:cNvSpPr>
            <a:spLocks xmlns:a="http://schemas.openxmlformats.org/drawingml/2006/main" noGrp="1"/>
          </p:cNvSpPr>
          <p:nvPr/>
        </p:nvSpPr>
        <p:spPr>
          <a:xfrm xmlns:a="http://schemas.openxmlformats.org/drawingml/2006/main">
            <a:off x="8077200" y="1866900"/>
            <a:ext cx="3467100" cy="2628900"/>
          </a:xfrm>
          <a:prstGeom xmlns:a="http://schemas.openxmlformats.org/drawingml/2006/main" prst="roundRect">
            <a:avLst>
              <a:gd name="adj" fmla="val 2899"/>
            </a:avLst>
          </a:prstGeom>
          <a:noFill xmlns:a="http://schemas.openxmlformats.org/drawingml/2006/main"/>
          <a:ln xmlns:a="http://schemas.openxmlformats.org/drawingml/2006/main" w="11430">
            <a:solidFill>
              <a:srgbClr val="C9D8E1"/>
            </a:solidFill>
            <a:prstDash val="solid"/>
          </a:ln>
        </p:spPr>
      </p:sp>
      <p:sp>
        <p:nvSpPr>
          <p:cNvPr id="23" name="">
            <a:extLst xmlns:a="http://schemas.openxmlformats.org/drawingml/2006/main">
              <a:ext uri="{FF2B5EF4-FFF2-40B4-BE49-F238E27FC236}">
                <a16:creationId xmlns:a16="http://schemas.microsoft.com/office/drawing/2014/main" id="{E94122CE-7B55-4F7D-AA27-DD6857F5A49D}"/>
              </a:ext>
            </a:extLst>
          </p:cNvPr>
          <p:cNvSpPr>
            <a:spLocks xmlns:a="http://schemas.openxmlformats.org/drawingml/2006/main" noGrp="1"/>
          </p:cNvSpPr>
          <p:nvPr/>
        </p:nvSpPr>
        <p:spPr>
          <a:xfrm xmlns:a="http://schemas.openxmlformats.org/drawingml/2006/main">
            <a:off x="8077200" y="1866900"/>
            <a:ext cx="3467100" cy="66675"/>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6295B068-A2FE-406A-A13C-4424CEEBCE72}"/>
              </a:ext>
            </a:extLst>
          </p:cNvPr>
          <p:cNvSpPr>
            <a:spLocks xmlns:a="http://schemas.openxmlformats.org/drawingml/2006/main" noGrp="1"/>
          </p:cNvSpPr>
          <p:nvPr/>
        </p:nvSpPr>
        <p:spPr>
          <a:xfrm xmlns:a="http://schemas.openxmlformats.org/drawingml/2006/main">
            <a:off x="8305800" y="2152650"/>
            <a:ext cx="66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2025" b="1">
                <a:solidFill>
                  <a:srgbClr val="2F9E63"/>
                </a:solidFill>
                <a:latin typeface="Yu Gothic UI"/>
                <a:ea typeface="Yu Gothic UI"/>
                <a:cs typeface="Yu Gothic UI"/>
              </a:defRPr>
            </a:pPr>
            <a:r>
              <a:rPr sz="2025" b="1">
                <a:solidFill>
                  <a:srgbClr val="2F9E63"/>
                </a:solidFill>
                <a:latin typeface="Yu Gothic UI"/>
                <a:ea typeface="Yu Gothic UI"/>
                <a:cs typeface="Yu Gothic UI"/>
              </a:rPr>
              <a:t>03</a:t>
            </a:r>
          </a:p>
        </p:txBody>
      </p:sp>
      <p:sp>
        <p:nvSpPr>
          <p:cNvPr id="25" name="">
            <a:extLst xmlns:a="http://schemas.openxmlformats.org/drawingml/2006/main">
              <a:ext uri="{FF2B5EF4-FFF2-40B4-BE49-F238E27FC236}">
                <a16:creationId xmlns:a16="http://schemas.microsoft.com/office/drawing/2014/main" id="{4343A57C-90DD-44F8-8CA4-6B54452A62FC}"/>
              </a:ext>
            </a:extLst>
          </p:cNvPr>
          <p:cNvSpPr>
            <a:spLocks xmlns:a="http://schemas.openxmlformats.org/drawingml/2006/main" noGrp="1"/>
          </p:cNvSpPr>
          <p:nvPr/>
        </p:nvSpPr>
        <p:spPr>
          <a:xfrm xmlns:a="http://schemas.openxmlformats.org/drawingml/2006/main">
            <a:off x="8305800" y="2762250"/>
            <a:ext cx="3009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00" b="1">
                <a:solidFill>
                  <a:srgbClr val="17242B"/>
                </a:solidFill>
                <a:latin typeface="Yu Gothic UI"/>
                <a:ea typeface="Yu Gothic UI"/>
                <a:cs typeface="Yu Gothic UI"/>
              </a:defRPr>
            </a:pPr>
            <a:r>
              <a:rPr sz="1800" b="1">
                <a:solidFill>
                  <a:srgbClr val="17242B"/>
                </a:solidFill>
                <a:latin typeface="Yu Gothic UI"/>
                <a:ea typeface="Yu Gothic UI"/>
                <a:cs typeface="Yu Gothic UI"/>
              </a:rPr>
              <a:t>安全に任せられる</a:t>
            </a:r>
          </a:p>
        </p:txBody>
      </p:sp>
      <p:sp>
        <p:nvSpPr>
          <p:cNvPr id="26" name="">
            <a:extLst xmlns:a="http://schemas.openxmlformats.org/drawingml/2006/main">
              <a:ext uri="{FF2B5EF4-FFF2-40B4-BE49-F238E27FC236}">
                <a16:creationId xmlns:a16="http://schemas.microsoft.com/office/drawing/2014/main" id="{1662A7AD-586B-4FD6-8B9B-ADCAD12C76B5}"/>
              </a:ext>
            </a:extLst>
          </p:cNvPr>
          <p:cNvSpPr>
            <a:spLocks xmlns:a="http://schemas.openxmlformats.org/drawingml/2006/main" noGrp="1"/>
          </p:cNvSpPr>
          <p:nvPr/>
        </p:nvSpPr>
        <p:spPr>
          <a:xfrm xmlns:a="http://schemas.openxmlformats.org/drawingml/2006/main">
            <a:off x="8305800" y="3371850"/>
            <a:ext cx="30099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8000"/>
              </a:lnSpc>
              <a:buNone/>
              <a:defRPr sz="1350">
                <a:solidFill>
                  <a:srgbClr val="536978"/>
                </a:solidFill>
                <a:latin typeface="Yu Gothic UI"/>
                <a:ea typeface="Yu Gothic UI"/>
                <a:cs typeface="Yu Gothic UI"/>
              </a:defRPr>
            </a:pPr>
            <a:r>
              <a:rPr sz="1350">
                <a:solidFill>
                  <a:srgbClr val="536978"/>
                </a:solidFill>
                <a:latin typeface="Yu Gothic UI"/>
                <a:ea typeface="Yu Gothic UI"/>
                <a:cs typeface="Yu Gothic UI"/>
              </a:rPr>
              <a:t>目的・境界・証拠・承認</a:t>
            </a:r>
          </a:p>
          <a:p xmlns:a="http://schemas.openxmlformats.org/drawingml/2006/main">
            <a:pPr>
              <a:lnSpc>
                <a:spcPct val="118000"/>
              </a:lnSpc>
              <a:buNone/>
              <a:defRPr sz="1350">
                <a:solidFill>
                  <a:srgbClr val="536978"/>
                </a:solidFill>
                <a:latin typeface="Yu Gothic UI"/>
                <a:ea typeface="Yu Gothic UI"/>
                <a:cs typeface="Yu Gothic UI"/>
              </a:defRPr>
            </a:pPr>
            <a:r>
              <a:rPr sz="1350">
                <a:solidFill>
                  <a:srgbClr val="536978"/>
                </a:solidFill>
                <a:latin typeface="Yu Gothic UI"/>
                <a:ea typeface="Yu Gothic UI"/>
                <a:cs typeface="Yu Gothic UI"/>
              </a:rPr>
              <a:t>人が持つ責任を外さない</a:t>
            </a:r>
          </a:p>
        </p:txBody>
      </p:sp>
      <p:sp>
        <p:nvSpPr>
          <p:cNvPr id="27" name="">
            <a:extLst xmlns:a="http://schemas.openxmlformats.org/drawingml/2006/main">
              <a:ext uri="{FF2B5EF4-FFF2-40B4-BE49-F238E27FC236}">
                <a16:creationId xmlns:a16="http://schemas.microsoft.com/office/drawing/2014/main" id="{ABAB48D6-2722-4F75-96D0-E07F2A3E12E3}"/>
              </a:ext>
            </a:extLst>
          </p:cNvPr>
          <p:cNvSpPr>
            <a:spLocks xmlns:a="http://schemas.openxmlformats.org/drawingml/2006/main" noGrp="1"/>
          </p:cNvSpPr>
          <p:nvPr/>
        </p:nvSpPr>
        <p:spPr>
          <a:xfrm xmlns:a="http://schemas.openxmlformats.org/drawingml/2006/main">
            <a:off x="1809750" y="4895850"/>
            <a:ext cx="8572500" cy="723900"/>
          </a:xfrm>
          <a:prstGeom xmlns:a="http://schemas.openxmlformats.org/drawingml/2006/main" prst="roundRect">
            <a:avLst>
              <a:gd name="adj" fmla="val 10526"/>
            </a:avLst>
          </a:prstGeom>
          <a:solidFill xmlns:a="http://schemas.openxmlformats.org/drawingml/2006/main">
            <a:srgbClr val="071A2B"/>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E30F894-018A-4864-9B85-EC284DA56402}"/>
              </a:ext>
            </a:extLst>
          </p:cNvPr>
          <p:cNvSpPr>
            <a:spLocks xmlns:a="http://schemas.openxmlformats.org/drawingml/2006/main" noGrp="1"/>
          </p:cNvSpPr>
          <p:nvPr/>
        </p:nvSpPr>
        <p:spPr>
          <a:xfrm xmlns:a="http://schemas.openxmlformats.org/drawingml/2006/main">
            <a:off x="2133600" y="5124450"/>
            <a:ext cx="792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a:solidFill>
                  <a:srgbClr val="FFFFFF"/>
                </a:solidFill>
                <a:latin typeface="Yu Gothic UI"/>
                <a:ea typeface="Yu Gothic UI"/>
                <a:cs typeface="Yu Gothic UI"/>
              </a:defRPr>
            </a:pPr>
            <a:r>
              <a:rPr sz="1500" b="1">
                <a:solidFill>
                  <a:srgbClr val="FFFFFF"/>
                </a:solidFill>
                <a:latin typeface="Yu Gothic UI"/>
                <a:ea typeface="Yu Gothic UI"/>
                <a:cs typeface="Yu Gothic UI"/>
              </a:rPr>
              <a:t>成果物は学習サイト。学ぶ対象は『AIエージェントとの仕事の進め方』です。</a:t>
            </a:r>
          </a:p>
        </p:txBody>
      </p:sp>
    </p:spTree>
    <p:extLst>
      <p:ext uri="{BB962C8B-B14F-4D97-AF65-F5344CB8AC3E}">
        <p14:creationId xmlns:p14="http://schemas.microsoft.com/office/powerpoint/2010/main" val="101826840"/>
      </p:ext>
    </p:extLst>
  </p:cSld>
</p:sld>
</file>

<file path=ppt/slides/slide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03 / 36</a:t>
            </a:r>
          </a:p>
        </p:txBody>
      </p:sp>
      <p:sp>
        <p:nvSpPr>
          <p:cNvPr id="10" name="">
            <a:extLst xmlns:a="http://schemas.openxmlformats.org/drawingml/2006/main">
              <a:ext uri="{FF2B5EF4-FFF2-40B4-BE49-F238E27FC236}">
                <a16:creationId xmlns:a16="http://schemas.microsoft.com/office/drawing/2014/main" id="{AD0052EF-2302-4EBB-B8C7-8FEF46E05957}"/>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ORIENTATION  |  FIVE PRODUCTS</a:t>
            </a:r>
          </a:p>
        </p:txBody>
      </p:sp>
      <p:sp>
        <p:nvSpPr>
          <p:cNvPr id="11" name="">
            <a:extLst xmlns:a="http://schemas.openxmlformats.org/drawingml/2006/main">
              <a:ext uri="{FF2B5EF4-FFF2-40B4-BE49-F238E27FC236}">
                <a16:creationId xmlns:a16="http://schemas.microsoft.com/office/drawing/2014/main" id="{112D1CCC-B2A4-4672-A2FE-6A625643945D}"/>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同じAIエージェントでも、得意な仕事と操作面が違います</a:t>
            </a:r>
          </a:p>
        </p:txBody>
      </p:sp>
      <p:sp>
        <p:nvSpPr>
          <p:cNvPr id="12" name="">
            <a:extLst xmlns:a="http://schemas.openxmlformats.org/drawingml/2006/main">
              <a:ext uri="{FF2B5EF4-FFF2-40B4-BE49-F238E27FC236}">
                <a16:creationId xmlns:a16="http://schemas.microsoft.com/office/drawing/2014/main" id="{F1C4B2C6-1387-4D4B-8298-8EC41B2F1E57}"/>
              </a:ext>
            </a:extLst>
          </p:cNvPr>
          <p:cNvSpPr>
            <a:spLocks xmlns:a="http://schemas.openxmlformats.org/drawingml/2006/main" noGrp="1"/>
          </p:cNvSpPr>
          <p:nvPr/>
        </p:nvSpPr>
        <p:spPr>
          <a:xfrm xmlns:a="http://schemas.openxmlformats.org/drawingml/2006/main">
            <a:off x="647700" y="1714500"/>
            <a:ext cx="2072640" cy="3714750"/>
          </a:xfrm>
          <a:prstGeom xmlns:a="http://schemas.openxmlformats.org/drawingml/2006/main" prst="roundRect">
            <a:avLst>
              <a:gd name="adj" fmla="val 3676"/>
            </a:avLst>
          </a:prstGeom>
          <a:noFill xmlns:a="http://schemas.openxmlformats.org/drawingml/2006/main"/>
          <a:ln xmlns:a="http://schemas.openxmlformats.org/drawingml/2006/main" w="11430">
            <a:solidFill>
              <a:srgbClr val="C9D8E1"/>
            </a:solidFill>
            <a:prstDash val="solid"/>
          </a:ln>
        </p:spPr>
      </p:sp>
      <p:sp>
        <p:nvSpPr>
          <p:cNvPr id="13" name="">
            <a:extLst xmlns:a="http://schemas.openxmlformats.org/drawingml/2006/main">
              <a:ext uri="{FF2B5EF4-FFF2-40B4-BE49-F238E27FC236}">
                <a16:creationId xmlns:a16="http://schemas.microsoft.com/office/drawing/2014/main" id="{5909D9DC-8DB2-4B06-A7B7-0EC6B7DB0EB6}"/>
              </a:ext>
            </a:extLst>
          </p:cNvPr>
          <p:cNvSpPr>
            <a:spLocks xmlns:a="http://schemas.openxmlformats.org/drawingml/2006/main" noGrp="1"/>
          </p:cNvSpPr>
          <p:nvPr/>
        </p:nvSpPr>
        <p:spPr>
          <a:xfrm xmlns:a="http://schemas.openxmlformats.org/drawingml/2006/main">
            <a:off x="647700" y="1714500"/>
            <a:ext cx="2072640" cy="571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08FB243-8C30-4166-A160-821D3F0B34BB}"/>
              </a:ext>
            </a:extLst>
          </p:cNvPr>
          <p:cNvSpPr>
            <a:spLocks xmlns:a="http://schemas.openxmlformats.org/drawingml/2006/main" noGrp="1"/>
          </p:cNvSpPr>
          <p:nvPr/>
        </p:nvSpPr>
        <p:spPr>
          <a:xfrm xmlns:a="http://schemas.openxmlformats.org/drawingml/2006/main">
            <a:off x="819150" y="2019300"/>
            <a:ext cx="172974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650" b="1">
                <a:solidFill>
                  <a:srgbClr val="00A5E3"/>
                </a:solidFill>
                <a:latin typeface="Yu Gothic UI"/>
                <a:ea typeface="Yu Gothic UI"/>
                <a:cs typeface="Yu Gothic UI"/>
              </a:defRPr>
            </a:pPr>
            <a:r>
              <a:rPr sz="1650" b="1">
                <a:solidFill>
                  <a:srgbClr val="00A5E3"/>
                </a:solidFill>
                <a:latin typeface="Yu Gothic UI"/>
                <a:ea typeface="Yu Gothic UI"/>
                <a:cs typeface="Yu Gothic UI"/>
              </a:rPr>
              <a:t>Codex</a:t>
            </a:r>
          </a:p>
        </p:txBody>
      </p:sp>
      <p:sp>
        <p:nvSpPr>
          <p:cNvPr id="15" name="">
            <a:extLst xmlns:a="http://schemas.openxmlformats.org/drawingml/2006/main">
              <a:ext uri="{FF2B5EF4-FFF2-40B4-BE49-F238E27FC236}">
                <a16:creationId xmlns:a16="http://schemas.microsoft.com/office/drawing/2014/main" id="{D14BA74D-79B7-4102-A7F0-948F483320D8}"/>
              </a:ext>
            </a:extLst>
          </p:cNvPr>
          <p:cNvSpPr>
            <a:spLocks xmlns:a="http://schemas.openxmlformats.org/drawingml/2006/main" noGrp="1"/>
          </p:cNvSpPr>
          <p:nvPr/>
        </p:nvSpPr>
        <p:spPr>
          <a:xfrm xmlns:a="http://schemas.openxmlformats.org/drawingml/2006/main">
            <a:off x="819150" y="272415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主戦場</a:t>
            </a:r>
          </a:p>
        </p:txBody>
      </p:sp>
      <p:sp>
        <p:nvSpPr>
          <p:cNvPr id="16" name="">
            <a:extLst xmlns:a="http://schemas.openxmlformats.org/drawingml/2006/main">
              <a:ext uri="{FF2B5EF4-FFF2-40B4-BE49-F238E27FC236}">
                <a16:creationId xmlns:a16="http://schemas.microsoft.com/office/drawing/2014/main" id="{D1DD3521-8E01-42F1-BA65-BC0604CF295F}"/>
              </a:ext>
            </a:extLst>
          </p:cNvPr>
          <p:cNvSpPr>
            <a:spLocks xmlns:a="http://schemas.openxmlformats.org/drawingml/2006/main" noGrp="1"/>
          </p:cNvSpPr>
          <p:nvPr/>
        </p:nvSpPr>
        <p:spPr>
          <a:xfrm xmlns:a="http://schemas.openxmlformats.org/drawingml/2006/main">
            <a:off x="819150" y="3009900"/>
            <a:ext cx="172974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75" b="1">
                <a:solidFill>
                  <a:srgbClr val="17242B"/>
                </a:solidFill>
                <a:latin typeface="Yu Gothic UI"/>
                <a:ea typeface="Yu Gothic UI"/>
                <a:cs typeface="Yu Gothic UI"/>
              </a:defRPr>
            </a:pPr>
            <a:r>
              <a:rPr sz="1275" b="1">
                <a:solidFill>
                  <a:srgbClr val="17242B"/>
                </a:solidFill>
                <a:latin typeface="Yu Gothic UI"/>
                <a:ea typeface="Yu Gothic UI"/>
                <a:cs typeface="Yu Gothic UI"/>
              </a:rPr>
              <a:t>開発 + 周辺業務</a:t>
            </a:r>
          </a:p>
        </p:txBody>
      </p:sp>
      <p:sp>
        <p:nvSpPr>
          <p:cNvPr id="17" name="">
            <a:extLst xmlns:a="http://schemas.openxmlformats.org/drawingml/2006/main">
              <a:ext uri="{FF2B5EF4-FFF2-40B4-BE49-F238E27FC236}">
                <a16:creationId xmlns:a16="http://schemas.microsoft.com/office/drawing/2014/main" id="{2C2E7C4A-FA8D-49B2-9A6F-9D4E823216EE}"/>
              </a:ext>
            </a:extLst>
          </p:cNvPr>
          <p:cNvSpPr>
            <a:spLocks xmlns:a="http://schemas.openxmlformats.org/drawingml/2006/main" noGrp="1"/>
          </p:cNvSpPr>
          <p:nvPr/>
        </p:nvSpPr>
        <p:spPr>
          <a:xfrm xmlns:a="http://schemas.openxmlformats.org/drawingml/2006/main">
            <a:off x="819150" y="403860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操作面</a:t>
            </a:r>
          </a:p>
        </p:txBody>
      </p:sp>
      <p:sp>
        <p:nvSpPr>
          <p:cNvPr id="18" name="">
            <a:extLst xmlns:a="http://schemas.openxmlformats.org/drawingml/2006/main">
              <a:ext uri="{FF2B5EF4-FFF2-40B4-BE49-F238E27FC236}">
                <a16:creationId xmlns:a16="http://schemas.microsoft.com/office/drawing/2014/main" id="{88E5F702-1280-4635-9192-FB1A4715EFF9}"/>
              </a:ext>
            </a:extLst>
          </p:cNvPr>
          <p:cNvSpPr>
            <a:spLocks xmlns:a="http://schemas.openxmlformats.org/drawingml/2006/main" noGrp="1"/>
          </p:cNvSpPr>
          <p:nvPr/>
        </p:nvSpPr>
        <p:spPr>
          <a:xfrm xmlns:a="http://schemas.openxmlformats.org/drawingml/2006/main">
            <a:off x="819150" y="4324350"/>
            <a:ext cx="172974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a:solidFill>
                  <a:srgbClr val="536978"/>
                </a:solidFill>
                <a:latin typeface="Yu Gothic UI"/>
                <a:ea typeface="Yu Gothic UI"/>
                <a:cs typeface="Yu Gothic UI"/>
              </a:defRPr>
            </a:pPr>
            <a:r>
              <a:rPr sz="1050">
                <a:solidFill>
                  <a:srgbClr val="536978"/>
                </a:solidFill>
                <a:latin typeface="Yu Gothic UI"/>
                <a:ea typeface="Yu Gothic UI"/>
                <a:cs typeface="Yu Gothic UI"/>
              </a:rPr>
              <a:t>desktop / CLI / IDE / cloud</a:t>
            </a:r>
          </a:p>
        </p:txBody>
      </p:sp>
      <p:sp>
        <p:nvSpPr>
          <p:cNvPr id="19" name="">
            <a:extLst xmlns:a="http://schemas.openxmlformats.org/drawingml/2006/main">
              <a:ext uri="{FF2B5EF4-FFF2-40B4-BE49-F238E27FC236}">
                <a16:creationId xmlns:a16="http://schemas.microsoft.com/office/drawing/2014/main" id="{36E2D4ED-6A60-47B9-ABAB-085893EC5915}"/>
              </a:ext>
            </a:extLst>
          </p:cNvPr>
          <p:cNvSpPr>
            <a:spLocks xmlns:a="http://schemas.openxmlformats.org/drawingml/2006/main" noGrp="1"/>
          </p:cNvSpPr>
          <p:nvPr/>
        </p:nvSpPr>
        <p:spPr>
          <a:xfrm xmlns:a="http://schemas.openxmlformats.org/drawingml/2006/main">
            <a:off x="2853690" y="1714500"/>
            <a:ext cx="2072640" cy="3714750"/>
          </a:xfrm>
          <a:prstGeom xmlns:a="http://schemas.openxmlformats.org/drawingml/2006/main" prst="roundRect">
            <a:avLst>
              <a:gd name="adj" fmla="val 3676"/>
            </a:avLst>
          </a:prstGeom>
          <a:noFill xmlns:a="http://schemas.openxmlformats.org/drawingml/2006/main"/>
          <a:ln xmlns:a="http://schemas.openxmlformats.org/drawingml/2006/main" w="11430">
            <a:solidFill>
              <a:srgbClr val="C9D8E1"/>
            </a:solidFill>
            <a:prstDash val="solid"/>
          </a:ln>
        </p:spPr>
      </p:sp>
      <p:sp>
        <p:nvSpPr>
          <p:cNvPr id="20" name="">
            <a:extLst xmlns:a="http://schemas.openxmlformats.org/drawingml/2006/main">
              <a:ext uri="{FF2B5EF4-FFF2-40B4-BE49-F238E27FC236}">
                <a16:creationId xmlns:a16="http://schemas.microsoft.com/office/drawing/2014/main" id="{1A686FDC-B94B-4D07-8AA8-84D31FBD2501}"/>
              </a:ext>
            </a:extLst>
          </p:cNvPr>
          <p:cNvSpPr>
            <a:spLocks xmlns:a="http://schemas.openxmlformats.org/drawingml/2006/main" noGrp="1"/>
          </p:cNvSpPr>
          <p:nvPr/>
        </p:nvSpPr>
        <p:spPr>
          <a:xfrm xmlns:a="http://schemas.openxmlformats.org/drawingml/2006/main">
            <a:off x="2853690" y="1714500"/>
            <a:ext cx="2072640" cy="5715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A24FD8E-F36C-4F6E-9E91-12C658018C48}"/>
              </a:ext>
            </a:extLst>
          </p:cNvPr>
          <p:cNvSpPr>
            <a:spLocks xmlns:a="http://schemas.openxmlformats.org/drawingml/2006/main" noGrp="1"/>
          </p:cNvSpPr>
          <p:nvPr/>
        </p:nvSpPr>
        <p:spPr>
          <a:xfrm xmlns:a="http://schemas.openxmlformats.org/drawingml/2006/main">
            <a:off x="3025140" y="2019300"/>
            <a:ext cx="172974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650" b="1">
                <a:solidFill>
                  <a:srgbClr val="EF7E00"/>
                </a:solidFill>
                <a:latin typeface="Yu Gothic UI"/>
                <a:ea typeface="Yu Gothic UI"/>
                <a:cs typeface="Yu Gothic UI"/>
              </a:defRPr>
            </a:pPr>
            <a:r>
              <a:rPr sz="1650" b="1">
                <a:solidFill>
                  <a:srgbClr val="EF7E00"/>
                </a:solidFill>
                <a:latin typeface="Yu Gothic UI"/>
                <a:ea typeface="Yu Gothic UI"/>
                <a:cs typeface="Yu Gothic UI"/>
              </a:rPr>
              <a:t>Claude Code</a:t>
            </a:r>
          </a:p>
        </p:txBody>
      </p:sp>
      <p:sp>
        <p:nvSpPr>
          <p:cNvPr id="22" name="">
            <a:extLst xmlns:a="http://schemas.openxmlformats.org/drawingml/2006/main">
              <a:ext uri="{FF2B5EF4-FFF2-40B4-BE49-F238E27FC236}">
                <a16:creationId xmlns:a16="http://schemas.microsoft.com/office/drawing/2014/main" id="{A18E6FF6-1095-4BD5-8D1E-AD2D81184768}"/>
              </a:ext>
            </a:extLst>
          </p:cNvPr>
          <p:cNvSpPr>
            <a:spLocks xmlns:a="http://schemas.openxmlformats.org/drawingml/2006/main" noGrp="1"/>
          </p:cNvSpPr>
          <p:nvPr/>
        </p:nvSpPr>
        <p:spPr>
          <a:xfrm xmlns:a="http://schemas.openxmlformats.org/drawingml/2006/main">
            <a:off x="3025140" y="272415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主戦場</a:t>
            </a:r>
          </a:p>
        </p:txBody>
      </p:sp>
      <p:sp>
        <p:nvSpPr>
          <p:cNvPr id="23" name="">
            <a:extLst xmlns:a="http://schemas.openxmlformats.org/drawingml/2006/main">
              <a:ext uri="{FF2B5EF4-FFF2-40B4-BE49-F238E27FC236}">
                <a16:creationId xmlns:a16="http://schemas.microsoft.com/office/drawing/2014/main" id="{A6DFB545-4A42-438E-BA5A-DB9069156B41}"/>
              </a:ext>
            </a:extLst>
          </p:cNvPr>
          <p:cNvSpPr>
            <a:spLocks xmlns:a="http://schemas.openxmlformats.org/drawingml/2006/main" noGrp="1"/>
          </p:cNvSpPr>
          <p:nvPr/>
        </p:nvSpPr>
        <p:spPr>
          <a:xfrm xmlns:a="http://schemas.openxmlformats.org/drawingml/2006/main">
            <a:off x="3025140" y="3009900"/>
            <a:ext cx="172974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75" b="1">
                <a:solidFill>
                  <a:srgbClr val="17242B"/>
                </a:solidFill>
                <a:latin typeface="Yu Gothic UI"/>
                <a:ea typeface="Yu Gothic UI"/>
                <a:cs typeface="Yu Gothic UI"/>
              </a:defRPr>
            </a:pPr>
            <a:r>
              <a:rPr sz="1275" b="1">
                <a:solidFill>
                  <a:srgbClr val="17242B"/>
                </a:solidFill>
                <a:latin typeface="Yu Gothic UI"/>
                <a:ea typeface="Yu Gothic UI"/>
                <a:cs typeface="Yu Gothic UI"/>
              </a:rPr>
              <a:t>ソフトウェア開発</a:t>
            </a:r>
          </a:p>
        </p:txBody>
      </p:sp>
      <p:sp>
        <p:nvSpPr>
          <p:cNvPr id="24" name="">
            <a:extLst xmlns:a="http://schemas.openxmlformats.org/drawingml/2006/main">
              <a:ext uri="{FF2B5EF4-FFF2-40B4-BE49-F238E27FC236}">
                <a16:creationId xmlns:a16="http://schemas.microsoft.com/office/drawing/2014/main" id="{D8A12C9E-33C2-4B0C-B0B2-5F0FA8C3C005}"/>
              </a:ext>
            </a:extLst>
          </p:cNvPr>
          <p:cNvSpPr>
            <a:spLocks xmlns:a="http://schemas.openxmlformats.org/drawingml/2006/main" noGrp="1"/>
          </p:cNvSpPr>
          <p:nvPr/>
        </p:nvSpPr>
        <p:spPr>
          <a:xfrm xmlns:a="http://schemas.openxmlformats.org/drawingml/2006/main">
            <a:off x="3025140" y="403860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操作面</a:t>
            </a:r>
          </a:p>
        </p:txBody>
      </p:sp>
      <p:sp>
        <p:nvSpPr>
          <p:cNvPr id="25" name="">
            <a:extLst xmlns:a="http://schemas.openxmlformats.org/drawingml/2006/main">
              <a:ext uri="{FF2B5EF4-FFF2-40B4-BE49-F238E27FC236}">
                <a16:creationId xmlns:a16="http://schemas.microsoft.com/office/drawing/2014/main" id="{C81F70DB-FE77-4FF3-B4FC-AB4B60308FF2}"/>
              </a:ext>
            </a:extLst>
          </p:cNvPr>
          <p:cNvSpPr>
            <a:spLocks xmlns:a="http://schemas.openxmlformats.org/drawingml/2006/main" noGrp="1"/>
          </p:cNvSpPr>
          <p:nvPr/>
        </p:nvSpPr>
        <p:spPr>
          <a:xfrm xmlns:a="http://schemas.openxmlformats.org/drawingml/2006/main">
            <a:off x="3025140" y="4324350"/>
            <a:ext cx="172974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a:solidFill>
                  <a:srgbClr val="536978"/>
                </a:solidFill>
                <a:latin typeface="Yu Gothic UI"/>
                <a:ea typeface="Yu Gothic UI"/>
                <a:cs typeface="Yu Gothic UI"/>
              </a:defRPr>
            </a:pPr>
            <a:r>
              <a:rPr sz="1050">
                <a:solidFill>
                  <a:srgbClr val="536978"/>
                </a:solidFill>
                <a:latin typeface="Yu Gothic UI"/>
                <a:ea typeface="Yu Gothic UI"/>
                <a:cs typeface="Yu Gothic UI"/>
              </a:rPr>
              <a:t>terminal / IDE / desktop / web</a:t>
            </a:r>
          </a:p>
        </p:txBody>
      </p:sp>
      <p:sp>
        <p:nvSpPr>
          <p:cNvPr id="26" name="">
            <a:extLst xmlns:a="http://schemas.openxmlformats.org/drawingml/2006/main">
              <a:ext uri="{FF2B5EF4-FFF2-40B4-BE49-F238E27FC236}">
                <a16:creationId xmlns:a16="http://schemas.microsoft.com/office/drawing/2014/main" id="{76E015C1-3F7C-4496-ACB5-9D8349E1BE03}"/>
              </a:ext>
            </a:extLst>
          </p:cNvPr>
          <p:cNvSpPr>
            <a:spLocks xmlns:a="http://schemas.openxmlformats.org/drawingml/2006/main" noGrp="1"/>
          </p:cNvSpPr>
          <p:nvPr/>
        </p:nvSpPr>
        <p:spPr>
          <a:xfrm xmlns:a="http://schemas.openxmlformats.org/drawingml/2006/main">
            <a:off x="5059680" y="1714500"/>
            <a:ext cx="2072640" cy="3714750"/>
          </a:xfrm>
          <a:prstGeom xmlns:a="http://schemas.openxmlformats.org/drawingml/2006/main" prst="roundRect">
            <a:avLst>
              <a:gd name="adj" fmla="val 3676"/>
            </a:avLst>
          </a:prstGeom>
          <a:noFill xmlns:a="http://schemas.openxmlformats.org/drawingml/2006/main"/>
          <a:ln xmlns:a="http://schemas.openxmlformats.org/drawingml/2006/main" w="11430">
            <a:solidFill>
              <a:srgbClr val="C9D8E1"/>
            </a:solidFill>
            <a:prstDash val="solid"/>
          </a:ln>
        </p:spPr>
      </p:sp>
      <p:sp>
        <p:nvSpPr>
          <p:cNvPr id="27" name="">
            <a:extLst xmlns:a="http://schemas.openxmlformats.org/drawingml/2006/main">
              <a:ext uri="{FF2B5EF4-FFF2-40B4-BE49-F238E27FC236}">
                <a16:creationId xmlns:a16="http://schemas.microsoft.com/office/drawing/2014/main" id="{A993B75D-233B-453E-816D-80B7630EF88C}"/>
              </a:ext>
            </a:extLst>
          </p:cNvPr>
          <p:cNvSpPr>
            <a:spLocks xmlns:a="http://schemas.openxmlformats.org/drawingml/2006/main" noGrp="1"/>
          </p:cNvSpPr>
          <p:nvPr/>
        </p:nvSpPr>
        <p:spPr>
          <a:xfrm xmlns:a="http://schemas.openxmlformats.org/drawingml/2006/main">
            <a:off x="5059680" y="1714500"/>
            <a:ext cx="2072640" cy="57150"/>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6B436BC-4E7D-4ED1-8331-5DB438A64202}"/>
              </a:ext>
            </a:extLst>
          </p:cNvPr>
          <p:cNvSpPr>
            <a:spLocks xmlns:a="http://schemas.openxmlformats.org/drawingml/2006/main" noGrp="1"/>
          </p:cNvSpPr>
          <p:nvPr/>
        </p:nvSpPr>
        <p:spPr>
          <a:xfrm xmlns:a="http://schemas.openxmlformats.org/drawingml/2006/main">
            <a:off x="5231130" y="2019300"/>
            <a:ext cx="172974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650" b="1">
                <a:solidFill>
                  <a:srgbClr val="2F9E63"/>
                </a:solidFill>
                <a:latin typeface="Yu Gothic UI"/>
                <a:ea typeface="Yu Gothic UI"/>
                <a:cs typeface="Yu Gothic UI"/>
              </a:defRPr>
            </a:pPr>
            <a:r>
              <a:rPr sz="1650" b="1">
                <a:solidFill>
                  <a:srgbClr val="2F9E63"/>
                </a:solidFill>
                <a:latin typeface="Yu Gothic UI"/>
                <a:ea typeface="Yu Gothic UI"/>
                <a:cs typeface="Yu Gothic UI"/>
              </a:rPr>
              <a:t>Claude Cowork</a:t>
            </a:r>
          </a:p>
        </p:txBody>
      </p:sp>
      <p:sp>
        <p:nvSpPr>
          <p:cNvPr id="29" name="">
            <a:extLst xmlns:a="http://schemas.openxmlformats.org/drawingml/2006/main">
              <a:ext uri="{FF2B5EF4-FFF2-40B4-BE49-F238E27FC236}">
                <a16:creationId xmlns:a16="http://schemas.microsoft.com/office/drawing/2014/main" id="{B1C974B8-C2F4-4880-8FCB-71A89B90FC76}"/>
              </a:ext>
            </a:extLst>
          </p:cNvPr>
          <p:cNvSpPr>
            <a:spLocks xmlns:a="http://schemas.openxmlformats.org/drawingml/2006/main" noGrp="1"/>
          </p:cNvSpPr>
          <p:nvPr/>
        </p:nvSpPr>
        <p:spPr>
          <a:xfrm xmlns:a="http://schemas.openxmlformats.org/drawingml/2006/main">
            <a:off x="5231130" y="272415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主戦場</a:t>
            </a:r>
          </a:p>
        </p:txBody>
      </p:sp>
      <p:sp>
        <p:nvSpPr>
          <p:cNvPr id="30" name="">
            <a:extLst xmlns:a="http://schemas.openxmlformats.org/drawingml/2006/main">
              <a:ext uri="{FF2B5EF4-FFF2-40B4-BE49-F238E27FC236}">
                <a16:creationId xmlns:a16="http://schemas.microsoft.com/office/drawing/2014/main" id="{3AE6C815-9135-41E9-AEE3-3CDC11D6E446}"/>
              </a:ext>
            </a:extLst>
          </p:cNvPr>
          <p:cNvSpPr>
            <a:spLocks xmlns:a="http://schemas.openxmlformats.org/drawingml/2006/main" noGrp="1"/>
          </p:cNvSpPr>
          <p:nvPr/>
        </p:nvSpPr>
        <p:spPr>
          <a:xfrm xmlns:a="http://schemas.openxmlformats.org/drawingml/2006/main">
            <a:off x="5231130" y="3009900"/>
            <a:ext cx="172974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75" b="1">
                <a:solidFill>
                  <a:srgbClr val="17242B"/>
                </a:solidFill>
                <a:latin typeface="Yu Gothic UI"/>
                <a:ea typeface="Yu Gothic UI"/>
                <a:cs typeface="Yu Gothic UI"/>
              </a:defRPr>
            </a:pPr>
            <a:r>
              <a:rPr sz="1275" b="1">
                <a:solidFill>
                  <a:srgbClr val="17242B"/>
                </a:solidFill>
                <a:latin typeface="Yu Gothic UI"/>
                <a:ea typeface="Yu Gothic UI"/>
                <a:cs typeface="Yu Gothic UI"/>
              </a:rPr>
              <a:t>ナレッジワーク</a:t>
            </a:r>
          </a:p>
        </p:txBody>
      </p:sp>
      <p:sp>
        <p:nvSpPr>
          <p:cNvPr id="31" name="">
            <a:extLst xmlns:a="http://schemas.openxmlformats.org/drawingml/2006/main">
              <a:ext uri="{FF2B5EF4-FFF2-40B4-BE49-F238E27FC236}">
                <a16:creationId xmlns:a16="http://schemas.microsoft.com/office/drawing/2014/main" id="{AD91853F-34DB-462A-93EF-AA27C20DF71A}"/>
              </a:ext>
            </a:extLst>
          </p:cNvPr>
          <p:cNvSpPr>
            <a:spLocks xmlns:a="http://schemas.openxmlformats.org/drawingml/2006/main" noGrp="1"/>
          </p:cNvSpPr>
          <p:nvPr/>
        </p:nvSpPr>
        <p:spPr>
          <a:xfrm xmlns:a="http://schemas.openxmlformats.org/drawingml/2006/main">
            <a:off x="5231130" y="403860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操作面</a:t>
            </a:r>
          </a:p>
        </p:txBody>
      </p:sp>
      <p:sp>
        <p:nvSpPr>
          <p:cNvPr id="32" name="">
            <a:extLst xmlns:a="http://schemas.openxmlformats.org/drawingml/2006/main">
              <a:ext uri="{FF2B5EF4-FFF2-40B4-BE49-F238E27FC236}">
                <a16:creationId xmlns:a16="http://schemas.microsoft.com/office/drawing/2014/main" id="{1D04EE53-FACC-4910-969F-91B361D9593E}"/>
              </a:ext>
            </a:extLst>
          </p:cNvPr>
          <p:cNvSpPr>
            <a:spLocks xmlns:a="http://schemas.openxmlformats.org/drawingml/2006/main" noGrp="1"/>
          </p:cNvSpPr>
          <p:nvPr/>
        </p:nvSpPr>
        <p:spPr>
          <a:xfrm xmlns:a="http://schemas.openxmlformats.org/drawingml/2006/main">
            <a:off x="5231130" y="4324350"/>
            <a:ext cx="172974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a:solidFill>
                  <a:srgbClr val="536978"/>
                </a:solidFill>
                <a:latin typeface="Yu Gothic UI"/>
                <a:ea typeface="Yu Gothic UI"/>
                <a:cs typeface="Yu Gothic UI"/>
              </a:defRPr>
            </a:pPr>
            <a:r>
              <a:rPr sz="1050">
                <a:solidFill>
                  <a:srgbClr val="536978"/>
                </a:solidFill>
                <a:latin typeface="Yu Gothic UI"/>
                <a:ea typeface="Yu Gothic UI"/>
                <a:cs typeface="Yu Gothic UI"/>
              </a:rPr>
              <a:t>desktop / web・mobile beta</a:t>
            </a:r>
          </a:p>
        </p:txBody>
      </p:sp>
      <p:sp>
        <p:nvSpPr>
          <p:cNvPr id="33" name="">
            <a:extLst xmlns:a="http://schemas.openxmlformats.org/drawingml/2006/main">
              <a:ext uri="{FF2B5EF4-FFF2-40B4-BE49-F238E27FC236}">
                <a16:creationId xmlns:a16="http://schemas.microsoft.com/office/drawing/2014/main" id="{59E8E5AE-FE8B-4FCC-BDAE-8F97AE88B4C5}"/>
              </a:ext>
            </a:extLst>
          </p:cNvPr>
          <p:cNvSpPr>
            <a:spLocks xmlns:a="http://schemas.openxmlformats.org/drawingml/2006/main" noGrp="1"/>
          </p:cNvSpPr>
          <p:nvPr/>
        </p:nvSpPr>
        <p:spPr>
          <a:xfrm xmlns:a="http://schemas.openxmlformats.org/drawingml/2006/main">
            <a:off x="7265670" y="1714500"/>
            <a:ext cx="2072640" cy="3714750"/>
          </a:xfrm>
          <a:prstGeom xmlns:a="http://schemas.openxmlformats.org/drawingml/2006/main" prst="roundRect">
            <a:avLst>
              <a:gd name="adj" fmla="val 3676"/>
            </a:avLst>
          </a:prstGeom>
          <a:noFill xmlns:a="http://schemas.openxmlformats.org/drawingml/2006/main"/>
          <a:ln xmlns:a="http://schemas.openxmlformats.org/drawingml/2006/main" w="11430">
            <a:solidFill>
              <a:srgbClr val="C9D8E1"/>
            </a:solidFill>
            <a:prstDash val="solid"/>
          </a:ln>
        </p:spPr>
      </p:sp>
      <p:sp>
        <p:nvSpPr>
          <p:cNvPr id="34" name="">
            <a:extLst xmlns:a="http://schemas.openxmlformats.org/drawingml/2006/main">
              <a:ext uri="{FF2B5EF4-FFF2-40B4-BE49-F238E27FC236}">
                <a16:creationId xmlns:a16="http://schemas.microsoft.com/office/drawing/2014/main" id="{F251968B-26B2-43CF-A5EA-7466B980AD93}"/>
              </a:ext>
            </a:extLst>
          </p:cNvPr>
          <p:cNvSpPr>
            <a:spLocks xmlns:a="http://schemas.openxmlformats.org/drawingml/2006/main" noGrp="1"/>
          </p:cNvSpPr>
          <p:nvPr/>
        </p:nvSpPr>
        <p:spPr>
          <a:xfrm xmlns:a="http://schemas.openxmlformats.org/drawingml/2006/main">
            <a:off x="7265670" y="1714500"/>
            <a:ext cx="2072640" cy="57150"/>
          </a:xfrm>
          <a:prstGeom xmlns:a="http://schemas.openxmlformats.org/drawingml/2006/main" prst="rect">
            <a:avLst/>
          </a:prstGeom>
          <a:solidFill xmlns:a="http://schemas.openxmlformats.org/drawingml/2006/main">
            <a:srgbClr val="7B61A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8217D7E4-870A-4F43-9ED6-9CB626F4E995}"/>
              </a:ext>
            </a:extLst>
          </p:cNvPr>
          <p:cNvSpPr>
            <a:spLocks xmlns:a="http://schemas.openxmlformats.org/drawingml/2006/main" noGrp="1"/>
          </p:cNvSpPr>
          <p:nvPr/>
        </p:nvSpPr>
        <p:spPr>
          <a:xfrm xmlns:a="http://schemas.openxmlformats.org/drawingml/2006/main">
            <a:off x="7437120" y="2019300"/>
            <a:ext cx="172974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650" b="1">
                <a:solidFill>
                  <a:srgbClr val="7B61A8"/>
                </a:solidFill>
                <a:latin typeface="Yu Gothic UI"/>
                <a:ea typeface="Yu Gothic UI"/>
                <a:cs typeface="Yu Gothic UI"/>
              </a:defRPr>
            </a:pPr>
            <a:r>
              <a:rPr sz="1650" b="1">
                <a:solidFill>
                  <a:srgbClr val="7B61A8"/>
                </a:solidFill>
                <a:latin typeface="Yu Gothic UI"/>
                <a:ea typeface="Yu Gothic UI"/>
                <a:cs typeface="Yu Gothic UI"/>
              </a:rPr>
              <a:t>Kiro</a:t>
            </a:r>
          </a:p>
        </p:txBody>
      </p:sp>
      <p:sp>
        <p:nvSpPr>
          <p:cNvPr id="36" name="">
            <a:extLst xmlns:a="http://schemas.openxmlformats.org/drawingml/2006/main">
              <a:ext uri="{FF2B5EF4-FFF2-40B4-BE49-F238E27FC236}">
                <a16:creationId xmlns:a16="http://schemas.microsoft.com/office/drawing/2014/main" id="{C315523E-F30F-4636-BED8-3475532DCC79}"/>
              </a:ext>
            </a:extLst>
          </p:cNvPr>
          <p:cNvSpPr>
            <a:spLocks xmlns:a="http://schemas.openxmlformats.org/drawingml/2006/main" noGrp="1"/>
          </p:cNvSpPr>
          <p:nvPr/>
        </p:nvSpPr>
        <p:spPr>
          <a:xfrm xmlns:a="http://schemas.openxmlformats.org/drawingml/2006/main">
            <a:off x="7437120" y="272415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主戦場</a:t>
            </a:r>
          </a:p>
        </p:txBody>
      </p:sp>
      <p:sp>
        <p:nvSpPr>
          <p:cNvPr id="37" name="">
            <a:extLst xmlns:a="http://schemas.openxmlformats.org/drawingml/2006/main">
              <a:ext uri="{FF2B5EF4-FFF2-40B4-BE49-F238E27FC236}">
                <a16:creationId xmlns:a16="http://schemas.microsoft.com/office/drawing/2014/main" id="{F8BA6258-9C10-492B-9E1E-828E0EB4F127}"/>
              </a:ext>
            </a:extLst>
          </p:cNvPr>
          <p:cNvSpPr>
            <a:spLocks xmlns:a="http://schemas.openxmlformats.org/drawingml/2006/main" noGrp="1"/>
          </p:cNvSpPr>
          <p:nvPr/>
        </p:nvSpPr>
        <p:spPr>
          <a:xfrm xmlns:a="http://schemas.openxmlformats.org/drawingml/2006/main">
            <a:off x="7437120" y="3009900"/>
            <a:ext cx="172974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75" b="1">
                <a:solidFill>
                  <a:srgbClr val="17242B"/>
                </a:solidFill>
                <a:latin typeface="Yu Gothic UI"/>
                <a:ea typeface="Yu Gothic UI"/>
                <a:cs typeface="Yu Gothic UI"/>
              </a:defRPr>
            </a:pPr>
            <a:r>
              <a:rPr sz="1275" b="1">
                <a:solidFill>
                  <a:srgbClr val="17242B"/>
                </a:solidFill>
                <a:latin typeface="Yu Gothic UI"/>
                <a:ea typeface="Yu Gothic UI"/>
                <a:cs typeface="Yu Gothic UI"/>
              </a:rPr>
              <a:t>仕様駆動開発</a:t>
            </a:r>
          </a:p>
        </p:txBody>
      </p:sp>
      <p:sp>
        <p:nvSpPr>
          <p:cNvPr id="38" name="">
            <a:extLst xmlns:a="http://schemas.openxmlformats.org/drawingml/2006/main">
              <a:ext uri="{FF2B5EF4-FFF2-40B4-BE49-F238E27FC236}">
                <a16:creationId xmlns:a16="http://schemas.microsoft.com/office/drawing/2014/main" id="{56CBB3A3-562D-4BAA-A5FD-CD0D6D14ED02}"/>
              </a:ext>
            </a:extLst>
          </p:cNvPr>
          <p:cNvSpPr>
            <a:spLocks xmlns:a="http://schemas.openxmlformats.org/drawingml/2006/main" noGrp="1"/>
          </p:cNvSpPr>
          <p:nvPr/>
        </p:nvSpPr>
        <p:spPr>
          <a:xfrm xmlns:a="http://schemas.openxmlformats.org/drawingml/2006/main">
            <a:off x="7437120" y="403860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操作面</a:t>
            </a:r>
          </a:p>
        </p:txBody>
      </p:sp>
      <p:sp>
        <p:nvSpPr>
          <p:cNvPr id="39" name="">
            <a:extLst xmlns:a="http://schemas.openxmlformats.org/drawingml/2006/main">
              <a:ext uri="{FF2B5EF4-FFF2-40B4-BE49-F238E27FC236}">
                <a16:creationId xmlns:a16="http://schemas.microsoft.com/office/drawing/2014/main" id="{21B4F746-32ED-4BE5-8B94-8C0684397027}"/>
              </a:ext>
            </a:extLst>
          </p:cNvPr>
          <p:cNvSpPr>
            <a:spLocks xmlns:a="http://schemas.openxmlformats.org/drawingml/2006/main" noGrp="1"/>
          </p:cNvSpPr>
          <p:nvPr/>
        </p:nvSpPr>
        <p:spPr>
          <a:xfrm xmlns:a="http://schemas.openxmlformats.org/drawingml/2006/main">
            <a:off x="7437120" y="4324350"/>
            <a:ext cx="172974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a:solidFill>
                  <a:srgbClr val="536978"/>
                </a:solidFill>
                <a:latin typeface="Yu Gothic UI"/>
                <a:ea typeface="Yu Gothic UI"/>
                <a:cs typeface="Yu Gothic UI"/>
              </a:defRPr>
            </a:pPr>
            <a:r>
              <a:rPr sz="1050">
                <a:solidFill>
                  <a:srgbClr val="536978"/>
                </a:solidFill>
                <a:latin typeface="Yu Gothic UI"/>
                <a:ea typeface="Yu Gothic UI"/>
                <a:cs typeface="Yu Gothic UI"/>
              </a:rPr>
              <a:t>IDE / CLI / web preview</a:t>
            </a:r>
          </a:p>
        </p:txBody>
      </p:sp>
      <p:sp>
        <p:nvSpPr>
          <p:cNvPr id="40" name="">
            <a:extLst xmlns:a="http://schemas.openxmlformats.org/drawingml/2006/main">
              <a:ext uri="{FF2B5EF4-FFF2-40B4-BE49-F238E27FC236}">
                <a16:creationId xmlns:a16="http://schemas.microsoft.com/office/drawing/2014/main" id="{F5108F97-AE0B-4265-A8E7-97D360E38763}"/>
              </a:ext>
            </a:extLst>
          </p:cNvPr>
          <p:cNvSpPr>
            <a:spLocks xmlns:a="http://schemas.openxmlformats.org/drawingml/2006/main" noGrp="1"/>
          </p:cNvSpPr>
          <p:nvPr/>
        </p:nvSpPr>
        <p:spPr>
          <a:xfrm xmlns:a="http://schemas.openxmlformats.org/drawingml/2006/main">
            <a:off x="9471660" y="1714500"/>
            <a:ext cx="2072640" cy="3714750"/>
          </a:xfrm>
          <a:prstGeom xmlns:a="http://schemas.openxmlformats.org/drawingml/2006/main" prst="roundRect">
            <a:avLst>
              <a:gd name="adj" fmla="val 3676"/>
            </a:avLst>
          </a:prstGeom>
          <a:noFill xmlns:a="http://schemas.openxmlformats.org/drawingml/2006/main"/>
          <a:ln xmlns:a="http://schemas.openxmlformats.org/drawingml/2006/main" w="11430">
            <a:solidFill>
              <a:srgbClr val="C9D8E1"/>
            </a:solidFill>
            <a:prstDash val="solid"/>
          </a:ln>
        </p:spPr>
      </p:sp>
      <p:sp>
        <p:nvSpPr>
          <p:cNvPr id="41" name="">
            <a:extLst xmlns:a="http://schemas.openxmlformats.org/drawingml/2006/main">
              <a:ext uri="{FF2B5EF4-FFF2-40B4-BE49-F238E27FC236}">
                <a16:creationId xmlns:a16="http://schemas.microsoft.com/office/drawing/2014/main" id="{40148D8F-84E5-40FF-AD96-1A00CF0CB57B}"/>
              </a:ext>
            </a:extLst>
          </p:cNvPr>
          <p:cNvSpPr>
            <a:spLocks xmlns:a="http://schemas.openxmlformats.org/drawingml/2006/main" noGrp="1"/>
          </p:cNvSpPr>
          <p:nvPr/>
        </p:nvSpPr>
        <p:spPr>
          <a:xfrm xmlns:a="http://schemas.openxmlformats.org/drawingml/2006/main">
            <a:off x="9471660" y="1714500"/>
            <a:ext cx="2072640" cy="57150"/>
          </a:xfrm>
          <a:prstGeom xmlns:a="http://schemas.openxmlformats.org/drawingml/2006/main" prst="rect">
            <a:avLst/>
          </a:prstGeom>
          <a:solidFill xmlns:a="http://schemas.openxmlformats.org/drawingml/2006/main">
            <a:srgbClr val="D9485F"/>
          </a:solidFill>
          <a:ln xmlns:a="http://schemas.openxmlformats.org/drawingml/2006/main" w="0">
            <a:noFill/>
            <a:prstDash val="solid"/>
          </a:ln>
        </p:spPr>
      </p:sp>
      <p:sp>
        <p:nvSpPr>
          <p:cNvPr id="42" name="">
            <a:extLst xmlns:a="http://schemas.openxmlformats.org/drawingml/2006/main">
              <a:ext uri="{FF2B5EF4-FFF2-40B4-BE49-F238E27FC236}">
                <a16:creationId xmlns:a16="http://schemas.microsoft.com/office/drawing/2014/main" id="{FD7135A4-6748-488D-A66D-70E214B228B6}"/>
              </a:ext>
            </a:extLst>
          </p:cNvPr>
          <p:cNvSpPr>
            <a:spLocks xmlns:a="http://schemas.openxmlformats.org/drawingml/2006/main" noGrp="1"/>
          </p:cNvSpPr>
          <p:nvPr/>
        </p:nvSpPr>
        <p:spPr>
          <a:xfrm xmlns:a="http://schemas.openxmlformats.org/drawingml/2006/main">
            <a:off x="9643110" y="2019300"/>
            <a:ext cx="172974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650" b="1">
                <a:solidFill>
                  <a:srgbClr val="D9485F"/>
                </a:solidFill>
                <a:latin typeface="Yu Gothic UI"/>
                <a:ea typeface="Yu Gothic UI"/>
                <a:cs typeface="Yu Gothic UI"/>
              </a:defRPr>
            </a:pPr>
            <a:r>
              <a:rPr sz="1650" b="1">
                <a:solidFill>
                  <a:srgbClr val="D9485F"/>
                </a:solidFill>
                <a:latin typeface="Yu Gothic UI"/>
                <a:ea typeface="Yu Gothic UI"/>
                <a:cs typeface="Yu Gothic UI"/>
              </a:rPr>
              <a:t>Antigravity</a:t>
            </a:r>
          </a:p>
        </p:txBody>
      </p:sp>
      <p:sp>
        <p:nvSpPr>
          <p:cNvPr id="43" name="">
            <a:extLst xmlns:a="http://schemas.openxmlformats.org/drawingml/2006/main">
              <a:ext uri="{FF2B5EF4-FFF2-40B4-BE49-F238E27FC236}">
                <a16:creationId xmlns:a16="http://schemas.microsoft.com/office/drawing/2014/main" id="{716F09B0-EB64-4848-8D66-13E7575CCA24}"/>
              </a:ext>
            </a:extLst>
          </p:cNvPr>
          <p:cNvSpPr>
            <a:spLocks xmlns:a="http://schemas.openxmlformats.org/drawingml/2006/main" noGrp="1"/>
          </p:cNvSpPr>
          <p:nvPr/>
        </p:nvSpPr>
        <p:spPr>
          <a:xfrm xmlns:a="http://schemas.openxmlformats.org/drawingml/2006/main">
            <a:off x="9643110" y="272415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主戦場</a:t>
            </a:r>
          </a:p>
        </p:txBody>
      </p:sp>
      <p:sp>
        <p:nvSpPr>
          <p:cNvPr id="44" name="">
            <a:extLst xmlns:a="http://schemas.openxmlformats.org/drawingml/2006/main">
              <a:ext uri="{FF2B5EF4-FFF2-40B4-BE49-F238E27FC236}">
                <a16:creationId xmlns:a16="http://schemas.microsoft.com/office/drawing/2014/main" id="{1533E779-7AC7-41DD-9F7E-50414BA3F829}"/>
              </a:ext>
            </a:extLst>
          </p:cNvPr>
          <p:cNvSpPr>
            <a:spLocks xmlns:a="http://schemas.openxmlformats.org/drawingml/2006/main" noGrp="1"/>
          </p:cNvSpPr>
          <p:nvPr/>
        </p:nvSpPr>
        <p:spPr>
          <a:xfrm xmlns:a="http://schemas.openxmlformats.org/drawingml/2006/main">
            <a:off x="9643110" y="3009900"/>
            <a:ext cx="172974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75" b="1">
                <a:solidFill>
                  <a:srgbClr val="17242B"/>
                </a:solidFill>
                <a:latin typeface="Yu Gothic UI"/>
                <a:ea typeface="Yu Gothic UI"/>
                <a:cs typeface="Yu Gothic UI"/>
              </a:defRPr>
            </a:pPr>
            <a:r>
              <a:rPr sz="1275" b="1">
                <a:solidFill>
                  <a:srgbClr val="17242B"/>
                </a:solidFill>
                <a:latin typeface="Yu Gothic UI"/>
                <a:ea typeface="Yu Gothic UI"/>
                <a:cs typeface="Yu Gothic UI"/>
              </a:rPr>
              <a:t>計画 + 実装 + Browser</a:t>
            </a:r>
          </a:p>
        </p:txBody>
      </p:sp>
      <p:sp>
        <p:nvSpPr>
          <p:cNvPr id="45" name="">
            <a:extLst xmlns:a="http://schemas.openxmlformats.org/drawingml/2006/main">
              <a:ext uri="{FF2B5EF4-FFF2-40B4-BE49-F238E27FC236}">
                <a16:creationId xmlns:a16="http://schemas.microsoft.com/office/drawing/2014/main" id="{0A63765E-EA55-4D24-BCD8-3C55A741942B}"/>
              </a:ext>
            </a:extLst>
          </p:cNvPr>
          <p:cNvSpPr>
            <a:spLocks xmlns:a="http://schemas.openxmlformats.org/drawingml/2006/main" noGrp="1"/>
          </p:cNvSpPr>
          <p:nvPr/>
        </p:nvSpPr>
        <p:spPr>
          <a:xfrm xmlns:a="http://schemas.openxmlformats.org/drawingml/2006/main">
            <a:off x="9643110" y="403860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操作面</a:t>
            </a:r>
          </a:p>
        </p:txBody>
      </p:sp>
      <p:sp>
        <p:nvSpPr>
          <p:cNvPr id="46" name="">
            <a:extLst xmlns:a="http://schemas.openxmlformats.org/drawingml/2006/main">
              <a:ext uri="{FF2B5EF4-FFF2-40B4-BE49-F238E27FC236}">
                <a16:creationId xmlns:a16="http://schemas.microsoft.com/office/drawing/2014/main" id="{20715E48-4979-424A-A976-5371AD69FC5D}"/>
              </a:ext>
            </a:extLst>
          </p:cNvPr>
          <p:cNvSpPr>
            <a:spLocks xmlns:a="http://schemas.openxmlformats.org/drawingml/2006/main" noGrp="1"/>
          </p:cNvSpPr>
          <p:nvPr/>
        </p:nvSpPr>
        <p:spPr>
          <a:xfrm xmlns:a="http://schemas.openxmlformats.org/drawingml/2006/main">
            <a:off x="9643110" y="4324350"/>
            <a:ext cx="172974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a:solidFill>
                  <a:srgbClr val="536978"/>
                </a:solidFill>
                <a:latin typeface="Yu Gothic UI"/>
                <a:ea typeface="Yu Gothic UI"/>
                <a:cs typeface="Yu Gothic UI"/>
              </a:defRPr>
            </a:pPr>
            <a:r>
              <a:rPr sz="1050">
                <a:solidFill>
                  <a:srgbClr val="536978"/>
                </a:solidFill>
                <a:latin typeface="Yu Gothic UI"/>
                <a:ea typeface="Yu Gothic UI"/>
                <a:cs typeface="Yu Gothic UI"/>
              </a:rPr>
              <a:t>IDE / CLI / SDK</a:t>
            </a:r>
          </a:p>
        </p:txBody>
      </p:sp>
    </p:spTree>
    <p:extLst>
      <p:ext uri="{BB962C8B-B14F-4D97-AF65-F5344CB8AC3E}">
        <p14:creationId xmlns:p14="http://schemas.microsoft.com/office/powerpoint/2010/main" val="101826840"/>
      </p:ext>
    </p:extLst>
  </p:cSld>
</p:sld>
</file>

<file path=ppt/slides/slide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04 / 36</a:t>
            </a:r>
          </a:p>
        </p:txBody>
      </p:sp>
      <p:sp>
        <p:nvSpPr>
          <p:cNvPr id="10" name="">
            <a:extLst xmlns:a="http://schemas.openxmlformats.org/drawingml/2006/main">
              <a:ext uri="{FF2B5EF4-FFF2-40B4-BE49-F238E27FC236}">
                <a16:creationId xmlns:a16="http://schemas.microsoft.com/office/drawing/2014/main" id="{79B24310-97E8-4E9B-B633-1E71BA79F064}"/>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COMPARISON 01  |  WORK</a:t>
            </a:r>
          </a:p>
        </p:txBody>
      </p:sp>
      <p:sp>
        <p:nvSpPr>
          <p:cNvPr id="11" name="">
            <a:extLst xmlns:a="http://schemas.openxmlformats.org/drawingml/2006/main">
              <a:ext uri="{FF2B5EF4-FFF2-40B4-BE49-F238E27FC236}">
                <a16:creationId xmlns:a16="http://schemas.microsoft.com/office/drawing/2014/main" id="{5B567798-7CEC-4E70-AAD3-2ED896DDE99F}"/>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何を頼みたいかで、最初に触る製品を選びます</a:t>
            </a:r>
          </a:p>
        </p:txBody>
      </p:sp>
      <p:sp>
        <p:nvSpPr>
          <p:cNvPr id="12" name="">
            <a:extLst xmlns:a="http://schemas.openxmlformats.org/drawingml/2006/main">
              <a:ext uri="{FF2B5EF4-FFF2-40B4-BE49-F238E27FC236}">
                <a16:creationId xmlns:a16="http://schemas.microsoft.com/office/drawing/2014/main" id="{561DDEC2-1A95-42C6-B109-34F6A48E4DD1}"/>
              </a:ext>
            </a:extLst>
          </p:cNvPr>
          <p:cNvSpPr>
            <a:spLocks xmlns:a="http://schemas.openxmlformats.org/drawingml/2006/main" noGrp="1"/>
          </p:cNvSpPr>
          <p:nvPr/>
        </p:nvSpPr>
        <p:spPr>
          <a:xfrm xmlns:a="http://schemas.openxmlformats.org/drawingml/2006/main">
            <a:off x="647700" y="1562100"/>
            <a:ext cx="16192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C9385FF-08EB-40EB-8891-D2F65C92473A}"/>
              </a:ext>
            </a:extLst>
          </p:cNvPr>
          <p:cNvSpPr>
            <a:spLocks xmlns:a="http://schemas.openxmlformats.org/drawingml/2006/main" noGrp="1"/>
          </p:cNvSpPr>
          <p:nvPr/>
        </p:nvSpPr>
        <p:spPr>
          <a:xfrm xmlns:a="http://schemas.openxmlformats.org/drawingml/2006/main">
            <a:off x="762000" y="1657350"/>
            <a:ext cx="1390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製品</a:t>
            </a:r>
          </a:p>
        </p:txBody>
      </p:sp>
      <p:sp>
        <p:nvSpPr>
          <p:cNvPr id="14" name="">
            <a:extLst xmlns:a="http://schemas.openxmlformats.org/drawingml/2006/main">
              <a:ext uri="{FF2B5EF4-FFF2-40B4-BE49-F238E27FC236}">
                <a16:creationId xmlns:a16="http://schemas.microsoft.com/office/drawing/2014/main" id="{8BDE9976-A379-4396-A44C-EF8F64C16323}"/>
              </a:ext>
            </a:extLst>
          </p:cNvPr>
          <p:cNvSpPr>
            <a:spLocks xmlns:a="http://schemas.openxmlformats.org/drawingml/2006/main" noGrp="1"/>
          </p:cNvSpPr>
          <p:nvPr/>
        </p:nvSpPr>
        <p:spPr>
          <a:xfrm xmlns:a="http://schemas.openxmlformats.org/drawingml/2006/main">
            <a:off x="2266950" y="1562100"/>
            <a:ext cx="31432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A2D7675-B1C9-4695-941F-C07DCE0AD1BC}"/>
              </a:ext>
            </a:extLst>
          </p:cNvPr>
          <p:cNvSpPr>
            <a:spLocks xmlns:a="http://schemas.openxmlformats.org/drawingml/2006/main" noGrp="1"/>
          </p:cNvSpPr>
          <p:nvPr/>
        </p:nvSpPr>
        <p:spPr>
          <a:xfrm xmlns:a="http://schemas.openxmlformats.org/drawingml/2006/main">
            <a:off x="2381250" y="1657350"/>
            <a:ext cx="2914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向いている仕事</a:t>
            </a:r>
          </a:p>
        </p:txBody>
      </p:sp>
      <p:sp>
        <p:nvSpPr>
          <p:cNvPr id="16" name="">
            <a:extLst xmlns:a="http://schemas.openxmlformats.org/drawingml/2006/main">
              <a:ext uri="{FF2B5EF4-FFF2-40B4-BE49-F238E27FC236}">
                <a16:creationId xmlns:a16="http://schemas.microsoft.com/office/drawing/2014/main" id="{176C4EE5-957E-4EC6-BC0D-995C31BDD194}"/>
              </a:ext>
            </a:extLst>
          </p:cNvPr>
          <p:cNvSpPr>
            <a:spLocks xmlns:a="http://schemas.openxmlformats.org/drawingml/2006/main" noGrp="1"/>
          </p:cNvSpPr>
          <p:nvPr/>
        </p:nvSpPr>
        <p:spPr>
          <a:xfrm xmlns:a="http://schemas.openxmlformats.org/drawingml/2006/main">
            <a:off x="5410200" y="1562100"/>
            <a:ext cx="25717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7D0E6CEA-7267-4234-9D02-DE419BEE6533}"/>
              </a:ext>
            </a:extLst>
          </p:cNvPr>
          <p:cNvSpPr>
            <a:spLocks xmlns:a="http://schemas.openxmlformats.org/drawingml/2006/main" noGrp="1"/>
          </p:cNvSpPr>
          <p:nvPr/>
        </p:nvSpPr>
        <p:spPr>
          <a:xfrm xmlns:a="http://schemas.openxmlformats.org/drawingml/2006/main">
            <a:off x="5524500" y="1657350"/>
            <a:ext cx="2343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主な実行面</a:t>
            </a:r>
          </a:p>
        </p:txBody>
      </p:sp>
      <p:sp>
        <p:nvSpPr>
          <p:cNvPr id="18" name="">
            <a:extLst xmlns:a="http://schemas.openxmlformats.org/drawingml/2006/main">
              <a:ext uri="{FF2B5EF4-FFF2-40B4-BE49-F238E27FC236}">
                <a16:creationId xmlns:a16="http://schemas.microsoft.com/office/drawing/2014/main" id="{18AFFA4F-321E-468C-BDBA-4F087F075D9B}"/>
              </a:ext>
            </a:extLst>
          </p:cNvPr>
          <p:cNvSpPr>
            <a:spLocks xmlns:a="http://schemas.openxmlformats.org/drawingml/2006/main" noGrp="1"/>
          </p:cNvSpPr>
          <p:nvPr/>
        </p:nvSpPr>
        <p:spPr>
          <a:xfrm xmlns:a="http://schemas.openxmlformats.org/drawingml/2006/main">
            <a:off x="7981950" y="1562100"/>
            <a:ext cx="35623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E8BB316-B28F-4CBC-A147-14D7E0C19EA9}"/>
              </a:ext>
            </a:extLst>
          </p:cNvPr>
          <p:cNvSpPr>
            <a:spLocks xmlns:a="http://schemas.openxmlformats.org/drawingml/2006/main" noGrp="1"/>
          </p:cNvSpPr>
          <p:nvPr/>
        </p:nvSpPr>
        <p:spPr>
          <a:xfrm xmlns:a="http://schemas.openxmlformats.org/drawingml/2006/main">
            <a:off x="8096250" y="1657350"/>
            <a:ext cx="3333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最初の一歩</a:t>
            </a:r>
          </a:p>
        </p:txBody>
      </p:sp>
      <p:sp>
        <p:nvSpPr>
          <p:cNvPr id="20" name="">
            <a:extLst xmlns:a="http://schemas.openxmlformats.org/drawingml/2006/main">
              <a:ext uri="{FF2B5EF4-FFF2-40B4-BE49-F238E27FC236}">
                <a16:creationId xmlns:a16="http://schemas.microsoft.com/office/drawing/2014/main" id="{53457A0D-F1A3-4083-BE62-F24A926F3C5C}"/>
              </a:ext>
            </a:extLst>
          </p:cNvPr>
          <p:cNvSpPr>
            <a:spLocks xmlns:a="http://schemas.openxmlformats.org/drawingml/2006/main" noGrp="1"/>
          </p:cNvSpPr>
          <p:nvPr/>
        </p:nvSpPr>
        <p:spPr>
          <a:xfrm xmlns:a="http://schemas.openxmlformats.org/drawingml/2006/main">
            <a:off x="647700" y="1981200"/>
            <a:ext cx="1619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1" name="">
            <a:extLst xmlns:a="http://schemas.openxmlformats.org/drawingml/2006/main">
              <a:ext uri="{FF2B5EF4-FFF2-40B4-BE49-F238E27FC236}">
                <a16:creationId xmlns:a16="http://schemas.microsoft.com/office/drawing/2014/main" id="{064D6C81-ACE6-440F-AB74-451CDAF3E12F}"/>
              </a:ext>
            </a:extLst>
          </p:cNvPr>
          <p:cNvSpPr>
            <a:spLocks xmlns:a="http://schemas.openxmlformats.org/drawingml/2006/main" noGrp="1"/>
          </p:cNvSpPr>
          <p:nvPr/>
        </p:nvSpPr>
        <p:spPr>
          <a:xfrm xmlns:a="http://schemas.openxmlformats.org/drawingml/2006/main">
            <a:off x="742950" y="2095500"/>
            <a:ext cx="142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Codex</a:t>
            </a:r>
          </a:p>
        </p:txBody>
      </p:sp>
      <p:sp>
        <p:nvSpPr>
          <p:cNvPr id="22" name="">
            <a:extLst xmlns:a="http://schemas.openxmlformats.org/drawingml/2006/main">
              <a:ext uri="{FF2B5EF4-FFF2-40B4-BE49-F238E27FC236}">
                <a16:creationId xmlns:a16="http://schemas.microsoft.com/office/drawing/2014/main" id="{7D439975-F664-455C-ADB4-2B5664B726F3}"/>
              </a:ext>
            </a:extLst>
          </p:cNvPr>
          <p:cNvSpPr>
            <a:spLocks xmlns:a="http://schemas.openxmlformats.org/drawingml/2006/main" noGrp="1"/>
          </p:cNvSpPr>
          <p:nvPr/>
        </p:nvSpPr>
        <p:spPr>
          <a:xfrm xmlns:a="http://schemas.openxmlformats.org/drawingml/2006/main">
            <a:off x="2266950" y="1981200"/>
            <a:ext cx="3143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3" name="">
            <a:extLst xmlns:a="http://schemas.openxmlformats.org/drawingml/2006/main">
              <a:ext uri="{FF2B5EF4-FFF2-40B4-BE49-F238E27FC236}">
                <a16:creationId xmlns:a16="http://schemas.microsoft.com/office/drawing/2014/main" id="{7317D80C-4231-49AE-8593-BACC08634B4E}"/>
              </a:ext>
            </a:extLst>
          </p:cNvPr>
          <p:cNvSpPr>
            <a:spLocks xmlns:a="http://schemas.openxmlformats.org/drawingml/2006/main" noGrp="1"/>
          </p:cNvSpPr>
          <p:nvPr/>
        </p:nvSpPr>
        <p:spPr>
          <a:xfrm xmlns:a="http://schemas.openxmlformats.org/drawingml/2006/main">
            <a:off x="2362200" y="2095500"/>
            <a:ext cx="295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理解・実装・修正・テスト・レビュー</a:t>
            </a:r>
          </a:p>
        </p:txBody>
      </p:sp>
      <p:sp>
        <p:nvSpPr>
          <p:cNvPr id="24" name="">
            <a:extLst xmlns:a="http://schemas.openxmlformats.org/drawingml/2006/main">
              <a:ext uri="{FF2B5EF4-FFF2-40B4-BE49-F238E27FC236}">
                <a16:creationId xmlns:a16="http://schemas.microsoft.com/office/drawing/2014/main" id="{BF0E18D8-A420-4691-A4B5-5274B694CB63}"/>
              </a:ext>
            </a:extLst>
          </p:cNvPr>
          <p:cNvSpPr>
            <a:spLocks xmlns:a="http://schemas.openxmlformats.org/drawingml/2006/main" noGrp="1"/>
          </p:cNvSpPr>
          <p:nvPr/>
        </p:nvSpPr>
        <p:spPr>
          <a:xfrm xmlns:a="http://schemas.openxmlformats.org/drawingml/2006/main">
            <a:off x="5410200" y="1981200"/>
            <a:ext cx="2571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5" name="">
            <a:extLst xmlns:a="http://schemas.openxmlformats.org/drawingml/2006/main">
              <a:ext uri="{FF2B5EF4-FFF2-40B4-BE49-F238E27FC236}">
                <a16:creationId xmlns:a16="http://schemas.microsoft.com/office/drawing/2014/main" id="{603ACA66-1C42-4B34-B5D1-D320BA918942}"/>
              </a:ext>
            </a:extLst>
          </p:cNvPr>
          <p:cNvSpPr>
            <a:spLocks xmlns:a="http://schemas.openxmlformats.org/drawingml/2006/main" noGrp="1"/>
          </p:cNvSpPr>
          <p:nvPr/>
        </p:nvSpPr>
        <p:spPr>
          <a:xfrm xmlns:a="http://schemas.openxmlformats.org/drawingml/2006/main">
            <a:off x="5505450" y="209550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desktop / CLI / IDE / cloud</a:t>
            </a:r>
          </a:p>
        </p:txBody>
      </p:sp>
      <p:sp>
        <p:nvSpPr>
          <p:cNvPr id="26" name="">
            <a:extLst xmlns:a="http://schemas.openxmlformats.org/drawingml/2006/main">
              <a:ext uri="{FF2B5EF4-FFF2-40B4-BE49-F238E27FC236}">
                <a16:creationId xmlns:a16="http://schemas.microsoft.com/office/drawing/2014/main" id="{C500E03F-9E3F-4A97-A2C5-4134F7426C4B}"/>
              </a:ext>
            </a:extLst>
          </p:cNvPr>
          <p:cNvSpPr>
            <a:spLocks xmlns:a="http://schemas.openxmlformats.org/drawingml/2006/main" noGrp="1"/>
          </p:cNvSpPr>
          <p:nvPr/>
        </p:nvSpPr>
        <p:spPr>
          <a:xfrm xmlns:a="http://schemas.openxmlformats.org/drawingml/2006/main">
            <a:off x="7981950" y="1981200"/>
            <a:ext cx="35623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7" name="">
            <a:extLst xmlns:a="http://schemas.openxmlformats.org/drawingml/2006/main">
              <a:ext uri="{FF2B5EF4-FFF2-40B4-BE49-F238E27FC236}">
                <a16:creationId xmlns:a16="http://schemas.microsoft.com/office/drawing/2014/main" id="{7B5F755D-A8F1-497C-BC1E-809AAC95B74F}"/>
              </a:ext>
            </a:extLst>
          </p:cNvPr>
          <p:cNvSpPr>
            <a:spLocks xmlns:a="http://schemas.openxmlformats.org/drawingml/2006/main" noGrp="1"/>
          </p:cNvSpPr>
          <p:nvPr/>
        </p:nvSpPr>
        <p:spPr>
          <a:xfrm xmlns:a="http://schemas.openxmlformats.org/drawingml/2006/main">
            <a:off x="8077200" y="2095500"/>
            <a:ext cx="3371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小さな不具合を調査し、修正とテストまで</a:t>
            </a:r>
          </a:p>
        </p:txBody>
      </p:sp>
      <p:sp>
        <p:nvSpPr>
          <p:cNvPr id="28" name="">
            <a:extLst xmlns:a="http://schemas.openxmlformats.org/drawingml/2006/main">
              <a:ext uri="{FF2B5EF4-FFF2-40B4-BE49-F238E27FC236}">
                <a16:creationId xmlns:a16="http://schemas.microsoft.com/office/drawing/2014/main" id="{97CA9E37-C46C-49AC-8586-789DABEA3E17}"/>
              </a:ext>
            </a:extLst>
          </p:cNvPr>
          <p:cNvSpPr>
            <a:spLocks xmlns:a="http://schemas.openxmlformats.org/drawingml/2006/main" noGrp="1"/>
          </p:cNvSpPr>
          <p:nvPr/>
        </p:nvSpPr>
        <p:spPr>
          <a:xfrm xmlns:a="http://schemas.openxmlformats.org/drawingml/2006/main">
            <a:off x="647700" y="2724150"/>
            <a:ext cx="1619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9" name="">
            <a:extLst xmlns:a="http://schemas.openxmlformats.org/drawingml/2006/main">
              <a:ext uri="{FF2B5EF4-FFF2-40B4-BE49-F238E27FC236}">
                <a16:creationId xmlns:a16="http://schemas.microsoft.com/office/drawing/2014/main" id="{27570DFA-6F9B-4F58-BA26-D23DCDCEE710}"/>
              </a:ext>
            </a:extLst>
          </p:cNvPr>
          <p:cNvSpPr>
            <a:spLocks xmlns:a="http://schemas.openxmlformats.org/drawingml/2006/main" noGrp="1"/>
          </p:cNvSpPr>
          <p:nvPr/>
        </p:nvSpPr>
        <p:spPr>
          <a:xfrm xmlns:a="http://schemas.openxmlformats.org/drawingml/2006/main">
            <a:off x="742950" y="2838450"/>
            <a:ext cx="142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Claude Code</a:t>
            </a:r>
          </a:p>
        </p:txBody>
      </p:sp>
      <p:sp>
        <p:nvSpPr>
          <p:cNvPr id="30" name="">
            <a:extLst xmlns:a="http://schemas.openxmlformats.org/drawingml/2006/main">
              <a:ext uri="{FF2B5EF4-FFF2-40B4-BE49-F238E27FC236}">
                <a16:creationId xmlns:a16="http://schemas.microsoft.com/office/drawing/2014/main" id="{1B962931-6B85-4575-8648-AF432F32F63B}"/>
              </a:ext>
            </a:extLst>
          </p:cNvPr>
          <p:cNvSpPr>
            <a:spLocks xmlns:a="http://schemas.openxmlformats.org/drawingml/2006/main" noGrp="1"/>
          </p:cNvSpPr>
          <p:nvPr/>
        </p:nvSpPr>
        <p:spPr>
          <a:xfrm xmlns:a="http://schemas.openxmlformats.org/drawingml/2006/main">
            <a:off x="2266950" y="2724150"/>
            <a:ext cx="3143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1" name="">
            <a:extLst xmlns:a="http://schemas.openxmlformats.org/drawingml/2006/main">
              <a:ext uri="{FF2B5EF4-FFF2-40B4-BE49-F238E27FC236}">
                <a16:creationId xmlns:a16="http://schemas.microsoft.com/office/drawing/2014/main" id="{2883185E-D5BC-4346-A394-345521610B18}"/>
              </a:ext>
            </a:extLst>
          </p:cNvPr>
          <p:cNvSpPr>
            <a:spLocks xmlns:a="http://schemas.openxmlformats.org/drawingml/2006/main" noGrp="1"/>
          </p:cNvSpPr>
          <p:nvPr/>
        </p:nvSpPr>
        <p:spPr>
          <a:xfrm xmlns:a="http://schemas.openxmlformats.org/drawingml/2006/main">
            <a:off x="2362200" y="2838450"/>
            <a:ext cx="295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複数ファイル開発・Git・反復自動化</a:t>
            </a:r>
          </a:p>
        </p:txBody>
      </p:sp>
      <p:sp>
        <p:nvSpPr>
          <p:cNvPr id="32" name="">
            <a:extLst xmlns:a="http://schemas.openxmlformats.org/drawingml/2006/main">
              <a:ext uri="{FF2B5EF4-FFF2-40B4-BE49-F238E27FC236}">
                <a16:creationId xmlns:a16="http://schemas.microsoft.com/office/drawing/2014/main" id="{D4B02DDD-D056-4728-89A1-CD5967CA35D0}"/>
              </a:ext>
            </a:extLst>
          </p:cNvPr>
          <p:cNvSpPr>
            <a:spLocks xmlns:a="http://schemas.openxmlformats.org/drawingml/2006/main" noGrp="1"/>
          </p:cNvSpPr>
          <p:nvPr/>
        </p:nvSpPr>
        <p:spPr>
          <a:xfrm xmlns:a="http://schemas.openxmlformats.org/drawingml/2006/main">
            <a:off x="5410200" y="2724150"/>
            <a:ext cx="2571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3" name="">
            <a:extLst xmlns:a="http://schemas.openxmlformats.org/drawingml/2006/main">
              <a:ext uri="{FF2B5EF4-FFF2-40B4-BE49-F238E27FC236}">
                <a16:creationId xmlns:a16="http://schemas.microsoft.com/office/drawing/2014/main" id="{0A10F6AA-7010-425A-945E-855EA9D4172F}"/>
              </a:ext>
            </a:extLst>
          </p:cNvPr>
          <p:cNvSpPr>
            <a:spLocks xmlns:a="http://schemas.openxmlformats.org/drawingml/2006/main" noGrp="1"/>
          </p:cNvSpPr>
          <p:nvPr/>
        </p:nvSpPr>
        <p:spPr>
          <a:xfrm xmlns:a="http://schemas.openxmlformats.org/drawingml/2006/main">
            <a:off x="5505450" y="28384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terminal / IDE / desktop / web</a:t>
            </a:r>
          </a:p>
        </p:txBody>
      </p:sp>
      <p:sp>
        <p:nvSpPr>
          <p:cNvPr id="34" name="">
            <a:extLst xmlns:a="http://schemas.openxmlformats.org/drawingml/2006/main">
              <a:ext uri="{FF2B5EF4-FFF2-40B4-BE49-F238E27FC236}">
                <a16:creationId xmlns:a16="http://schemas.microsoft.com/office/drawing/2014/main" id="{CF405DC0-A928-4C56-AF61-417B0885844E}"/>
              </a:ext>
            </a:extLst>
          </p:cNvPr>
          <p:cNvSpPr>
            <a:spLocks xmlns:a="http://schemas.openxmlformats.org/drawingml/2006/main" noGrp="1"/>
          </p:cNvSpPr>
          <p:nvPr/>
        </p:nvSpPr>
        <p:spPr>
          <a:xfrm xmlns:a="http://schemas.openxmlformats.org/drawingml/2006/main">
            <a:off x="7981950" y="2724150"/>
            <a:ext cx="35623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5" name="">
            <a:extLst xmlns:a="http://schemas.openxmlformats.org/drawingml/2006/main">
              <a:ext uri="{FF2B5EF4-FFF2-40B4-BE49-F238E27FC236}">
                <a16:creationId xmlns:a16="http://schemas.microsoft.com/office/drawing/2014/main" id="{55B53876-9C91-4663-8579-6635FAFBBEB3}"/>
              </a:ext>
            </a:extLst>
          </p:cNvPr>
          <p:cNvSpPr>
            <a:spLocks xmlns:a="http://schemas.openxmlformats.org/drawingml/2006/main" noGrp="1"/>
          </p:cNvSpPr>
          <p:nvPr/>
        </p:nvSpPr>
        <p:spPr>
          <a:xfrm xmlns:a="http://schemas.openxmlformats.org/drawingml/2006/main">
            <a:off x="8077200" y="2838450"/>
            <a:ext cx="3371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未テスト機能へテストを追加して修正</a:t>
            </a:r>
          </a:p>
        </p:txBody>
      </p:sp>
      <p:sp>
        <p:nvSpPr>
          <p:cNvPr id="36" name="">
            <a:extLst xmlns:a="http://schemas.openxmlformats.org/drawingml/2006/main">
              <a:ext uri="{FF2B5EF4-FFF2-40B4-BE49-F238E27FC236}">
                <a16:creationId xmlns:a16="http://schemas.microsoft.com/office/drawing/2014/main" id="{FD62EB38-BEDE-4E24-B311-E812AAE63244}"/>
              </a:ext>
            </a:extLst>
          </p:cNvPr>
          <p:cNvSpPr>
            <a:spLocks xmlns:a="http://schemas.openxmlformats.org/drawingml/2006/main" noGrp="1"/>
          </p:cNvSpPr>
          <p:nvPr/>
        </p:nvSpPr>
        <p:spPr>
          <a:xfrm xmlns:a="http://schemas.openxmlformats.org/drawingml/2006/main">
            <a:off x="647700" y="3467100"/>
            <a:ext cx="1619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7" name="">
            <a:extLst xmlns:a="http://schemas.openxmlformats.org/drawingml/2006/main">
              <a:ext uri="{FF2B5EF4-FFF2-40B4-BE49-F238E27FC236}">
                <a16:creationId xmlns:a16="http://schemas.microsoft.com/office/drawing/2014/main" id="{6BE8B05F-C8DE-447E-8F17-77C66FB1C6E5}"/>
              </a:ext>
            </a:extLst>
          </p:cNvPr>
          <p:cNvSpPr>
            <a:spLocks xmlns:a="http://schemas.openxmlformats.org/drawingml/2006/main" noGrp="1"/>
          </p:cNvSpPr>
          <p:nvPr/>
        </p:nvSpPr>
        <p:spPr>
          <a:xfrm xmlns:a="http://schemas.openxmlformats.org/drawingml/2006/main">
            <a:off x="742950" y="3581400"/>
            <a:ext cx="142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Claude Cowork</a:t>
            </a:r>
          </a:p>
        </p:txBody>
      </p:sp>
      <p:sp>
        <p:nvSpPr>
          <p:cNvPr id="38" name="">
            <a:extLst xmlns:a="http://schemas.openxmlformats.org/drawingml/2006/main">
              <a:ext uri="{FF2B5EF4-FFF2-40B4-BE49-F238E27FC236}">
                <a16:creationId xmlns:a16="http://schemas.microsoft.com/office/drawing/2014/main" id="{FEE55BEB-00DC-4D20-8892-B3F494B6465D}"/>
              </a:ext>
            </a:extLst>
          </p:cNvPr>
          <p:cNvSpPr>
            <a:spLocks xmlns:a="http://schemas.openxmlformats.org/drawingml/2006/main" noGrp="1"/>
          </p:cNvSpPr>
          <p:nvPr/>
        </p:nvSpPr>
        <p:spPr>
          <a:xfrm xmlns:a="http://schemas.openxmlformats.org/drawingml/2006/main">
            <a:off x="2266950" y="3467100"/>
            <a:ext cx="3143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9" name="">
            <a:extLst xmlns:a="http://schemas.openxmlformats.org/drawingml/2006/main">
              <a:ext uri="{FF2B5EF4-FFF2-40B4-BE49-F238E27FC236}">
                <a16:creationId xmlns:a16="http://schemas.microsoft.com/office/drawing/2014/main" id="{DD797214-53D7-4735-9D43-ED76755A444D}"/>
              </a:ext>
            </a:extLst>
          </p:cNvPr>
          <p:cNvSpPr>
            <a:spLocks xmlns:a="http://schemas.openxmlformats.org/drawingml/2006/main" noGrp="1"/>
          </p:cNvSpPr>
          <p:nvPr/>
        </p:nvSpPr>
        <p:spPr>
          <a:xfrm xmlns:a="http://schemas.openxmlformats.org/drawingml/2006/main">
            <a:off x="2362200" y="3581400"/>
            <a:ext cx="295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調査・資料・表計算・ファイル整理</a:t>
            </a:r>
          </a:p>
        </p:txBody>
      </p:sp>
      <p:sp>
        <p:nvSpPr>
          <p:cNvPr id="40" name="">
            <a:extLst xmlns:a="http://schemas.openxmlformats.org/drawingml/2006/main">
              <a:ext uri="{FF2B5EF4-FFF2-40B4-BE49-F238E27FC236}">
                <a16:creationId xmlns:a16="http://schemas.microsoft.com/office/drawing/2014/main" id="{6892580E-2131-41EC-93CE-21CF2BD0758A}"/>
              </a:ext>
            </a:extLst>
          </p:cNvPr>
          <p:cNvSpPr>
            <a:spLocks xmlns:a="http://schemas.openxmlformats.org/drawingml/2006/main" noGrp="1"/>
          </p:cNvSpPr>
          <p:nvPr/>
        </p:nvSpPr>
        <p:spPr>
          <a:xfrm xmlns:a="http://schemas.openxmlformats.org/drawingml/2006/main">
            <a:off x="5410200" y="3467100"/>
            <a:ext cx="2571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1" name="">
            <a:extLst xmlns:a="http://schemas.openxmlformats.org/drawingml/2006/main">
              <a:ext uri="{FF2B5EF4-FFF2-40B4-BE49-F238E27FC236}">
                <a16:creationId xmlns:a16="http://schemas.microsoft.com/office/drawing/2014/main" id="{3DFE857F-B556-4685-BB3E-553A5D6C0F6C}"/>
              </a:ext>
            </a:extLst>
          </p:cNvPr>
          <p:cNvSpPr>
            <a:spLocks xmlns:a="http://schemas.openxmlformats.org/drawingml/2006/main" noGrp="1"/>
          </p:cNvSpPr>
          <p:nvPr/>
        </p:nvSpPr>
        <p:spPr>
          <a:xfrm xmlns:a="http://schemas.openxmlformats.org/drawingml/2006/main">
            <a:off x="5505450" y="358140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desktop / web・mobile beta</a:t>
            </a:r>
          </a:p>
        </p:txBody>
      </p:sp>
      <p:sp>
        <p:nvSpPr>
          <p:cNvPr id="42" name="">
            <a:extLst xmlns:a="http://schemas.openxmlformats.org/drawingml/2006/main">
              <a:ext uri="{FF2B5EF4-FFF2-40B4-BE49-F238E27FC236}">
                <a16:creationId xmlns:a16="http://schemas.microsoft.com/office/drawing/2014/main" id="{333E722A-8FEF-4222-B127-B36C0A48C857}"/>
              </a:ext>
            </a:extLst>
          </p:cNvPr>
          <p:cNvSpPr>
            <a:spLocks xmlns:a="http://schemas.openxmlformats.org/drawingml/2006/main" noGrp="1"/>
          </p:cNvSpPr>
          <p:nvPr/>
        </p:nvSpPr>
        <p:spPr>
          <a:xfrm xmlns:a="http://schemas.openxmlformats.org/drawingml/2006/main">
            <a:off x="7981950" y="3467100"/>
            <a:ext cx="35623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3" name="">
            <a:extLst xmlns:a="http://schemas.openxmlformats.org/drawingml/2006/main">
              <a:ext uri="{FF2B5EF4-FFF2-40B4-BE49-F238E27FC236}">
                <a16:creationId xmlns:a16="http://schemas.microsoft.com/office/drawing/2014/main" id="{1DB509F1-8C8E-4404-ACEB-8D8FC068E88F}"/>
              </a:ext>
            </a:extLst>
          </p:cNvPr>
          <p:cNvSpPr>
            <a:spLocks xmlns:a="http://schemas.openxmlformats.org/drawingml/2006/main" noGrp="1"/>
          </p:cNvSpPr>
          <p:nvPr/>
        </p:nvSpPr>
        <p:spPr>
          <a:xfrm xmlns:a="http://schemas.openxmlformats.org/drawingml/2006/main">
            <a:off x="8077200" y="3581400"/>
            <a:ext cx="3371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複数資料からレビュー可能な文書を作成</a:t>
            </a:r>
          </a:p>
        </p:txBody>
      </p:sp>
      <p:sp>
        <p:nvSpPr>
          <p:cNvPr id="44" name="">
            <a:extLst xmlns:a="http://schemas.openxmlformats.org/drawingml/2006/main">
              <a:ext uri="{FF2B5EF4-FFF2-40B4-BE49-F238E27FC236}">
                <a16:creationId xmlns:a16="http://schemas.microsoft.com/office/drawing/2014/main" id="{668D1F13-5834-43ED-9F70-88EB68AFF51B}"/>
              </a:ext>
            </a:extLst>
          </p:cNvPr>
          <p:cNvSpPr>
            <a:spLocks xmlns:a="http://schemas.openxmlformats.org/drawingml/2006/main" noGrp="1"/>
          </p:cNvSpPr>
          <p:nvPr/>
        </p:nvSpPr>
        <p:spPr>
          <a:xfrm xmlns:a="http://schemas.openxmlformats.org/drawingml/2006/main">
            <a:off x="647700" y="4210050"/>
            <a:ext cx="1619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5" name="">
            <a:extLst xmlns:a="http://schemas.openxmlformats.org/drawingml/2006/main">
              <a:ext uri="{FF2B5EF4-FFF2-40B4-BE49-F238E27FC236}">
                <a16:creationId xmlns:a16="http://schemas.microsoft.com/office/drawing/2014/main" id="{EE481178-5D33-4D14-BC8A-6DE246FE1189}"/>
              </a:ext>
            </a:extLst>
          </p:cNvPr>
          <p:cNvSpPr>
            <a:spLocks xmlns:a="http://schemas.openxmlformats.org/drawingml/2006/main" noGrp="1"/>
          </p:cNvSpPr>
          <p:nvPr/>
        </p:nvSpPr>
        <p:spPr>
          <a:xfrm xmlns:a="http://schemas.openxmlformats.org/drawingml/2006/main">
            <a:off x="742950" y="4324350"/>
            <a:ext cx="142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Kiro</a:t>
            </a:r>
          </a:p>
        </p:txBody>
      </p:sp>
      <p:sp>
        <p:nvSpPr>
          <p:cNvPr id="46" name="">
            <a:extLst xmlns:a="http://schemas.openxmlformats.org/drawingml/2006/main">
              <a:ext uri="{FF2B5EF4-FFF2-40B4-BE49-F238E27FC236}">
                <a16:creationId xmlns:a16="http://schemas.microsoft.com/office/drawing/2014/main" id="{416E0D72-C491-4320-8298-0749CCCFCD37}"/>
              </a:ext>
            </a:extLst>
          </p:cNvPr>
          <p:cNvSpPr>
            <a:spLocks xmlns:a="http://schemas.openxmlformats.org/drawingml/2006/main" noGrp="1"/>
          </p:cNvSpPr>
          <p:nvPr/>
        </p:nvSpPr>
        <p:spPr>
          <a:xfrm xmlns:a="http://schemas.openxmlformats.org/drawingml/2006/main">
            <a:off x="2266950" y="4210050"/>
            <a:ext cx="3143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7" name="">
            <a:extLst xmlns:a="http://schemas.openxmlformats.org/drawingml/2006/main">
              <a:ext uri="{FF2B5EF4-FFF2-40B4-BE49-F238E27FC236}">
                <a16:creationId xmlns:a16="http://schemas.microsoft.com/office/drawing/2014/main" id="{E3AAECCE-07A1-4221-ABBC-F2756E227A9A}"/>
              </a:ext>
            </a:extLst>
          </p:cNvPr>
          <p:cNvSpPr>
            <a:spLocks xmlns:a="http://schemas.openxmlformats.org/drawingml/2006/main" noGrp="1"/>
          </p:cNvSpPr>
          <p:nvPr/>
        </p:nvSpPr>
        <p:spPr>
          <a:xfrm xmlns:a="http://schemas.openxmlformats.org/drawingml/2006/main">
            <a:off x="2362200" y="4324350"/>
            <a:ext cx="295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要件・設計・タスクを伴う仕様駆動開発</a:t>
            </a:r>
          </a:p>
        </p:txBody>
      </p:sp>
      <p:sp>
        <p:nvSpPr>
          <p:cNvPr id="48" name="">
            <a:extLst xmlns:a="http://schemas.openxmlformats.org/drawingml/2006/main">
              <a:ext uri="{FF2B5EF4-FFF2-40B4-BE49-F238E27FC236}">
                <a16:creationId xmlns:a16="http://schemas.microsoft.com/office/drawing/2014/main" id="{FB412CFE-E17C-42A2-BA32-C03E450543B2}"/>
              </a:ext>
            </a:extLst>
          </p:cNvPr>
          <p:cNvSpPr>
            <a:spLocks xmlns:a="http://schemas.openxmlformats.org/drawingml/2006/main" noGrp="1"/>
          </p:cNvSpPr>
          <p:nvPr/>
        </p:nvSpPr>
        <p:spPr>
          <a:xfrm xmlns:a="http://schemas.openxmlformats.org/drawingml/2006/main">
            <a:off x="5410200" y="4210050"/>
            <a:ext cx="2571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9" name="">
            <a:extLst xmlns:a="http://schemas.openxmlformats.org/drawingml/2006/main">
              <a:ext uri="{FF2B5EF4-FFF2-40B4-BE49-F238E27FC236}">
                <a16:creationId xmlns:a16="http://schemas.microsoft.com/office/drawing/2014/main" id="{4E26AAD5-393D-4C0F-BE2D-5F32F7BF33E4}"/>
              </a:ext>
            </a:extLst>
          </p:cNvPr>
          <p:cNvSpPr>
            <a:spLocks xmlns:a="http://schemas.openxmlformats.org/drawingml/2006/main" noGrp="1"/>
          </p:cNvSpPr>
          <p:nvPr/>
        </p:nvSpPr>
        <p:spPr>
          <a:xfrm xmlns:a="http://schemas.openxmlformats.org/drawingml/2006/main">
            <a:off x="5505450" y="43243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IDE / CLI / web preview</a:t>
            </a:r>
          </a:p>
        </p:txBody>
      </p:sp>
      <p:sp>
        <p:nvSpPr>
          <p:cNvPr id="50" name="">
            <a:extLst xmlns:a="http://schemas.openxmlformats.org/drawingml/2006/main">
              <a:ext uri="{FF2B5EF4-FFF2-40B4-BE49-F238E27FC236}">
                <a16:creationId xmlns:a16="http://schemas.microsoft.com/office/drawing/2014/main" id="{F93003D3-D170-4C61-9F7F-50A06B33211C}"/>
              </a:ext>
            </a:extLst>
          </p:cNvPr>
          <p:cNvSpPr>
            <a:spLocks xmlns:a="http://schemas.openxmlformats.org/drawingml/2006/main" noGrp="1"/>
          </p:cNvSpPr>
          <p:nvPr/>
        </p:nvSpPr>
        <p:spPr>
          <a:xfrm xmlns:a="http://schemas.openxmlformats.org/drawingml/2006/main">
            <a:off x="7981950" y="4210050"/>
            <a:ext cx="35623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1" name="">
            <a:extLst xmlns:a="http://schemas.openxmlformats.org/drawingml/2006/main">
              <a:ext uri="{FF2B5EF4-FFF2-40B4-BE49-F238E27FC236}">
                <a16:creationId xmlns:a16="http://schemas.microsoft.com/office/drawing/2014/main" id="{D221BD1B-77C3-44C1-A005-F47B575C7063}"/>
              </a:ext>
            </a:extLst>
          </p:cNvPr>
          <p:cNvSpPr>
            <a:spLocks xmlns:a="http://schemas.openxmlformats.org/drawingml/2006/main" noGrp="1"/>
          </p:cNvSpPr>
          <p:nvPr/>
        </p:nvSpPr>
        <p:spPr>
          <a:xfrm xmlns:a="http://schemas.openxmlformats.org/drawingml/2006/main">
            <a:off x="8077200" y="4324350"/>
            <a:ext cx="3371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新機能をrequirements / design / tasksへ</a:t>
            </a:r>
          </a:p>
        </p:txBody>
      </p:sp>
      <p:sp>
        <p:nvSpPr>
          <p:cNvPr id="52" name="">
            <a:extLst xmlns:a="http://schemas.openxmlformats.org/drawingml/2006/main">
              <a:ext uri="{FF2B5EF4-FFF2-40B4-BE49-F238E27FC236}">
                <a16:creationId xmlns:a16="http://schemas.microsoft.com/office/drawing/2014/main" id="{D3F58FFD-A7E0-4D58-86F3-11373D66FBE2}"/>
              </a:ext>
            </a:extLst>
          </p:cNvPr>
          <p:cNvSpPr>
            <a:spLocks xmlns:a="http://schemas.openxmlformats.org/drawingml/2006/main" noGrp="1"/>
          </p:cNvSpPr>
          <p:nvPr/>
        </p:nvSpPr>
        <p:spPr>
          <a:xfrm xmlns:a="http://schemas.openxmlformats.org/drawingml/2006/main">
            <a:off x="647700" y="4953000"/>
            <a:ext cx="1619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3" name="">
            <a:extLst xmlns:a="http://schemas.openxmlformats.org/drawingml/2006/main">
              <a:ext uri="{FF2B5EF4-FFF2-40B4-BE49-F238E27FC236}">
                <a16:creationId xmlns:a16="http://schemas.microsoft.com/office/drawing/2014/main" id="{DECE2C13-4E14-4047-887B-899FA4E33273}"/>
              </a:ext>
            </a:extLst>
          </p:cNvPr>
          <p:cNvSpPr>
            <a:spLocks xmlns:a="http://schemas.openxmlformats.org/drawingml/2006/main" noGrp="1"/>
          </p:cNvSpPr>
          <p:nvPr/>
        </p:nvSpPr>
        <p:spPr>
          <a:xfrm xmlns:a="http://schemas.openxmlformats.org/drawingml/2006/main">
            <a:off x="742950" y="5067300"/>
            <a:ext cx="142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Antigravity</a:t>
            </a:r>
          </a:p>
        </p:txBody>
      </p:sp>
      <p:sp>
        <p:nvSpPr>
          <p:cNvPr id="54" name="">
            <a:extLst xmlns:a="http://schemas.openxmlformats.org/drawingml/2006/main">
              <a:ext uri="{FF2B5EF4-FFF2-40B4-BE49-F238E27FC236}">
                <a16:creationId xmlns:a16="http://schemas.microsoft.com/office/drawing/2014/main" id="{A3A79613-6847-480A-B0DC-FFE317DF40BC}"/>
              </a:ext>
            </a:extLst>
          </p:cNvPr>
          <p:cNvSpPr>
            <a:spLocks xmlns:a="http://schemas.openxmlformats.org/drawingml/2006/main" noGrp="1"/>
          </p:cNvSpPr>
          <p:nvPr/>
        </p:nvSpPr>
        <p:spPr>
          <a:xfrm xmlns:a="http://schemas.openxmlformats.org/drawingml/2006/main">
            <a:off x="2266950" y="4953000"/>
            <a:ext cx="3143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5" name="">
            <a:extLst xmlns:a="http://schemas.openxmlformats.org/drawingml/2006/main">
              <a:ext uri="{FF2B5EF4-FFF2-40B4-BE49-F238E27FC236}">
                <a16:creationId xmlns:a16="http://schemas.microsoft.com/office/drawing/2014/main" id="{F8721C86-281E-4D73-9776-F346CF991E0C}"/>
              </a:ext>
            </a:extLst>
          </p:cNvPr>
          <p:cNvSpPr>
            <a:spLocks xmlns:a="http://schemas.openxmlformats.org/drawingml/2006/main" noGrp="1"/>
          </p:cNvSpPr>
          <p:nvPr/>
        </p:nvSpPr>
        <p:spPr>
          <a:xfrm xmlns:a="http://schemas.openxmlformats.org/drawingml/2006/main">
            <a:off x="2362200" y="5067300"/>
            <a:ext cx="295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計画・実装・Browser検証を伴うWeb開発</a:t>
            </a:r>
          </a:p>
        </p:txBody>
      </p:sp>
      <p:sp>
        <p:nvSpPr>
          <p:cNvPr id="56" name="">
            <a:extLst xmlns:a="http://schemas.openxmlformats.org/drawingml/2006/main">
              <a:ext uri="{FF2B5EF4-FFF2-40B4-BE49-F238E27FC236}">
                <a16:creationId xmlns:a16="http://schemas.microsoft.com/office/drawing/2014/main" id="{1FBE8275-7074-4C6B-B1B3-CF40B3F99361}"/>
              </a:ext>
            </a:extLst>
          </p:cNvPr>
          <p:cNvSpPr>
            <a:spLocks xmlns:a="http://schemas.openxmlformats.org/drawingml/2006/main" noGrp="1"/>
          </p:cNvSpPr>
          <p:nvPr/>
        </p:nvSpPr>
        <p:spPr>
          <a:xfrm xmlns:a="http://schemas.openxmlformats.org/drawingml/2006/main">
            <a:off x="5410200" y="4953000"/>
            <a:ext cx="2571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7" name="">
            <a:extLst xmlns:a="http://schemas.openxmlformats.org/drawingml/2006/main">
              <a:ext uri="{FF2B5EF4-FFF2-40B4-BE49-F238E27FC236}">
                <a16:creationId xmlns:a16="http://schemas.microsoft.com/office/drawing/2014/main" id="{9E649921-B795-49BC-8171-437C7FE5CABE}"/>
              </a:ext>
            </a:extLst>
          </p:cNvPr>
          <p:cNvSpPr>
            <a:spLocks xmlns:a="http://schemas.openxmlformats.org/drawingml/2006/main" noGrp="1"/>
          </p:cNvSpPr>
          <p:nvPr/>
        </p:nvSpPr>
        <p:spPr>
          <a:xfrm xmlns:a="http://schemas.openxmlformats.org/drawingml/2006/main">
            <a:off x="5505450" y="506730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IDE / CLI / SDK</a:t>
            </a:r>
          </a:p>
        </p:txBody>
      </p:sp>
      <p:sp>
        <p:nvSpPr>
          <p:cNvPr id="58" name="">
            <a:extLst xmlns:a="http://schemas.openxmlformats.org/drawingml/2006/main">
              <a:ext uri="{FF2B5EF4-FFF2-40B4-BE49-F238E27FC236}">
                <a16:creationId xmlns:a16="http://schemas.microsoft.com/office/drawing/2014/main" id="{5F89237F-87C1-4F6F-9949-56F2BD916825}"/>
              </a:ext>
            </a:extLst>
          </p:cNvPr>
          <p:cNvSpPr>
            <a:spLocks xmlns:a="http://schemas.openxmlformats.org/drawingml/2006/main" noGrp="1"/>
          </p:cNvSpPr>
          <p:nvPr/>
        </p:nvSpPr>
        <p:spPr>
          <a:xfrm xmlns:a="http://schemas.openxmlformats.org/drawingml/2006/main">
            <a:off x="7981950" y="4953000"/>
            <a:ext cx="35623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9" name="">
            <a:extLst xmlns:a="http://schemas.openxmlformats.org/drawingml/2006/main">
              <a:ext uri="{FF2B5EF4-FFF2-40B4-BE49-F238E27FC236}">
                <a16:creationId xmlns:a16="http://schemas.microsoft.com/office/drawing/2014/main" id="{A1116659-788A-4108-8F4C-78187AB5D9A8}"/>
              </a:ext>
            </a:extLst>
          </p:cNvPr>
          <p:cNvSpPr>
            <a:spLocks xmlns:a="http://schemas.openxmlformats.org/drawingml/2006/main" noGrp="1"/>
          </p:cNvSpPr>
          <p:nvPr/>
        </p:nvSpPr>
        <p:spPr>
          <a:xfrm xmlns:a="http://schemas.openxmlformats.org/drawingml/2006/main">
            <a:off x="8077200" y="5067300"/>
            <a:ext cx="3371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1ページサイトを作りdesktop/mobile確認</a:t>
            </a:r>
          </a:p>
        </p:txBody>
      </p:sp>
    </p:spTree>
    <p:extLst>
      <p:ext uri="{BB962C8B-B14F-4D97-AF65-F5344CB8AC3E}">
        <p14:creationId xmlns:p14="http://schemas.microsoft.com/office/powerpoint/2010/main" val="101826840"/>
      </p:ext>
    </p:extLst>
  </p:cSld>
</p:sld>
</file>

<file path=ppt/slides/slide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05 / 36</a:t>
            </a:r>
          </a:p>
        </p:txBody>
      </p:sp>
      <p:sp>
        <p:nvSpPr>
          <p:cNvPr id="10" name="">
            <a:extLst xmlns:a="http://schemas.openxmlformats.org/drawingml/2006/main">
              <a:ext uri="{FF2B5EF4-FFF2-40B4-BE49-F238E27FC236}">
                <a16:creationId xmlns:a16="http://schemas.microsoft.com/office/drawing/2014/main" id="{A1CA5FCC-BF2A-4EED-AE04-AEAC5B60EE5D}"/>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COMPARISON 02  |  CAPABILITIES</a:t>
            </a:r>
          </a:p>
        </p:txBody>
      </p:sp>
      <p:sp>
        <p:nvSpPr>
          <p:cNvPr id="11" name="">
            <a:extLst xmlns:a="http://schemas.openxmlformats.org/drawingml/2006/main">
              <a:ext uri="{FF2B5EF4-FFF2-40B4-BE49-F238E27FC236}">
                <a16:creationId xmlns:a16="http://schemas.microsoft.com/office/drawing/2014/main" id="{9B349B7F-3DB3-447C-B630-ECF3ECFB3037}"/>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指示・能力・接続・証拠を、製品ごとの仕組みで組み合わせます</a:t>
            </a:r>
          </a:p>
        </p:txBody>
      </p:sp>
      <p:sp>
        <p:nvSpPr>
          <p:cNvPr id="12" name="">
            <a:extLst xmlns:a="http://schemas.openxmlformats.org/drawingml/2006/main">
              <a:ext uri="{FF2B5EF4-FFF2-40B4-BE49-F238E27FC236}">
                <a16:creationId xmlns:a16="http://schemas.microsoft.com/office/drawing/2014/main" id="{C1A3D057-5E5C-4549-9AFF-C4DB319F452A}"/>
              </a:ext>
            </a:extLst>
          </p:cNvPr>
          <p:cNvSpPr>
            <a:spLocks xmlns:a="http://schemas.openxmlformats.org/drawingml/2006/main" noGrp="1"/>
          </p:cNvSpPr>
          <p:nvPr/>
        </p:nvSpPr>
        <p:spPr>
          <a:xfrm xmlns:a="http://schemas.openxmlformats.org/drawingml/2006/main">
            <a:off x="647700" y="1562100"/>
            <a:ext cx="14287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7F368D0-0766-4344-9DDD-BA7E01FCA658}"/>
              </a:ext>
            </a:extLst>
          </p:cNvPr>
          <p:cNvSpPr>
            <a:spLocks xmlns:a="http://schemas.openxmlformats.org/drawingml/2006/main" noGrp="1"/>
          </p:cNvSpPr>
          <p:nvPr/>
        </p:nvSpPr>
        <p:spPr>
          <a:xfrm xmlns:a="http://schemas.openxmlformats.org/drawingml/2006/main">
            <a:off x="762000" y="1657350"/>
            <a:ext cx="1200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製品</a:t>
            </a:r>
          </a:p>
        </p:txBody>
      </p:sp>
      <p:sp>
        <p:nvSpPr>
          <p:cNvPr id="14" name="">
            <a:extLst xmlns:a="http://schemas.openxmlformats.org/drawingml/2006/main">
              <a:ext uri="{FF2B5EF4-FFF2-40B4-BE49-F238E27FC236}">
                <a16:creationId xmlns:a16="http://schemas.microsoft.com/office/drawing/2014/main" id="{A563CCFC-A49D-4032-9B46-2775B7B3D20B}"/>
              </a:ext>
            </a:extLst>
          </p:cNvPr>
          <p:cNvSpPr>
            <a:spLocks xmlns:a="http://schemas.openxmlformats.org/drawingml/2006/main" noGrp="1"/>
          </p:cNvSpPr>
          <p:nvPr/>
        </p:nvSpPr>
        <p:spPr>
          <a:xfrm xmlns:a="http://schemas.openxmlformats.org/drawingml/2006/main">
            <a:off x="2076450" y="1562100"/>
            <a:ext cx="23812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9797B49E-193F-41A7-A317-826D73A1C10F}"/>
              </a:ext>
            </a:extLst>
          </p:cNvPr>
          <p:cNvSpPr>
            <a:spLocks xmlns:a="http://schemas.openxmlformats.org/drawingml/2006/main" noGrp="1"/>
          </p:cNvSpPr>
          <p:nvPr/>
        </p:nvSpPr>
        <p:spPr>
          <a:xfrm xmlns:a="http://schemas.openxmlformats.org/drawingml/2006/main">
            <a:off x="2190750" y="1657350"/>
            <a:ext cx="2152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持続する指示</a:t>
            </a:r>
          </a:p>
        </p:txBody>
      </p:sp>
      <p:sp>
        <p:nvSpPr>
          <p:cNvPr id="16" name="">
            <a:extLst xmlns:a="http://schemas.openxmlformats.org/drawingml/2006/main">
              <a:ext uri="{FF2B5EF4-FFF2-40B4-BE49-F238E27FC236}">
                <a16:creationId xmlns:a16="http://schemas.microsoft.com/office/drawing/2014/main" id="{E3476E81-1033-4349-84A5-D86BA66633EA}"/>
              </a:ext>
            </a:extLst>
          </p:cNvPr>
          <p:cNvSpPr>
            <a:spLocks xmlns:a="http://schemas.openxmlformats.org/drawingml/2006/main" noGrp="1"/>
          </p:cNvSpPr>
          <p:nvPr/>
        </p:nvSpPr>
        <p:spPr>
          <a:xfrm xmlns:a="http://schemas.openxmlformats.org/drawingml/2006/main">
            <a:off x="4457700" y="1562100"/>
            <a:ext cx="23812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2AC20DFE-811E-421C-B661-EA5417A7C89B}"/>
              </a:ext>
            </a:extLst>
          </p:cNvPr>
          <p:cNvSpPr>
            <a:spLocks xmlns:a="http://schemas.openxmlformats.org/drawingml/2006/main" noGrp="1"/>
          </p:cNvSpPr>
          <p:nvPr/>
        </p:nvSpPr>
        <p:spPr>
          <a:xfrm xmlns:a="http://schemas.openxmlformats.org/drawingml/2006/main">
            <a:off x="4572000" y="1657350"/>
            <a:ext cx="2152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再利用能力</a:t>
            </a:r>
          </a:p>
        </p:txBody>
      </p:sp>
      <p:sp>
        <p:nvSpPr>
          <p:cNvPr id="18" name="">
            <a:extLst xmlns:a="http://schemas.openxmlformats.org/drawingml/2006/main">
              <a:ext uri="{FF2B5EF4-FFF2-40B4-BE49-F238E27FC236}">
                <a16:creationId xmlns:a16="http://schemas.microsoft.com/office/drawing/2014/main" id="{92A31A5E-B4D1-4ED2-B8FF-E11472926805}"/>
              </a:ext>
            </a:extLst>
          </p:cNvPr>
          <p:cNvSpPr>
            <a:spLocks xmlns:a="http://schemas.openxmlformats.org/drawingml/2006/main" noGrp="1"/>
          </p:cNvSpPr>
          <p:nvPr/>
        </p:nvSpPr>
        <p:spPr>
          <a:xfrm xmlns:a="http://schemas.openxmlformats.org/drawingml/2006/main">
            <a:off x="6838950" y="1562100"/>
            <a:ext cx="20002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6F5890F-E678-420D-803C-962F2981D073}"/>
              </a:ext>
            </a:extLst>
          </p:cNvPr>
          <p:cNvSpPr>
            <a:spLocks xmlns:a="http://schemas.openxmlformats.org/drawingml/2006/main" noGrp="1"/>
          </p:cNvSpPr>
          <p:nvPr/>
        </p:nvSpPr>
        <p:spPr>
          <a:xfrm xmlns:a="http://schemas.openxmlformats.org/drawingml/2006/main">
            <a:off x="6953250" y="1657350"/>
            <a:ext cx="1771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外部接続</a:t>
            </a:r>
          </a:p>
        </p:txBody>
      </p:sp>
      <p:sp>
        <p:nvSpPr>
          <p:cNvPr id="20" name="">
            <a:extLst xmlns:a="http://schemas.openxmlformats.org/drawingml/2006/main">
              <a:ext uri="{FF2B5EF4-FFF2-40B4-BE49-F238E27FC236}">
                <a16:creationId xmlns:a16="http://schemas.microsoft.com/office/drawing/2014/main" id="{DF841882-745C-4BEC-9BC1-2F56FCD1CB2D}"/>
              </a:ext>
            </a:extLst>
          </p:cNvPr>
          <p:cNvSpPr>
            <a:spLocks xmlns:a="http://schemas.openxmlformats.org/drawingml/2006/main" noGrp="1"/>
          </p:cNvSpPr>
          <p:nvPr/>
        </p:nvSpPr>
        <p:spPr>
          <a:xfrm xmlns:a="http://schemas.openxmlformats.org/drawingml/2006/main">
            <a:off x="8839200" y="1562100"/>
            <a:ext cx="270510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1B83027-9EF0-42C5-9CAC-1A0C9323857C}"/>
              </a:ext>
            </a:extLst>
          </p:cNvPr>
          <p:cNvSpPr>
            <a:spLocks xmlns:a="http://schemas.openxmlformats.org/drawingml/2006/main" noGrp="1"/>
          </p:cNvSpPr>
          <p:nvPr/>
        </p:nvSpPr>
        <p:spPr>
          <a:xfrm xmlns:a="http://schemas.openxmlformats.org/drawingml/2006/main">
            <a:off x="8953500" y="1657350"/>
            <a:ext cx="2476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計画・証拠</a:t>
            </a:r>
          </a:p>
        </p:txBody>
      </p:sp>
      <p:sp>
        <p:nvSpPr>
          <p:cNvPr id="22" name="">
            <a:extLst xmlns:a="http://schemas.openxmlformats.org/drawingml/2006/main">
              <a:ext uri="{FF2B5EF4-FFF2-40B4-BE49-F238E27FC236}">
                <a16:creationId xmlns:a16="http://schemas.microsoft.com/office/drawing/2014/main" id="{C54F0E77-95AD-4396-88BB-3BE25EA84C63}"/>
              </a:ext>
            </a:extLst>
          </p:cNvPr>
          <p:cNvSpPr>
            <a:spLocks xmlns:a="http://schemas.openxmlformats.org/drawingml/2006/main" noGrp="1"/>
          </p:cNvSpPr>
          <p:nvPr/>
        </p:nvSpPr>
        <p:spPr>
          <a:xfrm xmlns:a="http://schemas.openxmlformats.org/drawingml/2006/main">
            <a:off x="647700" y="1981200"/>
            <a:ext cx="1428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3" name="">
            <a:extLst xmlns:a="http://schemas.openxmlformats.org/drawingml/2006/main">
              <a:ext uri="{FF2B5EF4-FFF2-40B4-BE49-F238E27FC236}">
                <a16:creationId xmlns:a16="http://schemas.microsoft.com/office/drawing/2014/main" id="{9BB50D82-BB6F-49BB-BA76-FBCC112FFCAE}"/>
              </a:ext>
            </a:extLst>
          </p:cNvPr>
          <p:cNvSpPr>
            <a:spLocks xmlns:a="http://schemas.openxmlformats.org/drawingml/2006/main" noGrp="1"/>
          </p:cNvSpPr>
          <p:nvPr/>
        </p:nvSpPr>
        <p:spPr>
          <a:xfrm xmlns:a="http://schemas.openxmlformats.org/drawingml/2006/main">
            <a:off x="742950" y="2095500"/>
            <a:ext cx="1238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Codex</a:t>
            </a:r>
          </a:p>
        </p:txBody>
      </p:sp>
      <p:sp>
        <p:nvSpPr>
          <p:cNvPr id="24" name="">
            <a:extLst xmlns:a="http://schemas.openxmlformats.org/drawingml/2006/main">
              <a:ext uri="{FF2B5EF4-FFF2-40B4-BE49-F238E27FC236}">
                <a16:creationId xmlns:a16="http://schemas.microsoft.com/office/drawing/2014/main" id="{3BC43BCF-8AF7-48DE-B231-B98F7425B73B}"/>
              </a:ext>
            </a:extLst>
          </p:cNvPr>
          <p:cNvSpPr>
            <a:spLocks xmlns:a="http://schemas.openxmlformats.org/drawingml/2006/main" noGrp="1"/>
          </p:cNvSpPr>
          <p:nvPr/>
        </p:nvSpPr>
        <p:spPr>
          <a:xfrm xmlns:a="http://schemas.openxmlformats.org/drawingml/2006/main">
            <a:off x="2076450" y="198120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5" name="">
            <a:extLst xmlns:a="http://schemas.openxmlformats.org/drawingml/2006/main">
              <a:ext uri="{FF2B5EF4-FFF2-40B4-BE49-F238E27FC236}">
                <a16:creationId xmlns:a16="http://schemas.microsoft.com/office/drawing/2014/main" id="{0C8721B6-D79F-453F-98B1-4FEB2CBD26DD}"/>
              </a:ext>
            </a:extLst>
          </p:cNvPr>
          <p:cNvSpPr>
            <a:spLocks xmlns:a="http://schemas.openxmlformats.org/drawingml/2006/main" noGrp="1"/>
          </p:cNvSpPr>
          <p:nvPr/>
        </p:nvSpPr>
        <p:spPr>
          <a:xfrm xmlns:a="http://schemas.openxmlformats.org/drawingml/2006/main">
            <a:off x="2171700" y="209550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AGENTS.md / Rules</a:t>
            </a:r>
          </a:p>
        </p:txBody>
      </p:sp>
      <p:sp>
        <p:nvSpPr>
          <p:cNvPr id="26" name="">
            <a:extLst xmlns:a="http://schemas.openxmlformats.org/drawingml/2006/main">
              <a:ext uri="{FF2B5EF4-FFF2-40B4-BE49-F238E27FC236}">
                <a16:creationId xmlns:a16="http://schemas.microsoft.com/office/drawing/2014/main" id="{755F79B3-EAA4-41F5-B8B3-3CB30353CF8F}"/>
              </a:ext>
            </a:extLst>
          </p:cNvPr>
          <p:cNvSpPr>
            <a:spLocks xmlns:a="http://schemas.openxmlformats.org/drawingml/2006/main" noGrp="1"/>
          </p:cNvSpPr>
          <p:nvPr/>
        </p:nvSpPr>
        <p:spPr>
          <a:xfrm xmlns:a="http://schemas.openxmlformats.org/drawingml/2006/main">
            <a:off x="4457700" y="198120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7" name="">
            <a:extLst xmlns:a="http://schemas.openxmlformats.org/drawingml/2006/main">
              <a:ext uri="{FF2B5EF4-FFF2-40B4-BE49-F238E27FC236}">
                <a16:creationId xmlns:a16="http://schemas.microsoft.com/office/drawing/2014/main" id="{1B8490B6-01A9-4241-B41E-E234101FD9DA}"/>
              </a:ext>
            </a:extLst>
          </p:cNvPr>
          <p:cNvSpPr>
            <a:spLocks xmlns:a="http://schemas.openxmlformats.org/drawingml/2006/main" noGrp="1"/>
          </p:cNvSpPr>
          <p:nvPr/>
        </p:nvSpPr>
        <p:spPr>
          <a:xfrm xmlns:a="http://schemas.openxmlformats.org/drawingml/2006/main">
            <a:off x="4552950" y="209550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Skills / Plugins / Hooks</a:t>
            </a:r>
          </a:p>
        </p:txBody>
      </p:sp>
      <p:sp>
        <p:nvSpPr>
          <p:cNvPr id="28" name="">
            <a:extLst xmlns:a="http://schemas.openxmlformats.org/drawingml/2006/main">
              <a:ext uri="{FF2B5EF4-FFF2-40B4-BE49-F238E27FC236}">
                <a16:creationId xmlns:a16="http://schemas.microsoft.com/office/drawing/2014/main" id="{370AFC01-FC9D-42DD-8752-888ADE5B4732}"/>
              </a:ext>
            </a:extLst>
          </p:cNvPr>
          <p:cNvSpPr>
            <a:spLocks xmlns:a="http://schemas.openxmlformats.org/drawingml/2006/main" noGrp="1"/>
          </p:cNvSpPr>
          <p:nvPr/>
        </p:nvSpPr>
        <p:spPr>
          <a:xfrm xmlns:a="http://schemas.openxmlformats.org/drawingml/2006/main">
            <a:off x="6838950" y="1981200"/>
            <a:ext cx="2000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9" name="">
            <a:extLst xmlns:a="http://schemas.openxmlformats.org/drawingml/2006/main">
              <a:ext uri="{FF2B5EF4-FFF2-40B4-BE49-F238E27FC236}">
                <a16:creationId xmlns:a16="http://schemas.microsoft.com/office/drawing/2014/main" id="{D7760D20-3065-4F9D-83F7-9DBDA35BC74A}"/>
              </a:ext>
            </a:extLst>
          </p:cNvPr>
          <p:cNvSpPr>
            <a:spLocks xmlns:a="http://schemas.openxmlformats.org/drawingml/2006/main" noGrp="1"/>
          </p:cNvSpPr>
          <p:nvPr/>
        </p:nvSpPr>
        <p:spPr>
          <a:xfrm xmlns:a="http://schemas.openxmlformats.org/drawingml/2006/main">
            <a:off x="6934200" y="2095500"/>
            <a:ext cx="180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MCP / Connectors</a:t>
            </a:r>
          </a:p>
        </p:txBody>
      </p:sp>
      <p:sp>
        <p:nvSpPr>
          <p:cNvPr id="30" name="">
            <a:extLst xmlns:a="http://schemas.openxmlformats.org/drawingml/2006/main">
              <a:ext uri="{FF2B5EF4-FFF2-40B4-BE49-F238E27FC236}">
                <a16:creationId xmlns:a16="http://schemas.microsoft.com/office/drawing/2014/main" id="{9A60B4EE-FFCE-4E26-909A-09756AE52AD0}"/>
              </a:ext>
            </a:extLst>
          </p:cNvPr>
          <p:cNvSpPr>
            <a:spLocks xmlns:a="http://schemas.openxmlformats.org/drawingml/2006/main" noGrp="1"/>
          </p:cNvSpPr>
          <p:nvPr/>
        </p:nvSpPr>
        <p:spPr>
          <a:xfrm xmlns:a="http://schemas.openxmlformats.org/drawingml/2006/main">
            <a:off x="8839200" y="1981200"/>
            <a:ext cx="270510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1" name="">
            <a:extLst xmlns:a="http://schemas.openxmlformats.org/drawingml/2006/main">
              <a:ext uri="{FF2B5EF4-FFF2-40B4-BE49-F238E27FC236}">
                <a16:creationId xmlns:a16="http://schemas.microsoft.com/office/drawing/2014/main" id="{FE296915-53E6-4D0C-BAAE-1E00AF7A0D4E}"/>
              </a:ext>
            </a:extLst>
          </p:cNvPr>
          <p:cNvSpPr>
            <a:spLocks xmlns:a="http://schemas.openxmlformats.org/drawingml/2006/main" noGrp="1"/>
          </p:cNvSpPr>
          <p:nvPr/>
        </p:nvSpPr>
        <p:spPr>
          <a:xfrm xmlns:a="http://schemas.openxmlformats.org/drawingml/2006/main">
            <a:off x="8934450" y="20955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Plan / diff / files / PR</a:t>
            </a:r>
          </a:p>
        </p:txBody>
      </p:sp>
      <p:sp>
        <p:nvSpPr>
          <p:cNvPr id="32" name="">
            <a:extLst xmlns:a="http://schemas.openxmlformats.org/drawingml/2006/main">
              <a:ext uri="{FF2B5EF4-FFF2-40B4-BE49-F238E27FC236}">
                <a16:creationId xmlns:a16="http://schemas.microsoft.com/office/drawing/2014/main" id="{7CD0419E-0A1D-4DA6-B951-F40442C28CED}"/>
              </a:ext>
            </a:extLst>
          </p:cNvPr>
          <p:cNvSpPr>
            <a:spLocks xmlns:a="http://schemas.openxmlformats.org/drawingml/2006/main" noGrp="1"/>
          </p:cNvSpPr>
          <p:nvPr/>
        </p:nvSpPr>
        <p:spPr>
          <a:xfrm xmlns:a="http://schemas.openxmlformats.org/drawingml/2006/main">
            <a:off x="647700" y="2724150"/>
            <a:ext cx="1428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3" name="">
            <a:extLst xmlns:a="http://schemas.openxmlformats.org/drawingml/2006/main">
              <a:ext uri="{FF2B5EF4-FFF2-40B4-BE49-F238E27FC236}">
                <a16:creationId xmlns:a16="http://schemas.microsoft.com/office/drawing/2014/main" id="{89034D9F-179C-4085-8FDE-C8A20BD82364}"/>
              </a:ext>
            </a:extLst>
          </p:cNvPr>
          <p:cNvSpPr>
            <a:spLocks xmlns:a="http://schemas.openxmlformats.org/drawingml/2006/main" noGrp="1"/>
          </p:cNvSpPr>
          <p:nvPr/>
        </p:nvSpPr>
        <p:spPr>
          <a:xfrm xmlns:a="http://schemas.openxmlformats.org/drawingml/2006/main">
            <a:off x="742950" y="2838450"/>
            <a:ext cx="1238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Claude Code</a:t>
            </a:r>
          </a:p>
        </p:txBody>
      </p:sp>
      <p:sp>
        <p:nvSpPr>
          <p:cNvPr id="34" name="">
            <a:extLst xmlns:a="http://schemas.openxmlformats.org/drawingml/2006/main">
              <a:ext uri="{FF2B5EF4-FFF2-40B4-BE49-F238E27FC236}">
                <a16:creationId xmlns:a16="http://schemas.microsoft.com/office/drawing/2014/main" id="{254F6BD4-844F-4B9E-8914-2FCAC91D3A7E}"/>
              </a:ext>
            </a:extLst>
          </p:cNvPr>
          <p:cNvSpPr>
            <a:spLocks xmlns:a="http://schemas.openxmlformats.org/drawingml/2006/main" noGrp="1"/>
          </p:cNvSpPr>
          <p:nvPr/>
        </p:nvSpPr>
        <p:spPr>
          <a:xfrm xmlns:a="http://schemas.openxmlformats.org/drawingml/2006/main">
            <a:off x="2076450" y="272415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5" name="">
            <a:extLst xmlns:a="http://schemas.openxmlformats.org/drawingml/2006/main">
              <a:ext uri="{FF2B5EF4-FFF2-40B4-BE49-F238E27FC236}">
                <a16:creationId xmlns:a16="http://schemas.microsoft.com/office/drawing/2014/main" id="{E9D50476-DE51-4E67-B8AA-91BF65A3741A}"/>
              </a:ext>
            </a:extLst>
          </p:cNvPr>
          <p:cNvSpPr>
            <a:spLocks xmlns:a="http://schemas.openxmlformats.org/drawingml/2006/main" noGrp="1"/>
          </p:cNvSpPr>
          <p:nvPr/>
        </p:nvSpPr>
        <p:spPr>
          <a:xfrm xmlns:a="http://schemas.openxmlformats.org/drawingml/2006/main">
            <a:off x="2171700" y="283845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CLAUDE.md / memory / rules</a:t>
            </a:r>
          </a:p>
        </p:txBody>
      </p:sp>
      <p:sp>
        <p:nvSpPr>
          <p:cNvPr id="36" name="">
            <a:extLst xmlns:a="http://schemas.openxmlformats.org/drawingml/2006/main">
              <a:ext uri="{FF2B5EF4-FFF2-40B4-BE49-F238E27FC236}">
                <a16:creationId xmlns:a16="http://schemas.microsoft.com/office/drawing/2014/main" id="{7BF9C02F-3E33-41AC-8736-646A41058936}"/>
              </a:ext>
            </a:extLst>
          </p:cNvPr>
          <p:cNvSpPr>
            <a:spLocks xmlns:a="http://schemas.openxmlformats.org/drawingml/2006/main" noGrp="1"/>
          </p:cNvSpPr>
          <p:nvPr/>
        </p:nvSpPr>
        <p:spPr>
          <a:xfrm xmlns:a="http://schemas.openxmlformats.org/drawingml/2006/main">
            <a:off x="4457700" y="272415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7" name="">
            <a:extLst xmlns:a="http://schemas.openxmlformats.org/drawingml/2006/main">
              <a:ext uri="{FF2B5EF4-FFF2-40B4-BE49-F238E27FC236}">
                <a16:creationId xmlns:a16="http://schemas.microsoft.com/office/drawing/2014/main" id="{C243B5FB-75F4-4635-B9CE-63379AA2B12B}"/>
              </a:ext>
            </a:extLst>
          </p:cNvPr>
          <p:cNvSpPr>
            <a:spLocks xmlns:a="http://schemas.openxmlformats.org/drawingml/2006/main" noGrp="1"/>
          </p:cNvSpPr>
          <p:nvPr/>
        </p:nvSpPr>
        <p:spPr>
          <a:xfrm xmlns:a="http://schemas.openxmlformats.org/drawingml/2006/main">
            <a:off x="4552950" y="283845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Skills / Plugins / Hooks</a:t>
            </a:r>
          </a:p>
        </p:txBody>
      </p:sp>
      <p:sp>
        <p:nvSpPr>
          <p:cNvPr id="38" name="">
            <a:extLst xmlns:a="http://schemas.openxmlformats.org/drawingml/2006/main">
              <a:ext uri="{FF2B5EF4-FFF2-40B4-BE49-F238E27FC236}">
                <a16:creationId xmlns:a16="http://schemas.microsoft.com/office/drawing/2014/main" id="{254D8E8D-877C-4FFD-8F5C-0374C09937E6}"/>
              </a:ext>
            </a:extLst>
          </p:cNvPr>
          <p:cNvSpPr>
            <a:spLocks xmlns:a="http://schemas.openxmlformats.org/drawingml/2006/main" noGrp="1"/>
          </p:cNvSpPr>
          <p:nvPr/>
        </p:nvSpPr>
        <p:spPr>
          <a:xfrm xmlns:a="http://schemas.openxmlformats.org/drawingml/2006/main">
            <a:off x="6838950" y="2724150"/>
            <a:ext cx="2000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9" name="">
            <a:extLst xmlns:a="http://schemas.openxmlformats.org/drawingml/2006/main">
              <a:ext uri="{FF2B5EF4-FFF2-40B4-BE49-F238E27FC236}">
                <a16:creationId xmlns:a16="http://schemas.microsoft.com/office/drawing/2014/main" id="{16508990-97DF-4C7C-9B45-9547DBE21196}"/>
              </a:ext>
            </a:extLst>
          </p:cNvPr>
          <p:cNvSpPr>
            <a:spLocks xmlns:a="http://schemas.openxmlformats.org/drawingml/2006/main" noGrp="1"/>
          </p:cNvSpPr>
          <p:nvPr/>
        </p:nvSpPr>
        <p:spPr>
          <a:xfrm xmlns:a="http://schemas.openxmlformats.org/drawingml/2006/main">
            <a:off x="6934200" y="2838450"/>
            <a:ext cx="180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MCP</a:t>
            </a:r>
          </a:p>
        </p:txBody>
      </p:sp>
      <p:sp>
        <p:nvSpPr>
          <p:cNvPr id="40" name="">
            <a:extLst xmlns:a="http://schemas.openxmlformats.org/drawingml/2006/main">
              <a:ext uri="{FF2B5EF4-FFF2-40B4-BE49-F238E27FC236}">
                <a16:creationId xmlns:a16="http://schemas.microsoft.com/office/drawing/2014/main" id="{3CF97CE4-AF2F-4A10-ABA4-58CDA1C42514}"/>
              </a:ext>
            </a:extLst>
          </p:cNvPr>
          <p:cNvSpPr>
            <a:spLocks xmlns:a="http://schemas.openxmlformats.org/drawingml/2006/main" noGrp="1"/>
          </p:cNvSpPr>
          <p:nvPr/>
        </p:nvSpPr>
        <p:spPr>
          <a:xfrm xmlns:a="http://schemas.openxmlformats.org/drawingml/2006/main">
            <a:off x="8839200" y="2724150"/>
            <a:ext cx="270510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1" name="">
            <a:extLst xmlns:a="http://schemas.openxmlformats.org/drawingml/2006/main">
              <a:ext uri="{FF2B5EF4-FFF2-40B4-BE49-F238E27FC236}">
                <a16:creationId xmlns:a16="http://schemas.microsoft.com/office/drawing/2014/main" id="{947C1425-2E1C-403A-B31C-D49438DC0E62}"/>
              </a:ext>
            </a:extLst>
          </p:cNvPr>
          <p:cNvSpPr>
            <a:spLocks xmlns:a="http://schemas.openxmlformats.org/drawingml/2006/main" noGrp="1"/>
          </p:cNvSpPr>
          <p:nvPr/>
        </p:nvSpPr>
        <p:spPr>
          <a:xfrm xmlns:a="http://schemas.openxmlformats.org/drawingml/2006/main">
            <a:off x="8934450" y="283845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Plan review / diff / PR</a:t>
            </a:r>
          </a:p>
        </p:txBody>
      </p:sp>
      <p:sp>
        <p:nvSpPr>
          <p:cNvPr id="42" name="">
            <a:extLst xmlns:a="http://schemas.openxmlformats.org/drawingml/2006/main">
              <a:ext uri="{FF2B5EF4-FFF2-40B4-BE49-F238E27FC236}">
                <a16:creationId xmlns:a16="http://schemas.microsoft.com/office/drawing/2014/main" id="{93C88C78-4D71-4E68-A0FC-0E8004B72B6B}"/>
              </a:ext>
            </a:extLst>
          </p:cNvPr>
          <p:cNvSpPr>
            <a:spLocks xmlns:a="http://schemas.openxmlformats.org/drawingml/2006/main" noGrp="1"/>
          </p:cNvSpPr>
          <p:nvPr/>
        </p:nvSpPr>
        <p:spPr>
          <a:xfrm xmlns:a="http://schemas.openxmlformats.org/drawingml/2006/main">
            <a:off x="647700" y="3467100"/>
            <a:ext cx="1428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3" name="">
            <a:extLst xmlns:a="http://schemas.openxmlformats.org/drawingml/2006/main">
              <a:ext uri="{FF2B5EF4-FFF2-40B4-BE49-F238E27FC236}">
                <a16:creationId xmlns:a16="http://schemas.microsoft.com/office/drawing/2014/main" id="{6451FE93-5480-47DE-BF1A-B86321095ABE}"/>
              </a:ext>
            </a:extLst>
          </p:cNvPr>
          <p:cNvSpPr>
            <a:spLocks xmlns:a="http://schemas.openxmlformats.org/drawingml/2006/main" noGrp="1"/>
          </p:cNvSpPr>
          <p:nvPr/>
        </p:nvSpPr>
        <p:spPr>
          <a:xfrm xmlns:a="http://schemas.openxmlformats.org/drawingml/2006/main">
            <a:off x="742950" y="3581400"/>
            <a:ext cx="1238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Claude Cowork</a:t>
            </a:r>
          </a:p>
        </p:txBody>
      </p:sp>
      <p:sp>
        <p:nvSpPr>
          <p:cNvPr id="44" name="">
            <a:extLst xmlns:a="http://schemas.openxmlformats.org/drawingml/2006/main">
              <a:ext uri="{FF2B5EF4-FFF2-40B4-BE49-F238E27FC236}">
                <a16:creationId xmlns:a16="http://schemas.microsoft.com/office/drawing/2014/main" id="{44BC7CE9-4DC3-4FD4-BEE5-C59F610B41B3}"/>
              </a:ext>
            </a:extLst>
          </p:cNvPr>
          <p:cNvSpPr>
            <a:spLocks xmlns:a="http://schemas.openxmlformats.org/drawingml/2006/main" noGrp="1"/>
          </p:cNvSpPr>
          <p:nvPr/>
        </p:nvSpPr>
        <p:spPr>
          <a:xfrm xmlns:a="http://schemas.openxmlformats.org/drawingml/2006/main">
            <a:off x="2076450" y="346710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5" name="">
            <a:extLst xmlns:a="http://schemas.openxmlformats.org/drawingml/2006/main">
              <a:ext uri="{FF2B5EF4-FFF2-40B4-BE49-F238E27FC236}">
                <a16:creationId xmlns:a16="http://schemas.microsoft.com/office/drawing/2014/main" id="{5CC89E22-F32D-4106-BF92-05440A60F56D}"/>
              </a:ext>
            </a:extLst>
          </p:cNvPr>
          <p:cNvSpPr>
            <a:spLocks xmlns:a="http://schemas.openxmlformats.org/drawingml/2006/main" noGrp="1"/>
          </p:cNvSpPr>
          <p:nvPr/>
        </p:nvSpPr>
        <p:spPr>
          <a:xfrm xmlns:a="http://schemas.openxmlformats.org/drawingml/2006/main">
            <a:off x="2171700" y="358140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Projects instructions / memory</a:t>
            </a:r>
          </a:p>
        </p:txBody>
      </p:sp>
      <p:sp>
        <p:nvSpPr>
          <p:cNvPr id="46" name="">
            <a:extLst xmlns:a="http://schemas.openxmlformats.org/drawingml/2006/main">
              <a:ext uri="{FF2B5EF4-FFF2-40B4-BE49-F238E27FC236}">
                <a16:creationId xmlns:a16="http://schemas.microsoft.com/office/drawing/2014/main" id="{78480AC5-6638-4DE3-A12A-0021D3B86ACA}"/>
              </a:ext>
            </a:extLst>
          </p:cNvPr>
          <p:cNvSpPr>
            <a:spLocks xmlns:a="http://schemas.openxmlformats.org/drawingml/2006/main" noGrp="1"/>
          </p:cNvSpPr>
          <p:nvPr/>
        </p:nvSpPr>
        <p:spPr>
          <a:xfrm xmlns:a="http://schemas.openxmlformats.org/drawingml/2006/main">
            <a:off x="4457700" y="346710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7" name="">
            <a:extLst xmlns:a="http://schemas.openxmlformats.org/drawingml/2006/main">
              <a:ext uri="{FF2B5EF4-FFF2-40B4-BE49-F238E27FC236}">
                <a16:creationId xmlns:a16="http://schemas.microsoft.com/office/drawing/2014/main" id="{076B5D45-509F-4027-AB05-5C495C6F4F99}"/>
              </a:ext>
            </a:extLst>
          </p:cNvPr>
          <p:cNvSpPr>
            <a:spLocks xmlns:a="http://schemas.openxmlformats.org/drawingml/2006/main" noGrp="1"/>
          </p:cNvSpPr>
          <p:nvPr/>
        </p:nvSpPr>
        <p:spPr>
          <a:xfrm xmlns:a="http://schemas.openxmlformats.org/drawingml/2006/main">
            <a:off x="4552950" y="358140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Skills / Plugins / sub-agents</a:t>
            </a:r>
          </a:p>
        </p:txBody>
      </p:sp>
      <p:sp>
        <p:nvSpPr>
          <p:cNvPr id="48" name="">
            <a:extLst xmlns:a="http://schemas.openxmlformats.org/drawingml/2006/main">
              <a:ext uri="{FF2B5EF4-FFF2-40B4-BE49-F238E27FC236}">
                <a16:creationId xmlns:a16="http://schemas.microsoft.com/office/drawing/2014/main" id="{260F1C2B-6CA9-44B5-9E91-43ADDBD3B3D8}"/>
              </a:ext>
            </a:extLst>
          </p:cNvPr>
          <p:cNvSpPr>
            <a:spLocks xmlns:a="http://schemas.openxmlformats.org/drawingml/2006/main" noGrp="1"/>
          </p:cNvSpPr>
          <p:nvPr/>
        </p:nvSpPr>
        <p:spPr>
          <a:xfrm xmlns:a="http://schemas.openxmlformats.org/drawingml/2006/main">
            <a:off x="6838950" y="3467100"/>
            <a:ext cx="2000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9" name="">
            <a:extLst xmlns:a="http://schemas.openxmlformats.org/drawingml/2006/main">
              <a:ext uri="{FF2B5EF4-FFF2-40B4-BE49-F238E27FC236}">
                <a16:creationId xmlns:a16="http://schemas.microsoft.com/office/drawing/2014/main" id="{51651DAF-03C7-4035-91D8-5D3191B812CD}"/>
              </a:ext>
            </a:extLst>
          </p:cNvPr>
          <p:cNvSpPr>
            <a:spLocks xmlns:a="http://schemas.openxmlformats.org/drawingml/2006/main" noGrp="1"/>
          </p:cNvSpPr>
          <p:nvPr/>
        </p:nvSpPr>
        <p:spPr>
          <a:xfrm xmlns:a="http://schemas.openxmlformats.org/drawingml/2006/main">
            <a:off x="6934200" y="3581400"/>
            <a:ext cx="180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Connectors / local MCP</a:t>
            </a:r>
          </a:p>
        </p:txBody>
      </p:sp>
      <p:sp>
        <p:nvSpPr>
          <p:cNvPr id="50" name="">
            <a:extLst xmlns:a="http://schemas.openxmlformats.org/drawingml/2006/main">
              <a:ext uri="{FF2B5EF4-FFF2-40B4-BE49-F238E27FC236}">
                <a16:creationId xmlns:a16="http://schemas.microsoft.com/office/drawing/2014/main" id="{2928F685-9A40-4206-B525-956B12622D58}"/>
              </a:ext>
            </a:extLst>
          </p:cNvPr>
          <p:cNvSpPr>
            <a:spLocks xmlns:a="http://schemas.openxmlformats.org/drawingml/2006/main" noGrp="1"/>
          </p:cNvSpPr>
          <p:nvPr/>
        </p:nvSpPr>
        <p:spPr>
          <a:xfrm xmlns:a="http://schemas.openxmlformats.org/drawingml/2006/main">
            <a:off x="8839200" y="3467100"/>
            <a:ext cx="270510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1" name="">
            <a:extLst xmlns:a="http://schemas.openxmlformats.org/drawingml/2006/main">
              <a:ext uri="{FF2B5EF4-FFF2-40B4-BE49-F238E27FC236}">
                <a16:creationId xmlns:a16="http://schemas.microsoft.com/office/drawing/2014/main" id="{876F59FF-769F-419D-96E5-FFD671E98878}"/>
              </a:ext>
            </a:extLst>
          </p:cNvPr>
          <p:cNvSpPr>
            <a:spLocks xmlns:a="http://schemas.openxmlformats.org/drawingml/2006/main" noGrp="1"/>
          </p:cNvSpPr>
          <p:nvPr/>
        </p:nvSpPr>
        <p:spPr>
          <a:xfrm xmlns:a="http://schemas.openxmlformats.org/drawingml/2006/main">
            <a:off x="8934450" y="35814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docs / sheets / slides / artifacts</a:t>
            </a:r>
          </a:p>
        </p:txBody>
      </p:sp>
      <p:sp>
        <p:nvSpPr>
          <p:cNvPr id="52" name="">
            <a:extLst xmlns:a="http://schemas.openxmlformats.org/drawingml/2006/main">
              <a:ext uri="{FF2B5EF4-FFF2-40B4-BE49-F238E27FC236}">
                <a16:creationId xmlns:a16="http://schemas.microsoft.com/office/drawing/2014/main" id="{7F54C30C-A061-4D5F-A8D3-6E1C0810FDF5}"/>
              </a:ext>
            </a:extLst>
          </p:cNvPr>
          <p:cNvSpPr>
            <a:spLocks xmlns:a="http://schemas.openxmlformats.org/drawingml/2006/main" noGrp="1"/>
          </p:cNvSpPr>
          <p:nvPr/>
        </p:nvSpPr>
        <p:spPr>
          <a:xfrm xmlns:a="http://schemas.openxmlformats.org/drawingml/2006/main">
            <a:off x="647700" y="4210050"/>
            <a:ext cx="1428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3" name="">
            <a:extLst xmlns:a="http://schemas.openxmlformats.org/drawingml/2006/main">
              <a:ext uri="{FF2B5EF4-FFF2-40B4-BE49-F238E27FC236}">
                <a16:creationId xmlns:a16="http://schemas.microsoft.com/office/drawing/2014/main" id="{9B53F5DD-BBD1-46C3-85A0-3DB266FC8F3B}"/>
              </a:ext>
            </a:extLst>
          </p:cNvPr>
          <p:cNvSpPr>
            <a:spLocks xmlns:a="http://schemas.openxmlformats.org/drawingml/2006/main" noGrp="1"/>
          </p:cNvSpPr>
          <p:nvPr/>
        </p:nvSpPr>
        <p:spPr>
          <a:xfrm xmlns:a="http://schemas.openxmlformats.org/drawingml/2006/main">
            <a:off x="742950" y="4324350"/>
            <a:ext cx="1238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Kiro</a:t>
            </a:r>
          </a:p>
        </p:txBody>
      </p:sp>
      <p:sp>
        <p:nvSpPr>
          <p:cNvPr id="54" name="">
            <a:extLst xmlns:a="http://schemas.openxmlformats.org/drawingml/2006/main">
              <a:ext uri="{FF2B5EF4-FFF2-40B4-BE49-F238E27FC236}">
                <a16:creationId xmlns:a16="http://schemas.microsoft.com/office/drawing/2014/main" id="{B3A094D7-43C1-49EE-B84F-A95ACBEDDE3C}"/>
              </a:ext>
            </a:extLst>
          </p:cNvPr>
          <p:cNvSpPr>
            <a:spLocks xmlns:a="http://schemas.openxmlformats.org/drawingml/2006/main" noGrp="1"/>
          </p:cNvSpPr>
          <p:nvPr/>
        </p:nvSpPr>
        <p:spPr>
          <a:xfrm xmlns:a="http://schemas.openxmlformats.org/drawingml/2006/main">
            <a:off x="2076450" y="421005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5" name="">
            <a:extLst xmlns:a="http://schemas.openxmlformats.org/drawingml/2006/main">
              <a:ext uri="{FF2B5EF4-FFF2-40B4-BE49-F238E27FC236}">
                <a16:creationId xmlns:a16="http://schemas.microsoft.com/office/drawing/2014/main" id="{549D51AF-6775-44C8-924A-64D1B5D9AB51}"/>
              </a:ext>
            </a:extLst>
          </p:cNvPr>
          <p:cNvSpPr>
            <a:spLocks xmlns:a="http://schemas.openxmlformats.org/drawingml/2006/main" noGrp="1"/>
          </p:cNvSpPr>
          <p:nvPr/>
        </p:nvSpPr>
        <p:spPr>
          <a:xfrm xmlns:a="http://schemas.openxmlformats.org/drawingml/2006/main">
            <a:off x="2171700" y="432435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Steering / AGENTS.md</a:t>
            </a:r>
          </a:p>
        </p:txBody>
      </p:sp>
      <p:sp>
        <p:nvSpPr>
          <p:cNvPr id="56" name="">
            <a:extLst xmlns:a="http://schemas.openxmlformats.org/drawingml/2006/main">
              <a:ext uri="{FF2B5EF4-FFF2-40B4-BE49-F238E27FC236}">
                <a16:creationId xmlns:a16="http://schemas.microsoft.com/office/drawing/2014/main" id="{2B92B546-893A-4562-AC84-EB36140FB2C5}"/>
              </a:ext>
            </a:extLst>
          </p:cNvPr>
          <p:cNvSpPr>
            <a:spLocks xmlns:a="http://schemas.openxmlformats.org/drawingml/2006/main" noGrp="1"/>
          </p:cNvSpPr>
          <p:nvPr/>
        </p:nvSpPr>
        <p:spPr>
          <a:xfrm xmlns:a="http://schemas.openxmlformats.org/drawingml/2006/main">
            <a:off x="4457700" y="421005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7" name="">
            <a:extLst xmlns:a="http://schemas.openxmlformats.org/drawingml/2006/main">
              <a:ext uri="{FF2B5EF4-FFF2-40B4-BE49-F238E27FC236}">
                <a16:creationId xmlns:a16="http://schemas.microsoft.com/office/drawing/2014/main" id="{875F8497-F686-4733-803C-B77300128F4C}"/>
              </a:ext>
            </a:extLst>
          </p:cNvPr>
          <p:cNvSpPr>
            <a:spLocks xmlns:a="http://schemas.openxmlformats.org/drawingml/2006/main" noGrp="1"/>
          </p:cNvSpPr>
          <p:nvPr/>
        </p:nvSpPr>
        <p:spPr>
          <a:xfrm xmlns:a="http://schemas.openxmlformats.org/drawingml/2006/main">
            <a:off x="4552950" y="432435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Skills / Powers / Hooks</a:t>
            </a:r>
          </a:p>
        </p:txBody>
      </p:sp>
      <p:sp>
        <p:nvSpPr>
          <p:cNvPr id="58" name="">
            <a:extLst xmlns:a="http://schemas.openxmlformats.org/drawingml/2006/main">
              <a:ext uri="{FF2B5EF4-FFF2-40B4-BE49-F238E27FC236}">
                <a16:creationId xmlns:a16="http://schemas.microsoft.com/office/drawing/2014/main" id="{0A2B53DB-5905-48D3-885A-1E2617E171EE}"/>
              </a:ext>
            </a:extLst>
          </p:cNvPr>
          <p:cNvSpPr>
            <a:spLocks xmlns:a="http://schemas.openxmlformats.org/drawingml/2006/main" noGrp="1"/>
          </p:cNvSpPr>
          <p:nvPr/>
        </p:nvSpPr>
        <p:spPr>
          <a:xfrm xmlns:a="http://schemas.openxmlformats.org/drawingml/2006/main">
            <a:off x="6838950" y="4210050"/>
            <a:ext cx="2000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9" name="">
            <a:extLst xmlns:a="http://schemas.openxmlformats.org/drawingml/2006/main">
              <a:ext uri="{FF2B5EF4-FFF2-40B4-BE49-F238E27FC236}">
                <a16:creationId xmlns:a16="http://schemas.microsoft.com/office/drawing/2014/main" id="{C708247F-FA4C-4A31-9767-3D4BEFB47DE0}"/>
              </a:ext>
            </a:extLst>
          </p:cNvPr>
          <p:cNvSpPr>
            <a:spLocks xmlns:a="http://schemas.openxmlformats.org/drawingml/2006/main" noGrp="1"/>
          </p:cNvSpPr>
          <p:nvPr/>
        </p:nvSpPr>
        <p:spPr>
          <a:xfrm xmlns:a="http://schemas.openxmlformats.org/drawingml/2006/main">
            <a:off x="6934200" y="4324350"/>
            <a:ext cx="180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MCP / Powers内MCP</a:t>
            </a:r>
          </a:p>
        </p:txBody>
      </p:sp>
      <p:sp>
        <p:nvSpPr>
          <p:cNvPr id="60" name="">
            <a:extLst xmlns:a="http://schemas.openxmlformats.org/drawingml/2006/main">
              <a:ext uri="{FF2B5EF4-FFF2-40B4-BE49-F238E27FC236}">
                <a16:creationId xmlns:a16="http://schemas.microsoft.com/office/drawing/2014/main" id="{F22D0400-47ED-4984-850B-3BCD0D1F3571}"/>
              </a:ext>
            </a:extLst>
          </p:cNvPr>
          <p:cNvSpPr>
            <a:spLocks xmlns:a="http://schemas.openxmlformats.org/drawingml/2006/main" noGrp="1"/>
          </p:cNvSpPr>
          <p:nvPr/>
        </p:nvSpPr>
        <p:spPr>
          <a:xfrm xmlns:a="http://schemas.openxmlformats.org/drawingml/2006/main">
            <a:off x="8839200" y="4210050"/>
            <a:ext cx="270510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61" name="">
            <a:extLst xmlns:a="http://schemas.openxmlformats.org/drawingml/2006/main">
              <a:ext uri="{FF2B5EF4-FFF2-40B4-BE49-F238E27FC236}">
                <a16:creationId xmlns:a16="http://schemas.microsoft.com/office/drawing/2014/main" id="{5CB9E8CC-25C7-4182-B03D-759E46447DA7}"/>
              </a:ext>
            </a:extLst>
          </p:cNvPr>
          <p:cNvSpPr>
            <a:spLocks xmlns:a="http://schemas.openxmlformats.org/drawingml/2006/main" noGrp="1"/>
          </p:cNvSpPr>
          <p:nvPr/>
        </p:nvSpPr>
        <p:spPr>
          <a:xfrm xmlns:a="http://schemas.openxmlformats.org/drawingml/2006/main">
            <a:off x="8934450" y="432435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Specs / tasks / checkpoints</a:t>
            </a:r>
          </a:p>
        </p:txBody>
      </p:sp>
      <p:sp>
        <p:nvSpPr>
          <p:cNvPr id="62" name="">
            <a:extLst xmlns:a="http://schemas.openxmlformats.org/drawingml/2006/main">
              <a:ext uri="{FF2B5EF4-FFF2-40B4-BE49-F238E27FC236}">
                <a16:creationId xmlns:a16="http://schemas.microsoft.com/office/drawing/2014/main" id="{9F2DFC86-DF91-44CA-9CA1-56EB58B01D1C}"/>
              </a:ext>
            </a:extLst>
          </p:cNvPr>
          <p:cNvSpPr>
            <a:spLocks xmlns:a="http://schemas.openxmlformats.org/drawingml/2006/main" noGrp="1"/>
          </p:cNvSpPr>
          <p:nvPr/>
        </p:nvSpPr>
        <p:spPr>
          <a:xfrm xmlns:a="http://schemas.openxmlformats.org/drawingml/2006/main">
            <a:off x="647700" y="4953000"/>
            <a:ext cx="1428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63" name="">
            <a:extLst xmlns:a="http://schemas.openxmlformats.org/drawingml/2006/main">
              <a:ext uri="{FF2B5EF4-FFF2-40B4-BE49-F238E27FC236}">
                <a16:creationId xmlns:a16="http://schemas.microsoft.com/office/drawing/2014/main" id="{31A7E31A-14C9-4567-8A48-DF52772D67E0}"/>
              </a:ext>
            </a:extLst>
          </p:cNvPr>
          <p:cNvSpPr>
            <a:spLocks xmlns:a="http://schemas.openxmlformats.org/drawingml/2006/main" noGrp="1"/>
          </p:cNvSpPr>
          <p:nvPr/>
        </p:nvSpPr>
        <p:spPr>
          <a:xfrm xmlns:a="http://schemas.openxmlformats.org/drawingml/2006/main">
            <a:off x="742950" y="5067300"/>
            <a:ext cx="1238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Antigravity</a:t>
            </a:r>
          </a:p>
        </p:txBody>
      </p:sp>
      <p:sp>
        <p:nvSpPr>
          <p:cNvPr id="64" name="">
            <a:extLst xmlns:a="http://schemas.openxmlformats.org/drawingml/2006/main">
              <a:ext uri="{FF2B5EF4-FFF2-40B4-BE49-F238E27FC236}">
                <a16:creationId xmlns:a16="http://schemas.microsoft.com/office/drawing/2014/main" id="{4E9A2CA3-985D-44A1-BF18-FEA198DBC117}"/>
              </a:ext>
            </a:extLst>
          </p:cNvPr>
          <p:cNvSpPr>
            <a:spLocks xmlns:a="http://schemas.openxmlformats.org/drawingml/2006/main" noGrp="1"/>
          </p:cNvSpPr>
          <p:nvPr/>
        </p:nvSpPr>
        <p:spPr>
          <a:xfrm xmlns:a="http://schemas.openxmlformats.org/drawingml/2006/main">
            <a:off x="2076450" y="495300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65" name="">
            <a:extLst xmlns:a="http://schemas.openxmlformats.org/drawingml/2006/main">
              <a:ext uri="{FF2B5EF4-FFF2-40B4-BE49-F238E27FC236}">
                <a16:creationId xmlns:a16="http://schemas.microsoft.com/office/drawing/2014/main" id="{D40C3707-9A8C-461C-9C8C-D76CE187C0C5}"/>
              </a:ext>
            </a:extLst>
          </p:cNvPr>
          <p:cNvSpPr>
            <a:spLocks xmlns:a="http://schemas.openxmlformats.org/drawingml/2006/main" noGrp="1"/>
          </p:cNvSpPr>
          <p:nvPr/>
        </p:nvSpPr>
        <p:spPr>
          <a:xfrm xmlns:a="http://schemas.openxmlformats.org/drawingml/2006/main">
            <a:off x="2171700" y="506730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Rules / GEMINI.md</a:t>
            </a:r>
          </a:p>
        </p:txBody>
      </p:sp>
      <p:sp>
        <p:nvSpPr>
          <p:cNvPr id="66" name="">
            <a:extLst xmlns:a="http://schemas.openxmlformats.org/drawingml/2006/main">
              <a:ext uri="{FF2B5EF4-FFF2-40B4-BE49-F238E27FC236}">
                <a16:creationId xmlns:a16="http://schemas.microsoft.com/office/drawing/2014/main" id="{1F74DCCB-E8B5-4A23-9B75-723FF4401382}"/>
              </a:ext>
            </a:extLst>
          </p:cNvPr>
          <p:cNvSpPr>
            <a:spLocks xmlns:a="http://schemas.openxmlformats.org/drawingml/2006/main" noGrp="1"/>
          </p:cNvSpPr>
          <p:nvPr/>
        </p:nvSpPr>
        <p:spPr>
          <a:xfrm xmlns:a="http://schemas.openxmlformats.org/drawingml/2006/main">
            <a:off x="4457700" y="495300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67" name="">
            <a:extLst xmlns:a="http://schemas.openxmlformats.org/drawingml/2006/main">
              <a:ext uri="{FF2B5EF4-FFF2-40B4-BE49-F238E27FC236}">
                <a16:creationId xmlns:a16="http://schemas.microsoft.com/office/drawing/2014/main" id="{EAC0FA12-AA1A-466A-ABB6-AC7B19BA0A35}"/>
              </a:ext>
            </a:extLst>
          </p:cNvPr>
          <p:cNvSpPr>
            <a:spLocks xmlns:a="http://schemas.openxmlformats.org/drawingml/2006/main" noGrp="1"/>
          </p:cNvSpPr>
          <p:nvPr/>
        </p:nvSpPr>
        <p:spPr>
          <a:xfrm xmlns:a="http://schemas.openxmlformats.org/drawingml/2006/main">
            <a:off x="4552950" y="506730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Skills / Workflows / Plugins</a:t>
            </a:r>
          </a:p>
        </p:txBody>
      </p:sp>
      <p:sp>
        <p:nvSpPr>
          <p:cNvPr id="68" name="">
            <a:extLst xmlns:a="http://schemas.openxmlformats.org/drawingml/2006/main">
              <a:ext uri="{FF2B5EF4-FFF2-40B4-BE49-F238E27FC236}">
                <a16:creationId xmlns:a16="http://schemas.microsoft.com/office/drawing/2014/main" id="{176E2EC6-36B5-4F22-9687-2079E9CB0A77}"/>
              </a:ext>
            </a:extLst>
          </p:cNvPr>
          <p:cNvSpPr>
            <a:spLocks xmlns:a="http://schemas.openxmlformats.org/drawingml/2006/main" noGrp="1"/>
          </p:cNvSpPr>
          <p:nvPr/>
        </p:nvSpPr>
        <p:spPr>
          <a:xfrm xmlns:a="http://schemas.openxmlformats.org/drawingml/2006/main">
            <a:off x="6838950" y="4953000"/>
            <a:ext cx="2000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69" name="">
            <a:extLst xmlns:a="http://schemas.openxmlformats.org/drawingml/2006/main">
              <a:ext uri="{FF2B5EF4-FFF2-40B4-BE49-F238E27FC236}">
                <a16:creationId xmlns:a16="http://schemas.microsoft.com/office/drawing/2014/main" id="{A116DC04-F9A5-49D7-B63E-5DE40296CF9B}"/>
              </a:ext>
            </a:extLst>
          </p:cNvPr>
          <p:cNvSpPr>
            <a:spLocks xmlns:a="http://schemas.openxmlformats.org/drawingml/2006/main" noGrp="1"/>
          </p:cNvSpPr>
          <p:nvPr/>
        </p:nvSpPr>
        <p:spPr>
          <a:xfrm xmlns:a="http://schemas.openxmlformats.org/drawingml/2006/main">
            <a:off x="6934200" y="5067300"/>
            <a:ext cx="180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MCP Store</a:t>
            </a:r>
          </a:p>
        </p:txBody>
      </p:sp>
      <p:sp>
        <p:nvSpPr>
          <p:cNvPr id="70" name="">
            <a:extLst xmlns:a="http://schemas.openxmlformats.org/drawingml/2006/main">
              <a:ext uri="{FF2B5EF4-FFF2-40B4-BE49-F238E27FC236}">
                <a16:creationId xmlns:a16="http://schemas.microsoft.com/office/drawing/2014/main" id="{E3D80C8B-EA3D-4310-9B1D-0FED400612D9}"/>
              </a:ext>
            </a:extLst>
          </p:cNvPr>
          <p:cNvSpPr>
            <a:spLocks xmlns:a="http://schemas.openxmlformats.org/drawingml/2006/main" noGrp="1"/>
          </p:cNvSpPr>
          <p:nvPr/>
        </p:nvSpPr>
        <p:spPr>
          <a:xfrm xmlns:a="http://schemas.openxmlformats.org/drawingml/2006/main">
            <a:off x="8839200" y="4953000"/>
            <a:ext cx="270510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71" name="">
            <a:extLst xmlns:a="http://schemas.openxmlformats.org/drawingml/2006/main">
              <a:ext uri="{FF2B5EF4-FFF2-40B4-BE49-F238E27FC236}">
                <a16:creationId xmlns:a16="http://schemas.microsoft.com/office/drawing/2014/main" id="{642413B0-8666-42F0-9327-119F55D91AD1}"/>
              </a:ext>
            </a:extLst>
          </p:cNvPr>
          <p:cNvSpPr>
            <a:spLocks xmlns:a="http://schemas.openxmlformats.org/drawingml/2006/main" noGrp="1"/>
          </p:cNvSpPr>
          <p:nvPr/>
        </p:nvSpPr>
        <p:spPr>
          <a:xfrm xmlns:a="http://schemas.openxmlformats.org/drawingml/2006/main">
            <a:off x="8934450" y="50673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Artifacts / plan / diff / recording</a:t>
            </a:r>
          </a:p>
        </p:txBody>
      </p:sp>
    </p:spTree>
    <p:extLst>
      <p:ext uri="{BB962C8B-B14F-4D97-AF65-F5344CB8AC3E}">
        <p14:creationId xmlns:p14="http://schemas.microsoft.com/office/powerpoint/2010/main" val="101826840"/>
      </p:ext>
    </p:extLst>
  </p:cSld>
</p:sld>
</file>

<file path=ppt/slides/slide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06 / 36</a:t>
            </a:r>
          </a:p>
        </p:txBody>
      </p:sp>
      <p:sp>
        <p:nvSpPr>
          <p:cNvPr id="10" name="">
            <a:extLst xmlns:a="http://schemas.openxmlformats.org/drawingml/2006/main">
              <a:ext uri="{FF2B5EF4-FFF2-40B4-BE49-F238E27FC236}">
                <a16:creationId xmlns:a16="http://schemas.microsoft.com/office/drawing/2014/main" id="{039D5134-B42E-4427-93A3-E31C92071ED4}"/>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TERMS  |  DO NOT MIX</a:t>
            </a:r>
          </a:p>
        </p:txBody>
      </p:sp>
      <p:sp>
        <p:nvSpPr>
          <p:cNvPr id="11" name="">
            <a:extLst xmlns:a="http://schemas.openxmlformats.org/drawingml/2006/main">
              <a:ext uri="{FF2B5EF4-FFF2-40B4-BE49-F238E27FC236}">
                <a16:creationId xmlns:a16="http://schemas.microsoft.com/office/drawing/2014/main" id="{33E7F4AB-92EA-4F86-9406-E746EBEC154A}"/>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SteeringとPowersはKiroの正式機能名です</a:t>
            </a:r>
          </a:p>
        </p:txBody>
      </p:sp>
      <p:sp>
        <p:nvSpPr>
          <p:cNvPr id="12" name="">
            <a:extLst xmlns:a="http://schemas.openxmlformats.org/drawingml/2006/main">
              <a:ext uri="{FF2B5EF4-FFF2-40B4-BE49-F238E27FC236}">
                <a16:creationId xmlns:a16="http://schemas.microsoft.com/office/drawing/2014/main" id="{33C3363E-E32F-4263-A491-3944744FBC09}"/>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3" name="">
            <a:extLst xmlns:a="http://schemas.openxmlformats.org/drawingml/2006/main">
              <a:ext uri="{FF2B5EF4-FFF2-40B4-BE49-F238E27FC236}">
                <a16:creationId xmlns:a16="http://schemas.microsoft.com/office/drawing/2014/main" id="{9E790732-AAF7-4806-807E-5706E0E5A77E}"/>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7B61A8"/>
                </a:solidFill>
                <a:latin typeface="Yu Gothic UI"/>
                <a:ea typeface="Yu Gothic UI"/>
                <a:cs typeface="Yu Gothic UI"/>
              </a:defRPr>
            </a:pPr>
            <a:r>
              <a:rPr sz="1875" b="1">
                <a:solidFill>
                  <a:srgbClr val="7B61A8"/>
                </a:solidFill>
                <a:latin typeface="Yu Gothic UI"/>
                <a:ea typeface="Yu Gothic UI"/>
                <a:cs typeface="Yu Gothic UI"/>
              </a:rPr>
              <a:t>KIRO</a:t>
            </a:r>
          </a:p>
        </p:txBody>
      </p:sp>
      <p:sp>
        <p:nvSpPr>
          <p:cNvPr id="14" name="">
            <a:extLst xmlns:a="http://schemas.openxmlformats.org/drawingml/2006/main">
              <a:ext uri="{FF2B5EF4-FFF2-40B4-BE49-F238E27FC236}">
                <a16:creationId xmlns:a16="http://schemas.microsoft.com/office/drawing/2014/main" id="{78B22031-6B56-4EAB-A554-73EE2A1DA28C}"/>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7B61A8"/>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57C9DE1-8386-46F4-8FDB-A2592799AF14}"/>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STEERING</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Markdownで知識・規約・技術選定を持続。</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always / fileMatch / manual / autoで読込み。</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POWERS</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POWER.md + MCP設定 + 任意のSteering / Hooks。</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必要な専門能力だけを動的に読み込む。</a:t>
            </a:r>
          </a:p>
        </p:txBody>
      </p:sp>
      <p:sp>
        <p:nvSpPr>
          <p:cNvPr id="16" name="">
            <a:extLst xmlns:a="http://schemas.openxmlformats.org/drawingml/2006/main">
              <a:ext uri="{FF2B5EF4-FFF2-40B4-BE49-F238E27FC236}">
                <a16:creationId xmlns:a16="http://schemas.microsoft.com/office/drawing/2014/main" id="{45BF2821-008D-42B3-B0FF-CBD42684A17A}"/>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2B4A4E3E-7DDF-4E50-B9E5-5F8032904373}"/>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ANTIGRAVITY</a:t>
            </a:r>
          </a:p>
        </p:txBody>
      </p:sp>
      <p:sp>
        <p:nvSpPr>
          <p:cNvPr id="18" name="">
            <a:extLst xmlns:a="http://schemas.openxmlformats.org/drawingml/2006/main">
              <a:ext uri="{FF2B5EF4-FFF2-40B4-BE49-F238E27FC236}">
                <a16:creationId xmlns:a16="http://schemas.microsoft.com/office/drawing/2014/main" id="{82FAACF4-7263-4E31-9D2E-7869557D30E5}"/>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3D76AA5-8F49-459E-8FBB-00923336F849}"/>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RULES</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持続するプロジェクト指示。</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WORKFLOWS</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Slash Commandで呼ぶ反復手順。</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SKILLS / MCP / ARTIFACTS</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再利用能力、外部接続、計画・差分・録画。</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KiroのSteering / Powersという機能名は付けない。</a:t>
            </a:r>
          </a:p>
        </p:txBody>
      </p:sp>
    </p:spTree>
    <p:extLst>
      <p:ext uri="{BB962C8B-B14F-4D97-AF65-F5344CB8AC3E}">
        <p14:creationId xmlns:p14="http://schemas.microsoft.com/office/powerpoint/2010/main" val="101826840"/>
      </p:ext>
    </p:extLst>
  </p:cSld>
</p:sld>
</file>

<file path=ppt/slides/slide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07 / 36</a:t>
            </a:r>
          </a:p>
        </p:txBody>
      </p:sp>
      <p:sp>
        <p:nvSpPr>
          <p:cNvPr id="10" name="">
            <a:extLst xmlns:a="http://schemas.openxmlformats.org/drawingml/2006/main">
              <a:ext uri="{FF2B5EF4-FFF2-40B4-BE49-F238E27FC236}">
                <a16:creationId xmlns:a16="http://schemas.microsoft.com/office/drawing/2014/main" id="{7652E66E-8D38-4512-BA48-5CE14D3ABB01}"/>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RUN OF SHOW  |  EXPLAIN → RUN → CHECK</a:t>
            </a:r>
          </a:p>
        </p:txBody>
      </p:sp>
      <p:sp>
        <p:nvSpPr>
          <p:cNvPr id="11" name="">
            <a:extLst xmlns:a="http://schemas.openxmlformats.org/drawingml/2006/main">
              <a:ext uri="{FF2B5EF4-FFF2-40B4-BE49-F238E27FC236}">
                <a16:creationId xmlns:a16="http://schemas.microsoft.com/office/drawing/2014/main" id="{8925DA82-0E9D-4551-B242-D3540BB658BD}"/>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短い説明の直後に実演し、毎回ひとつの証拠を確認します</a:t>
            </a:r>
          </a:p>
        </p:txBody>
      </p:sp>
      <p:sp>
        <p:nvSpPr>
          <p:cNvPr id="12" name="">
            <a:extLst xmlns:a="http://schemas.openxmlformats.org/drawingml/2006/main">
              <a:ext uri="{FF2B5EF4-FFF2-40B4-BE49-F238E27FC236}">
                <a16:creationId xmlns:a16="http://schemas.microsoft.com/office/drawing/2014/main" id="{B2432650-0965-4C83-89F9-B6F892C80313}"/>
              </a:ext>
            </a:extLst>
          </p:cNvPr>
          <p:cNvSpPr>
            <a:spLocks xmlns:a="http://schemas.openxmlformats.org/drawingml/2006/main" noGrp="1"/>
          </p:cNvSpPr>
          <p:nvPr/>
        </p:nvSpPr>
        <p:spPr>
          <a:xfrm xmlns:a="http://schemas.openxmlformats.org/drawingml/2006/main">
            <a:off x="647700" y="1504950"/>
            <a:ext cx="1809750" cy="381000"/>
          </a:xfrm>
          <a:prstGeom xmlns:a="http://schemas.openxmlformats.org/drawingml/2006/main" prst="roundRect">
            <a:avLst>
              <a:gd name="adj" fmla="val 20000"/>
            </a:avLst>
          </a:prstGeom>
          <a:solidFill xmlns:a="http://schemas.openxmlformats.org/drawingml/2006/main">
            <a:srgbClr val="00A5E3"/>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00:00–02:00</a:t>
            </a:r>
          </a:p>
        </p:txBody>
      </p:sp>
      <p:sp>
        <p:nvSpPr>
          <p:cNvPr id="13" name="">
            <a:extLst xmlns:a="http://schemas.openxmlformats.org/drawingml/2006/main">
              <a:ext uri="{FF2B5EF4-FFF2-40B4-BE49-F238E27FC236}">
                <a16:creationId xmlns:a16="http://schemas.microsoft.com/office/drawing/2014/main" id="{952F8BB6-89BD-4F61-A19B-872289C06A5E}"/>
              </a:ext>
            </a:extLst>
          </p:cNvPr>
          <p:cNvSpPr>
            <a:spLocks xmlns:a="http://schemas.openxmlformats.org/drawingml/2006/main" noGrp="1"/>
          </p:cNvSpPr>
          <p:nvPr/>
        </p:nvSpPr>
        <p:spPr>
          <a:xfrm xmlns:a="http://schemas.openxmlformats.org/drawingml/2006/main">
            <a:off x="2705100" y="154305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Goal</a:t>
            </a:r>
          </a:p>
        </p:txBody>
      </p:sp>
      <p:sp>
        <p:nvSpPr>
          <p:cNvPr id="14" name="">
            <a:extLst xmlns:a="http://schemas.openxmlformats.org/drawingml/2006/main">
              <a:ext uri="{FF2B5EF4-FFF2-40B4-BE49-F238E27FC236}">
                <a16:creationId xmlns:a16="http://schemas.microsoft.com/office/drawing/2014/main" id="{E60F4062-A56C-47B8-899D-89822570F32D}"/>
              </a:ext>
            </a:extLst>
          </p:cNvPr>
          <p:cNvSpPr>
            <a:spLocks xmlns:a="http://schemas.openxmlformats.org/drawingml/2006/main" noGrp="1"/>
          </p:cNvSpPr>
          <p:nvPr/>
        </p:nvSpPr>
        <p:spPr>
          <a:xfrm xmlns:a="http://schemas.openxmlformats.org/drawingml/2006/main">
            <a:off x="5334000" y="1552575"/>
            <a:ext cx="6210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163">
                <a:solidFill>
                  <a:srgbClr val="536978"/>
                </a:solidFill>
                <a:latin typeface="Yu Gothic UI"/>
                <a:ea typeface="Yu Gothic UI"/>
                <a:cs typeface="Yu Gothic UI"/>
              </a:defRPr>
            </a:pPr>
            <a:r>
              <a:rPr sz="1163">
                <a:solidFill>
                  <a:srgbClr val="536978"/>
                </a:solidFill>
                <a:latin typeface="Yu Gothic UI"/>
                <a:ea typeface="Yu Gothic UI"/>
                <a:cs typeface="Yu Gothic UI"/>
              </a:rPr>
              <a:t>到達目標を宣言 → 会場へ経験値を1問</a:t>
            </a:r>
          </a:p>
        </p:txBody>
      </p:sp>
      <p:sp>
        <p:nvSpPr>
          <p:cNvPr id="15" name="">
            <a:extLst xmlns:a="http://schemas.openxmlformats.org/drawingml/2006/main">
              <a:ext uri="{FF2B5EF4-FFF2-40B4-BE49-F238E27FC236}">
                <a16:creationId xmlns:a16="http://schemas.microsoft.com/office/drawing/2014/main" id="{16AC7D1F-CEC0-4182-8F40-C34B465000BC}"/>
              </a:ext>
            </a:extLst>
          </p:cNvPr>
          <p:cNvSpPr>
            <a:spLocks xmlns:a="http://schemas.openxmlformats.org/drawingml/2006/main" noGrp="1"/>
          </p:cNvSpPr>
          <p:nvPr/>
        </p:nvSpPr>
        <p:spPr>
          <a:xfrm xmlns:a="http://schemas.openxmlformats.org/drawingml/2006/main">
            <a:off x="647700" y="2038350"/>
            <a:ext cx="1809750" cy="381000"/>
          </a:xfrm>
          <a:prstGeom xmlns:a="http://schemas.openxmlformats.org/drawingml/2006/main" prst="roundRect">
            <a:avLst>
              <a:gd name="adj" fmla="val 20000"/>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02:00–05:00</a:t>
            </a:r>
          </a:p>
        </p:txBody>
      </p:sp>
      <p:sp>
        <p:nvSpPr>
          <p:cNvPr id="16" name="">
            <a:extLst xmlns:a="http://schemas.openxmlformats.org/drawingml/2006/main">
              <a:ext uri="{FF2B5EF4-FFF2-40B4-BE49-F238E27FC236}">
                <a16:creationId xmlns:a16="http://schemas.microsoft.com/office/drawing/2014/main" id="{47DF9EED-B69E-4AAD-8E34-87197D492278}"/>
              </a:ext>
            </a:extLst>
          </p:cNvPr>
          <p:cNvSpPr>
            <a:spLocks xmlns:a="http://schemas.openxmlformats.org/drawingml/2006/main" noGrp="1"/>
          </p:cNvSpPr>
          <p:nvPr/>
        </p:nvSpPr>
        <p:spPr>
          <a:xfrm xmlns:a="http://schemas.openxmlformats.org/drawingml/2006/main">
            <a:off x="2705100" y="207645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/grill-me</a:t>
            </a:r>
          </a:p>
        </p:txBody>
      </p:sp>
      <p:sp>
        <p:nvSpPr>
          <p:cNvPr id="17" name="">
            <a:extLst xmlns:a="http://schemas.openxmlformats.org/drawingml/2006/main">
              <a:ext uri="{FF2B5EF4-FFF2-40B4-BE49-F238E27FC236}">
                <a16:creationId xmlns:a16="http://schemas.microsoft.com/office/drawing/2014/main" id="{FBC3EAEC-8705-4B62-BD9E-7FFFF97E2885}"/>
              </a:ext>
            </a:extLst>
          </p:cNvPr>
          <p:cNvSpPr>
            <a:spLocks xmlns:a="http://schemas.openxmlformats.org/drawingml/2006/main" noGrp="1"/>
          </p:cNvSpPr>
          <p:nvPr/>
        </p:nvSpPr>
        <p:spPr>
          <a:xfrm xmlns:a="http://schemas.openxmlformats.org/drawingml/2006/main">
            <a:off x="5334000" y="2085975"/>
            <a:ext cx="6210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163">
                <a:solidFill>
                  <a:srgbClr val="536978"/>
                </a:solidFill>
                <a:latin typeface="Yu Gothic UI"/>
                <a:ea typeface="Yu Gothic UI"/>
                <a:cs typeface="Yu Gothic UI"/>
              </a:defRPr>
            </a:pPr>
            <a:r>
              <a:rPr sz="1163">
                <a:solidFill>
                  <a:srgbClr val="536978"/>
                </a:solidFill>
                <a:latin typeface="Yu Gothic UI"/>
                <a:ea typeface="Yu Gothic UI"/>
                <a:cs typeface="Yu Gothic UI"/>
              </a:rPr>
              <a:t>Skillを説明 → 貼付 → DECISIONSを見る</a:t>
            </a:r>
          </a:p>
        </p:txBody>
      </p:sp>
      <p:sp>
        <p:nvSpPr>
          <p:cNvPr id="18" name="">
            <a:extLst xmlns:a="http://schemas.openxmlformats.org/drawingml/2006/main">
              <a:ext uri="{FF2B5EF4-FFF2-40B4-BE49-F238E27FC236}">
                <a16:creationId xmlns:a16="http://schemas.microsoft.com/office/drawing/2014/main" id="{F3352485-A3AF-46A2-A271-4626C14C5586}"/>
              </a:ext>
            </a:extLst>
          </p:cNvPr>
          <p:cNvSpPr>
            <a:spLocks xmlns:a="http://schemas.openxmlformats.org/drawingml/2006/main" noGrp="1"/>
          </p:cNvSpPr>
          <p:nvPr/>
        </p:nvSpPr>
        <p:spPr>
          <a:xfrm xmlns:a="http://schemas.openxmlformats.org/drawingml/2006/main">
            <a:off x="647700" y="2571750"/>
            <a:ext cx="1809750" cy="381000"/>
          </a:xfrm>
          <a:prstGeom xmlns:a="http://schemas.openxmlformats.org/drawingml/2006/main" prst="roundRect">
            <a:avLst>
              <a:gd name="adj" fmla="val 20000"/>
            </a:avLst>
          </a:prstGeom>
          <a:solidFill xmlns:a="http://schemas.openxmlformats.org/drawingml/2006/main">
            <a:srgbClr val="00A5E3"/>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05:00–08:00</a:t>
            </a:r>
          </a:p>
        </p:txBody>
      </p:sp>
      <p:sp>
        <p:nvSpPr>
          <p:cNvPr id="19" name="">
            <a:extLst xmlns:a="http://schemas.openxmlformats.org/drawingml/2006/main">
              <a:ext uri="{FF2B5EF4-FFF2-40B4-BE49-F238E27FC236}">
                <a16:creationId xmlns:a16="http://schemas.microsoft.com/office/drawing/2014/main" id="{9B0E05E4-A793-486F-9E86-49F58C3C92D8}"/>
              </a:ext>
            </a:extLst>
          </p:cNvPr>
          <p:cNvSpPr>
            <a:spLocks xmlns:a="http://schemas.openxmlformats.org/drawingml/2006/main" noGrp="1"/>
          </p:cNvSpPr>
          <p:nvPr/>
        </p:nvSpPr>
        <p:spPr>
          <a:xfrm xmlns:a="http://schemas.openxmlformats.org/drawingml/2006/main">
            <a:off x="2705100" y="260985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/find-skills + install</a:t>
            </a:r>
          </a:p>
        </p:txBody>
      </p:sp>
      <p:sp>
        <p:nvSpPr>
          <p:cNvPr id="20" name="">
            <a:extLst xmlns:a="http://schemas.openxmlformats.org/drawingml/2006/main">
              <a:ext uri="{FF2B5EF4-FFF2-40B4-BE49-F238E27FC236}">
                <a16:creationId xmlns:a16="http://schemas.microsoft.com/office/drawing/2014/main" id="{68CCD9BD-41F5-4829-BD8A-8F99D4BF07AA}"/>
              </a:ext>
            </a:extLst>
          </p:cNvPr>
          <p:cNvSpPr>
            <a:spLocks xmlns:a="http://schemas.openxmlformats.org/drawingml/2006/main" noGrp="1"/>
          </p:cNvSpPr>
          <p:nvPr/>
        </p:nvSpPr>
        <p:spPr>
          <a:xfrm xmlns:a="http://schemas.openxmlformats.org/drawingml/2006/main">
            <a:off x="5334000" y="2619375"/>
            <a:ext cx="6210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163">
                <a:solidFill>
                  <a:srgbClr val="536978"/>
                </a:solidFill>
                <a:latin typeface="Yu Gothic UI"/>
                <a:ea typeface="Yu Gothic UI"/>
                <a:cs typeface="Yu Gothic UI"/>
              </a:defRPr>
            </a:pPr>
            <a:r>
              <a:rPr sz="1163">
                <a:solidFill>
                  <a:srgbClr val="536978"/>
                </a:solidFill>
                <a:latin typeface="Yu Gothic UI"/>
                <a:ea typeface="Yu Gothic UI"/>
                <a:cs typeface="Yu Gothic UI"/>
              </a:rPr>
              <a:t>探索を説明 → 実行 → 出典と導入先を見る</a:t>
            </a:r>
          </a:p>
        </p:txBody>
      </p:sp>
      <p:sp>
        <p:nvSpPr>
          <p:cNvPr id="21" name="">
            <a:extLst xmlns:a="http://schemas.openxmlformats.org/drawingml/2006/main">
              <a:ext uri="{FF2B5EF4-FFF2-40B4-BE49-F238E27FC236}">
                <a16:creationId xmlns:a16="http://schemas.microsoft.com/office/drawing/2014/main" id="{C4456EF4-E6E1-4065-A0CF-43BACA624D7D}"/>
              </a:ext>
            </a:extLst>
          </p:cNvPr>
          <p:cNvSpPr>
            <a:spLocks xmlns:a="http://schemas.openxmlformats.org/drawingml/2006/main" noGrp="1"/>
          </p:cNvSpPr>
          <p:nvPr/>
        </p:nvSpPr>
        <p:spPr>
          <a:xfrm xmlns:a="http://schemas.openxmlformats.org/drawingml/2006/main">
            <a:off x="647700" y="3105150"/>
            <a:ext cx="1809750" cy="381000"/>
          </a:xfrm>
          <a:prstGeom xmlns:a="http://schemas.openxmlformats.org/drawingml/2006/main" prst="roundRect">
            <a:avLst>
              <a:gd name="adj" fmla="val 20000"/>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08:00–18:00</a:t>
            </a:r>
          </a:p>
        </p:txBody>
      </p:sp>
      <p:sp>
        <p:nvSpPr>
          <p:cNvPr id="22" name="">
            <a:extLst xmlns:a="http://schemas.openxmlformats.org/drawingml/2006/main">
              <a:ext uri="{FF2B5EF4-FFF2-40B4-BE49-F238E27FC236}">
                <a16:creationId xmlns:a16="http://schemas.microsoft.com/office/drawing/2014/main" id="{6B74F18B-7709-49CE-A847-56F6D63D81D3}"/>
              </a:ext>
            </a:extLst>
          </p:cNvPr>
          <p:cNvSpPr>
            <a:spLocks xmlns:a="http://schemas.openxmlformats.org/drawingml/2006/main" noGrp="1"/>
          </p:cNvSpPr>
          <p:nvPr/>
        </p:nvSpPr>
        <p:spPr>
          <a:xfrm xmlns:a="http://schemas.openxmlformats.org/drawingml/2006/main">
            <a:off x="2705100" y="314325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IDE</a:t>
            </a:r>
          </a:p>
        </p:txBody>
      </p:sp>
      <p:sp>
        <p:nvSpPr>
          <p:cNvPr id="23" name="">
            <a:extLst xmlns:a="http://schemas.openxmlformats.org/drawingml/2006/main">
              <a:ext uri="{FF2B5EF4-FFF2-40B4-BE49-F238E27FC236}">
                <a16:creationId xmlns:a16="http://schemas.microsoft.com/office/drawing/2014/main" id="{5EBAB290-4257-4F5B-8D83-9B0D5603CB92}"/>
              </a:ext>
            </a:extLst>
          </p:cNvPr>
          <p:cNvSpPr>
            <a:spLocks xmlns:a="http://schemas.openxmlformats.org/drawingml/2006/main" noGrp="1"/>
          </p:cNvSpPr>
          <p:nvPr/>
        </p:nvSpPr>
        <p:spPr>
          <a:xfrm xmlns:a="http://schemas.openxmlformats.org/drawingml/2006/main">
            <a:off x="5334000" y="3152775"/>
            <a:ext cx="6210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163">
                <a:solidFill>
                  <a:srgbClr val="536978"/>
                </a:solidFill>
                <a:latin typeface="Yu Gothic UI"/>
                <a:ea typeface="Yu Gothic UI"/>
                <a:cs typeface="Yu Gothic UI"/>
              </a:defRPr>
            </a:pPr>
            <a:r>
              <a:rPr sz="1163">
                <a:solidFill>
                  <a:srgbClr val="536978"/>
                </a:solidFill>
                <a:latin typeface="Yu Gothic UI"/>
                <a:ea typeface="Yu Gothic UI"/>
                <a:cs typeface="Yu Gothic UI"/>
              </a:rPr>
              <a:t>入口を説明 → 制作 → 差分とBrowserを見る</a:t>
            </a:r>
          </a:p>
        </p:txBody>
      </p:sp>
      <p:sp>
        <p:nvSpPr>
          <p:cNvPr id="24" name="">
            <a:extLst xmlns:a="http://schemas.openxmlformats.org/drawingml/2006/main">
              <a:ext uri="{FF2B5EF4-FFF2-40B4-BE49-F238E27FC236}">
                <a16:creationId xmlns:a16="http://schemas.microsoft.com/office/drawing/2014/main" id="{78CAC8DE-D5F1-47AB-9439-9FCEA35F32D7}"/>
              </a:ext>
            </a:extLst>
          </p:cNvPr>
          <p:cNvSpPr>
            <a:spLocks xmlns:a="http://schemas.openxmlformats.org/drawingml/2006/main" noGrp="1"/>
          </p:cNvSpPr>
          <p:nvPr/>
        </p:nvSpPr>
        <p:spPr>
          <a:xfrm xmlns:a="http://schemas.openxmlformats.org/drawingml/2006/main">
            <a:off x="647700" y="3638550"/>
            <a:ext cx="1809750" cy="381000"/>
          </a:xfrm>
          <a:prstGeom xmlns:a="http://schemas.openxmlformats.org/drawingml/2006/main" prst="roundRect">
            <a:avLst>
              <a:gd name="adj" fmla="val 20000"/>
            </a:avLst>
          </a:prstGeom>
          <a:solidFill xmlns:a="http://schemas.openxmlformats.org/drawingml/2006/main">
            <a:srgbClr val="00A5E3"/>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18:00–21:00</a:t>
            </a:r>
          </a:p>
        </p:txBody>
      </p:sp>
      <p:sp>
        <p:nvSpPr>
          <p:cNvPr id="25" name="">
            <a:extLst xmlns:a="http://schemas.openxmlformats.org/drawingml/2006/main">
              <a:ext uri="{FF2B5EF4-FFF2-40B4-BE49-F238E27FC236}">
                <a16:creationId xmlns:a16="http://schemas.microsoft.com/office/drawing/2014/main" id="{FC5C410A-88D9-42B7-A915-6165A23ADBE9}"/>
              </a:ext>
            </a:extLst>
          </p:cNvPr>
          <p:cNvSpPr>
            <a:spLocks xmlns:a="http://schemas.openxmlformats.org/drawingml/2006/main" noGrp="1"/>
          </p:cNvSpPr>
          <p:nvPr/>
        </p:nvSpPr>
        <p:spPr>
          <a:xfrm xmlns:a="http://schemas.openxmlformats.org/drawingml/2006/main">
            <a:off x="2705100" y="367665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CLI</a:t>
            </a:r>
          </a:p>
        </p:txBody>
      </p:sp>
      <p:sp>
        <p:nvSpPr>
          <p:cNvPr id="26" name="">
            <a:extLst xmlns:a="http://schemas.openxmlformats.org/drawingml/2006/main">
              <a:ext uri="{FF2B5EF4-FFF2-40B4-BE49-F238E27FC236}">
                <a16:creationId xmlns:a16="http://schemas.microsoft.com/office/drawing/2014/main" id="{359E8CEA-F9EA-4966-900C-6DD89C7A8DFE}"/>
              </a:ext>
            </a:extLst>
          </p:cNvPr>
          <p:cNvSpPr>
            <a:spLocks xmlns:a="http://schemas.openxmlformats.org/drawingml/2006/main" noGrp="1"/>
          </p:cNvSpPr>
          <p:nvPr/>
        </p:nvSpPr>
        <p:spPr>
          <a:xfrm xmlns:a="http://schemas.openxmlformats.org/drawingml/2006/main">
            <a:off x="5334000" y="3686175"/>
            <a:ext cx="6210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163">
                <a:solidFill>
                  <a:srgbClr val="536978"/>
                </a:solidFill>
                <a:latin typeface="Yu Gothic UI"/>
                <a:ea typeface="Yu Gothic UI"/>
                <a:cs typeface="Yu Gothic UI"/>
              </a:defRPr>
            </a:pPr>
            <a:r>
              <a:rPr sz="1163">
                <a:solidFill>
                  <a:srgbClr val="536978"/>
                </a:solidFill>
                <a:latin typeface="Yu Gothic UI"/>
                <a:ea typeface="Yu Gothic UI"/>
                <a:cs typeface="Yu Gothic UI"/>
              </a:rPr>
              <a:t>用途を説明 → 監査 → 4行の証拠を見る</a:t>
            </a:r>
          </a:p>
        </p:txBody>
      </p:sp>
      <p:sp>
        <p:nvSpPr>
          <p:cNvPr id="27" name="">
            <a:extLst xmlns:a="http://schemas.openxmlformats.org/drawingml/2006/main">
              <a:ext uri="{FF2B5EF4-FFF2-40B4-BE49-F238E27FC236}">
                <a16:creationId xmlns:a16="http://schemas.microsoft.com/office/drawing/2014/main" id="{BB807853-BAC0-4A65-B568-17D9AC611265}"/>
              </a:ext>
            </a:extLst>
          </p:cNvPr>
          <p:cNvSpPr>
            <a:spLocks xmlns:a="http://schemas.openxmlformats.org/drawingml/2006/main" noGrp="1"/>
          </p:cNvSpPr>
          <p:nvPr/>
        </p:nvSpPr>
        <p:spPr>
          <a:xfrm xmlns:a="http://schemas.openxmlformats.org/drawingml/2006/main">
            <a:off x="647700" y="4171950"/>
            <a:ext cx="1809750" cy="381000"/>
          </a:xfrm>
          <a:prstGeom xmlns:a="http://schemas.openxmlformats.org/drawingml/2006/main" prst="roundRect">
            <a:avLst>
              <a:gd name="adj" fmla="val 20000"/>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21:00–24:00</a:t>
            </a:r>
          </a:p>
        </p:txBody>
      </p:sp>
      <p:sp>
        <p:nvSpPr>
          <p:cNvPr id="28" name="">
            <a:extLst xmlns:a="http://schemas.openxmlformats.org/drawingml/2006/main">
              <a:ext uri="{FF2B5EF4-FFF2-40B4-BE49-F238E27FC236}">
                <a16:creationId xmlns:a16="http://schemas.microsoft.com/office/drawing/2014/main" id="{50866D0B-A2A4-4A03-9281-4EC13FF062B5}"/>
              </a:ext>
            </a:extLst>
          </p:cNvPr>
          <p:cNvSpPr>
            <a:spLocks xmlns:a="http://schemas.openxmlformats.org/drawingml/2006/main" noGrp="1"/>
          </p:cNvSpPr>
          <p:nvPr/>
        </p:nvSpPr>
        <p:spPr>
          <a:xfrm xmlns:a="http://schemas.openxmlformats.org/drawingml/2006/main">
            <a:off x="2705100" y="421005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SDK</a:t>
            </a:r>
          </a:p>
        </p:txBody>
      </p:sp>
      <p:sp>
        <p:nvSpPr>
          <p:cNvPr id="29" name="">
            <a:extLst xmlns:a="http://schemas.openxmlformats.org/drawingml/2006/main">
              <a:ext uri="{FF2B5EF4-FFF2-40B4-BE49-F238E27FC236}">
                <a16:creationId xmlns:a16="http://schemas.microsoft.com/office/drawing/2014/main" id="{21AB7FB0-2BBF-4E54-AF23-7A1F82AC7F09}"/>
              </a:ext>
            </a:extLst>
          </p:cNvPr>
          <p:cNvSpPr>
            <a:spLocks xmlns:a="http://schemas.openxmlformats.org/drawingml/2006/main" noGrp="1"/>
          </p:cNvSpPr>
          <p:nvPr/>
        </p:nvSpPr>
        <p:spPr>
          <a:xfrm xmlns:a="http://schemas.openxmlformats.org/drawingml/2006/main">
            <a:off x="5334000" y="4219575"/>
            <a:ext cx="6210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163">
                <a:solidFill>
                  <a:srgbClr val="536978"/>
                </a:solidFill>
                <a:latin typeface="Yu Gothic UI"/>
                <a:ea typeface="Yu Gothic UI"/>
                <a:cs typeface="Yu Gothic UI"/>
              </a:defRPr>
            </a:pPr>
            <a:r>
              <a:rPr sz="1163">
                <a:solidFill>
                  <a:srgbClr val="536978"/>
                </a:solidFill>
                <a:latin typeface="Yu Gothic UI"/>
                <a:ea typeface="Yu Gothic UI"/>
                <a:cs typeface="Yu Gothic UI"/>
              </a:rPr>
              <a:t>仕組みを説明 → 実行 → policyとstreamを見る</a:t>
            </a:r>
          </a:p>
        </p:txBody>
      </p:sp>
      <p:sp>
        <p:nvSpPr>
          <p:cNvPr id="30" name="">
            <a:extLst xmlns:a="http://schemas.openxmlformats.org/drawingml/2006/main">
              <a:ext uri="{FF2B5EF4-FFF2-40B4-BE49-F238E27FC236}">
                <a16:creationId xmlns:a16="http://schemas.microsoft.com/office/drawing/2014/main" id="{80FA01AA-5188-4DA1-9182-74A6981954A3}"/>
              </a:ext>
            </a:extLst>
          </p:cNvPr>
          <p:cNvSpPr>
            <a:spLocks xmlns:a="http://schemas.openxmlformats.org/drawingml/2006/main" noGrp="1"/>
          </p:cNvSpPr>
          <p:nvPr/>
        </p:nvSpPr>
        <p:spPr>
          <a:xfrm xmlns:a="http://schemas.openxmlformats.org/drawingml/2006/main">
            <a:off x="647700" y="4705350"/>
            <a:ext cx="1809750" cy="381000"/>
          </a:xfrm>
          <a:prstGeom xmlns:a="http://schemas.openxmlformats.org/drawingml/2006/main" prst="roundRect">
            <a:avLst>
              <a:gd name="adj" fmla="val 20000"/>
            </a:avLst>
          </a:prstGeom>
          <a:solidFill xmlns:a="http://schemas.openxmlformats.org/drawingml/2006/main">
            <a:srgbClr val="00A5E3"/>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24:00–26:00</a:t>
            </a:r>
          </a:p>
        </p:txBody>
      </p:sp>
      <p:sp>
        <p:nvSpPr>
          <p:cNvPr id="31" name="">
            <a:extLst xmlns:a="http://schemas.openxmlformats.org/drawingml/2006/main">
              <a:ext uri="{FF2B5EF4-FFF2-40B4-BE49-F238E27FC236}">
                <a16:creationId xmlns:a16="http://schemas.microsoft.com/office/drawing/2014/main" id="{64CD05E8-A136-4061-8CBE-C82BBE2D7365}"/>
              </a:ext>
            </a:extLst>
          </p:cNvPr>
          <p:cNvSpPr>
            <a:spLocks xmlns:a="http://schemas.openxmlformats.org/drawingml/2006/main" noGrp="1"/>
          </p:cNvSpPr>
          <p:nvPr/>
        </p:nvSpPr>
        <p:spPr>
          <a:xfrm xmlns:a="http://schemas.openxmlformats.org/drawingml/2006/main">
            <a:off x="2705100" y="474345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MCP</a:t>
            </a:r>
          </a:p>
        </p:txBody>
      </p:sp>
      <p:sp>
        <p:nvSpPr>
          <p:cNvPr id="32" name="">
            <a:extLst xmlns:a="http://schemas.openxmlformats.org/drawingml/2006/main">
              <a:ext uri="{FF2B5EF4-FFF2-40B4-BE49-F238E27FC236}">
                <a16:creationId xmlns:a16="http://schemas.microsoft.com/office/drawing/2014/main" id="{CC0D84B2-59E0-44E0-8E45-C31DA625450A}"/>
              </a:ext>
            </a:extLst>
          </p:cNvPr>
          <p:cNvSpPr>
            <a:spLocks xmlns:a="http://schemas.openxmlformats.org/drawingml/2006/main" noGrp="1"/>
          </p:cNvSpPr>
          <p:nvPr/>
        </p:nvSpPr>
        <p:spPr>
          <a:xfrm xmlns:a="http://schemas.openxmlformats.org/drawingml/2006/main">
            <a:off x="5334000" y="4752975"/>
            <a:ext cx="6210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163">
                <a:solidFill>
                  <a:srgbClr val="536978"/>
                </a:solidFill>
                <a:latin typeface="Yu Gothic UI"/>
                <a:ea typeface="Yu Gothic UI"/>
                <a:cs typeface="Yu Gothic UI"/>
              </a:defRPr>
            </a:pPr>
            <a:r>
              <a:rPr sz="1163">
                <a:solidFill>
                  <a:srgbClr val="536978"/>
                </a:solidFill>
                <a:latin typeface="Yu Gothic UI"/>
                <a:ea typeface="Yu Gothic UI"/>
                <a:cs typeface="Yu Gothic UI"/>
              </a:rPr>
              <a:t>権限を説明 → 読取 → repo / Pagesを見る</a:t>
            </a:r>
          </a:p>
        </p:txBody>
      </p:sp>
      <p:sp>
        <p:nvSpPr>
          <p:cNvPr id="33" name="">
            <a:extLst xmlns:a="http://schemas.openxmlformats.org/drawingml/2006/main">
              <a:ext uri="{FF2B5EF4-FFF2-40B4-BE49-F238E27FC236}">
                <a16:creationId xmlns:a16="http://schemas.microsoft.com/office/drawing/2014/main" id="{076EF73B-29E1-4A15-80C2-FC74E9F57ED9}"/>
              </a:ext>
            </a:extLst>
          </p:cNvPr>
          <p:cNvSpPr>
            <a:spLocks xmlns:a="http://schemas.openxmlformats.org/drawingml/2006/main" noGrp="1"/>
          </p:cNvSpPr>
          <p:nvPr/>
        </p:nvSpPr>
        <p:spPr>
          <a:xfrm xmlns:a="http://schemas.openxmlformats.org/drawingml/2006/main">
            <a:off x="647700" y="5238750"/>
            <a:ext cx="1809750" cy="381000"/>
          </a:xfrm>
          <a:prstGeom xmlns:a="http://schemas.openxmlformats.org/drawingml/2006/main" prst="roundRect">
            <a:avLst>
              <a:gd name="adj" fmla="val 20000"/>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26:00–30:00</a:t>
            </a:r>
          </a:p>
        </p:txBody>
      </p:sp>
      <p:sp>
        <p:nvSpPr>
          <p:cNvPr id="34" name="">
            <a:extLst xmlns:a="http://schemas.openxmlformats.org/drawingml/2006/main">
              <a:ext uri="{FF2B5EF4-FFF2-40B4-BE49-F238E27FC236}">
                <a16:creationId xmlns:a16="http://schemas.microsoft.com/office/drawing/2014/main" id="{A00EE3DD-AFEE-41DD-8628-3E2437D631E1}"/>
              </a:ext>
            </a:extLst>
          </p:cNvPr>
          <p:cNvSpPr>
            <a:spLocks xmlns:a="http://schemas.openxmlformats.org/drawingml/2006/main" noGrp="1"/>
          </p:cNvSpPr>
          <p:nvPr/>
        </p:nvSpPr>
        <p:spPr>
          <a:xfrm xmlns:a="http://schemas.openxmlformats.org/drawingml/2006/main">
            <a:off x="2705100" y="527685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Publish + Proof</a:t>
            </a:r>
          </a:p>
        </p:txBody>
      </p:sp>
      <p:sp>
        <p:nvSpPr>
          <p:cNvPr id="35" name="">
            <a:extLst xmlns:a="http://schemas.openxmlformats.org/drawingml/2006/main">
              <a:ext uri="{FF2B5EF4-FFF2-40B4-BE49-F238E27FC236}">
                <a16:creationId xmlns:a16="http://schemas.microsoft.com/office/drawing/2014/main" id="{014C8418-B975-4015-8E0B-18245EC6DFC0}"/>
              </a:ext>
            </a:extLst>
          </p:cNvPr>
          <p:cNvSpPr>
            <a:spLocks xmlns:a="http://schemas.openxmlformats.org/drawingml/2006/main" noGrp="1"/>
          </p:cNvSpPr>
          <p:nvPr/>
        </p:nvSpPr>
        <p:spPr>
          <a:xfrm xmlns:a="http://schemas.openxmlformats.org/drawingml/2006/main">
            <a:off x="5334000" y="5286375"/>
            <a:ext cx="6210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163">
                <a:solidFill>
                  <a:srgbClr val="536978"/>
                </a:solidFill>
                <a:latin typeface="Yu Gothic UI"/>
                <a:ea typeface="Yu Gothic UI"/>
                <a:cs typeface="Yu Gothic UI"/>
              </a:defRPr>
            </a:pPr>
            <a:r>
              <a:rPr sz="1163">
                <a:solidFill>
                  <a:srgbClr val="536978"/>
                </a:solidFill>
                <a:latin typeface="Yu Gothic UI"/>
                <a:ea typeface="Yu Gothic UI"/>
                <a:cs typeface="Yu Gothic UI"/>
              </a:rPr>
              <a:t>承認を説明 → 公開 → HTTPSと5製品を見る</a:t>
            </a:r>
          </a:p>
        </p:txBody>
      </p:sp>
    </p:spTree>
    <p:extLst>
      <p:ext uri="{BB962C8B-B14F-4D97-AF65-F5344CB8AC3E}">
        <p14:creationId xmlns:p14="http://schemas.microsoft.com/office/powerpoint/2010/main" val="101826840"/>
      </p:ext>
    </p:extLst>
  </p:cSld>
</p:sld>
</file>

<file path=ppt/slides/slide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08 / 36</a:t>
            </a:r>
          </a:p>
        </p:txBody>
      </p:sp>
      <p:sp>
        <p:nvSpPr>
          <p:cNvPr id="10" name="">
            <a:extLst xmlns:a="http://schemas.openxmlformats.org/drawingml/2006/main">
              <a:ext uri="{FF2B5EF4-FFF2-40B4-BE49-F238E27FC236}">
                <a16:creationId xmlns:a16="http://schemas.microsoft.com/office/drawing/2014/main" id="{D35A3362-A473-4590-AC2C-0438F81F7AD3}"/>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PRE-FLIGHT  |  PEOPLE + SYSTEM</a:t>
            </a:r>
          </a:p>
        </p:txBody>
      </p:sp>
      <p:sp>
        <p:nvSpPr>
          <p:cNvPr id="11" name="">
            <a:extLst xmlns:a="http://schemas.openxmlformats.org/drawingml/2006/main">
              <a:ext uri="{FF2B5EF4-FFF2-40B4-BE49-F238E27FC236}">
                <a16:creationId xmlns:a16="http://schemas.microsoft.com/office/drawing/2014/main" id="{131E5AA0-DB54-4CF3-B8B1-60DEE02DB48E}"/>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安全境界と参加者の現在地を、開始前に固定します</a:t>
            </a:r>
          </a:p>
        </p:txBody>
      </p:sp>
      <p:sp>
        <p:nvSpPr>
          <p:cNvPr id="12" name="">
            <a:extLst xmlns:a="http://schemas.openxmlformats.org/drawingml/2006/main">
              <a:ext uri="{FF2B5EF4-FFF2-40B4-BE49-F238E27FC236}">
                <a16:creationId xmlns:a16="http://schemas.microsoft.com/office/drawing/2014/main" id="{2B29C767-AEAA-4713-ACEF-8B15A942C09A}"/>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3" name="">
            <a:extLst xmlns:a="http://schemas.openxmlformats.org/drawingml/2006/main">
              <a:ext uri="{FF2B5EF4-FFF2-40B4-BE49-F238E27FC236}">
                <a16:creationId xmlns:a16="http://schemas.microsoft.com/office/drawing/2014/main" id="{BAE2FE3B-7CA5-4A8E-84F3-1CAA61AFA32C}"/>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開始前チェック</a:t>
            </a:r>
          </a:p>
        </p:txBody>
      </p:sp>
      <p:sp>
        <p:nvSpPr>
          <p:cNvPr id="14" name="">
            <a:extLst xmlns:a="http://schemas.openxmlformats.org/drawingml/2006/main">
              <a:ext uri="{FF2B5EF4-FFF2-40B4-BE49-F238E27FC236}">
                <a16:creationId xmlns:a16="http://schemas.microsoft.com/office/drawing/2014/main" id="{00D85BF3-D852-4DC1-A3D9-AF58825F7A72}"/>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561E2A2A-79EE-4813-B687-83EA3D9007F9}"/>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200" b="0">
                <a:solidFill>
                  <a:srgbClr val="17242B"/>
                </a:solidFill>
                <a:latin typeface="Yu Gothic UI"/>
                <a:ea typeface="Yu Gothic UI"/>
                <a:cs typeface="Yu Gothic UI"/>
              </a:defRPr>
            </a:pPr>
            <a:r>
              <a:rPr sz="1200" b="0">
                <a:solidFill>
                  <a:srgbClr val="17242B"/>
                </a:solidFill>
                <a:latin typeface="Yu Gothic UI"/>
                <a:ea typeface="Yu Gothic UI"/>
                <a:cs typeface="Yu Gothic UI"/>
              </a:rPr>
              <a:t>01  Antigravity IDE / CLIへサインイン済み</a:t>
            </a:r>
          </a:p>
          <a:p xmlns:a="http://schemas.openxmlformats.org/drawingml/2006/main">
            <a:pPr>
              <a:lnSpc>
                <a:spcPct val="112000"/>
              </a:lnSpc>
              <a:buNone/>
              <a:defRPr sz="1200" b="0">
                <a:solidFill>
                  <a:srgbClr val="17242B"/>
                </a:solidFill>
                <a:latin typeface="Yu Gothic UI"/>
                <a:ea typeface="Yu Gothic UI"/>
                <a:cs typeface="Yu Gothic UI"/>
              </a:defRPr>
            </a:pPr>
            <a:r>
              <a:rPr sz="1200" b="0">
                <a:solidFill>
                  <a:srgbClr val="17242B"/>
                </a:solidFill>
                <a:latin typeface="Yu Gothic UI"/>
                <a:ea typeface="Yu Gothic UI"/>
                <a:cs typeface="Yu Gothic UI"/>
              </a:rPr>
              <a:t>02  専用repoだけを開いている</a:t>
            </a:r>
          </a:p>
          <a:p xmlns:a="http://schemas.openxmlformats.org/drawingml/2006/main">
            <a:pPr>
              <a:lnSpc>
                <a:spcPct val="112000"/>
              </a:lnSpc>
              <a:buNone/>
              <a:defRPr sz="1200" b="0">
                <a:solidFill>
                  <a:srgbClr val="17242B"/>
                </a:solidFill>
                <a:latin typeface="Yu Gothic UI"/>
                <a:ea typeface="Yu Gothic UI"/>
                <a:cs typeface="Yu Gothic UI"/>
              </a:defRPr>
            </a:pPr>
            <a:r>
              <a:rPr sz="1200" b="0">
                <a:solidFill>
                  <a:srgbClr val="17242B"/>
                </a:solidFill>
                <a:latin typeface="Yu Gothic UI"/>
                <a:ea typeface="Yu Gothic UI"/>
                <a:cs typeface="Yu Gothic UI"/>
              </a:rPr>
              <a:t>03  remote / branch / statusが予定どおり</a:t>
            </a:r>
          </a:p>
          <a:p xmlns:a="http://schemas.openxmlformats.org/drawingml/2006/main">
            <a:pPr>
              <a:lnSpc>
                <a:spcPct val="112000"/>
              </a:lnSpc>
              <a:buNone/>
              <a:defRPr sz="1200" b="0">
                <a:solidFill>
                  <a:srgbClr val="17242B"/>
                </a:solidFill>
                <a:latin typeface="Yu Gothic UI"/>
                <a:ea typeface="Yu Gothic UI"/>
                <a:cs typeface="Yu Gothic UI"/>
              </a:defRPr>
            </a:pPr>
            <a:r>
              <a:rPr sz="1200" b="0">
                <a:solidFill>
                  <a:srgbClr val="17242B"/>
                </a:solidFill>
                <a:latin typeface="Yu Gothic UI"/>
                <a:ea typeface="Yu Gothic UI"/>
                <a:cs typeface="Yu Gothic UI"/>
              </a:rPr>
              <a:t>04  /grill-me と /find-skills が表示</a:t>
            </a:r>
          </a:p>
          <a:p xmlns:a="http://schemas.openxmlformats.org/drawingml/2006/main">
            <a:pPr>
              <a:lnSpc>
                <a:spcPct val="112000"/>
              </a:lnSpc>
              <a:buNone/>
              <a:defRPr sz="1200" b="0">
                <a:solidFill>
                  <a:srgbClr val="17242B"/>
                </a:solidFill>
                <a:latin typeface="Yu Gothic UI"/>
                <a:ea typeface="Yu Gothic UI"/>
                <a:cs typeface="Yu Gothic UI"/>
              </a:defRPr>
            </a:pPr>
            <a:r>
              <a:rPr sz="1200" b="0">
                <a:solidFill>
                  <a:srgbClr val="17242B"/>
                </a:solidFill>
                <a:latin typeface="Yu Gothic UI"/>
                <a:ea typeface="Yu Gothic UI"/>
                <a:cs typeface="Yu Gothic UI"/>
              </a:rPr>
              <a:t>05  frontend-design は未導入</a:t>
            </a:r>
          </a:p>
          <a:p xmlns:a="http://schemas.openxmlformats.org/drawingml/2006/main">
            <a:pPr>
              <a:lnSpc>
                <a:spcPct val="112000"/>
              </a:lnSpc>
              <a:buNone/>
              <a:defRPr sz="1200" b="0">
                <a:solidFill>
                  <a:srgbClr val="17242B"/>
                </a:solidFill>
                <a:latin typeface="Yu Gothic UI"/>
                <a:ea typeface="Yu Gothic UI"/>
                <a:cs typeface="Yu Gothic UI"/>
              </a:defRPr>
            </a:pPr>
            <a:r>
              <a:rPr sz="1200" b="0">
                <a:solidFill>
                  <a:srgbClr val="17242B"/>
                </a:solidFill>
                <a:latin typeface="Yu Gothic UI"/>
                <a:ea typeface="Yu Gothic UI"/>
                <a:cs typeface="Yu Gothic UI"/>
              </a:rPr>
              <a:t>06  agy 1.1.11を起動確認</a:t>
            </a:r>
          </a:p>
          <a:p xmlns:a="http://schemas.openxmlformats.org/drawingml/2006/main">
            <a:pPr>
              <a:lnSpc>
                <a:spcPct val="112000"/>
              </a:lnSpc>
              <a:buNone/>
              <a:defRPr sz="1200" b="0">
                <a:solidFill>
                  <a:srgbClr val="17242B"/>
                </a:solidFill>
                <a:latin typeface="Yu Gothic UI"/>
                <a:ea typeface="Yu Gothic UI"/>
                <a:cs typeface="Yu Gothic UI"/>
              </a:defRPr>
            </a:pPr>
            <a:r>
              <a:rPr sz="1200" b="0">
                <a:solidFill>
                  <a:srgbClr val="17242B"/>
                </a:solidFill>
                <a:latin typeface="Yu Gothic UI"/>
                <a:ea typeface="Yu Gothic UI"/>
                <a:cs typeface="Yu Gothic UI"/>
              </a:rPr>
              <a:t>07  CLI TUIで対象4ファイルのreadだけ許可</a:t>
            </a:r>
          </a:p>
          <a:p xmlns:a="http://schemas.openxmlformats.org/drawingml/2006/main">
            <a:pPr>
              <a:lnSpc>
                <a:spcPct val="112000"/>
              </a:lnSpc>
              <a:buNone/>
              <a:defRPr sz="1200" b="0">
                <a:solidFill>
                  <a:srgbClr val="17242B"/>
                </a:solidFill>
                <a:latin typeface="Yu Gothic UI"/>
                <a:ea typeface="Yu Gothic UI"/>
                <a:cs typeface="Yu Gothic UI"/>
              </a:defRPr>
            </a:pPr>
            <a:r>
              <a:rPr sz="1200" b="0">
                <a:solidFill>
                  <a:srgbClr val="17242B"/>
                </a:solidFill>
                <a:latin typeface="Yu Gothic UI"/>
                <a:ea typeface="Yu Gothic UI"/>
                <a:cs typeface="Yu Gothic UI"/>
              </a:rPr>
              <a:t>08  SDK 0.1.10 import + dry-run PASS</a:t>
            </a:r>
          </a:p>
          <a:p xmlns:a="http://schemas.openxmlformats.org/drawingml/2006/main">
            <a:pPr>
              <a:lnSpc>
                <a:spcPct val="112000"/>
              </a:lnSpc>
              <a:buNone/>
              <a:defRPr sz="1200" b="0">
                <a:solidFill>
                  <a:srgbClr val="17242B"/>
                </a:solidFill>
                <a:latin typeface="Yu Gothic UI"/>
                <a:ea typeface="Yu Gothic UI"/>
                <a:cs typeface="Yu Gothic UI"/>
              </a:defRPr>
            </a:pPr>
            <a:r>
              <a:rPr sz="1200" b="0">
                <a:solidFill>
                  <a:srgbClr val="17242B"/>
                </a:solidFill>
                <a:latin typeface="Yu Gothic UI"/>
                <a:ea typeface="Yu Gothic UI"/>
                <a:cs typeface="Yu Gothic UI"/>
              </a:rPr>
              <a:t>09  GEMINI_API_KEY / quotaを前日に確認</a:t>
            </a:r>
          </a:p>
          <a:p xmlns:a="http://schemas.openxmlformats.org/drawingml/2006/main">
            <a:pPr>
              <a:lnSpc>
                <a:spcPct val="112000"/>
              </a:lnSpc>
              <a:buNone/>
              <a:defRPr sz="1200" b="0">
                <a:solidFill>
                  <a:srgbClr val="17242B"/>
                </a:solidFill>
                <a:latin typeface="Yu Gothic UI"/>
                <a:ea typeface="Yu Gothic UI"/>
                <a:cs typeface="Yu Gothic UI"/>
              </a:defRPr>
            </a:pPr>
            <a:r>
              <a:rPr sz="1200" b="0">
                <a:solidFill>
                  <a:srgbClr val="17242B"/>
                </a:solidFill>
                <a:latin typeface="Yu Gothic UI"/>
                <a:ea typeface="Yu Gothic UI"/>
                <a:cs typeface="Yu Gothic UI"/>
              </a:rPr>
              <a:t>10  SITE_BRIEF = SYNTHETIC_DATA_ONLY</a:t>
            </a:r>
          </a:p>
        </p:txBody>
      </p:sp>
      <p:sp>
        <p:nvSpPr>
          <p:cNvPr id="16" name="">
            <a:extLst xmlns:a="http://schemas.openxmlformats.org/drawingml/2006/main">
              <a:ext uri="{FF2B5EF4-FFF2-40B4-BE49-F238E27FC236}">
                <a16:creationId xmlns:a16="http://schemas.microsoft.com/office/drawing/2014/main" id="{DB7DB4E4-4B60-4385-8F28-897522371F84}"/>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A4FBA91-869F-4E5E-8CB7-F24164E79777}"/>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公開先 + 会場チェック</a:t>
            </a:r>
          </a:p>
        </p:txBody>
      </p:sp>
      <p:sp>
        <p:nvSpPr>
          <p:cNvPr id="18" name="">
            <a:extLst xmlns:a="http://schemas.openxmlformats.org/drawingml/2006/main">
              <a:ext uri="{FF2B5EF4-FFF2-40B4-BE49-F238E27FC236}">
                <a16:creationId xmlns:a16="http://schemas.microsoft.com/office/drawing/2014/main" id="{CB7BA05C-C4FE-4A13-B233-1C552E2B13A8}"/>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A38FB8F-2B0C-41E1-9B66-6EAFB0D35C08}"/>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163" b="0">
                <a:solidFill>
                  <a:srgbClr val="E8F4F7"/>
                </a:solidFill>
                <a:latin typeface="Yu Gothic UI"/>
                <a:ea typeface="Yu Gothic UI"/>
                <a:cs typeface="Yu Gothic UI"/>
              </a:defRPr>
            </a:pPr>
            <a:r>
              <a:rPr sz="1163" b="0">
                <a:solidFill>
                  <a:srgbClr val="E8F4F7"/>
                </a:solidFill>
                <a:latin typeface="Yu Gothic UI"/>
                <a:ea typeface="Yu Gothic UI"/>
                <a:cs typeface="Yu Gothic UI"/>
              </a:rPr>
              <a:t>REPOSITORY</a:t>
            </a:r>
          </a:p>
          <a:p xmlns:a="http://schemas.openxmlformats.org/drawingml/2006/main">
            <a:pPr>
              <a:lnSpc>
                <a:spcPct val="112000"/>
              </a:lnSpc>
              <a:buNone/>
              <a:defRPr sz="1163" b="0">
                <a:solidFill>
                  <a:srgbClr val="E8F4F7"/>
                </a:solidFill>
                <a:latin typeface="Yu Gothic UI"/>
                <a:ea typeface="Yu Gothic UI"/>
                <a:cs typeface="Yu Gothic UI"/>
              </a:defRPr>
            </a:pPr>
            <a:r>
              <a:rPr sz="1163" b="0">
                <a:solidFill>
                  <a:srgbClr val="E8F4F7"/>
                </a:solidFill>
                <a:latin typeface="Yu Gothic UI"/>
                <a:ea typeface="Yu Gothic UI"/>
                <a:cs typeface="Yu Gothic UI"/>
              </a:rPr>
              <a:t>kanta13jp1/mighty-link-antigravity-live-demo</a:t>
            </a:r>
          </a:p>
          <a:p xmlns:a="http://schemas.openxmlformats.org/drawingml/2006/main">
            <a:r>
              <a:t/>
            </a:r>
          </a:p>
          <a:p xmlns:a="http://schemas.openxmlformats.org/drawingml/2006/main">
            <a:pPr>
              <a:lnSpc>
                <a:spcPct val="112000"/>
              </a:lnSpc>
              <a:buNone/>
              <a:defRPr sz="1163" b="0">
                <a:solidFill>
                  <a:srgbClr val="E8F4F7"/>
                </a:solidFill>
                <a:latin typeface="Yu Gothic UI"/>
                <a:ea typeface="Yu Gothic UI"/>
                <a:cs typeface="Yu Gothic UI"/>
              </a:defRPr>
            </a:pPr>
            <a:r>
              <a:rPr sz="1163" b="0">
                <a:solidFill>
                  <a:srgbClr val="E8F4F7"/>
                </a:solidFill>
                <a:latin typeface="Yu Gothic UI"/>
                <a:ea typeface="Yu Gothic UI"/>
                <a:cs typeface="Yu Gothic UI"/>
              </a:rPr>
              <a:t>PAGES URL</a:t>
            </a:r>
          </a:p>
          <a:p xmlns:a="http://schemas.openxmlformats.org/drawingml/2006/main">
            <a:pPr>
              <a:lnSpc>
                <a:spcPct val="112000"/>
              </a:lnSpc>
              <a:buNone/>
              <a:defRPr sz="1163" b="0">
                <a:solidFill>
                  <a:srgbClr val="E8F4F7"/>
                </a:solidFill>
                <a:latin typeface="Yu Gothic UI"/>
                <a:ea typeface="Yu Gothic UI"/>
                <a:cs typeface="Yu Gothic UI"/>
              </a:defRPr>
            </a:pPr>
            <a:r>
              <a:rPr sz="1163" b="0">
                <a:solidFill>
                  <a:srgbClr val="E8F4F7"/>
                </a:solidFill>
                <a:latin typeface="Yu Gothic UI"/>
                <a:ea typeface="Yu Gothic UI"/>
                <a:cs typeface="Yu Gothic UI"/>
              </a:rPr>
              <a:t>https://kanta13jp1.github.io/</a:t>
            </a:r>
          </a:p>
          <a:p xmlns:a="http://schemas.openxmlformats.org/drawingml/2006/main">
            <a:pPr>
              <a:lnSpc>
                <a:spcPct val="112000"/>
              </a:lnSpc>
              <a:buNone/>
              <a:defRPr sz="1163" b="0">
                <a:solidFill>
                  <a:srgbClr val="E8F4F7"/>
                </a:solidFill>
                <a:latin typeface="Yu Gothic UI"/>
                <a:ea typeface="Yu Gothic UI"/>
                <a:cs typeface="Yu Gothic UI"/>
              </a:defRPr>
            </a:pPr>
            <a:r>
              <a:rPr sz="1163" b="0">
                <a:solidFill>
                  <a:srgbClr val="E8F4F7"/>
                </a:solidFill>
                <a:latin typeface="Yu Gothic UI"/>
                <a:ea typeface="Yu Gothic UI"/>
                <a:cs typeface="Yu Gothic UI"/>
              </a:rPr>
              <a:t>mighty-link-antigravity-live-demo/</a:t>
            </a:r>
          </a:p>
          <a:p xmlns:a="http://schemas.openxmlformats.org/drawingml/2006/main">
            <a:r>
              <a:t/>
            </a:r>
          </a:p>
          <a:p xmlns:a="http://schemas.openxmlformats.org/drawingml/2006/main">
            <a:pPr>
              <a:lnSpc>
                <a:spcPct val="112000"/>
              </a:lnSpc>
              <a:buNone/>
              <a:defRPr sz="1163" b="0">
                <a:solidFill>
                  <a:srgbClr val="E8F4F7"/>
                </a:solidFill>
                <a:latin typeface="Yu Gothic UI"/>
                <a:ea typeface="Yu Gothic UI"/>
                <a:cs typeface="Yu Gothic UI"/>
              </a:defRPr>
            </a:pPr>
            <a:r>
              <a:rPr sz="1163" b="0">
                <a:solidFill>
                  <a:srgbClr val="E8F4F7"/>
                </a:solidFill>
                <a:latin typeface="Yu Gothic UI"/>
                <a:ea typeface="Yu Gothic UI"/>
                <a:cs typeface="Yu Gothic UI"/>
              </a:rPr>
              <a:t>会場への1問</a:t>
            </a:r>
          </a:p>
          <a:p xmlns:a="http://schemas.openxmlformats.org/drawingml/2006/main">
            <a:pPr>
              <a:lnSpc>
                <a:spcPct val="112000"/>
              </a:lnSpc>
              <a:buNone/>
              <a:defRPr sz="1163" b="0">
                <a:solidFill>
                  <a:srgbClr val="E8F4F7"/>
                </a:solidFill>
                <a:latin typeface="Yu Gothic UI"/>
                <a:ea typeface="Yu Gothic UI"/>
                <a:cs typeface="Yu Gothic UI"/>
              </a:defRPr>
            </a:pPr>
            <a:r>
              <a:rPr sz="1163" b="0">
                <a:solidFill>
                  <a:srgbClr val="E8F4F7"/>
                </a:solidFill>
                <a:latin typeface="Yu Gothic UI"/>
                <a:ea typeface="Yu Gothic UI"/>
                <a:cs typeface="Yu Gothic UI"/>
              </a:rPr>
              <a:t>AIエージェントでファイルを変更した経験は？</a:t>
            </a:r>
          </a:p>
          <a:p xmlns:a="http://schemas.openxmlformats.org/drawingml/2006/main">
            <a:pPr>
              <a:lnSpc>
                <a:spcPct val="112000"/>
              </a:lnSpc>
              <a:buNone/>
              <a:defRPr sz="1163" b="0">
                <a:solidFill>
                  <a:srgbClr val="E8F4F7"/>
                </a:solidFill>
                <a:latin typeface="Yu Gothic UI"/>
                <a:ea typeface="Yu Gothic UI"/>
                <a:cs typeface="Yu Gothic UI"/>
              </a:defRPr>
            </a:pPr>
            <a:r>
              <a:rPr sz="1163" b="0">
                <a:solidFill>
                  <a:srgbClr val="E8F4F7"/>
                </a:solidFill>
                <a:latin typeface="Yu Gothic UI"/>
                <a:ea typeface="Yu Gothic UI"/>
                <a:cs typeface="Yu Gothic UI"/>
              </a:rPr>
              <a:t>0回 / 1回 / 複数回</a:t>
            </a:r>
          </a:p>
          <a:p xmlns:a="http://schemas.openxmlformats.org/drawingml/2006/main">
            <a:r>
              <a:t/>
            </a:r>
          </a:p>
          <a:p xmlns:a="http://schemas.openxmlformats.org/drawingml/2006/main">
            <a:pPr>
              <a:lnSpc>
                <a:spcPct val="112000"/>
              </a:lnSpc>
              <a:buNone/>
              <a:defRPr sz="1163" b="0">
                <a:solidFill>
                  <a:srgbClr val="E8F4F7"/>
                </a:solidFill>
                <a:latin typeface="Yu Gothic UI"/>
                <a:ea typeface="Yu Gothic UI"/>
                <a:cs typeface="Yu Gothic UI"/>
              </a:defRPr>
            </a:pPr>
            <a:r>
              <a:rPr sz="1163" b="0">
                <a:solidFill>
                  <a:srgbClr val="E8F4F7"/>
                </a:solidFill>
                <a:latin typeface="Yu Gothic UI"/>
                <a:ea typeface="Yu Gothic UI"/>
                <a:cs typeface="Yu Gothic UI"/>
              </a:rPr>
              <a:t>本番サイト・認証情報・顧客情報は触らない</a:t>
            </a:r>
          </a:p>
          <a:p xmlns:a="http://schemas.openxmlformats.org/drawingml/2006/main">
            <a:pPr>
              <a:lnSpc>
                <a:spcPct val="112000"/>
              </a:lnSpc>
              <a:buNone/>
              <a:defRPr sz="1163" b="0">
                <a:solidFill>
                  <a:srgbClr val="E8F4F7"/>
                </a:solidFill>
                <a:latin typeface="Yu Gothic UI"/>
                <a:ea typeface="Yu Gothic UI"/>
                <a:cs typeface="Yu Gothic UI"/>
              </a:defRPr>
            </a:pPr>
            <a:r>
              <a:rPr sz="1163" b="0">
                <a:solidFill>
                  <a:srgbClr val="E8F4F7"/>
                </a:solidFill>
                <a:latin typeface="Yu Gothic UI"/>
                <a:ea typeface="Yu Gothic UI"/>
                <a:cs typeface="Yu Gothic UI"/>
              </a:rPr>
              <a:t>公開は正確な『公開して』の後だけ</a:t>
            </a:r>
          </a:p>
        </p:txBody>
      </p:sp>
    </p:spTree>
    <p:extLst>
      <p:ext uri="{BB962C8B-B14F-4D97-AF65-F5344CB8AC3E}">
        <p14:creationId xmlns:p14="http://schemas.microsoft.com/office/powerpoint/2010/main" val="101826840"/>
      </p:ext>
    </p:extLst>
  </p:cSld>
</p:sld>
</file>

<file path=ppt/slides/slide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09 / 36</a:t>
            </a:r>
          </a:p>
        </p:txBody>
      </p:sp>
      <p:pic>
        <p:nvPicPr>
          <p:cNvPr id="34" name="Picture 16"/>
          <p:cNvPicPr>
            <a:picLocks xmlns:a="http://schemas.openxmlformats.org/drawingml/2006/main" noChangeAspect="1"/>
          </p:cNvPicPr>
          <p:nvPr/>
        </p:nvPicPr>
        <p:blipFill>
          <a:blip xmlns:r="http://schemas.openxmlformats.org/officeDocument/2006/relationships" xmlns:a="http://schemas.openxmlformats.org/drawingml/2006/main" r:embed="R35a01b28e2564e08"/>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E7F58AEE-F63D-462D-9B94-95F115D9F4C2}"/>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0  |  /GRILL-ME</a:t>
            </a:r>
          </a:p>
        </p:txBody>
      </p:sp>
      <p:sp>
        <p:nvSpPr>
          <p:cNvPr id="19" name="">
            <a:extLst xmlns:a="http://schemas.openxmlformats.org/drawingml/2006/main">
              <a:ext uri="{FF2B5EF4-FFF2-40B4-BE49-F238E27FC236}">
                <a16:creationId xmlns:a16="http://schemas.microsoft.com/office/drawing/2014/main" id="{FD8C0A1B-AAA4-41D7-80E1-A9C041ACFEFF}"/>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実装前に、目的・除外・停止条件・成功条件を言葉にします</a:t>
            </a:r>
          </a:p>
        </p:txBody>
      </p:sp>
      <p:sp>
        <p:nvSpPr>
          <p:cNvPr id="20" name="">
            <a:extLst xmlns:a="http://schemas.openxmlformats.org/drawingml/2006/main">
              <a:ext uri="{FF2B5EF4-FFF2-40B4-BE49-F238E27FC236}">
                <a16:creationId xmlns:a16="http://schemas.microsoft.com/office/drawing/2014/main" id="{19C4F611-5978-487A-AD47-E174915BA3BB}"/>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EDB4ADC-0156-4794-86D1-7C5264F2E0ED}"/>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/grill-me</a:t>
            </a:r>
          </a:p>
        </p:txBody>
      </p:sp>
      <p:sp>
        <p:nvSpPr>
          <p:cNvPr id="22" name="">
            <a:extLst xmlns:a="http://schemas.openxmlformats.org/drawingml/2006/main">
              <a:ext uri="{FF2B5EF4-FFF2-40B4-BE49-F238E27FC236}">
                <a16:creationId xmlns:a16="http://schemas.microsoft.com/office/drawing/2014/main" id="{8654D419-6401-4700-A317-2AD8E3FA7DE2}"/>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3" name="">
            <a:extLst xmlns:a="http://schemas.openxmlformats.org/drawingml/2006/main">
              <a:ext uri="{FF2B5EF4-FFF2-40B4-BE49-F238E27FC236}">
                <a16:creationId xmlns:a16="http://schemas.microsoft.com/office/drawing/2014/main" id="{EADDD40D-73E5-4545-928E-6F7FD5F5D192}"/>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4" name="">
            <a:extLst xmlns:a="http://schemas.openxmlformats.org/drawingml/2006/main">
              <a:ext uri="{FF2B5EF4-FFF2-40B4-BE49-F238E27FC236}">
                <a16:creationId xmlns:a16="http://schemas.microsoft.com/office/drawing/2014/main" id="{5EAEF15E-1FA3-437E-B410-7E083517433B}"/>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8819"/>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0 / /grill-meで実装前の判断を固める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/grill-me</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30分のライブデモで「AI Agent Learning Hub」という1ページWebサイトを作ります。実装前に、矛盾や不足がないか厳しく確認してください。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確定済みの前提:</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観客は非エンジニアと開発者の混在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サイトはCodex、Claude Code、Claude Cowork、Kiro、Antigravityの5製品を短時間で比較できる研修用成果物</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ゴールは、観客がAIエージェントによる要件整理、制作、改善、検証、公開の流れを理解すること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- 5製品の公式機能を比較するが、ライブ操作はAntigravityだけを使う</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公開可能な製品説明とローカル画像だけを使い、個人情報、顧客情報、認証情報は使わない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ログイン、フォーム送信、外部API、分析タグ、永続保存は作らない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専用GitHub Pagesリポジトリだけへ公開する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- 30分以内にSkill導入、初版作成、改善、公開確認まで見せる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実装結果を大きく変える質問だけを最大2問、1問ずつ質問してください。各質問には推奨回答と、その理由を1行で添えて、私の回答を待ってください。私が「推奨案で進めてください」と答えた場合は、その推奨回答を採用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回答後に「決定事項／見送ること／停止条件／成功条件」を4区分で要約してください。この段階ではファイル変更、コマンド実行、外部通信を行わないでください。</a:t>
            </a:r>
          </a:p>
        </p:txBody>
      </p:sp>
      <p:sp>
        <p:nvSpPr>
          <p:cNvPr id="25" name="">
            <a:extLst xmlns:a="http://schemas.openxmlformats.org/drawingml/2006/main">
              <a:ext uri="{FF2B5EF4-FFF2-40B4-BE49-F238E27FC236}">
                <a16:creationId xmlns:a16="http://schemas.microsoft.com/office/drawing/2014/main" id="{A8C20460-7883-41E4-9EBA-2FB443ED7E24}"/>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docs/demo/antigravity_workshop/PROMPT_00_GRILL_ME.txt</a:t>
            </a:r>
          </a:p>
        </p:txBody>
      </p:sp>
    </p:spTree>
    <p:extLst>
      <p:ext uri="{BB962C8B-B14F-4D97-AF65-F5344CB8AC3E}">
        <p14:creationId xmlns:p14="http://schemas.microsoft.com/office/powerpoint/2010/main" val="107929079"/>
      </p:ext>
    </p:extLst>
  </p:cSld>
</p:sld>
</file>

<file path=ppt/slides/slide1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10 / 36</a:t>
            </a:r>
          </a:p>
        </p:txBody>
      </p:sp>
      <p:sp>
        <p:nvSpPr>
          <p:cNvPr id="10" name="">
            <a:extLst xmlns:a="http://schemas.openxmlformats.org/drawingml/2006/main">
              <a:ext uri="{FF2B5EF4-FFF2-40B4-BE49-F238E27FC236}">
                <a16:creationId xmlns:a16="http://schemas.microsoft.com/office/drawing/2014/main" id="{A9D1C8B9-08B9-4BC0-BDDD-EFBD7C2B29EC}"/>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/GRILL-ME  |  WHY</a:t>
            </a:r>
          </a:p>
        </p:txBody>
      </p:sp>
      <p:sp>
        <p:nvSpPr>
          <p:cNvPr id="11" name="">
            <a:extLst xmlns:a="http://schemas.openxmlformats.org/drawingml/2006/main">
              <a:ext uri="{FF2B5EF4-FFF2-40B4-BE49-F238E27FC236}">
                <a16:creationId xmlns:a16="http://schemas.microsoft.com/office/drawing/2014/main" id="{DCCA8038-2BA4-4D46-A4D5-103B1E80154B}"/>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Skillは、会話のたびに再利用できる仕事の型です</a:t>
            </a:r>
          </a:p>
        </p:txBody>
      </p:sp>
      <p:sp>
        <p:nvSpPr>
          <p:cNvPr id="12" name="">
            <a:extLst xmlns:a="http://schemas.openxmlformats.org/drawingml/2006/main">
              <a:ext uri="{FF2B5EF4-FFF2-40B4-BE49-F238E27FC236}">
                <a16:creationId xmlns:a16="http://schemas.microsoft.com/office/drawing/2014/main" id="{9BE06F10-BD69-4577-B449-7981A2AD1413}"/>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3" name="">
            <a:extLst xmlns:a="http://schemas.openxmlformats.org/drawingml/2006/main">
              <a:ext uri="{FF2B5EF4-FFF2-40B4-BE49-F238E27FC236}">
                <a16:creationId xmlns:a16="http://schemas.microsoft.com/office/drawing/2014/main" id="{ED59CAE7-F410-489F-B0DC-7139DD6EAB8F}"/>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/grill-me の役割</a:t>
            </a:r>
          </a:p>
        </p:txBody>
      </p:sp>
      <p:sp>
        <p:nvSpPr>
          <p:cNvPr id="14" name="">
            <a:extLst xmlns:a="http://schemas.openxmlformats.org/drawingml/2006/main">
              <a:ext uri="{FF2B5EF4-FFF2-40B4-BE49-F238E27FC236}">
                <a16:creationId xmlns:a16="http://schemas.microsoft.com/office/drawing/2014/main" id="{418440D8-5F75-41AB-BC97-DF655DCC5FCD}"/>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E3E3622E-1848-4708-8065-C90644F6FAA3}"/>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曖昧な依頼を実装前に質問する。</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結果を変える判断だけを残す。</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今回の制限</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・質問は最大2問</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・1問ずつ + 推奨案 + 理由</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・回答を待ってから次へ</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・ファイル変更 / コマンド / 外部通信なし</a:t>
            </a:r>
          </a:p>
        </p:txBody>
      </p:sp>
      <p:sp>
        <p:nvSpPr>
          <p:cNvPr id="16" name="">
            <a:extLst xmlns:a="http://schemas.openxmlformats.org/drawingml/2006/main">
              <a:ext uri="{FF2B5EF4-FFF2-40B4-BE49-F238E27FC236}">
                <a16:creationId xmlns:a16="http://schemas.microsoft.com/office/drawing/2014/main" id="{17E66B9E-C723-4AD3-B0C0-3F7DD123E86E}"/>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57760DB-24EB-4D6F-ACD3-E2F6689A936A}"/>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期待する出力</a:t>
            </a:r>
          </a:p>
        </p:txBody>
      </p:sp>
      <p:sp>
        <p:nvSpPr>
          <p:cNvPr id="18" name="">
            <a:extLst xmlns:a="http://schemas.openxmlformats.org/drawingml/2006/main">
              <a:ext uri="{FF2B5EF4-FFF2-40B4-BE49-F238E27FC236}">
                <a16:creationId xmlns:a16="http://schemas.microsoft.com/office/drawing/2014/main" id="{A2D0BB42-8338-48AA-A14B-4ECBD940E5B0}"/>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1A3A6C1-32BE-4FD5-B95F-D52D0C32DBEB}"/>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DECISIONS</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読み手 / 1画面の仕事 / 必須機能</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OUT OF SCOPE</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ログイン / 送信 / 外部API / 永続保存</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STOP CONDITIONS</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専用repo以外 / 秘密情報 / 90秒停止</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SUCCESS</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5カード / 5・4・1・5 / 最大2比較 / 2 viewport / HTTPS</a:t>
            </a:r>
          </a:p>
        </p:txBody>
      </p:sp>
    </p:spTree>
    <p:extLst>
      <p:ext uri="{BB962C8B-B14F-4D97-AF65-F5344CB8AC3E}">
        <p14:creationId xmlns:p14="http://schemas.microsoft.com/office/powerpoint/2010/main" val="101826840"/>
      </p:ext>
    </p:extLst>
  </p:cSld>
</p:sld>
</file>

<file path=ppt/slides/slide1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11 / 36</a:t>
            </a:r>
          </a:p>
        </p:txBody>
      </p:sp>
      <p:pic>
        <p:nvPicPr>
          <p:cNvPr id="34" name="Picture 16"/>
          <p:cNvPicPr>
            <a:picLocks xmlns:a="http://schemas.openxmlformats.org/drawingml/2006/main" noChangeAspect="1"/>
          </p:cNvPicPr>
          <p:nvPr/>
        </p:nvPicPr>
        <p:blipFill>
          <a:blip xmlns:r="http://schemas.openxmlformats.org/officeDocument/2006/relationships" xmlns:a="http://schemas.openxmlformats.org/drawingml/2006/main" r:embed="Rc184393967734fd0"/>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6908414B-5964-4983-9BEB-7C2B527B6B9B}"/>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1  |  /FIND-SKILLS</a:t>
            </a:r>
          </a:p>
        </p:txBody>
      </p:sp>
      <p:sp>
        <p:nvSpPr>
          <p:cNvPr id="19" name="">
            <a:extLst xmlns:a="http://schemas.openxmlformats.org/drawingml/2006/main">
              <a:ext uri="{FF2B5EF4-FFF2-40B4-BE49-F238E27FC236}">
                <a16:creationId xmlns:a16="http://schemas.microsoft.com/office/drawing/2014/main" id="{C8D5BA11-F02A-42FB-B49A-03F51945AD0A}"/>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実装を始める前に、信頼できる専門能力を探します</a:t>
            </a:r>
          </a:p>
        </p:txBody>
      </p:sp>
      <p:sp>
        <p:nvSpPr>
          <p:cNvPr id="20" name="">
            <a:extLst xmlns:a="http://schemas.openxmlformats.org/drawingml/2006/main">
              <a:ext uri="{FF2B5EF4-FFF2-40B4-BE49-F238E27FC236}">
                <a16:creationId xmlns:a16="http://schemas.microsoft.com/office/drawing/2014/main" id="{97D15A1E-E6C4-4071-850A-A8F223661532}"/>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B15A35D-5271-4D68-BC5B-C3FA5B4D4E02}"/>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/find-skills</a:t>
            </a:r>
          </a:p>
        </p:txBody>
      </p:sp>
      <p:sp>
        <p:nvSpPr>
          <p:cNvPr id="22" name="">
            <a:extLst xmlns:a="http://schemas.openxmlformats.org/drawingml/2006/main">
              <a:ext uri="{FF2B5EF4-FFF2-40B4-BE49-F238E27FC236}">
                <a16:creationId xmlns:a16="http://schemas.microsoft.com/office/drawing/2014/main" id="{BDD28D93-8C7B-49CD-8F0E-9F319B1B0003}"/>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3" name="">
            <a:extLst xmlns:a="http://schemas.openxmlformats.org/drawingml/2006/main">
              <a:ext uri="{FF2B5EF4-FFF2-40B4-BE49-F238E27FC236}">
                <a16:creationId xmlns:a16="http://schemas.microsoft.com/office/drawing/2014/main" id="{AB8AC0E8-70B7-470F-9807-E5CCAD74189B}"/>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4" name="">
            <a:extLst xmlns:a="http://schemas.openxmlformats.org/drawingml/2006/main">
              <a:ext uri="{FF2B5EF4-FFF2-40B4-BE49-F238E27FC236}">
                <a16:creationId xmlns:a16="http://schemas.microsoft.com/office/drawing/2014/main" id="{804C36E3-54DE-4671-A761-E48EC9CB1064}"/>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523"/>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1 / /find-skillsで専門能力を探す</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/find-skills</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5製品を比較するAI Agent Learning Hubの、情報設計、Webデザイン、レスポンシブ品質、アクセシビリティを改善できるAgent Skillを探してください。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最初にskills.shの上位候補を確認し、次にSkills CLIで`npx skills find "frontend design"`を実行してください。候補は3件までに絞り、次を表で比較してください。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Skill名と用途</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インストール数</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公開元とGitHub stars</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セキュリティ監査の結果</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インストールコマンド</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skills.shのURL</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公開元の信頼性、利用実績、監査結果を確認して推奨を1件選び、このデモで何を改善させるかを2行で説明してください。まだSkillのインストール、ファイル変更、外部サービスへの書き込みは行わないでください。</a:t>
            </a:r>
          </a:p>
        </p:txBody>
      </p:sp>
      <p:sp>
        <p:nvSpPr>
          <p:cNvPr id="25" name="">
            <a:extLst xmlns:a="http://schemas.openxmlformats.org/drawingml/2006/main">
              <a:ext uri="{FF2B5EF4-FFF2-40B4-BE49-F238E27FC236}">
                <a16:creationId xmlns:a16="http://schemas.microsoft.com/office/drawing/2014/main" id="{D10BB051-66A9-4288-A24D-89059A4CC49F}"/>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docs/demo/antigravity_workshop/PROMPT_01_FIND_SKILLS.txt</a:t>
            </a:r>
          </a:p>
        </p:txBody>
      </p:sp>
    </p:spTree>
    <p:extLst>
      <p:ext uri="{BB962C8B-B14F-4D97-AF65-F5344CB8AC3E}">
        <p14:creationId xmlns:p14="http://schemas.microsoft.com/office/powerpoint/2010/main" val="107929079"/>
      </p:ext>
    </p:extLst>
  </p:cSld>
</p:sld>
</file>

<file path=ppt/slides/slide1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12 / 36</a:t>
            </a:r>
          </a:p>
        </p:txBody>
      </p:sp>
      <p:sp>
        <p:nvSpPr>
          <p:cNvPr id="10" name="">
            <a:extLst xmlns:a="http://schemas.openxmlformats.org/drawingml/2006/main">
              <a:ext uri="{FF2B5EF4-FFF2-40B4-BE49-F238E27FC236}">
                <a16:creationId xmlns:a16="http://schemas.microsoft.com/office/drawing/2014/main" id="{A39C20F6-8200-4831-8D33-97FFC8A41AD3}"/>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/FIND-SKILLS  |  EVIDENCE</a:t>
            </a:r>
          </a:p>
        </p:txBody>
      </p:sp>
      <p:sp>
        <p:nvSpPr>
          <p:cNvPr id="11" name="">
            <a:extLst xmlns:a="http://schemas.openxmlformats.org/drawingml/2006/main">
              <a:ext uri="{FF2B5EF4-FFF2-40B4-BE49-F238E27FC236}">
                <a16:creationId xmlns:a16="http://schemas.microsoft.com/office/drawing/2014/main" id="{38A1D833-3F87-4076-AA61-FF095257FFCD}"/>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見つけるだけで終わらず、公開元・利用実績・監査・中身を確かめます</a:t>
            </a:r>
          </a:p>
        </p:txBody>
      </p:sp>
      <p:sp>
        <p:nvSpPr>
          <p:cNvPr id="12" name="">
            <a:extLst xmlns:a="http://schemas.openxmlformats.org/drawingml/2006/main">
              <a:ext uri="{FF2B5EF4-FFF2-40B4-BE49-F238E27FC236}">
                <a16:creationId xmlns:a16="http://schemas.microsoft.com/office/drawing/2014/main" id="{6A6D7F62-3404-48D6-9169-ED76BCB129EE}"/>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3" name="">
            <a:extLst xmlns:a="http://schemas.openxmlformats.org/drawingml/2006/main">
              <a:ext uri="{FF2B5EF4-FFF2-40B4-BE49-F238E27FC236}">
                <a16:creationId xmlns:a16="http://schemas.microsoft.com/office/drawing/2014/main" id="{FF3D9057-43BB-4E08-9A01-4A73DD4C7C08}"/>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推奨: frontend-design</a:t>
            </a:r>
          </a:p>
        </p:txBody>
      </p:sp>
      <p:sp>
        <p:nvSpPr>
          <p:cNvPr id="14" name="">
            <a:extLst xmlns:a="http://schemas.openxmlformats.org/drawingml/2006/main">
              <a:ext uri="{FF2B5EF4-FFF2-40B4-BE49-F238E27FC236}">
                <a16:creationId xmlns:a16="http://schemas.microsoft.com/office/drawing/2014/main" id="{62A92490-E9EF-4C54-BC58-F806FB23E428}"/>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B3718592-C242-4564-9C7A-A0CFBB03A923}"/>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anthropics/skills@frontend-design</a:t>
            </a:r>
          </a:p>
          <a:p xmlns:a="http://schemas.openxmlformats.org/drawingml/2006/main">
            <a:r>
              <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検索時点: 約75万インストール</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公開元: Anthropic</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GitHub実績: 公式repositoryで確認</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監査: CLI / skills.sh表示を確認</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導入: project-local + --copy</a:t>
            </a:r>
          </a:p>
          <a:p xmlns:a="http://schemas.openxmlformats.org/drawingml/2006/main">
            <a:r>
              <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用途</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情報設計 / タイポグラフィ / 配色 / 余白 / responsive / accessibility</a:t>
            </a:r>
          </a:p>
        </p:txBody>
      </p:sp>
      <p:sp>
        <p:nvSpPr>
          <p:cNvPr id="16" name="">
            <a:extLst xmlns:a="http://schemas.openxmlformats.org/drawingml/2006/main">
              <a:ext uri="{FF2B5EF4-FFF2-40B4-BE49-F238E27FC236}">
                <a16:creationId xmlns:a16="http://schemas.microsoft.com/office/drawing/2014/main" id="{D6C4879F-03F1-423A-8E8D-5A0803F3C190}"/>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537EFA3F-88FD-4167-8C35-79142A109596}"/>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Skillの3段階</a:t>
            </a:r>
          </a:p>
        </p:txBody>
      </p:sp>
      <p:sp>
        <p:nvSpPr>
          <p:cNvPr id="18" name="">
            <a:extLst xmlns:a="http://schemas.openxmlformats.org/drawingml/2006/main">
              <a:ext uri="{FF2B5EF4-FFF2-40B4-BE49-F238E27FC236}">
                <a16:creationId xmlns:a16="http://schemas.microsoft.com/office/drawing/2014/main" id="{8C283561-D5F8-429D-B8DA-556959BC3230}"/>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C0DA9C63-AEA9-4801-8C37-2AF1979D6A10}"/>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1  DISCOVERY</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名前と説明だけで候補を見つける</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2  ACTIVATION</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必要なSkillのSKILL.mdを読む</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3  EXECUTION</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必要な手順・資料・scriptsだけを使う</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Skillはエージェントと同等の権限で動き得る。導入前レビューが必要。</a:t>
            </a:r>
          </a:p>
        </p:txBody>
      </p:sp>
    </p:spTree>
    <p:extLst>
      <p:ext uri="{BB962C8B-B14F-4D97-AF65-F5344CB8AC3E}">
        <p14:creationId xmlns:p14="http://schemas.microsoft.com/office/powerpoint/2010/main" val="101826840"/>
      </p:ext>
    </p:extLst>
  </p:cSld>
</p:sld>
</file>

<file path=ppt/slides/slide1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13 / 36</a:t>
            </a:r>
          </a:p>
        </p:txBody>
      </p:sp>
      <p:pic>
        <p:nvPicPr>
          <p:cNvPr id="34" name="Picture 16"/>
          <p:cNvPicPr>
            <a:picLocks xmlns:a="http://schemas.openxmlformats.org/drawingml/2006/main" noChangeAspect="1"/>
          </p:cNvPicPr>
          <p:nvPr/>
        </p:nvPicPr>
        <p:blipFill>
          <a:blip xmlns:r="http://schemas.openxmlformats.org/officeDocument/2006/relationships" xmlns:a="http://schemas.openxmlformats.org/drawingml/2006/main" r:embed="R50f41ddec1e04f98"/>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96089D6C-FC5A-475D-A36B-01F4A7077159}"/>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2  |  INSTALL SKILL</a:t>
            </a:r>
          </a:p>
        </p:txBody>
      </p:sp>
      <p:sp>
        <p:nvSpPr>
          <p:cNvPr id="19" name="">
            <a:extLst xmlns:a="http://schemas.openxmlformats.org/drawingml/2006/main">
              <a:ext uri="{FF2B5EF4-FFF2-40B4-BE49-F238E27FC236}">
                <a16:creationId xmlns:a16="http://schemas.microsoft.com/office/drawing/2014/main" id="{DA735492-29C0-4B56-829D-B80CA9FC0531}"/>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推奨Skillを専用リポジトリだけへ導入します</a:t>
            </a:r>
          </a:p>
        </p:txBody>
      </p:sp>
      <p:sp>
        <p:nvSpPr>
          <p:cNvPr id="20" name="">
            <a:extLst xmlns:a="http://schemas.openxmlformats.org/drawingml/2006/main">
              <a:ext uri="{FF2B5EF4-FFF2-40B4-BE49-F238E27FC236}">
                <a16:creationId xmlns:a16="http://schemas.microsoft.com/office/drawing/2014/main" id="{AB45F359-1F19-4392-A0F5-A3C234380A38}"/>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530F5D96-E7A6-4012-91D9-41E02EE17800}"/>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INSTALL</a:t>
            </a:r>
          </a:p>
        </p:txBody>
      </p:sp>
      <p:sp>
        <p:nvSpPr>
          <p:cNvPr id="22" name="">
            <a:extLst xmlns:a="http://schemas.openxmlformats.org/drawingml/2006/main">
              <a:ext uri="{FF2B5EF4-FFF2-40B4-BE49-F238E27FC236}">
                <a16:creationId xmlns:a16="http://schemas.microsoft.com/office/drawing/2014/main" id="{EEA0F528-5651-4883-87AA-A2AD5B8D29AC}"/>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3" name="">
            <a:extLst xmlns:a="http://schemas.openxmlformats.org/drawingml/2006/main">
              <a:ext uri="{FF2B5EF4-FFF2-40B4-BE49-F238E27FC236}">
                <a16:creationId xmlns:a16="http://schemas.microsoft.com/office/drawing/2014/main" id="{85D38C34-C997-4BCB-83E6-48B2B2C6463E}"/>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4" name="">
            <a:extLst xmlns:a="http://schemas.openxmlformats.org/drawingml/2006/main">
              <a:ext uri="{FF2B5EF4-FFF2-40B4-BE49-F238E27FC236}">
                <a16:creationId xmlns:a16="http://schemas.microsoft.com/office/drawing/2014/main" id="{9677C16C-6F43-4910-A23A-416B70C86B23}"/>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6207"/>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2 / frontend-design Skillを専用環境へ導入する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推奨された`anthropics/skills@frontend-design`を、この専用リポジトリだけへインストールしてください。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最初に`git remote -v`、現在branch、`git status --short`、`npx skills list --json`を確認してください。remoteが`kanta13jp1/mighty-link-antigravity-live-demo`、branchが`main`でない場合、または`frontend-design`が既に存在する場合は、何も変更せず停止してください。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条件が一致した場合だけ、次を実行してください。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`npx skills add anthropics/skills@frontend-design --agent antigravity --copy -y`</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インストール後に`npx skills list --json`と`.agents/skills/frontend-design/SKILL.md`を読み、次を報告してください。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インストール先がこのリポジトリ内であること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公開元が`anthropics/skills`であること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Skillの目的と、このデモで適用する3つの観点</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監査結果または確認できなかった項目</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この段階ではindex.html、styles.css、app.js、GitHub設定を変更せず、commitとpushも実行しないでください。</a:t>
            </a:r>
          </a:p>
        </p:txBody>
      </p:sp>
      <p:sp>
        <p:nvSpPr>
          <p:cNvPr id="25" name="">
            <a:extLst xmlns:a="http://schemas.openxmlformats.org/drawingml/2006/main">
              <a:ext uri="{FF2B5EF4-FFF2-40B4-BE49-F238E27FC236}">
                <a16:creationId xmlns:a16="http://schemas.microsoft.com/office/drawing/2014/main" id="{2E5BDA54-D9E0-47D9-9514-C6161EC0D29B}"/>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docs/demo/antigravity_workshop/PROMPT_02_INSTALL_SKILL.txt</a:t>
            </a:r>
          </a:p>
        </p:txBody>
      </p:sp>
    </p:spTree>
    <p:extLst>
      <p:ext uri="{BB962C8B-B14F-4D97-AF65-F5344CB8AC3E}">
        <p14:creationId xmlns:p14="http://schemas.microsoft.com/office/powerpoint/2010/main" val="107929079"/>
      </p:ext>
    </p:extLst>
  </p:cSld>
</p:sld>
</file>

<file path=ppt/slides/slide1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14 / 36</a:t>
            </a:r>
          </a:p>
        </p:txBody>
      </p:sp>
      <p:sp>
        <p:nvSpPr>
          <p:cNvPr id="10" name="">
            <a:extLst xmlns:a="http://schemas.openxmlformats.org/drawingml/2006/main">
              <a:ext uri="{FF2B5EF4-FFF2-40B4-BE49-F238E27FC236}">
                <a16:creationId xmlns:a16="http://schemas.microsoft.com/office/drawing/2014/main" id="{40640B2F-D93E-4ED9-BFCA-660481B58E5A}"/>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FRONTEND-DESIGN  |  DETAIL</a:t>
            </a:r>
          </a:p>
        </p:txBody>
      </p:sp>
      <p:sp>
        <p:nvSpPr>
          <p:cNvPr id="11" name="">
            <a:extLst xmlns:a="http://schemas.openxmlformats.org/drawingml/2006/main">
              <a:ext uri="{FF2B5EF4-FFF2-40B4-BE49-F238E27FC236}">
                <a16:creationId xmlns:a16="http://schemas.microsoft.com/office/drawing/2014/main" id="{42828676-DBA8-4607-9520-3A076EEB2234}"/>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Skillが変えるのは装飾ではなく、設計判断の質です</a:t>
            </a:r>
          </a:p>
        </p:txBody>
      </p:sp>
      <p:sp>
        <p:nvSpPr>
          <p:cNvPr id="12" name="">
            <a:extLst xmlns:a="http://schemas.openxmlformats.org/drawingml/2006/main">
              <a:ext uri="{FF2B5EF4-FFF2-40B4-BE49-F238E27FC236}">
                <a16:creationId xmlns:a16="http://schemas.microsoft.com/office/drawing/2014/main" id="{5FD5AE44-BBF3-42CB-BAE8-99BDCCDCC461}"/>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3" name="">
            <a:extLst xmlns:a="http://schemas.openxmlformats.org/drawingml/2006/main">
              <a:ext uri="{FF2B5EF4-FFF2-40B4-BE49-F238E27FC236}">
                <a16:creationId xmlns:a16="http://schemas.microsoft.com/office/drawing/2014/main" id="{7B47D291-BD04-4933-AC83-01CEB9C3DD7E}"/>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このデモで任せる</a:t>
            </a:r>
          </a:p>
        </p:txBody>
      </p:sp>
      <p:sp>
        <p:nvSpPr>
          <p:cNvPr id="14" name="">
            <a:extLst xmlns:a="http://schemas.openxmlformats.org/drawingml/2006/main">
              <a:ext uri="{FF2B5EF4-FFF2-40B4-BE49-F238E27FC236}">
                <a16:creationId xmlns:a16="http://schemas.microsoft.com/office/drawing/2014/main" id="{54924A10-7B63-4F86-B79A-5D05F41E1FCB}"/>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EE849A7-6507-4D64-90DB-CB1F3F0ACB88}"/>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INFORMATION</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5製品を短時間で読み比べる優先順位</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VISUAL DIRECTION</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明るい業務向け配色、文字、余白、密度</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INTERACTION</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絞り込み、最大2製品比較、状態表示</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QUALITY</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desktop / mobile / keyboard / aria-live</a:t>
            </a:r>
          </a:p>
        </p:txBody>
      </p:sp>
      <p:sp>
        <p:nvSpPr>
          <p:cNvPr id="16" name="">
            <a:extLst xmlns:a="http://schemas.openxmlformats.org/drawingml/2006/main">
              <a:ext uri="{FF2B5EF4-FFF2-40B4-BE49-F238E27FC236}">
                <a16:creationId xmlns:a16="http://schemas.microsoft.com/office/drawing/2014/main" id="{E03AD125-3F7A-4D93-8D03-5AD34E93E8D0}"/>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D3181350-F33E-43C0-ABFF-F3B36D74FBDB}"/>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任せない / 削除できる</a:t>
            </a:r>
          </a:p>
        </p:txBody>
      </p:sp>
      <p:sp>
        <p:nvSpPr>
          <p:cNvPr id="18" name="">
            <a:extLst xmlns:a="http://schemas.openxmlformats.org/drawingml/2006/main">
              <a:ext uri="{FF2B5EF4-FFF2-40B4-BE49-F238E27FC236}">
                <a16:creationId xmlns:a16="http://schemas.microsoft.com/office/drawing/2014/main" id="{AA9B27B4-3F1A-406C-8996-C22BC122EE6B}"/>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B917A29-F34A-4E36-9267-D02D84D5702C}"/>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FACTS</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製品機能の事実確認はSITE_BRIEF.mdが正本</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AUTHORITY</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公開権限、認証、Git操作の承認</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DATA</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外部送信、顧客情報、永続保存</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SCOPE</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.agents/skills/frontend-design/ にだけ導入</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リハーサル後はCLIで削除</a:t>
            </a:r>
          </a:p>
        </p:txBody>
      </p:sp>
    </p:spTree>
    <p:extLst>
      <p:ext uri="{BB962C8B-B14F-4D97-AF65-F5344CB8AC3E}">
        <p14:creationId xmlns:p14="http://schemas.microsoft.com/office/powerpoint/2010/main" val="101826840"/>
      </p:ext>
    </p:extLst>
  </p:cSld>
</p:sld>
</file>

<file path=ppt/slides/slide1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15 / 36</a:t>
            </a:r>
          </a:p>
        </p:txBody>
      </p:sp>
      <p:pic>
        <p:nvPicPr>
          <p:cNvPr id="34" name="Picture 16"/>
          <p:cNvPicPr>
            <a:picLocks xmlns:a="http://schemas.openxmlformats.org/drawingml/2006/main" noChangeAspect="1"/>
          </p:cNvPicPr>
          <p:nvPr/>
        </p:nvPicPr>
        <p:blipFill>
          <a:blip xmlns:r="http://schemas.openxmlformats.org/officeDocument/2006/relationships" xmlns:a="http://schemas.openxmlformats.org/drawingml/2006/main" r:embed="R27c71940578942cd"/>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C7378616-54CA-4BCC-AC70-D6A9B5601937}"/>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3  |  BUILD</a:t>
            </a:r>
          </a:p>
        </p:txBody>
      </p:sp>
      <p:sp>
        <p:nvSpPr>
          <p:cNvPr id="19" name="">
            <a:extLst xmlns:a="http://schemas.openxmlformats.org/drawingml/2006/main">
              <a:ext uri="{FF2B5EF4-FFF2-40B4-BE49-F238E27FC236}">
                <a16:creationId xmlns:a16="http://schemas.microsoft.com/office/drawing/2014/main" id="{C8151DD0-049D-40BC-924B-3B20427A051A}"/>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まずJavaScriptなしの初版を作り、ブラウザで確認します</a:t>
            </a:r>
          </a:p>
        </p:txBody>
      </p:sp>
      <p:sp>
        <p:nvSpPr>
          <p:cNvPr id="20" name="">
            <a:extLst xmlns:a="http://schemas.openxmlformats.org/drawingml/2006/main">
              <a:ext uri="{FF2B5EF4-FFF2-40B4-BE49-F238E27FC236}">
                <a16:creationId xmlns:a16="http://schemas.microsoft.com/office/drawing/2014/main" id="{1F776C5C-576A-432A-BD2D-B2A50A825678}"/>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594BDE6-FB62-4545-90F1-9B2EF2A02687}"/>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BUILD</a:t>
            </a:r>
          </a:p>
        </p:txBody>
      </p:sp>
      <p:sp>
        <p:nvSpPr>
          <p:cNvPr id="22" name="">
            <a:extLst xmlns:a="http://schemas.openxmlformats.org/drawingml/2006/main">
              <a:ext uri="{FF2B5EF4-FFF2-40B4-BE49-F238E27FC236}">
                <a16:creationId xmlns:a16="http://schemas.microsoft.com/office/drawing/2014/main" id="{1F403168-BAB0-4034-8A91-2967854C5EE0}"/>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3" name="">
            <a:extLst xmlns:a="http://schemas.openxmlformats.org/drawingml/2006/main">
              <a:ext uri="{FF2B5EF4-FFF2-40B4-BE49-F238E27FC236}">
                <a16:creationId xmlns:a16="http://schemas.microsoft.com/office/drawing/2014/main" id="{14606620-D92D-411F-AB6C-87A57D728095}"/>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4" name="">
            <a:extLst xmlns:a="http://schemas.openxmlformats.org/drawingml/2006/main">
              <a:ext uri="{FF2B5EF4-FFF2-40B4-BE49-F238E27FC236}">
                <a16:creationId xmlns:a16="http://schemas.microsoft.com/office/drawing/2014/main" id="{95414562-76E1-4317-9742-A590A236572D}"/>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3 / AIエージェント学習サイトの初版を作る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@SITE_BRIEF.md を読み、リポジトリ直下にindex.htmlとstyles.cssを作成してください。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サイト名は「AI Agent Learning Hub」です。Codex、Claude Code、Claude Cowork、Kiro、Antigravityの5カードを表示し、各カードに「向いている仕事／主な機能／最初に試すこと」を記載してください。assets/workshop-hero.pngをヒーロー画像として使用し、研修用サンプルであることと、2026年8月9日時点の公式情報に基づく概要であることを表示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この初版ではJavaScript、絞り込み、製品選択、比較サマリーを追加しません。外部ライブラリ、外部画像、外部フォント、実在する顧客・社員・連絡先は使用しないでください。index.htmlとstyles.css以外は変更せず、commitとpushは実行しないで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作成後にブラウザで開き、1440x900と390x844でヒーロー画像、5製品、文字切れ、横スクロールを確認してください。最後に「変更ファイル／ブラウザ確認／次の改善候補」を3行で報告してください。</a:t>
            </a:r>
          </a:p>
        </p:txBody>
      </p:sp>
      <p:sp>
        <p:nvSpPr>
          <p:cNvPr id="25" name="">
            <a:extLst xmlns:a="http://schemas.openxmlformats.org/drawingml/2006/main">
              <a:ext uri="{FF2B5EF4-FFF2-40B4-BE49-F238E27FC236}">
                <a16:creationId xmlns:a16="http://schemas.microsoft.com/office/drawing/2014/main" id="{2DDC1A9B-0886-4AC8-8B66-FEB08EB52A8E}"/>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docs/demo/antigravity_workshop/PROMPT_03_BUILD.txt</a:t>
            </a:r>
          </a:p>
        </p:txBody>
      </p:sp>
    </p:spTree>
    <p:extLst>
      <p:ext uri="{BB962C8B-B14F-4D97-AF65-F5344CB8AC3E}">
        <p14:creationId xmlns:p14="http://schemas.microsoft.com/office/powerpoint/2010/main" val="107929079"/>
      </p:ext>
    </p:extLst>
  </p:cSld>
</p:sld>
</file>

<file path=ppt/slides/slide1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16 / 36</a:t>
            </a:r>
          </a:p>
        </p:txBody>
      </p:sp>
      <p:sp>
        <p:nvSpPr>
          <p:cNvPr id="10" name="">
            <a:extLst xmlns:a="http://schemas.openxmlformats.org/drawingml/2006/main">
              <a:ext uri="{FF2B5EF4-FFF2-40B4-BE49-F238E27FC236}">
                <a16:creationId xmlns:a16="http://schemas.microsoft.com/office/drawing/2014/main" id="{C1116680-2DBE-4D23-807F-6EAC92526D10}"/>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INITIAL BUILD  |  PROOF</a:t>
            </a:r>
          </a:p>
        </p:txBody>
      </p:sp>
      <p:sp>
        <p:nvSpPr>
          <p:cNvPr id="11" name="">
            <a:extLst xmlns:a="http://schemas.openxmlformats.org/drawingml/2006/main">
              <a:ext uri="{FF2B5EF4-FFF2-40B4-BE49-F238E27FC236}">
                <a16:creationId xmlns:a16="http://schemas.microsoft.com/office/drawing/2014/main" id="{106E0551-B463-423B-B519-8555F27F84A5}"/>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最初の成果は小さく作り、次の改善が見える状態にします</a:t>
            </a:r>
          </a:p>
        </p:txBody>
      </p:sp>
      <p:sp>
        <p:nvSpPr>
          <p:cNvPr id="12" name="">
            <a:extLst xmlns:a="http://schemas.openxmlformats.org/drawingml/2006/main">
              <a:ext uri="{FF2B5EF4-FFF2-40B4-BE49-F238E27FC236}">
                <a16:creationId xmlns:a16="http://schemas.microsoft.com/office/drawing/2014/main" id="{9CEBCE18-B2EC-4FFB-9325-418D89E48435}"/>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3" name="">
            <a:extLst xmlns:a="http://schemas.openxmlformats.org/drawingml/2006/main">
              <a:ext uri="{FF2B5EF4-FFF2-40B4-BE49-F238E27FC236}">
                <a16:creationId xmlns:a16="http://schemas.microsoft.com/office/drawing/2014/main" id="{F5A31656-C646-4595-88F3-D503BE4DC32C}"/>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初版でできること</a:t>
            </a:r>
          </a:p>
        </p:txBody>
      </p:sp>
      <p:sp>
        <p:nvSpPr>
          <p:cNvPr id="14" name="">
            <a:extLst xmlns:a="http://schemas.openxmlformats.org/drawingml/2006/main">
              <a:ext uri="{FF2B5EF4-FFF2-40B4-BE49-F238E27FC236}">
                <a16:creationId xmlns:a16="http://schemas.microsoft.com/office/drawing/2014/main" id="{02091A29-827E-4FA2-AD4B-BCA77C2FE8F8}"/>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B2F7815C-1C53-4D36-9158-3AA44DCA51D8}"/>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 5製品カードを表示</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 向いている仕事 / 主な機能 / 最初の一歩</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 ローカルhero画像</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 研修用 / 公式情報の基準日を表示</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 外部依存・送信・保存なし</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まだないもの</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絞り込み / 選択 / 比較サマリー / JavaScript</a:t>
            </a:r>
          </a:p>
        </p:txBody>
      </p:sp>
      <p:sp>
        <p:nvSpPr>
          <p:cNvPr id="16" name="">
            <a:extLst xmlns:a="http://schemas.openxmlformats.org/drawingml/2006/main">
              <a:ext uri="{FF2B5EF4-FFF2-40B4-BE49-F238E27FC236}">
                <a16:creationId xmlns:a16="http://schemas.microsoft.com/office/drawing/2014/main" id="{C358DE98-51E2-4087-9EBC-15877B18E685}"/>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2DA5F0AC-AE32-4AC4-9516-F753509FE0D6}"/>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Browser evidence</a:t>
            </a:r>
          </a:p>
        </p:txBody>
      </p:sp>
      <p:sp>
        <p:nvSpPr>
          <p:cNvPr id="18" name="">
            <a:extLst xmlns:a="http://schemas.openxmlformats.org/drawingml/2006/main">
              <a:ext uri="{FF2B5EF4-FFF2-40B4-BE49-F238E27FC236}">
                <a16:creationId xmlns:a16="http://schemas.microsoft.com/office/drawing/2014/main" id="{73C95C4D-52AD-4A76-838B-89533C7CE772}"/>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2BCC68F-A8F2-4280-A964-12565C6E9C1F}"/>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DESKTOP  1440 × 900</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hero / 5製品 / 文字切れ / 横scroll</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MOBILE  390 × 844</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1列 / navigation / 文字切れ / 横scroll</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STOP</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90秒以上進まなければoutput/の完成済み初版へ切り替える</a:t>
            </a:r>
          </a:p>
        </p:txBody>
      </p:sp>
    </p:spTree>
    <p:extLst>
      <p:ext uri="{BB962C8B-B14F-4D97-AF65-F5344CB8AC3E}">
        <p14:creationId xmlns:p14="http://schemas.microsoft.com/office/powerpoint/2010/main" val="101826840"/>
      </p:ext>
    </p:extLst>
  </p:cSld>
</p:sld>
</file>

<file path=ppt/slides/slide1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17 / 36</a:t>
            </a:r>
          </a:p>
        </p:txBody>
      </p:sp>
      <p:pic>
        <p:nvPicPr>
          <p:cNvPr id="34" name="Picture 16"/>
          <p:cNvPicPr>
            <a:picLocks xmlns:a="http://schemas.openxmlformats.org/drawingml/2006/main" noChangeAspect="1"/>
          </p:cNvPicPr>
          <p:nvPr/>
        </p:nvPicPr>
        <p:blipFill>
          <a:blip xmlns:r="http://schemas.openxmlformats.org/officeDocument/2006/relationships" xmlns:a="http://schemas.openxmlformats.org/drawingml/2006/main" r:embed="Rdea261d9037b4401"/>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AB8F4718-DB52-4915-8B62-D5EE36DEA577}"/>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4  |  /FRONTEND-DESIGN</a:t>
            </a:r>
          </a:p>
        </p:txBody>
      </p:sp>
      <p:sp>
        <p:nvSpPr>
          <p:cNvPr id="19" name="">
            <a:extLst xmlns:a="http://schemas.openxmlformats.org/drawingml/2006/main">
              <a:ext uri="{FF2B5EF4-FFF2-40B4-BE49-F238E27FC236}">
                <a16:creationId xmlns:a16="http://schemas.microsoft.com/office/drawing/2014/main" id="{33922F81-AC33-4B14-B267-340BE3397BFF}"/>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Skillを明示的に呼び、機能と見た目を同時に改善します</a:t>
            </a:r>
          </a:p>
        </p:txBody>
      </p:sp>
      <p:sp>
        <p:nvSpPr>
          <p:cNvPr id="20" name="">
            <a:extLst xmlns:a="http://schemas.openxmlformats.org/drawingml/2006/main">
              <a:ext uri="{FF2B5EF4-FFF2-40B4-BE49-F238E27FC236}">
                <a16:creationId xmlns:a16="http://schemas.microsoft.com/office/drawing/2014/main" id="{2EC96CB7-CA66-4874-A888-9F50D7B2A9C7}"/>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5DD5B87-DF64-4AF1-A22F-5412C5DB2AD1}"/>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/frontend-design</a:t>
            </a:r>
          </a:p>
        </p:txBody>
      </p:sp>
      <p:sp>
        <p:nvSpPr>
          <p:cNvPr id="22" name="">
            <a:extLst xmlns:a="http://schemas.openxmlformats.org/drawingml/2006/main">
              <a:ext uri="{FF2B5EF4-FFF2-40B4-BE49-F238E27FC236}">
                <a16:creationId xmlns:a16="http://schemas.microsoft.com/office/drawing/2014/main" id="{E7F39F7C-203F-46DC-8B10-7C096DE64654}"/>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3" name="">
            <a:extLst xmlns:a="http://schemas.openxmlformats.org/drawingml/2006/main">
              <a:ext uri="{FF2B5EF4-FFF2-40B4-BE49-F238E27FC236}">
                <a16:creationId xmlns:a16="http://schemas.microsoft.com/office/drawing/2014/main" id="{E66C7D62-CA85-42CD-9388-BF17CA96287C}"/>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4" name="">
            <a:extLst xmlns:a="http://schemas.openxmlformats.org/drawingml/2006/main">
              <a:ext uri="{FF2B5EF4-FFF2-40B4-BE49-F238E27FC236}">
                <a16:creationId xmlns:a16="http://schemas.microsoft.com/office/drawing/2014/main" id="{9FF8102B-51DB-4D0B-9851-210CA1885A2C}"/>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1132"/>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4 / /frontend-designで機能と見た目を改善する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/frontend-design</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インストールしたfrontend-design Skillを使い、初版のAI Agent Learning Hubを改善してください。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変更すること: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情報の優先順位、文字、余白、配色を整え、研修投影でも読みやすくする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「すべて／開発／ナレッジワーク／計画・自動化」の絞り込みを追加する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各製品に比較ボタンを追加し、最大2製品を選べるようにする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選択件数、製品名、向いている仕事をaria-liveの比較サマリーへ表示する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app.jsでaria-pressed、キーボード操作、上限2件の案内に対応する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#00A5E3、#EF7E00、緑、白、濃い文字色を使う</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維持すること: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- 5製品と説明、SteeringとPowersを、Kiro固有の正式機能として扱う用語境界</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ローカル画像、外部依存なし、送信なし、永続保存なし、commit/pushなし</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スコープを固定すること: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製品を5件から増やさない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料金、クォータ、ランキング、診断、検索、export、テーマ切替、動画、Nano Banana、Visual Feedback模擬を追加しない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SITE_BRIEF.mdにない説明を推測しない。変更はindex.html、styles.css、app.jsだけ</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開始前に変更予定3ファイルと追加機能を報告し、範囲外が必要なら停止する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検証すること: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製品5件、フィルター5・4・1・5、2製品の件数・名称・仕事、3件目の上限案内</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- 1440x900と390x844で横スクロール、文字切れ、重なりが0</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最後に「Skillが変えた判断／追加機能／ブラウザ検証」を3行で報告してください。</a:t>
            </a:r>
          </a:p>
        </p:txBody>
      </p:sp>
      <p:sp>
        <p:nvSpPr>
          <p:cNvPr id="25" name="">
            <a:extLst xmlns:a="http://schemas.openxmlformats.org/drawingml/2006/main">
              <a:ext uri="{FF2B5EF4-FFF2-40B4-BE49-F238E27FC236}">
                <a16:creationId xmlns:a16="http://schemas.microsoft.com/office/drawing/2014/main" id="{D0715D1F-148F-4F76-BCB9-43D5DE667478}"/>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docs/demo/antigravity_workshop/PROMPT_04_APPLY_SKILL.txt</a:t>
            </a:r>
          </a:p>
        </p:txBody>
      </p:sp>
    </p:spTree>
    <p:extLst>
      <p:ext uri="{BB962C8B-B14F-4D97-AF65-F5344CB8AC3E}">
        <p14:creationId xmlns:p14="http://schemas.microsoft.com/office/powerpoint/2010/main" val="107929079"/>
      </p:ext>
    </p:extLst>
  </p:cSld>
</p:sld>
</file>

<file path=ppt/slides/slide1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18 / 36</a:t>
            </a:r>
          </a:p>
        </p:txBody>
      </p:sp>
      <p:sp>
        <p:nvSpPr>
          <p:cNvPr id="10" name="">
            <a:extLst xmlns:a="http://schemas.openxmlformats.org/drawingml/2006/main">
              <a:ext uri="{FF2B5EF4-FFF2-40B4-BE49-F238E27FC236}">
                <a16:creationId xmlns:a16="http://schemas.microsoft.com/office/drawing/2014/main" id="{6145BFA9-BDC5-4477-9089-2FA1506CB76A}"/>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SKILL RESULT  |  BEFORE / AFTER</a:t>
            </a:r>
          </a:p>
        </p:txBody>
      </p:sp>
      <p:sp>
        <p:nvSpPr>
          <p:cNvPr id="11" name="">
            <a:extLst xmlns:a="http://schemas.openxmlformats.org/drawingml/2006/main">
              <a:ext uri="{FF2B5EF4-FFF2-40B4-BE49-F238E27FC236}">
                <a16:creationId xmlns:a16="http://schemas.microsoft.com/office/drawing/2014/main" id="{309FEAAD-698C-4E1C-A4D9-52F5ADE5D77C}"/>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Skill適用後は、見た目だけでなく操作と検証可能性が増えます</a:t>
            </a:r>
          </a:p>
        </p:txBody>
      </p:sp>
      <p:sp>
        <p:nvSpPr>
          <p:cNvPr id="12" name="">
            <a:extLst xmlns:a="http://schemas.openxmlformats.org/drawingml/2006/main">
              <a:ext uri="{FF2B5EF4-FFF2-40B4-BE49-F238E27FC236}">
                <a16:creationId xmlns:a16="http://schemas.microsoft.com/office/drawing/2014/main" id="{69470FB5-63B3-490A-A3C1-8D6F25727C0D}"/>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3" name="">
            <a:extLst xmlns:a="http://schemas.openxmlformats.org/drawingml/2006/main">
              <a:ext uri="{FF2B5EF4-FFF2-40B4-BE49-F238E27FC236}">
                <a16:creationId xmlns:a16="http://schemas.microsoft.com/office/drawing/2014/main" id="{94AEE6B2-CF35-440C-87C9-59862BCBFE64}"/>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BEFORE</a:t>
            </a:r>
          </a:p>
        </p:txBody>
      </p:sp>
      <p:sp>
        <p:nvSpPr>
          <p:cNvPr id="14" name="">
            <a:extLst xmlns:a="http://schemas.openxmlformats.org/drawingml/2006/main">
              <a:ext uri="{FF2B5EF4-FFF2-40B4-BE49-F238E27FC236}">
                <a16:creationId xmlns:a16="http://schemas.microsoft.com/office/drawing/2014/main" id="{0E296055-B03C-48EC-86B0-9A0E1E615580}"/>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61C505E-5E03-42B6-A4CA-EA39C8E6A67B}"/>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500" b="0">
                <a:solidFill>
                  <a:srgbClr val="17242B"/>
                </a:solidFill>
                <a:latin typeface="Yu Gothic UI"/>
                <a:ea typeface="Yu Gothic UI"/>
                <a:cs typeface="Yu Gothic UI"/>
              </a:defRPr>
            </a:pPr>
            <a:r>
              <a:rPr sz="1500" b="0">
                <a:solidFill>
                  <a:srgbClr val="17242B"/>
                </a:solidFill>
                <a:latin typeface="Yu Gothic UI"/>
                <a:ea typeface="Yu Gothic UI"/>
                <a:cs typeface="Yu Gothic UI"/>
              </a:rPr>
              <a:t>HTML + CSS</a:t>
            </a:r>
          </a:p>
          <a:p xmlns:a="http://schemas.openxmlformats.org/drawingml/2006/main">
            <a:pPr>
              <a:lnSpc>
                <a:spcPct val="112000"/>
              </a:lnSpc>
              <a:buNone/>
              <a:defRPr sz="1500" b="0">
                <a:solidFill>
                  <a:srgbClr val="17242B"/>
                </a:solidFill>
                <a:latin typeface="Yu Gothic UI"/>
                <a:ea typeface="Yu Gothic UI"/>
                <a:cs typeface="Yu Gothic UI"/>
              </a:defRPr>
            </a:pPr>
            <a:r>
              <a:rPr sz="1500" b="0">
                <a:solidFill>
                  <a:srgbClr val="17242B"/>
                </a:solidFill>
                <a:latin typeface="Yu Gothic UI"/>
                <a:ea typeface="Yu Gothic UI"/>
                <a:cs typeface="Yu Gothic UI"/>
              </a:rPr>
              <a:t>5 cards</a:t>
            </a:r>
          </a:p>
          <a:p xmlns:a="http://schemas.openxmlformats.org/drawingml/2006/main">
            <a:pPr>
              <a:lnSpc>
                <a:spcPct val="112000"/>
              </a:lnSpc>
              <a:buNone/>
              <a:defRPr sz="1500" b="0">
                <a:solidFill>
                  <a:srgbClr val="17242B"/>
                </a:solidFill>
                <a:latin typeface="Yu Gothic UI"/>
                <a:ea typeface="Yu Gothic UI"/>
                <a:cs typeface="Yu Gothic UI"/>
              </a:defRPr>
            </a:pPr>
            <a:r>
              <a:rPr sz="1500" b="0">
                <a:solidFill>
                  <a:srgbClr val="17242B"/>
                </a:solidFill>
                <a:latin typeface="Yu Gothic UI"/>
                <a:ea typeface="Yu Gothic UI"/>
                <a:cs typeface="Yu Gothic UI"/>
              </a:rPr>
              <a:t>static content</a:t>
            </a:r>
          </a:p>
          <a:p xmlns:a="http://schemas.openxmlformats.org/drawingml/2006/main">
            <a:pPr>
              <a:lnSpc>
                <a:spcPct val="112000"/>
              </a:lnSpc>
              <a:buNone/>
              <a:defRPr sz="1500" b="0">
                <a:solidFill>
                  <a:srgbClr val="17242B"/>
                </a:solidFill>
                <a:latin typeface="Yu Gothic UI"/>
                <a:ea typeface="Yu Gothic UI"/>
                <a:cs typeface="Yu Gothic UI"/>
              </a:defRPr>
            </a:pPr>
            <a:r>
              <a:rPr sz="1500" b="0">
                <a:solidFill>
                  <a:srgbClr val="17242B"/>
                </a:solidFill>
                <a:latin typeface="Yu Gothic UI"/>
                <a:ea typeface="Yu Gothic UI"/>
                <a:cs typeface="Yu Gothic UI"/>
              </a:rPr>
              <a:t>2 viewport visual check</a:t>
            </a:r>
          </a:p>
          <a:p xmlns:a="http://schemas.openxmlformats.org/drawingml/2006/main">
            <a:r>
              <a:t/>
            </a:r>
          </a:p>
          <a:p xmlns:a="http://schemas.openxmlformats.org/drawingml/2006/main">
            <a:pPr>
              <a:lnSpc>
                <a:spcPct val="112000"/>
              </a:lnSpc>
              <a:buNone/>
              <a:defRPr sz="1500" b="0">
                <a:solidFill>
                  <a:srgbClr val="17242B"/>
                </a:solidFill>
                <a:latin typeface="Yu Gothic UI"/>
                <a:ea typeface="Yu Gothic UI"/>
                <a:cs typeface="Yu Gothic UI"/>
              </a:defRPr>
            </a:pPr>
            <a:r>
              <a:rPr sz="1500" b="0">
                <a:solidFill>
                  <a:srgbClr val="17242B"/>
                </a:solidFill>
                <a:latin typeface="Yu Gothic UI"/>
                <a:ea typeface="Yu Gothic UI"/>
                <a:cs typeface="Yu Gothic UI"/>
              </a:rPr>
              <a:t>価値</a:t>
            </a:r>
          </a:p>
          <a:p xmlns:a="http://schemas.openxmlformats.org/drawingml/2006/main">
            <a:pPr>
              <a:lnSpc>
                <a:spcPct val="112000"/>
              </a:lnSpc>
              <a:buNone/>
              <a:defRPr sz="1500" b="0">
                <a:solidFill>
                  <a:srgbClr val="17242B"/>
                </a:solidFill>
                <a:latin typeface="Yu Gothic UI"/>
                <a:ea typeface="Yu Gothic UI"/>
                <a:cs typeface="Yu Gothic UI"/>
              </a:defRPr>
            </a:pPr>
            <a:r>
              <a:rPr sz="1500" b="0">
                <a:solidFill>
                  <a:srgbClr val="17242B"/>
                </a:solidFill>
                <a:latin typeface="Yu Gothic UI"/>
                <a:ea typeface="Yu Gothic UI"/>
                <a:cs typeface="Yu Gothic UI"/>
              </a:rPr>
              <a:t>短時間で情報を並べる初版</a:t>
            </a:r>
          </a:p>
        </p:txBody>
      </p:sp>
      <p:sp>
        <p:nvSpPr>
          <p:cNvPr id="16" name="">
            <a:extLst xmlns:a="http://schemas.openxmlformats.org/drawingml/2006/main">
              <a:ext uri="{FF2B5EF4-FFF2-40B4-BE49-F238E27FC236}">
                <a16:creationId xmlns:a16="http://schemas.microsoft.com/office/drawing/2014/main" id="{0A876389-CEF2-4E63-A772-DC1DA9CFE29D}"/>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20E56CB5-AA28-404F-B5B8-426BDF366F1D}"/>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AFTER</a:t>
            </a:r>
          </a:p>
        </p:txBody>
      </p:sp>
      <p:sp>
        <p:nvSpPr>
          <p:cNvPr id="18" name="">
            <a:extLst xmlns:a="http://schemas.openxmlformats.org/drawingml/2006/main">
              <a:ext uri="{FF2B5EF4-FFF2-40B4-BE49-F238E27FC236}">
                <a16:creationId xmlns:a16="http://schemas.microsoft.com/office/drawing/2014/main" id="{46B904A0-029D-4577-8337-AD525DD70833}"/>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7D90B71-FAF0-442E-BA07-F8622C204C1E}"/>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HTML + CSS + JavaScript</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filters = 5 / 4 / 1 / 5</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compare = maximum 2</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aria-pressed / aria-live / keyboard</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no storage / no network</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2 viewport: overlap 0 / clipping 0</a:t>
            </a:r>
          </a:p>
          <a:p xmlns:a="http://schemas.openxmlformats.org/drawingml/2006/main">
            <a:r>
              <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価値</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目的に沿って選び、比較し、状態を理解できる</a:t>
            </a:r>
          </a:p>
        </p:txBody>
      </p:sp>
    </p:spTree>
    <p:extLst>
      <p:ext uri="{BB962C8B-B14F-4D97-AF65-F5344CB8AC3E}">
        <p14:creationId xmlns:p14="http://schemas.microsoft.com/office/powerpoint/2010/main" val="101826840"/>
      </p:ext>
    </p:extLst>
  </p:cSld>
</p:sld>
</file>

<file path=ppt/slides/slide1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19 / 36</a:t>
            </a:r>
          </a:p>
        </p:txBody>
      </p:sp>
      <p:pic>
        <p:nvPicPr>
          <p:cNvPr id="34" name="Picture 16"/>
          <p:cNvPicPr>
            <a:picLocks xmlns:a="http://schemas.openxmlformats.org/drawingml/2006/main" noChangeAspect="1"/>
          </p:cNvPicPr>
          <p:nvPr/>
        </p:nvPicPr>
        <p:blipFill>
          <a:blip xmlns:r="http://schemas.openxmlformats.org/officeDocument/2006/relationships" xmlns:a="http://schemas.openxmlformats.org/drawingml/2006/main" r:embed="R9a9df327168b4e3b"/>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051CCF39-EFFB-4500-B13D-447BFA8C1D59}"/>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5  |  MCP</a:t>
            </a:r>
          </a:p>
        </p:txBody>
      </p:sp>
      <p:sp>
        <p:nvSpPr>
          <p:cNvPr id="19" name="">
            <a:extLst xmlns:a="http://schemas.openxmlformats.org/drawingml/2006/main">
              <a:ext uri="{FF2B5EF4-FFF2-40B4-BE49-F238E27FC236}">
                <a16:creationId xmlns:a16="http://schemas.microsoft.com/office/drawing/2014/main" id="{7D85920A-FEE2-4467-956A-E15051C5E1C9}"/>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MCPは接続できることより、権限を限定して使うことが重要です</a:t>
            </a:r>
          </a:p>
        </p:txBody>
      </p:sp>
      <p:sp>
        <p:nvSpPr>
          <p:cNvPr id="20" name="">
            <a:extLst xmlns:a="http://schemas.openxmlformats.org/drawingml/2006/main">
              <a:ext uri="{FF2B5EF4-FFF2-40B4-BE49-F238E27FC236}">
                <a16:creationId xmlns:a16="http://schemas.microsoft.com/office/drawing/2014/main" id="{53223E6A-A0A4-4FC7-97BA-E14DFEEF73AA}"/>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CF0BD91-A628-4096-8E80-62A299721160}"/>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MCP / READ ONLY</a:t>
            </a:r>
          </a:p>
        </p:txBody>
      </p:sp>
      <p:sp>
        <p:nvSpPr>
          <p:cNvPr id="22" name="">
            <a:extLst xmlns:a="http://schemas.openxmlformats.org/drawingml/2006/main">
              <a:ext uri="{FF2B5EF4-FFF2-40B4-BE49-F238E27FC236}">
                <a16:creationId xmlns:a16="http://schemas.microsoft.com/office/drawing/2014/main" id="{DEB8745E-B64D-49F2-B92E-9CBD70881BCB}"/>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3" name="">
            <a:extLst xmlns:a="http://schemas.openxmlformats.org/drawingml/2006/main">
              <a:ext uri="{FF2B5EF4-FFF2-40B4-BE49-F238E27FC236}">
                <a16:creationId xmlns:a16="http://schemas.microsoft.com/office/drawing/2014/main" id="{031F2B41-9D64-4100-AA3A-15E9BEE568D8}"/>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4" name="">
            <a:extLst xmlns:a="http://schemas.openxmlformats.org/drawingml/2006/main">
              <a:ext uri="{FF2B5EF4-FFF2-40B4-BE49-F238E27FC236}">
                <a16:creationId xmlns:a16="http://schemas.microsoft.com/office/drawing/2014/main" id="{F2951206-4D58-42FD-B74D-759C774E112B}"/>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5 / MCPで公開先を読み取り確認する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Antigravity IDEのMCP Servers画面でGitHub MCPの接続状態だけを確認してください。Antigravity CLIを使う場合は`/mcp`を開いてください。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GitHub MCPが接続済みの場合、読み取り専用で次を確認してください。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リポジトリ: kanta13jp1/mighty-link-antigravity-live-demo</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default branchがmain</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最新commitのSHAと件名</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GitHub Pagesの公開URLまたは直近deployment状態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Issue作成、設定変更、認証追加、ファイル変更、commit、pushは行わないでください。GitHub MCPが未接続または情報を取得できない場合は、接続や認証を会場で開始せず「MCP確認は省略、gitと公開URL確認へ継続」と1行で報告してください。</a:t>
            </a:r>
          </a:p>
        </p:txBody>
      </p:sp>
      <p:sp>
        <p:nvSpPr>
          <p:cNvPr id="25" name="">
            <a:extLst xmlns:a="http://schemas.openxmlformats.org/drawingml/2006/main">
              <a:ext uri="{FF2B5EF4-FFF2-40B4-BE49-F238E27FC236}">
                <a16:creationId xmlns:a16="http://schemas.microsoft.com/office/drawing/2014/main" id="{EA76FB90-B73B-49C7-9495-1EA3EB6AE09B}"/>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docs/demo/antigravity_workshop/PROMPT_05_MCP_CHECK.txt</a:t>
            </a:r>
          </a:p>
        </p:txBody>
      </p:sp>
    </p:spTree>
    <p:extLst>
      <p:ext uri="{BB962C8B-B14F-4D97-AF65-F5344CB8AC3E}">
        <p14:creationId xmlns:p14="http://schemas.microsoft.com/office/powerpoint/2010/main" val="107929079"/>
      </p:ext>
    </p:extLst>
  </p:cSld>
</p:sld>
</file>

<file path=ppt/slides/slide2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20 / 36</a:t>
            </a:r>
          </a:p>
        </p:txBody>
      </p:sp>
      <p:sp>
        <p:nvSpPr>
          <p:cNvPr id="10" name="">
            <a:extLst xmlns:a="http://schemas.openxmlformats.org/drawingml/2006/main">
              <a:ext uri="{FF2B5EF4-FFF2-40B4-BE49-F238E27FC236}">
                <a16:creationId xmlns:a16="http://schemas.microsoft.com/office/drawing/2014/main" id="{CD114D66-2F58-4186-A09C-A263D32F25D5}"/>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MCP  |  PERMISSIONS</a:t>
            </a:r>
          </a:p>
        </p:txBody>
      </p:sp>
      <p:sp>
        <p:nvSpPr>
          <p:cNvPr id="11" name="">
            <a:extLst xmlns:a="http://schemas.openxmlformats.org/drawingml/2006/main">
              <a:ext uri="{FF2B5EF4-FFF2-40B4-BE49-F238E27FC236}">
                <a16:creationId xmlns:a16="http://schemas.microsoft.com/office/drawing/2014/main" id="{2A433655-E993-482A-95F5-270FB26E4C48}"/>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MCPはAIと外部ツール・データをつなぐ標準です</a:t>
            </a:r>
          </a:p>
        </p:txBody>
      </p:sp>
      <p:sp>
        <p:nvSpPr>
          <p:cNvPr id="12" name="">
            <a:extLst xmlns:a="http://schemas.openxmlformats.org/drawingml/2006/main">
              <a:ext uri="{FF2B5EF4-FFF2-40B4-BE49-F238E27FC236}">
                <a16:creationId xmlns:a16="http://schemas.microsoft.com/office/drawing/2014/main" id="{C7F0A526-E95E-42EC-900C-1D8FECD0F429}"/>
              </a:ext>
            </a:extLst>
          </p:cNvPr>
          <p:cNvSpPr>
            <a:spLocks xmlns:a="http://schemas.openxmlformats.org/drawingml/2006/main" noGrp="1"/>
          </p:cNvSpPr>
          <p:nvPr/>
        </p:nvSpPr>
        <p:spPr>
          <a:xfrm xmlns:a="http://schemas.openxmlformats.org/drawingml/2006/main">
            <a:off x="647700" y="2190750"/>
            <a:ext cx="2624138"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13" name="">
            <a:extLst xmlns:a="http://schemas.openxmlformats.org/drawingml/2006/main">
              <a:ext uri="{FF2B5EF4-FFF2-40B4-BE49-F238E27FC236}">
                <a16:creationId xmlns:a16="http://schemas.microsoft.com/office/drawing/2014/main" id="{0DFCF2E2-C35A-4ADC-9E3C-A3A18704EF9A}"/>
              </a:ext>
            </a:extLst>
          </p:cNvPr>
          <p:cNvSpPr>
            <a:spLocks xmlns:a="http://schemas.openxmlformats.org/drawingml/2006/main" noGrp="1"/>
          </p:cNvSpPr>
          <p:nvPr/>
        </p:nvSpPr>
        <p:spPr>
          <a:xfrm xmlns:a="http://schemas.openxmlformats.org/drawingml/2006/main">
            <a:off x="647700" y="2190750"/>
            <a:ext cx="2624138" cy="4762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FF76906-77A1-4F36-B458-5D3AB0D8AC83}"/>
              </a:ext>
            </a:extLst>
          </p:cNvPr>
          <p:cNvSpPr>
            <a:spLocks xmlns:a="http://schemas.openxmlformats.org/drawingml/2006/main" noGrp="1"/>
          </p:cNvSpPr>
          <p:nvPr/>
        </p:nvSpPr>
        <p:spPr>
          <a:xfrm xmlns:a="http://schemas.openxmlformats.org/drawingml/2006/main">
            <a:off x="819150" y="23622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01</a:t>
            </a:r>
          </a:p>
        </p:txBody>
      </p:sp>
      <p:sp>
        <p:nvSpPr>
          <p:cNvPr id="15" name="">
            <a:extLst xmlns:a="http://schemas.openxmlformats.org/drawingml/2006/main">
              <a:ext uri="{FF2B5EF4-FFF2-40B4-BE49-F238E27FC236}">
                <a16:creationId xmlns:a16="http://schemas.microsoft.com/office/drawing/2014/main" id="{07D2BA00-3E81-4AC4-8020-682129A28C61}"/>
              </a:ext>
            </a:extLst>
          </p:cNvPr>
          <p:cNvSpPr>
            <a:spLocks xmlns:a="http://schemas.openxmlformats.org/drawingml/2006/main" noGrp="1"/>
          </p:cNvSpPr>
          <p:nvPr/>
        </p:nvSpPr>
        <p:spPr>
          <a:xfrm xmlns:a="http://schemas.openxmlformats.org/drawingml/2006/main">
            <a:off x="819150" y="2743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Agent</a:t>
            </a:r>
          </a:p>
        </p:txBody>
      </p:sp>
      <p:sp>
        <p:nvSpPr>
          <p:cNvPr id="16" name="">
            <a:extLst xmlns:a="http://schemas.openxmlformats.org/drawingml/2006/main">
              <a:ext uri="{FF2B5EF4-FFF2-40B4-BE49-F238E27FC236}">
                <a16:creationId xmlns:a16="http://schemas.microsoft.com/office/drawing/2014/main" id="{3F41934B-9656-495C-B3C0-32084FAE6B9D}"/>
              </a:ext>
            </a:extLst>
          </p:cNvPr>
          <p:cNvSpPr>
            <a:spLocks xmlns:a="http://schemas.openxmlformats.org/drawingml/2006/main" noGrp="1"/>
          </p:cNvSpPr>
          <p:nvPr/>
        </p:nvSpPr>
        <p:spPr>
          <a:xfrm xmlns:a="http://schemas.openxmlformats.org/drawingml/2006/main">
            <a:off x="819150" y="3124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目的と現在の文脈</a:t>
            </a:r>
          </a:p>
        </p:txBody>
      </p:sp>
      <p:sp>
        <p:nvSpPr>
          <p:cNvPr id="17" name="">
            <a:extLst xmlns:a="http://schemas.openxmlformats.org/drawingml/2006/main">
              <a:ext uri="{FF2B5EF4-FFF2-40B4-BE49-F238E27FC236}">
                <a16:creationId xmlns:a16="http://schemas.microsoft.com/office/drawing/2014/main" id="{C86E3726-BB32-4F5D-89BD-39547F4E8E73}"/>
              </a:ext>
            </a:extLst>
          </p:cNvPr>
          <p:cNvSpPr>
            <a:spLocks xmlns:a="http://schemas.openxmlformats.org/drawingml/2006/main" noGrp="1"/>
          </p:cNvSpPr>
          <p:nvPr/>
        </p:nvSpPr>
        <p:spPr>
          <a:xfrm xmlns:a="http://schemas.openxmlformats.org/drawingml/2006/main">
            <a:off x="3405188" y="2190750"/>
            <a:ext cx="2624138"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18" name="">
            <a:extLst xmlns:a="http://schemas.openxmlformats.org/drawingml/2006/main">
              <a:ext uri="{FF2B5EF4-FFF2-40B4-BE49-F238E27FC236}">
                <a16:creationId xmlns:a16="http://schemas.microsoft.com/office/drawing/2014/main" id="{CD7344EE-2D25-449B-BA4B-9E1BE404519D}"/>
              </a:ext>
            </a:extLst>
          </p:cNvPr>
          <p:cNvSpPr>
            <a:spLocks xmlns:a="http://schemas.openxmlformats.org/drawingml/2006/main" noGrp="1"/>
          </p:cNvSpPr>
          <p:nvPr/>
        </p:nvSpPr>
        <p:spPr>
          <a:xfrm xmlns:a="http://schemas.openxmlformats.org/drawingml/2006/main">
            <a:off x="3405188" y="2190750"/>
            <a:ext cx="2624138" cy="4762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895A54A-EEFF-4E10-906A-9D92ACAB3772}"/>
              </a:ext>
            </a:extLst>
          </p:cNvPr>
          <p:cNvSpPr>
            <a:spLocks xmlns:a="http://schemas.openxmlformats.org/drawingml/2006/main" noGrp="1"/>
          </p:cNvSpPr>
          <p:nvPr/>
        </p:nvSpPr>
        <p:spPr>
          <a:xfrm xmlns:a="http://schemas.openxmlformats.org/drawingml/2006/main">
            <a:off x="3576638" y="23622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EF7E00"/>
                </a:solidFill>
                <a:latin typeface="Yu Gothic UI"/>
                <a:ea typeface="Yu Gothic UI"/>
                <a:cs typeface="Yu Gothic UI"/>
              </a:defRPr>
            </a:pPr>
            <a:r>
              <a:rPr sz="1875" b="1">
                <a:solidFill>
                  <a:srgbClr val="EF7E00"/>
                </a:solidFill>
                <a:latin typeface="Yu Gothic UI"/>
                <a:ea typeface="Yu Gothic UI"/>
                <a:cs typeface="Yu Gothic UI"/>
              </a:rPr>
              <a:t>02</a:t>
            </a:r>
          </a:p>
        </p:txBody>
      </p:sp>
      <p:sp>
        <p:nvSpPr>
          <p:cNvPr id="20" name="">
            <a:extLst xmlns:a="http://schemas.openxmlformats.org/drawingml/2006/main">
              <a:ext uri="{FF2B5EF4-FFF2-40B4-BE49-F238E27FC236}">
                <a16:creationId xmlns:a16="http://schemas.microsoft.com/office/drawing/2014/main" id="{4837F8E3-AFD1-44F6-AD54-963B869589A6}"/>
              </a:ext>
            </a:extLst>
          </p:cNvPr>
          <p:cNvSpPr>
            <a:spLocks xmlns:a="http://schemas.openxmlformats.org/drawingml/2006/main" noGrp="1"/>
          </p:cNvSpPr>
          <p:nvPr/>
        </p:nvSpPr>
        <p:spPr>
          <a:xfrm xmlns:a="http://schemas.openxmlformats.org/drawingml/2006/main">
            <a:off x="3576638" y="2743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MCP client</a:t>
            </a:r>
          </a:p>
        </p:txBody>
      </p:sp>
      <p:sp>
        <p:nvSpPr>
          <p:cNvPr id="21" name="">
            <a:extLst xmlns:a="http://schemas.openxmlformats.org/drawingml/2006/main">
              <a:ext uri="{FF2B5EF4-FFF2-40B4-BE49-F238E27FC236}">
                <a16:creationId xmlns:a16="http://schemas.microsoft.com/office/drawing/2014/main" id="{89E513B2-F0E1-4B50-86AE-D5E9C41326C2}"/>
              </a:ext>
            </a:extLst>
          </p:cNvPr>
          <p:cNvSpPr>
            <a:spLocks xmlns:a="http://schemas.openxmlformats.org/drawingml/2006/main" noGrp="1"/>
          </p:cNvSpPr>
          <p:nvPr/>
        </p:nvSpPr>
        <p:spPr>
          <a:xfrm xmlns:a="http://schemas.openxmlformats.org/drawingml/2006/main">
            <a:off x="3576638" y="3124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利用可能なToolを提示</a:t>
            </a:r>
          </a:p>
        </p:txBody>
      </p:sp>
      <p:sp>
        <p:nvSpPr>
          <p:cNvPr id="22" name="">
            <a:extLst xmlns:a="http://schemas.openxmlformats.org/drawingml/2006/main">
              <a:ext uri="{FF2B5EF4-FFF2-40B4-BE49-F238E27FC236}">
                <a16:creationId xmlns:a16="http://schemas.microsoft.com/office/drawing/2014/main" id="{B44A5292-A688-440A-BCDE-E0B5B0BFB08F}"/>
              </a:ext>
            </a:extLst>
          </p:cNvPr>
          <p:cNvSpPr>
            <a:spLocks xmlns:a="http://schemas.openxmlformats.org/drawingml/2006/main" noGrp="1"/>
          </p:cNvSpPr>
          <p:nvPr/>
        </p:nvSpPr>
        <p:spPr>
          <a:xfrm xmlns:a="http://schemas.openxmlformats.org/drawingml/2006/main">
            <a:off x="6162675" y="2190750"/>
            <a:ext cx="2624138"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23" name="">
            <a:extLst xmlns:a="http://schemas.openxmlformats.org/drawingml/2006/main">
              <a:ext uri="{FF2B5EF4-FFF2-40B4-BE49-F238E27FC236}">
                <a16:creationId xmlns:a16="http://schemas.microsoft.com/office/drawing/2014/main" id="{FDC34E0E-AEC9-4E97-B97F-80E104261655}"/>
              </a:ext>
            </a:extLst>
          </p:cNvPr>
          <p:cNvSpPr>
            <a:spLocks xmlns:a="http://schemas.openxmlformats.org/drawingml/2006/main" noGrp="1"/>
          </p:cNvSpPr>
          <p:nvPr/>
        </p:nvSpPr>
        <p:spPr>
          <a:xfrm xmlns:a="http://schemas.openxmlformats.org/drawingml/2006/main">
            <a:off x="6162675" y="2190750"/>
            <a:ext cx="2624138" cy="47625"/>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A2B4045-7B1E-45CF-BB36-6BD197CF4CD1}"/>
              </a:ext>
            </a:extLst>
          </p:cNvPr>
          <p:cNvSpPr>
            <a:spLocks xmlns:a="http://schemas.openxmlformats.org/drawingml/2006/main" noGrp="1"/>
          </p:cNvSpPr>
          <p:nvPr/>
        </p:nvSpPr>
        <p:spPr>
          <a:xfrm xmlns:a="http://schemas.openxmlformats.org/drawingml/2006/main">
            <a:off x="6334125" y="23622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2F9E63"/>
                </a:solidFill>
                <a:latin typeface="Yu Gothic UI"/>
                <a:ea typeface="Yu Gothic UI"/>
                <a:cs typeface="Yu Gothic UI"/>
              </a:defRPr>
            </a:pPr>
            <a:r>
              <a:rPr sz="1875" b="1">
                <a:solidFill>
                  <a:srgbClr val="2F9E63"/>
                </a:solidFill>
                <a:latin typeface="Yu Gothic UI"/>
                <a:ea typeface="Yu Gothic UI"/>
                <a:cs typeface="Yu Gothic UI"/>
              </a:rPr>
              <a:t>03</a:t>
            </a:r>
          </a:p>
        </p:txBody>
      </p:sp>
      <p:sp>
        <p:nvSpPr>
          <p:cNvPr id="25" name="">
            <a:extLst xmlns:a="http://schemas.openxmlformats.org/drawingml/2006/main">
              <a:ext uri="{FF2B5EF4-FFF2-40B4-BE49-F238E27FC236}">
                <a16:creationId xmlns:a16="http://schemas.microsoft.com/office/drawing/2014/main" id="{3A4DE8B9-5063-42CB-B084-5CFFE30D64CE}"/>
              </a:ext>
            </a:extLst>
          </p:cNvPr>
          <p:cNvSpPr>
            <a:spLocks xmlns:a="http://schemas.openxmlformats.org/drawingml/2006/main" noGrp="1"/>
          </p:cNvSpPr>
          <p:nvPr/>
        </p:nvSpPr>
        <p:spPr>
          <a:xfrm xmlns:a="http://schemas.openxmlformats.org/drawingml/2006/main">
            <a:off x="6334125" y="2743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MCP server</a:t>
            </a:r>
          </a:p>
        </p:txBody>
      </p:sp>
      <p:sp>
        <p:nvSpPr>
          <p:cNvPr id="26" name="">
            <a:extLst xmlns:a="http://schemas.openxmlformats.org/drawingml/2006/main">
              <a:ext uri="{FF2B5EF4-FFF2-40B4-BE49-F238E27FC236}">
                <a16:creationId xmlns:a16="http://schemas.microsoft.com/office/drawing/2014/main" id="{6F17FDCF-8192-4E32-B9DB-1E06BFD21F9B}"/>
              </a:ext>
            </a:extLst>
          </p:cNvPr>
          <p:cNvSpPr>
            <a:spLocks xmlns:a="http://schemas.openxmlformats.org/drawingml/2006/main" noGrp="1"/>
          </p:cNvSpPr>
          <p:nvPr/>
        </p:nvSpPr>
        <p:spPr>
          <a:xfrm xmlns:a="http://schemas.openxmlformats.org/drawingml/2006/main">
            <a:off x="6334125" y="3124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GitHubなどへ接続</a:t>
            </a:r>
          </a:p>
        </p:txBody>
      </p:sp>
      <p:sp>
        <p:nvSpPr>
          <p:cNvPr id="27" name="">
            <a:extLst xmlns:a="http://schemas.openxmlformats.org/drawingml/2006/main">
              <a:ext uri="{FF2B5EF4-FFF2-40B4-BE49-F238E27FC236}">
                <a16:creationId xmlns:a16="http://schemas.microsoft.com/office/drawing/2014/main" id="{37EF6A6A-1E27-4CF5-A526-0B68F29471A3}"/>
              </a:ext>
            </a:extLst>
          </p:cNvPr>
          <p:cNvSpPr>
            <a:spLocks xmlns:a="http://schemas.openxmlformats.org/drawingml/2006/main" noGrp="1"/>
          </p:cNvSpPr>
          <p:nvPr/>
        </p:nvSpPr>
        <p:spPr>
          <a:xfrm xmlns:a="http://schemas.openxmlformats.org/drawingml/2006/main">
            <a:off x="8920163" y="2190750"/>
            <a:ext cx="2624138"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28" name="">
            <a:extLst xmlns:a="http://schemas.openxmlformats.org/drawingml/2006/main">
              <a:ext uri="{FF2B5EF4-FFF2-40B4-BE49-F238E27FC236}">
                <a16:creationId xmlns:a16="http://schemas.microsoft.com/office/drawing/2014/main" id="{68F49B61-29C7-4970-B01D-8F5CE8360D23}"/>
              </a:ext>
            </a:extLst>
          </p:cNvPr>
          <p:cNvSpPr>
            <a:spLocks xmlns:a="http://schemas.openxmlformats.org/drawingml/2006/main" noGrp="1"/>
          </p:cNvSpPr>
          <p:nvPr/>
        </p:nvSpPr>
        <p:spPr>
          <a:xfrm xmlns:a="http://schemas.openxmlformats.org/drawingml/2006/main">
            <a:off x="8920163" y="2190750"/>
            <a:ext cx="2624138" cy="4762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EBA11C4-4547-442F-9DD5-50DDC91A298D}"/>
              </a:ext>
            </a:extLst>
          </p:cNvPr>
          <p:cNvSpPr>
            <a:spLocks xmlns:a="http://schemas.openxmlformats.org/drawingml/2006/main" noGrp="1"/>
          </p:cNvSpPr>
          <p:nvPr/>
        </p:nvSpPr>
        <p:spPr>
          <a:xfrm xmlns:a="http://schemas.openxmlformats.org/drawingml/2006/main">
            <a:off x="9091613" y="23622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04</a:t>
            </a:r>
          </a:p>
        </p:txBody>
      </p:sp>
      <p:sp>
        <p:nvSpPr>
          <p:cNvPr id="30" name="">
            <a:extLst xmlns:a="http://schemas.openxmlformats.org/drawingml/2006/main">
              <a:ext uri="{FF2B5EF4-FFF2-40B4-BE49-F238E27FC236}">
                <a16:creationId xmlns:a16="http://schemas.microsoft.com/office/drawing/2014/main" id="{117F3B40-1D42-4AAC-8A00-CEAC47D93660}"/>
              </a:ext>
            </a:extLst>
          </p:cNvPr>
          <p:cNvSpPr>
            <a:spLocks xmlns:a="http://schemas.openxmlformats.org/drawingml/2006/main" noGrp="1"/>
          </p:cNvSpPr>
          <p:nvPr/>
        </p:nvSpPr>
        <p:spPr>
          <a:xfrm xmlns:a="http://schemas.openxmlformats.org/drawingml/2006/main">
            <a:off x="9091613" y="2743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Tool</a:t>
            </a:r>
          </a:p>
        </p:txBody>
      </p:sp>
      <p:sp>
        <p:nvSpPr>
          <p:cNvPr id="31" name="">
            <a:extLst xmlns:a="http://schemas.openxmlformats.org/drawingml/2006/main">
              <a:ext uri="{FF2B5EF4-FFF2-40B4-BE49-F238E27FC236}">
                <a16:creationId xmlns:a16="http://schemas.microsoft.com/office/drawing/2014/main" id="{89F56107-6FFD-417B-B2DB-6BA55D942583}"/>
              </a:ext>
            </a:extLst>
          </p:cNvPr>
          <p:cNvSpPr>
            <a:spLocks xmlns:a="http://schemas.openxmlformats.org/drawingml/2006/main" noGrp="1"/>
          </p:cNvSpPr>
          <p:nvPr/>
        </p:nvSpPr>
        <p:spPr>
          <a:xfrm xmlns:a="http://schemas.openxmlformats.org/drawingml/2006/main">
            <a:off x="9091613" y="3124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read / writeの操作</a:t>
            </a:r>
          </a:p>
        </p:txBody>
      </p:sp>
      <p:sp>
        <p:nvSpPr>
          <p:cNvPr id="32" name="">
            <a:extLst xmlns:a="http://schemas.openxmlformats.org/drawingml/2006/main">
              <a:ext uri="{FF2B5EF4-FFF2-40B4-BE49-F238E27FC236}">
                <a16:creationId xmlns:a16="http://schemas.microsoft.com/office/drawing/2014/main" id="{50D8C95B-683E-4F69-A74F-BAACE2B41CAA}"/>
              </a:ext>
            </a:extLst>
          </p:cNvPr>
          <p:cNvSpPr>
            <a:spLocks xmlns:a="http://schemas.openxmlformats.org/drawingml/2006/main" noGrp="1"/>
          </p:cNvSpPr>
          <p:nvPr/>
        </p:nvSpPr>
        <p:spPr>
          <a:xfrm xmlns:a="http://schemas.openxmlformats.org/drawingml/2006/main">
            <a:off x="1809750" y="4191000"/>
            <a:ext cx="8572500" cy="1047750"/>
          </a:xfrm>
          <a:prstGeom xmlns:a="http://schemas.openxmlformats.org/drawingml/2006/main" prst="roundRect">
            <a:avLst>
              <a:gd name="adj" fmla="val 7273"/>
            </a:avLst>
          </a:prstGeom>
          <a:solidFill xmlns:a="http://schemas.openxmlformats.org/drawingml/2006/main">
            <a:srgbClr val="071A2B"/>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3D9F8DC3-BFCF-468F-8243-F15342F1B5C8}"/>
              </a:ext>
            </a:extLst>
          </p:cNvPr>
          <p:cNvSpPr>
            <a:spLocks xmlns:a="http://schemas.openxmlformats.org/drawingml/2006/main" noGrp="1"/>
          </p:cNvSpPr>
          <p:nvPr/>
        </p:nvSpPr>
        <p:spPr>
          <a:xfrm xmlns:a="http://schemas.openxmlformats.org/drawingml/2006/main">
            <a:off x="2190750" y="4438650"/>
            <a:ext cx="781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025" b="1">
                <a:solidFill>
                  <a:srgbClr val="FFFFFF"/>
                </a:solidFill>
                <a:latin typeface="Yu Gothic UI"/>
                <a:ea typeface="Yu Gothic UI"/>
                <a:cs typeface="Yu Gothic UI"/>
              </a:defRPr>
            </a:pPr>
            <a:r>
              <a:rPr sz="2025" b="1">
                <a:solidFill>
                  <a:srgbClr val="FFFFFF"/>
                </a:solidFill>
                <a:latin typeface="Yu Gothic UI"/>
                <a:ea typeface="Yu Gothic UI"/>
                <a:cs typeface="Yu Gothic UI"/>
              </a:rPr>
              <a:t>接続済み ≠ 実行してよい</a:t>
            </a:r>
          </a:p>
        </p:txBody>
      </p:sp>
      <p:sp>
        <p:nvSpPr>
          <p:cNvPr id="34" name="">
            <a:extLst xmlns:a="http://schemas.openxmlformats.org/drawingml/2006/main">
              <a:ext uri="{FF2B5EF4-FFF2-40B4-BE49-F238E27FC236}">
                <a16:creationId xmlns:a16="http://schemas.microsoft.com/office/drawing/2014/main" id="{9D07D1EA-786B-4C51-BA48-01D7ACE037F3}"/>
              </a:ext>
            </a:extLst>
          </p:cNvPr>
          <p:cNvSpPr>
            <a:spLocks xmlns:a="http://schemas.openxmlformats.org/drawingml/2006/main" noGrp="1"/>
          </p:cNvSpPr>
          <p:nvPr/>
        </p:nvSpPr>
        <p:spPr>
          <a:xfrm xmlns:a="http://schemas.openxmlformats.org/drawingml/2006/main">
            <a:off x="2190750" y="4876800"/>
            <a:ext cx="781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a:solidFill>
                  <a:srgbClr val="B9D6E4"/>
                </a:solidFill>
                <a:latin typeface="Yu Gothic UI"/>
                <a:ea typeface="Yu Gothic UI"/>
                <a:cs typeface="Yu Gothic UI"/>
              </a:defRPr>
            </a:pPr>
            <a:r>
              <a:rPr sz="1125">
                <a:solidFill>
                  <a:srgbClr val="B9D6E4"/>
                </a:solidFill>
                <a:latin typeface="Yu Gothic UI"/>
                <a:ea typeface="Yu Gothic UI"/>
                <a:cs typeface="Yu Gothic UI"/>
              </a:rPr>
              <a:t>今回はGitHubのbranch / commit / Pages状態を読み取り確認。書き込みToolは使わない。</a:t>
            </a:r>
          </a:p>
        </p:txBody>
      </p:sp>
    </p:spTree>
    <p:extLst>
      <p:ext uri="{BB962C8B-B14F-4D97-AF65-F5344CB8AC3E}">
        <p14:creationId xmlns:p14="http://schemas.microsoft.com/office/powerpoint/2010/main" val="101826840"/>
      </p:ext>
    </p:extLst>
  </p:cSld>
</p:sld>
</file>

<file path=ppt/slides/slide2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21 / 36</a:t>
            </a:r>
          </a:p>
        </p:txBody>
      </p:sp>
      <p:pic>
        <p:nvPicPr>
          <p:cNvPr id="34" name="Picture 16"/>
          <p:cNvPicPr>
            <a:picLocks xmlns:a="http://schemas.openxmlformats.org/drawingml/2006/main" noChangeAspect="1"/>
          </p:cNvPicPr>
          <p:nvPr/>
        </p:nvPicPr>
        <p:blipFill>
          <a:blip xmlns:r="http://schemas.openxmlformats.org/officeDocument/2006/relationships" xmlns:a="http://schemas.openxmlformats.org/drawingml/2006/main" r:embed="R3dd727e7a3ec44b9"/>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A2BEB3A3-5280-4C2B-9742-B810030AF46D}"/>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6  |  PUBLISH</a:t>
            </a:r>
          </a:p>
        </p:txBody>
      </p:sp>
      <p:sp>
        <p:nvSpPr>
          <p:cNvPr id="19" name="">
            <a:extLst xmlns:a="http://schemas.openxmlformats.org/drawingml/2006/main">
              <a:ext uri="{FF2B5EF4-FFF2-40B4-BE49-F238E27FC236}">
                <a16:creationId xmlns:a16="http://schemas.microsoft.com/office/drawing/2014/main" id="{2E74C69D-4C79-4154-8B1F-312CB30D56DD}"/>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公開は自動で始めず、差分確認と人の明示承認を必須にします</a:t>
            </a:r>
          </a:p>
        </p:txBody>
      </p:sp>
      <p:sp>
        <p:nvSpPr>
          <p:cNvPr id="20" name="">
            <a:extLst xmlns:a="http://schemas.openxmlformats.org/drawingml/2006/main">
              <a:ext uri="{FF2B5EF4-FFF2-40B4-BE49-F238E27FC236}">
                <a16:creationId xmlns:a16="http://schemas.microsoft.com/office/drawing/2014/main" id="{84B2CB6E-0B7A-449E-B110-FF64E339A8B8}"/>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E27BA58-EA85-4C0C-8F51-96576356EB46}"/>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PUBLISH</a:t>
            </a:r>
          </a:p>
        </p:txBody>
      </p:sp>
      <p:sp>
        <p:nvSpPr>
          <p:cNvPr id="22" name="">
            <a:extLst xmlns:a="http://schemas.openxmlformats.org/drawingml/2006/main">
              <a:ext uri="{FF2B5EF4-FFF2-40B4-BE49-F238E27FC236}">
                <a16:creationId xmlns:a16="http://schemas.microsoft.com/office/drawing/2014/main" id="{7A53668D-6A6B-4B89-957B-23D4F547597E}"/>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3" name="">
            <a:extLst xmlns:a="http://schemas.openxmlformats.org/drawingml/2006/main">
              <a:ext uri="{FF2B5EF4-FFF2-40B4-BE49-F238E27FC236}">
                <a16:creationId xmlns:a16="http://schemas.microsoft.com/office/drawing/2014/main" id="{73AC4D74-E5BD-4B09-BACD-A8DB7D8C6100}"/>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4" name="">
            <a:extLst xmlns:a="http://schemas.openxmlformats.org/drawingml/2006/main">
              <a:ext uri="{FF2B5EF4-FFF2-40B4-BE49-F238E27FC236}">
                <a16:creationId xmlns:a16="http://schemas.microsoft.com/office/drawing/2014/main" id="{C72CFA19-66C1-4D13-B299-F2B4652CD1E2}"/>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844"/>
          </a:bodyPr>
          <a:lstStyle xmlns:a="http://schemas.openxmlformats.org/drawingml/2006/main"/>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Prompt 6 / GitHub Pagesへ公開する</a:t>
            </a:r>
          </a:p>
          <a:p xmlns:a="http://schemas.openxmlformats.org/drawingml/2006/main">
            <a:r>
              <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完成したAI Agent Learning Hubを専用公開先へGitHub Pagesで公開する準備をしてください。</a:t>
            </a:r>
          </a:p>
          <a:p xmlns:a="http://schemas.openxmlformats.org/drawingml/2006/main">
            <a:r>
              <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 リポジトリ: https://github.com/kanta13jp1/mighty-link-antigravity-live-demo</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 ブランチ: main</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 公開URL: https://kanta13jp1.github.io/mighty-link-antigravity-live-demo/</a:t>
            </a:r>
          </a:p>
          <a:p xmlns:a="http://schemas.openxmlformats.org/drawingml/2006/main">
            <a:r>
              <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git status、git diff --stat、git remote -v、現在branchを確認し、remoteまたはbranchが一致しなければ何も変更せず停止してください。.env、認証情報、トークン、個人情報、顧客情報が追跡対象にないことと、SITE_BRIEF.mdにSYNTHETIC_DATA_ONLYがあることを確認してください。`.agents/skills/`は公開対象へaddしないでください。</a:t>
            </a:r>
          </a:p>
          <a:p xmlns:a="http://schemas.openxmlformats.org/drawingml/2006/main">
            <a:r>
              <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公開予定ファイルをindex.html、styles.css、app.js、assets/workshop-hero.pngに限定します。Q&amp;A用のPrompt 8を実行済みの場合だけassets/agent-workflow-hero.pngも許可します。これ以外の変更、製品数5件からの増加、料金・クォータ追加があれば公開せず停止してください。commit messageと公開URLを報告したら必ず停止して「公開してもよいですか？」と質問してください。私が正確に「公開して」と答えるまでgit add、commit、push、GitHub設定変更を実行しないでください。</a:t>
            </a:r>
          </a:p>
          <a:p xmlns:a="http://schemas.openxmlformats.org/drawingml/2006/main">
            <a:r>
              <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「公開して」の後だけ指定したサイトファイルをaddし、`Publish AI agent learning hub demo`でcommitしてmainへpushしてください。Pages完了を最大3分待ち、HTTPS、タイトル、5製品、フィルター件数5・4・1・5、2製品比較を公開URLで確認し、「commit／公開URL／確認／未解決」を4行で報告してください。</a:t>
            </a:r>
          </a:p>
        </p:txBody>
      </p:sp>
      <p:sp>
        <p:nvSpPr>
          <p:cNvPr id="25" name="">
            <a:extLst xmlns:a="http://schemas.openxmlformats.org/drawingml/2006/main">
              <a:ext uri="{FF2B5EF4-FFF2-40B4-BE49-F238E27FC236}">
                <a16:creationId xmlns:a16="http://schemas.microsoft.com/office/drawing/2014/main" id="{301234E6-CC33-426E-8752-AE0421A49862}"/>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docs/demo/antigravity_workshop/PROMPT_06_PUBLISH.txt</a:t>
            </a:r>
          </a:p>
        </p:txBody>
      </p:sp>
    </p:spTree>
    <p:extLst>
      <p:ext uri="{BB962C8B-B14F-4D97-AF65-F5344CB8AC3E}">
        <p14:creationId xmlns:p14="http://schemas.microsoft.com/office/powerpoint/2010/main" val="107929079"/>
      </p:ext>
    </p:extLst>
  </p:cSld>
</p:sld>
</file>

<file path=ppt/slides/slide2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22 / 36</a:t>
            </a:r>
          </a:p>
        </p:txBody>
      </p:sp>
      <p:sp>
        <p:nvSpPr>
          <p:cNvPr id="10" name="">
            <a:extLst xmlns:a="http://schemas.openxmlformats.org/drawingml/2006/main">
              <a:ext uri="{FF2B5EF4-FFF2-40B4-BE49-F238E27FC236}">
                <a16:creationId xmlns:a16="http://schemas.microsoft.com/office/drawing/2014/main" id="{FAA2CE62-B9C0-4F41-A5A5-128A432B7A89}"/>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PUBLIC PROOF  |  SUCCESS</a:t>
            </a:r>
          </a:p>
        </p:txBody>
      </p:sp>
      <p:sp>
        <p:nvSpPr>
          <p:cNvPr id="11" name="">
            <a:extLst xmlns:a="http://schemas.openxmlformats.org/drawingml/2006/main">
              <a:ext uri="{FF2B5EF4-FFF2-40B4-BE49-F238E27FC236}">
                <a16:creationId xmlns:a16="http://schemas.microsoft.com/office/drawing/2014/main" id="{764C8D3A-8D8E-4624-BF2D-3D00DEDE7200}"/>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『公開して』の後だけ、4つの証拠を揃えます</a:t>
            </a:r>
          </a:p>
        </p:txBody>
      </p:sp>
      <p:sp>
        <p:nvSpPr>
          <p:cNvPr id="12" name="">
            <a:extLst xmlns:a="http://schemas.openxmlformats.org/drawingml/2006/main">
              <a:ext uri="{FF2B5EF4-FFF2-40B4-BE49-F238E27FC236}">
                <a16:creationId xmlns:a16="http://schemas.microsoft.com/office/drawing/2014/main" id="{8C43D4B5-7FAC-41C5-8292-6F3686D49146}"/>
              </a:ext>
            </a:extLst>
          </p:cNvPr>
          <p:cNvSpPr>
            <a:spLocks xmlns:a="http://schemas.openxmlformats.org/drawingml/2006/main" noGrp="1"/>
          </p:cNvSpPr>
          <p:nvPr/>
        </p:nvSpPr>
        <p:spPr>
          <a:xfrm xmlns:a="http://schemas.openxmlformats.org/drawingml/2006/main">
            <a:off x="647700" y="1771650"/>
            <a:ext cx="2595563" cy="3524250"/>
          </a:xfrm>
          <a:prstGeom xmlns:a="http://schemas.openxmlformats.org/drawingml/2006/main" prst="roundRect">
            <a:avLst>
              <a:gd name="adj" fmla="val 2936"/>
            </a:avLst>
          </a:prstGeom>
          <a:noFill xmlns:a="http://schemas.openxmlformats.org/drawingml/2006/main"/>
          <a:ln xmlns:a="http://schemas.openxmlformats.org/drawingml/2006/main" w="11430">
            <a:solidFill>
              <a:srgbClr val="C9D8E1"/>
            </a:solidFill>
            <a:prstDash val="solid"/>
          </a:ln>
        </p:spPr>
      </p:sp>
      <p:sp>
        <p:nvSpPr>
          <p:cNvPr id="13" name="">
            <a:extLst xmlns:a="http://schemas.openxmlformats.org/drawingml/2006/main">
              <a:ext uri="{FF2B5EF4-FFF2-40B4-BE49-F238E27FC236}">
                <a16:creationId xmlns:a16="http://schemas.microsoft.com/office/drawing/2014/main" id="{84E742D9-6F8C-4842-87B8-E8DF05E5B463}"/>
              </a:ext>
            </a:extLst>
          </p:cNvPr>
          <p:cNvSpPr>
            <a:spLocks xmlns:a="http://schemas.openxmlformats.org/drawingml/2006/main" noGrp="1"/>
          </p:cNvSpPr>
          <p:nvPr/>
        </p:nvSpPr>
        <p:spPr>
          <a:xfrm xmlns:a="http://schemas.openxmlformats.org/drawingml/2006/main">
            <a:off x="647700" y="1771650"/>
            <a:ext cx="2595563" cy="571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D5E4A05-5F68-49F0-8855-F1D824D0BE9D}"/>
              </a:ext>
            </a:extLst>
          </p:cNvPr>
          <p:cNvSpPr>
            <a:spLocks xmlns:a="http://schemas.openxmlformats.org/drawingml/2006/main" noGrp="1"/>
          </p:cNvSpPr>
          <p:nvPr/>
        </p:nvSpPr>
        <p:spPr>
          <a:xfrm xmlns:a="http://schemas.openxmlformats.org/drawingml/2006/main">
            <a:off x="857250" y="2133600"/>
            <a:ext cx="2176463"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575" b="1">
                <a:solidFill>
                  <a:srgbClr val="00A5E3"/>
                </a:solidFill>
                <a:latin typeface="Yu Gothic UI"/>
                <a:ea typeface="Yu Gothic UI"/>
                <a:cs typeface="Yu Gothic UI"/>
              </a:defRPr>
            </a:pPr>
            <a:r>
              <a:rPr sz="1575" b="1">
                <a:solidFill>
                  <a:srgbClr val="00A5E3"/>
                </a:solidFill>
                <a:latin typeface="Yu Gothic UI"/>
                <a:ea typeface="Yu Gothic UI"/>
                <a:cs typeface="Yu Gothic UI"/>
              </a:rPr>
              <a:t>DECISION</a:t>
            </a:r>
          </a:p>
        </p:txBody>
      </p:sp>
      <p:sp>
        <p:nvSpPr>
          <p:cNvPr id="15" name="">
            <a:extLst xmlns:a="http://schemas.openxmlformats.org/drawingml/2006/main">
              <a:ext uri="{FF2B5EF4-FFF2-40B4-BE49-F238E27FC236}">
                <a16:creationId xmlns:a16="http://schemas.microsoft.com/office/drawing/2014/main" id="{954F654E-4FD4-4A7B-9567-091A7A9E9325}"/>
              </a:ext>
            </a:extLst>
          </p:cNvPr>
          <p:cNvSpPr>
            <a:spLocks xmlns:a="http://schemas.openxmlformats.org/drawingml/2006/main" noGrp="1"/>
          </p:cNvSpPr>
          <p:nvPr/>
        </p:nvSpPr>
        <p:spPr>
          <a:xfrm xmlns:a="http://schemas.openxmlformats.org/drawingml/2006/main">
            <a:off x="857250" y="2933700"/>
            <a:ext cx="2176463"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remote / branch / diff</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秘密情報なし</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人の承認</a:t>
            </a:r>
          </a:p>
        </p:txBody>
      </p:sp>
      <p:sp>
        <p:nvSpPr>
          <p:cNvPr id="16" name="">
            <a:extLst xmlns:a="http://schemas.openxmlformats.org/drawingml/2006/main">
              <a:ext uri="{FF2B5EF4-FFF2-40B4-BE49-F238E27FC236}">
                <a16:creationId xmlns:a16="http://schemas.microsoft.com/office/drawing/2014/main" id="{8FBF4743-7120-45EA-9FE0-1DEEAD78AFF6}"/>
              </a:ext>
            </a:extLst>
          </p:cNvPr>
          <p:cNvSpPr>
            <a:spLocks xmlns:a="http://schemas.openxmlformats.org/drawingml/2006/main" noGrp="1"/>
          </p:cNvSpPr>
          <p:nvPr/>
        </p:nvSpPr>
        <p:spPr>
          <a:xfrm xmlns:a="http://schemas.openxmlformats.org/drawingml/2006/main">
            <a:off x="857250" y="4686300"/>
            <a:ext cx="609600" cy="323850"/>
          </a:xfrm>
          <a:prstGeom xmlns:a="http://schemas.openxmlformats.org/drawingml/2006/main" prst="roundRect">
            <a:avLst>
              <a:gd name="adj" fmla="val 23529"/>
            </a:avLst>
          </a:prstGeom>
          <a:solidFill xmlns:a="http://schemas.openxmlformats.org/drawingml/2006/main">
            <a:srgbClr val="00A5E3"/>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01</a:t>
            </a:r>
          </a:p>
        </p:txBody>
      </p:sp>
      <p:sp>
        <p:nvSpPr>
          <p:cNvPr id="17" name="">
            <a:extLst xmlns:a="http://schemas.openxmlformats.org/drawingml/2006/main">
              <a:ext uri="{FF2B5EF4-FFF2-40B4-BE49-F238E27FC236}">
                <a16:creationId xmlns:a16="http://schemas.microsoft.com/office/drawing/2014/main" id="{F7310EF0-7134-4E9F-AF02-4DF31353CEA1}"/>
              </a:ext>
            </a:extLst>
          </p:cNvPr>
          <p:cNvSpPr>
            <a:spLocks xmlns:a="http://schemas.openxmlformats.org/drawingml/2006/main" noGrp="1"/>
          </p:cNvSpPr>
          <p:nvPr/>
        </p:nvSpPr>
        <p:spPr>
          <a:xfrm xmlns:a="http://schemas.openxmlformats.org/drawingml/2006/main">
            <a:off x="3414713" y="1771650"/>
            <a:ext cx="2595563" cy="3524250"/>
          </a:xfrm>
          <a:prstGeom xmlns:a="http://schemas.openxmlformats.org/drawingml/2006/main" prst="roundRect">
            <a:avLst>
              <a:gd name="adj" fmla="val 2936"/>
            </a:avLst>
          </a:prstGeom>
          <a:noFill xmlns:a="http://schemas.openxmlformats.org/drawingml/2006/main"/>
          <a:ln xmlns:a="http://schemas.openxmlformats.org/drawingml/2006/main" w="11430">
            <a:solidFill>
              <a:srgbClr val="C9D8E1"/>
            </a:solidFill>
            <a:prstDash val="solid"/>
          </a:ln>
        </p:spPr>
      </p:sp>
      <p:sp>
        <p:nvSpPr>
          <p:cNvPr id="18" name="">
            <a:extLst xmlns:a="http://schemas.openxmlformats.org/drawingml/2006/main">
              <a:ext uri="{FF2B5EF4-FFF2-40B4-BE49-F238E27FC236}">
                <a16:creationId xmlns:a16="http://schemas.microsoft.com/office/drawing/2014/main" id="{587DC7ED-743E-426E-BFA5-235027465E3C}"/>
              </a:ext>
            </a:extLst>
          </p:cNvPr>
          <p:cNvSpPr>
            <a:spLocks xmlns:a="http://schemas.openxmlformats.org/drawingml/2006/main" noGrp="1"/>
          </p:cNvSpPr>
          <p:nvPr/>
        </p:nvSpPr>
        <p:spPr>
          <a:xfrm xmlns:a="http://schemas.openxmlformats.org/drawingml/2006/main">
            <a:off x="3414713" y="1771650"/>
            <a:ext cx="2595563" cy="5715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CEB8312A-77C1-41E4-BCF6-120A515778B5}"/>
              </a:ext>
            </a:extLst>
          </p:cNvPr>
          <p:cNvSpPr>
            <a:spLocks xmlns:a="http://schemas.openxmlformats.org/drawingml/2006/main" noGrp="1"/>
          </p:cNvSpPr>
          <p:nvPr/>
        </p:nvSpPr>
        <p:spPr>
          <a:xfrm xmlns:a="http://schemas.openxmlformats.org/drawingml/2006/main">
            <a:off x="3624263" y="2133600"/>
            <a:ext cx="2176463"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575" b="1">
                <a:solidFill>
                  <a:srgbClr val="EF7E00"/>
                </a:solidFill>
                <a:latin typeface="Yu Gothic UI"/>
                <a:ea typeface="Yu Gothic UI"/>
                <a:cs typeface="Yu Gothic UI"/>
              </a:defRPr>
            </a:pPr>
            <a:r>
              <a:rPr sz="1575" b="1">
                <a:solidFill>
                  <a:srgbClr val="EF7E00"/>
                </a:solidFill>
                <a:latin typeface="Yu Gothic UI"/>
                <a:ea typeface="Yu Gothic UI"/>
                <a:cs typeface="Yu Gothic UI"/>
              </a:rPr>
              <a:t>COMMIT</a:t>
            </a:r>
          </a:p>
        </p:txBody>
      </p:sp>
      <p:sp>
        <p:nvSpPr>
          <p:cNvPr id="20" name="">
            <a:extLst xmlns:a="http://schemas.openxmlformats.org/drawingml/2006/main">
              <a:ext uri="{FF2B5EF4-FFF2-40B4-BE49-F238E27FC236}">
                <a16:creationId xmlns:a16="http://schemas.microsoft.com/office/drawing/2014/main" id="{E3A0152E-A735-41D4-A7E6-493536D1A232}"/>
              </a:ext>
            </a:extLst>
          </p:cNvPr>
          <p:cNvSpPr>
            <a:spLocks xmlns:a="http://schemas.openxmlformats.org/drawingml/2006/main" noGrp="1"/>
          </p:cNvSpPr>
          <p:nvPr/>
        </p:nvSpPr>
        <p:spPr>
          <a:xfrm xmlns:a="http://schemas.openxmlformats.org/drawingml/2006/main">
            <a:off x="3624263" y="2933700"/>
            <a:ext cx="2176463"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指定4ファイルだけ</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message固定</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mainへpush</a:t>
            </a:r>
          </a:p>
        </p:txBody>
      </p:sp>
      <p:sp>
        <p:nvSpPr>
          <p:cNvPr id="21" name="">
            <a:extLst xmlns:a="http://schemas.openxmlformats.org/drawingml/2006/main">
              <a:ext uri="{FF2B5EF4-FFF2-40B4-BE49-F238E27FC236}">
                <a16:creationId xmlns:a16="http://schemas.microsoft.com/office/drawing/2014/main" id="{57EA3DB3-6854-43DF-B48E-38830D26C564}"/>
              </a:ext>
            </a:extLst>
          </p:cNvPr>
          <p:cNvSpPr>
            <a:spLocks xmlns:a="http://schemas.openxmlformats.org/drawingml/2006/main" noGrp="1"/>
          </p:cNvSpPr>
          <p:nvPr/>
        </p:nvSpPr>
        <p:spPr>
          <a:xfrm xmlns:a="http://schemas.openxmlformats.org/drawingml/2006/main">
            <a:off x="3624263" y="4686300"/>
            <a:ext cx="609600" cy="323850"/>
          </a:xfrm>
          <a:prstGeom xmlns:a="http://schemas.openxmlformats.org/drawingml/2006/main" prst="roundRect">
            <a:avLst>
              <a:gd name="adj" fmla="val 23529"/>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02</a:t>
            </a:r>
          </a:p>
        </p:txBody>
      </p:sp>
      <p:sp>
        <p:nvSpPr>
          <p:cNvPr id="22" name="">
            <a:extLst xmlns:a="http://schemas.openxmlformats.org/drawingml/2006/main">
              <a:ext uri="{FF2B5EF4-FFF2-40B4-BE49-F238E27FC236}">
                <a16:creationId xmlns:a16="http://schemas.microsoft.com/office/drawing/2014/main" id="{EDABA01D-6998-4DB3-A585-F67E3F686E0A}"/>
              </a:ext>
            </a:extLst>
          </p:cNvPr>
          <p:cNvSpPr>
            <a:spLocks xmlns:a="http://schemas.openxmlformats.org/drawingml/2006/main" noGrp="1"/>
          </p:cNvSpPr>
          <p:nvPr/>
        </p:nvSpPr>
        <p:spPr>
          <a:xfrm xmlns:a="http://schemas.openxmlformats.org/drawingml/2006/main">
            <a:off x="6181725" y="1771650"/>
            <a:ext cx="2595563" cy="3524250"/>
          </a:xfrm>
          <a:prstGeom xmlns:a="http://schemas.openxmlformats.org/drawingml/2006/main" prst="roundRect">
            <a:avLst>
              <a:gd name="adj" fmla="val 2936"/>
            </a:avLst>
          </a:prstGeom>
          <a:noFill xmlns:a="http://schemas.openxmlformats.org/drawingml/2006/main"/>
          <a:ln xmlns:a="http://schemas.openxmlformats.org/drawingml/2006/main" w="11430">
            <a:solidFill>
              <a:srgbClr val="C9D8E1"/>
            </a:solidFill>
            <a:prstDash val="solid"/>
          </a:ln>
        </p:spPr>
      </p:sp>
      <p:sp>
        <p:nvSpPr>
          <p:cNvPr id="23" name="">
            <a:extLst xmlns:a="http://schemas.openxmlformats.org/drawingml/2006/main">
              <a:ext uri="{FF2B5EF4-FFF2-40B4-BE49-F238E27FC236}">
                <a16:creationId xmlns:a16="http://schemas.microsoft.com/office/drawing/2014/main" id="{E2AB6A69-D97B-469C-9C92-8F0D4BB76B15}"/>
              </a:ext>
            </a:extLst>
          </p:cNvPr>
          <p:cNvSpPr>
            <a:spLocks xmlns:a="http://schemas.openxmlformats.org/drawingml/2006/main" noGrp="1"/>
          </p:cNvSpPr>
          <p:nvPr/>
        </p:nvSpPr>
        <p:spPr>
          <a:xfrm xmlns:a="http://schemas.openxmlformats.org/drawingml/2006/main">
            <a:off x="6181725" y="1771650"/>
            <a:ext cx="2595563" cy="57150"/>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9F3BE45-C0F3-4B86-A35C-B62756B840F2}"/>
              </a:ext>
            </a:extLst>
          </p:cNvPr>
          <p:cNvSpPr>
            <a:spLocks xmlns:a="http://schemas.openxmlformats.org/drawingml/2006/main" noGrp="1"/>
          </p:cNvSpPr>
          <p:nvPr/>
        </p:nvSpPr>
        <p:spPr>
          <a:xfrm xmlns:a="http://schemas.openxmlformats.org/drawingml/2006/main">
            <a:off x="6391275" y="2133600"/>
            <a:ext cx="2176463"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575" b="1">
                <a:solidFill>
                  <a:srgbClr val="2F9E63"/>
                </a:solidFill>
                <a:latin typeface="Yu Gothic UI"/>
                <a:ea typeface="Yu Gothic UI"/>
                <a:cs typeface="Yu Gothic UI"/>
              </a:defRPr>
            </a:pPr>
            <a:r>
              <a:rPr sz="1575" b="1">
                <a:solidFill>
                  <a:srgbClr val="2F9E63"/>
                </a:solidFill>
                <a:latin typeface="Yu Gothic UI"/>
                <a:ea typeface="Yu Gothic UI"/>
                <a:cs typeface="Yu Gothic UI"/>
              </a:rPr>
              <a:t>HTTPS</a:t>
            </a:r>
          </a:p>
        </p:txBody>
      </p:sp>
      <p:sp>
        <p:nvSpPr>
          <p:cNvPr id="25" name="">
            <a:extLst xmlns:a="http://schemas.openxmlformats.org/drawingml/2006/main">
              <a:ext uri="{FF2B5EF4-FFF2-40B4-BE49-F238E27FC236}">
                <a16:creationId xmlns:a16="http://schemas.microsoft.com/office/drawing/2014/main" id="{D990235A-18EF-4F2B-ACF9-10B794A14A49}"/>
              </a:ext>
            </a:extLst>
          </p:cNvPr>
          <p:cNvSpPr>
            <a:spLocks xmlns:a="http://schemas.openxmlformats.org/drawingml/2006/main" noGrp="1"/>
          </p:cNvSpPr>
          <p:nvPr/>
        </p:nvSpPr>
        <p:spPr>
          <a:xfrm xmlns:a="http://schemas.openxmlformats.org/drawingml/2006/main">
            <a:off x="6391275" y="2933700"/>
            <a:ext cx="2176463"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Pages deployment</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200 response</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公開title</a:t>
            </a:r>
          </a:p>
        </p:txBody>
      </p:sp>
      <p:sp>
        <p:nvSpPr>
          <p:cNvPr id="26" name="">
            <a:extLst xmlns:a="http://schemas.openxmlformats.org/drawingml/2006/main">
              <a:ext uri="{FF2B5EF4-FFF2-40B4-BE49-F238E27FC236}">
                <a16:creationId xmlns:a16="http://schemas.microsoft.com/office/drawing/2014/main" id="{4CF793A4-C3E8-452E-B29C-7D1697F0813D}"/>
              </a:ext>
            </a:extLst>
          </p:cNvPr>
          <p:cNvSpPr>
            <a:spLocks xmlns:a="http://schemas.openxmlformats.org/drawingml/2006/main" noGrp="1"/>
          </p:cNvSpPr>
          <p:nvPr/>
        </p:nvSpPr>
        <p:spPr>
          <a:xfrm xmlns:a="http://schemas.openxmlformats.org/drawingml/2006/main">
            <a:off x="6391275" y="4686300"/>
            <a:ext cx="609600" cy="323850"/>
          </a:xfrm>
          <a:prstGeom xmlns:a="http://schemas.openxmlformats.org/drawingml/2006/main" prst="roundRect">
            <a:avLst>
              <a:gd name="adj" fmla="val 23529"/>
            </a:avLst>
          </a:prstGeom>
          <a:solidFill xmlns:a="http://schemas.openxmlformats.org/drawingml/2006/main">
            <a:srgbClr val="2F9E63"/>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03</a:t>
            </a:r>
          </a:p>
        </p:txBody>
      </p:sp>
      <p:sp>
        <p:nvSpPr>
          <p:cNvPr id="27" name="">
            <a:extLst xmlns:a="http://schemas.openxmlformats.org/drawingml/2006/main">
              <a:ext uri="{FF2B5EF4-FFF2-40B4-BE49-F238E27FC236}">
                <a16:creationId xmlns:a16="http://schemas.microsoft.com/office/drawing/2014/main" id="{AD3DD592-BEE1-4B5A-A1CA-D4120D35D710}"/>
              </a:ext>
            </a:extLst>
          </p:cNvPr>
          <p:cNvSpPr>
            <a:spLocks xmlns:a="http://schemas.openxmlformats.org/drawingml/2006/main" noGrp="1"/>
          </p:cNvSpPr>
          <p:nvPr/>
        </p:nvSpPr>
        <p:spPr>
          <a:xfrm xmlns:a="http://schemas.openxmlformats.org/drawingml/2006/main">
            <a:off x="8948738" y="1771650"/>
            <a:ext cx="2595563" cy="3524250"/>
          </a:xfrm>
          <a:prstGeom xmlns:a="http://schemas.openxmlformats.org/drawingml/2006/main" prst="roundRect">
            <a:avLst>
              <a:gd name="adj" fmla="val 2936"/>
            </a:avLst>
          </a:prstGeom>
          <a:noFill xmlns:a="http://schemas.openxmlformats.org/drawingml/2006/main"/>
          <a:ln xmlns:a="http://schemas.openxmlformats.org/drawingml/2006/main" w="11430">
            <a:solidFill>
              <a:srgbClr val="C9D8E1"/>
            </a:solidFill>
            <a:prstDash val="solid"/>
          </a:ln>
        </p:spPr>
      </p:sp>
      <p:sp>
        <p:nvSpPr>
          <p:cNvPr id="28" name="">
            <a:extLst xmlns:a="http://schemas.openxmlformats.org/drawingml/2006/main">
              <a:ext uri="{FF2B5EF4-FFF2-40B4-BE49-F238E27FC236}">
                <a16:creationId xmlns:a16="http://schemas.microsoft.com/office/drawing/2014/main" id="{4E8E58C9-B99A-4F04-8062-37DCBA2CF7AF}"/>
              </a:ext>
            </a:extLst>
          </p:cNvPr>
          <p:cNvSpPr>
            <a:spLocks xmlns:a="http://schemas.openxmlformats.org/drawingml/2006/main" noGrp="1"/>
          </p:cNvSpPr>
          <p:nvPr/>
        </p:nvSpPr>
        <p:spPr>
          <a:xfrm xmlns:a="http://schemas.openxmlformats.org/drawingml/2006/main">
            <a:off x="8948738" y="1771650"/>
            <a:ext cx="2595563" cy="57150"/>
          </a:xfrm>
          <a:prstGeom xmlns:a="http://schemas.openxmlformats.org/drawingml/2006/main" prst="rect">
            <a:avLst/>
          </a:prstGeom>
          <a:solidFill xmlns:a="http://schemas.openxmlformats.org/drawingml/2006/main">
            <a:srgbClr val="7B61A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892DCDF4-C9CD-4EE5-8AD4-01EFC089FD78}"/>
              </a:ext>
            </a:extLst>
          </p:cNvPr>
          <p:cNvSpPr>
            <a:spLocks xmlns:a="http://schemas.openxmlformats.org/drawingml/2006/main" noGrp="1"/>
          </p:cNvSpPr>
          <p:nvPr/>
        </p:nvSpPr>
        <p:spPr>
          <a:xfrm xmlns:a="http://schemas.openxmlformats.org/drawingml/2006/main">
            <a:off x="9158288" y="2133600"/>
            <a:ext cx="2176463"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575" b="1">
                <a:solidFill>
                  <a:srgbClr val="7B61A8"/>
                </a:solidFill>
                <a:latin typeface="Yu Gothic UI"/>
                <a:ea typeface="Yu Gothic UI"/>
                <a:cs typeface="Yu Gothic UI"/>
              </a:defRPr>
            </a:pPr>
            <a:r>
              <a:rPr sz="1575" b="1">
                <a:solidFill>
                  <a:srgbClr val="7B61A8"/>
                </a:solidFill>
                <a:latin typeface="Yu Gothic UI"/>
                <a:ea typeface="Yu Gothic UI"/>
                <a:cs typeface="Yu Gothic UI"/>
              </a:rPr>
              <a:t>FUNCTION</a:t>
            </a:r>
          </a:p>
        </p:txBody>
      </p:sp>
      <p:sp>
        <p:nvSpPr>
          <p:cNvPr id="30" name="">
            <a:extLst xmlns:a="http://schemas.openxmlformats.org/drawingml/2006/main">
              <a:ext uri="{FF2B5EF4-FFF2-40B4-BE49-F238E27FC236}">
                <a16:creationId xmlns:a16="http://schemas.microsoft.com/office/drawing/2014/main" id="{7C296CDD-F9E1-406D-A77F-998D7F9B1376}"/>
              </a:ext>
            </a:extLst>
          </p:cNvPr>
          <p:cNvSpPr>
            <a:spLocks xmlns:a="http://schemas.openxmlformats.org/drawingml/2006/main" noGrp="1"/>
          </p:cNvSpPr>
          <p:nvPr/>
        </p:nvSpPr>
        <p:spPr>
          <a:xfrm xmlns:a="http://schemas.openxmlformats.org/drawingml/2006/main">
            <a:off x="9158288" y="2933700"/>
            <a:ext cx="2176463"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5 products</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filters 5・4・1・5</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maximum 2 compare</a:t>
            </a:r>
          </a:p>
        </p:txBody>
      </p:sp>
      <p:sp>
        <p:nvSpPr>
          <p:cNvPr id="31" name="">
            <a:extLst xmlns:a="http://schemas.openxmlformats.org/drawingml/2006/main">
              <a:ext uri="{FF2B5EF4-FFF2-40B4-BE49-F238E27FC236}">
                <a16:creationId xmlns:a16="http://schemas.microsoft.com/office/drawing/2014/main" id="{41670E38-15CB-4D0E-ACC6-B23CAE45FF11}"/>
              </a:ext>
            </a:extLst>
          </p:cNvPr>
          <p:cNvSpPr>
            <a:spLocks xmlns:a="http://schemas.openxmlformats.org/drawingml/2006/main" noGrp="1"/>
          </p:cNvSpPr>
          <p:nvPr/>
        </p:nvSpPr>
        <p:spPr>
          <a:xfrm xmlns:a="http://schemas.openxmlformats.org/drawingml/2006/main">
            <a:off x="9158288" y="4686300"/>
            <a:ext cx="609600" cy="323850"/>
          </a:xfrm>
          <a:prstGeom xmlns:a="http://schemas.openxmlformats.org/drawingml/2006/main" prst="roundRect">
            <a:avLst>
              <a:gd name="adj" fmla="val 23529"/>
            </a:avLst>
          </a:prstGeom>
          <a:solidFill xmlns:a="http://schemas.openxmlformats.org/drawingml/2006/main">
            <a:srgbClr val="7B61A8"/>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04</a:t>
            </a:r>
          </a:p>
        </p:txBody>
      </p:sp>
    </p:spTree>
    <p:extLst>
      <p:ext uri="{BB962C8B-B14F-4D97-AF65-F5344CB8AC3E}">
        <p14:creationId xmlns:p14="http://schemas.microsoft.com/office/powerpoint/2010/main" val="101826840"/>
      </p:ext>
    </p:extLst>
  </p:cSld>
</p:sld>
</file>

<file path=ppt/slides/slide2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23 / 36</a:t>
            </a:r>
          </a:p>
        </p:txBody>
      </p:sp>
      <p:sp>
        <p:nvSpPr>
          <p:cNvPr id="10" name="">
            <a:extLst xmlns:a="http://schemas.openxmlformats.org/drawingml/2006/main">
              <a:ext uri="{FF2B5EF4-FFF2-40B4-BE49-F238E27FC236}">
                <a16:creationId xmlns:a16="http://schemas.microsoft.com/office/drawing/2014/main" id="{7D97B935-059F-4919-9A6B-9D4CCCD7E44A}"/>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REHEARSAL  |  ACTUAL RESULT</a:t>
            </a:r>
          </a:p>
        </p:txBody>
      </p:sp>
      <p:sp>
        <p:nvSpPr>
          <p:cNvPr id="11" name="">
            <a:extLst xmlns:a="http://schemas.openxmlformats.org/drawingml/2006/main">
              <a:ext uri="{FF2B5EF4-FFF2-40B4-BE49-F238E27FC236}">
                <a16:creationId xmlns:a16="http://schemas.microsoft.com/office/drawing/2014/main" id="{7D4941E9-37F5-4DC1-BBD3-2FB281B54447}"/>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公開と改善は成功。追加改善だけで約78分かかりました</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8514ca36ef1345f2"/>
          <a:srcRect xmlns:a="http://schemas.openxmlformats.org/drawingml/2006/main" l="0" t="3333" r="0" b="3333"/>
          <a:stretch xmlns:a="http://schemas.openxmlformats.org/drawingml/2006/main">
            <a:fillRect l="0" t="0" r="0" b="0"/>
          </a:stretch>
        </p:blipFill>
        <p:spPr>
          <a:xfrm xmlns:a="http://schemas.openxmlformats.org/drawingml/2006/main">
            <a:off x="647700" y="1657350"/>
            <a:ext cx="6858000" cy="4000500"/>
          </a:xfrm>
          <a:prstGeom xmlns:a="http://schemas.openxmlformats.org/drawingml/2006/main" prst="roundRect">
            <a:avLst>
              <a:gd name="adj" fmla="val 1905"/>
            </a:avLst>
          </a:prstGeom>
        </p:spPr>
      </p:pic>
      <p:sp>
        <p:nvSpPr>
          <p:cNvPr id="13" name="">
            <a:extLst xmlns:a="http://schemas.openxmlformats.org/drawingml/2006/main">
              <a:ext uri="{FF2B5EF4-FFF2-40B4-BE49-F238E27FC236}">
                <a16:creationId xmlns:a16="http://schemas.microsoft.com/office/drawing/2014/main" id="{F1AAF26F-EADB-46D3-B7EC-4FBBAA2ACBF9}"/>
              </a:ext>
            </a:extLst>
          </p:cNvPr>
          <p:cNvSpPr>
            <a:spLocks xmlns:a="http://schemas.openxmlformats.org/drawingml/2006/main" noGrp="1"/>
          </p:cNvSpPr>
          <p:nvPr/>
        </p:nvSpPr>
        <p:spPr>
          <a:xfrm xmlns:a="http://schemas.openxmlformats.org/drawingml/2006/main">
            <a:off x="7772400" y="1657350"/>
            <a:ext cx="3771900" cy="4000500"/>
          </a:xfrm>
          <a:prstGeom xmlns:a="http://schemas.openxmlformats.org/drawingml/2006/main" prst="roundRect">
            <a:avLst>
              <a:gd name="adj" fmla="val 2020"/>
            </a:avLst>
          </a:prstGeom>
          <a:solidFill xmlns:a="http://schemas.openxmlformats.org/drawingml/2006/main">
            <a:srgbClr val="071A2B"/>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242AD15-689B-4C2C-B629-605857FAC46B}"/>
              </a:ext>
            </a:extLst>
          </p:cNvPr>
          <p:cNvSpPr>
            <a:spLocks xmlns:a="http://schemas.openxmlformats.org/drawingml/2006/main" noGrp="1"/>
          </p:cNvSpPr>
          <p:nvPr/>
        </p:nvSpPr>
        <p:spPr>
          <a:xfrm xmlns:a="http://schemas.openxmlformats.org/drawingml/2006/main">
            <a:off x="8058150" y="1924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00A5E3"/>
                </a:solidFill>
                <a:latin typeface="Yu Gothic UI"/>
                <a:ea typeface="Yu Gothic UI"/>
                <a:cs typeface="Yu Gothic UI"/>
              </a:defRPr>
            </a:pPr>
            <a:r>
              <a:rPr sz="1050" b="1">
                <a:solidFill>
                  <a:srgbClr val="00A5E3"/>
                </a:solidFill>
                <a:latin typeface="Yu Gothic UI"/>
                <a:ea typeface="Yu Gothic UI"/>
                <a:cs typeface="Yu Gothic UI"/>
              </a:rPr>
              <a:t>ACTUAL</a:t>
            </a:r>
          </a:p>
        </p:txBody>
      </p:sp>
      <p:sp>
        <p:nvSpPr>
          <p:cNvPr id="15" name="">
            <a:extLst xmlns:a="http://schemas.openxmlformats.org/drawingml/2006/main">
              <a:ext uri="{FF2B5EF4-FFF2-40B4-BE49-F238E27FC236}">
                <a16:creationId xmlns:a16="http://schemas.microsoft.com/office/drawing/2014/main" id="{297D4DF0-606F-43C6-9D1A-FFCF4DC16B00}"/>
              </a:ext>
            </a:extLst>
          </p:cNvPr>
          <p:cNvSpPr>
            <a:spLocks xmlns:a="http://schemas.openxmlformats.org/drawingml/2006/main" noGrp="1"/>
          </p:cNvSpPr>
          <p:nvPr/>
        </p:nvSpPr>
        <p:spPr>
          <a:xfrm xmlns:a="http://schemas.openxmlformats.org/drawingml/2006/main">
            <a:off x="8058150" y="2324100"/>
            <a:ext cx="3143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08000"/>
              </a:lnSpc>
              <a:buNone/>
              <a:defRPr sz="1950" b="1">
                <a:solidFill>
                  <a:srgbClr val="FFFFFF"/>
                </a:solidFill>
                <a:latin typeface="Yu Gothic UI"/>
                <a:ea typeface="Yu Gothic UI"/>
                <a:cs typeface="Yu Gothic UI"/>
              </a:defRPr>
            </a:pPr>
            <a:r>
              <a:rPr sz="1950" b="1">
                <a:solidFill>
                  <a:srgbClr val="FFFFFF"/>
                </a:solidFill>
                <a:latin typeface="Yu Gothic UI"/>
                <a:ea typeface="Yu Gothic UI"/>
                <a:cs typeface="Yu Gothic UI"/>
              </a:rPr>
              <a:t>05cfa7c → 347ce89</a:t>
            </a:r>
          </a:p>
          <a:p xmlns:a="http://schemas.openxmlformats.org/drawingml/2006/main">
            <a:pPr>
              <a:lnSpc>
                <a:spcPct val="108000"/>
              </a:lnSpc>
              <a:buNone/>
              <a:defRPr sz="1950" b="1">
                <a:solidFill>
                  <a:srgbClr val="FFFFFF"/>
                </a:solidFill>
                <a:latin typeface="Yu Gothic UI"/>
                <a:ea typeface="Yu Gothic UI"/>
                <a:cs typeface="Yu Gothic UI"/>
              </a:defRPr>
            </a:pPr>
            <a:r>
              <a:rPr sz="1950" b="1">
                <a:solidFill>
                  <a:srgbClr val="FFFFFF"/>
                </a:solidFill>
                <a:latin typeface="Yu Gothic UI"/>
                <a:ea typeface="Yu Gothic UI"/>
                <a:cs typeface="Yu Gothic UI"/>
              </a:rPr>
              <a:t>11 commits</a:t>
            </a:r>
          </a:p>
          <a:p xmlns:a="http://schemas.openxmlformats.org/drawingml/2006/main">
            <a:pPr>
              <a:lnSpc>
                <a:spcPct val="108000"/>
              </a:lnSpc>
              <a:buNone/>
              <a:defRPr sz="1950" b="1">
                <a:solidFill>
                  <a:srgbClr val="FFFFFF"/>
                </a:solidFill>
                <a:latin typeface="Yu Gothic UI"/>
                <a:ea typeface="Yu Gothic UI"/>
                <a:cs typeface="Yu Gothic UI"/>
              </a:defRPr>
            </a:pPr>
            <a:r>
              <a:rPr sz="1950" b="1">
                <a:solidFill>
                  <a:srgbClr val="FFFFFF"/>
                </a:solidFill>
                <a:latin typeface="Yu Gothic UI"/>
                <a:ea typeface="Yu Gothic UI"/>
                <a:cs typeface="Yu Gothic UI"/>
              </a:rPr>
              <a:t>約78分</a:t>
            </a:r>
          </a:p>
        </p:txBody>
      </p:sp>
      <p:sp>
        <p:nvSpPr>
          <p:cNvPr id="16" name="">
            <a:extLst xmlns:a="http://schemas.openxmlformats.org/drawingml/2006/main">
              <a:ext uri="{FF2B5EF4-FFF2-40B4-BE49-F238E27FC236}">
                <a16:creationId xmlns:a16="http://schemas.microsoft.com/office/drawing/2014/main" id="{20860B8F-36F5-46DC-85FF-611D678B661F}"/>
              </a:ext>
            </a:extLst>
          </p:cNvPr>
          <p:cNvSpPr>
            <a:spLocks xmlns:a="http://schemas.openxmlformats.org/drawingml/2006/main" noGrp="1"/>
          </p:cNvSpPr>
          <p:nvPr/>
        </p:nvSpPr>
        <p:spPr>
          <a:xfrm xmlns:a="http://schemas.openxmlformats.org/drawingml/2006/main">
            <a:off x="8058150" y="3695700"/>
            <a:ext cx="314325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6000"/>
              </a:lnSpc>
              <a:buNone/>
              <a:defRPr sz="1163">
                <a:solidFill>
                  <a:srgbClr val="D8EAF1"/>
                </a:solidFill>
                <a:latin typeface="Yu Gothic UI"/>
                <a:ea typeface="Yu Gothic UI"/>
                <a:cs typeface="Yu Gothic UI"/>
              </a:defRPr>
            </a:pPr>
            <a:r>
              <a:rPr sz="1163">
                <a:solidFill>
                  <a:srgbClr val="D8EAF1"/>
                </a:solidFill>
                <a:latin typeface="Yu Gothic UI"/>
                <a:ea typeface="Yu Gothic UI"/>
                <a:cs typeface="Yu Gothic UI"/>
              </a:rPr>
              <a:t>公開URL: HTTPS 200</a:t>
            </a:r>
          </a:p>
          <a:p xmlns:a="http://schemas.openxmlformats.org/drawingml/2006/main">
            <a:pPr>
              <a:lnSpc>
                <a:spcPct val="116000"/>
              </a:lnSpc>
              <a:buNone/>
              <a:defRPr sz="1163">
                <a:solidFill>
                  <a:srgbClr val="D8EAF1"/>
                </a:solidFill>
                <a:latin typeface="Yu Gothic UI"/>
                <a:ea typeface="Yu Gothic UI"/>
                <a:cs typeface="Yu Gothic UI"/>
              </a:defRPr>
            </a:pPr>
            <a:r>
              <a:rPr sz="1163">
                <a:solidFill>
                  <a:srgbClr val="D8EAF1"/>
                </a:solidFill>
                <a:latin typeface="Yu Gothic UI"/>
                <a:ea typeface="Yu Gothic UI"/>
                <a:cs typeface="Yu Gothic UI"/>
              </a:rPr>
              <a:t>製品: 5 → 9</a:t>
            </a:r>
          </a:p>
          <a:p xmlns:a="http://schemas.openxmlformats.org/drawingml/2006/main">
            <a:pPr>
              <a:lnSpc>
                <a:spcPct val="116000"/>
              </a:lnSpc>
              <a:buNone/>
              <a:defRPr sz="1163">
                <a:solidFill>
                  <a:srgbClr val="D8EAF1"/>
                </a:solidFill>
                <a:latin typeface="Yu Gothic UI"/>
                <a:ea typeface="Yu Gothic UI"/>
                <a:cs typeface="Yu Gothic UI"/>
              </a:defRPr>
            </a:pPr>
            <a:r>
              <a:rPr sz="1163">
                <a:solidFill>
                  <a:srgbClr val="D8EAF1"/>
                </a:solidFill>
                <a:latin typeface="Yu Gothic UI"/>
                <a:ea typeface="Yu Gothic UI"/>
                <a:cs typeface="Yu Gothic UI"/>
              </a:rPr>
              <a:t>追加: 動画 / Visual Feedback模擬 / Nano Banana模擬 / 検索 / 診断 / export</a:t>
            </a:r>
          </a:p>
          <a:p xmlns:a="http://schemas.openxmlformats.org/drawingml/2006/main">
            <a:pPr>
              <a:lnSpc>
                <a:spcPct val="116000"/>
              </a:lnSpc>
              <a:buNone/>
              <a:defRPr sz="1163">
                <a:solidFill>
                  <a:srgbClr val="D8EAF1"/>
                </a:solidFill>
                <a:latin typeface="Yu Gothic UI"/>
                <a:ea typeface="Yu Gothic UI"/>
                <a:cs typeface="Yu Gothic UI"/>
              </a:defRPr>
            </a:pPr>
            <a:r>
              <a:rPr sz="1163">
                <a:solidFill>
                  <a:srgbClr val="D8EAF1"/>
                </a:solidFill>
                <a:latin typeface="Yu Gothic UI"/>
                <a:ea typeface="Yu Gothic UI"/>
                <a:cs typeface="Yu Gothic UI"/>
              </a:rPr>
              <a:t>横scroll: desktop 0 / mobile 0</a:t>
            </a:r>
          </a:p>
        </p:txBody>
      </p:sp>
    </p:spTree>
    <p:extLst>
      <p:ext uri="{BB962C8B-B14F-4D97-AF65-F5344CB8AC3E}">
        <p14:creationId xmlns:p14="http://schemas.microsoft.com/office/powerpoint/2010/main" val="101826840"/>
      </p:ext>
    </p:extLst>
  </p:cSld>
</p:sld>
</file>

<file path=ppt/slides/slide2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24 / 36</a:t>
            </a:r>
          </a:p>
        </p:txBody>
      </p:sp>
      <p:sp>
        <p:nvSpPr>
          <p:cNvPr id="10" name="">
            <a:extLst xmlns:a="http://schemas.openxmlformats.org/drawingml/2006/main">
              <a:ext uri="{FF2B5EF4-FFF2-40B4-BE49-F238E27FC236}">
                <a16:creationId xmlns:a16="http://schemas.microsoft.com/office/drawing/2014/main" id="{410E92E8-F058-4733-A249-65D3BC8A4CA0}"/>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LEARNING DESIGN  |  MIXI REFERENCE</a:t>
            </a:r>
          </a:p>
        </p:txBody>
      </p:sp>
      <p:sp>
        <p:nvSpPr>
          <p:cNvPr id="11" name="">
            <a:extLst xmlns:a="http://schemas.openxmlformats.org/drawingml/2006/main">
              <a:ext uri="{FF2B5EF4-FFF2-40B4-BE49-F238E27FC236}">
                <a16:creationId xmlns:a16="http://schemas.microsoft.com/office/drawing/2014/main" id="{6884E592-CF89-4F01-84DD-298F1279FCDE}"/>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実演は『説明 → 実行 → 証拠 → 言語化』を4回繰り返します</a:t>
            </a:r>
          </a:p>
        </p:txBody>
      </p:sp>
      <p:sp>
        <p:nvSpPr>
          <p:cNvPr id="12" name="">
            <a:extLst xmlns:a="http://schemas.openxmlformats.org/drawingml/2006/main">
              <a:ext uri="{FF2B5EF4-FFF2-40B4-BE49-F238E27FC236}">
                <a16:creationId xmlns:a16="http://schemas.microsoft.com/office/drawing/2014/main" id="{4DE78884-03DA-42FA-A972-E83C62D49E96}"/>
              </a:ext>
            </a:extLst>
          </p:cNvPr>
          <p:cNvSpPr>
            <a:spLocks xmlns:a="http://schemas.openxmlformats.org/drawingml/2006/main" noGrp="1"/>
          </p:cNvSpPr>
          <p:nvPr/>
        </p:nvSpPr>
        <p:spPr>
          <a:xfrm xmlns:a="http://schemas.openxmlformats.org/drawingml/2006/main">
            <a:off x="647700" y="1790700"/>
            <a:ext cx="2552700" cy="2647950"/>
          </a:xfrm>
          <a:prstGeom xmlns:a="http://schemas.openxmlformats.org/drawingml/2006/main" prst="roundRect">
            <a:avLst>
              <a:gd name="adj" fmla="val 2985"/>
            </a:avLst>
          </a:prstGeom>
          <a:noFill xmlns:a="http://schemas.openxmlformats.org/drawingml/2006/main"/>
          <a:ln xmlns:a="http://schemas.openxmlformats.org/drawingml/2006/main" w="11430">
            <a:solidFill>
              <a:srgbClr val="C9D8E1"/>
            </a:solidFill>
            <a:prstDash val="solid"/>
          </a:ln>
        </p:spPr>
      </p:sp>
      <p:sp>
        <p:nvSpPr>
          <p:cNvPr id="13" name="">
            <a:extLst xmlns:a="http://schemas.openxmlformats.org/drawingml/2006/main">
              <a:ext uri="{FF2B5EF4-FFF2-40B4-BE49-F238E27FC236}">
                <a16:creationId xmlns:a16="http://schemas.microsoft.com/office/drawing/2014/main" id="{48BB1563-1032-4480-8D01-84139FB4B84E}"/>
              </a:ext>
            </a:extLst>
          </p:cNvPr>
          <p:cNvSpPr>
            <a:spLocks xmlns:a="http://schemas.openxmlformats.org/drawingml/2006/main" noGrp="1"/>
          </p:cNvSpPr>
          <p:nvPr/>
        </p:nvSpPr>
        <p:spPr>
          <a:xfrm xmlns:a="http://schemas.openxmlformats.org/drawingml/2006/main">
            <a:off x="647700" y="1790700"/>
            <a:ext cx="2552700" cy="666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022B034-76CB-4B61-ACA6-D4CD7BD71790}"/>
              </a:ext>
            </a:extLst>
          </p:cNvPr>
          <p:cNvSpPr>
            <a:spLocks xmlns:a="http://schemas.openxmlformats.org/drawingml/2006/main" noGrp="1"/>
          </p:cNvSpPr>
          <p:nvPr/>
        </p:nvSpPr>
        <p:spPr>
          <a:xfrm xmlns:a="http://schemas.openxmlformats.org/drawingml/2006/main">
            <a:off x="857250" y="20764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01</a:t>
            </a:r>
          </a:p>
        </p:txBody>
      </p:sp>
      <p:sp>
        <p:nvSpPr>
          <p:cNvPr id="15" name="">
            <a:extLst xmlns:a="http://schemas.openxmlformats.org/drawingml/2006/main">
              <a:ext uri="{FF2B5EF4-FFF2-40B4-BE49-F238E27FC236}">
                <a16:creationId xmlns:a16="http://schemas.microsoft.com/office/drawing/2014/main" id="{8FEEBC4D-CC3A-4F9B-88C2-A192D17B0414}"/>
              </a:ext>
            </a:extLst>
          </p:cNvPr>
          <p:cNvSpPr>
            <a:spLocks xmlns:a="http://schemas.openxmlformats.org/drawingml/2006/main" noGrp="1"/>
          </p:cNvSpPr>
          <p:nvPr/>
        </p:nvSpPr>
        <p:spPr>
          <a:xfrm xmlns:a="http://schemas.openxmlformats.org/drawingml/2006/main">
            <a:off x="857250" y="2647950"/>
            <a:ext cx="2133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575" b="1">
                <a:solidFill>
                  <a:srgbClr val="17242B"/>
                </a:solidFill>
                <a:latin typeface="Yu Gothic UI"/>
                <a:ea typeface="Yu Gothic UI"/>
                <a:cs typeface="Yu Gothic UI"/>
              </a:defRPr>
            </a:pPr>
            <a:r>
              <a:rPr sz="1575" b="1">
                <a:solidFill>
                  <a:srgbClr val="17242B"/>
                </a:solidFill>
                <a:latin typeface="Yu Gothic UI"/>
                <a:ea typeface="Yu Gothic UI"/>
                <a:cs typeface="Yu Gothic UI"/>
              </a:rPr>
              <a:t>共通言語</a:t>
            </a:r>
          </a:p>
        </p:txBody>
      </p:sp>
      <p:sp>
        <p:nvSpPr>
          <p:cNvPr id="16" name="">
            <a:extLst xmlns:a="http://schemas.openxmlformats.org/drawingml/2006/main">
              <a:ext uri="{FF2B5EF4-FFF2-40B4-BE49-F238E27FC236}">
                <a16:creationId xmlns:a16="http://schemas.microsoft.com/office/drawing/2014/main" id="{74D68566-E857-42B9-8A2F-75A7F2F87E67}"/>
              </a:ext>
            </a:extLst>
          </p:cNvPr>
          <p:cNvSpPr>
            <a:spLocks xmlns:a="http://schemas.openxmlformats.org/drawingml/2006/main" noGrp="1"/>
          </p:cNvSpPr>
          <p:nvPr/>
        </p:nvSpPr>
        <p:spPr>
          <a:xfrm xmlns:a="http://schemas.openxmlformats.org/drawingml/2006/main">
            <a:off x="857250" y="3238500"/>
            <a:ext cx="2133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6000"/>
              </a:lnSpc>
              <a:buNone/>
              <a:defRPr sz="1238">
                <a:solidFill>
                  <a:srgbClr val="536978"/>
                </a:solidFill>
                <a:latin typeface="Yu Gothic UI"/>
                <a:ea typeface="Yu Gothic UI"/>
                <a:cs typeface="Yu Gothic UI"/>
              </a:defRPr>
            </a:pPr>
            <a:r>
              <a:rPr sz="1238">
                <a:solidFill>
                  <a:srgbClr val="536978"/>
                </a:solidFill>
                <a:latin typeface="Yu Gothic UI"/>
                <a:ea typeface="Yu Gothic UI"/>
                <a:cs typeface="Yu Gothic UI"/>
              </a:rPr>
              <a:t>Agent / Skill / MCP / Artifactを、操作前に短くそろえる</a:t>
            </a:r>
          </a:p>
        </p:txBody>
      </p:sp>
      <p:sp>
        <p:nvSpPr>
          <p:cNvPr id="17" name="">
            <a:extLst xmlns:a="http://schemas.openxmlformats.org/drawingml/2006/main">
              <a:ext uri="{FF2B5EF4-FFF2-40B4-BE49-F238E27FC236}">
                <a16:creationId xmlns:a16="http://schemas.microsoft.com/office/drawing/2014/main" id="{BA77D2EE-341F-4BD1-8E06-C137475A2DF3}"/>
              </a:ext>
            </a:extLst>
          </p:cNvPr>
          <p:cNvSpPr>
            <a:spLocks xmlns:a="http://schemas.openxmlformats.org/drawingml/2006/main" noGrp="1"/>
          </p:cNvSpPr>
          <p:nvPr/>
        </p:nvSpPr>
        <p:spPr>
          <a:xfrm xmlns:a="http://schemas.openxmlformats.org/drawingml/2006/main">
            <a:off x="3429000" y="1790700"/>
            <a:ext cx="2552700" cy="2647950"/>
          </a:xfrm>
          <a:prstGeom xmlns:a="http://schemas.openxmlformats.org/drawingml/2006/main" prst="roundRect">
            <a:avLst>
              <a:gd name="adj" fmla="val 2985"/>
            </a:avLst>
          </a:prstGeom>
          <a:noFill xmlns:a="http://schemas.openxmlformats.org/drawingml/2006/main"/>
          <a:ln xmlns:a="http://schemas.openxmlformats.org/drawingml/2006/main" w="11430">
            <a:solidFill>
              <a:srgbClr val="C9D8E1"/>
            </a:solidFill>
            <a:prstDash val="solid"/>
          </a:ln>
        </p:spPr>
      </p:sp>
      <p:sp>
        <p:nvSpPr>
          <p:cNvPr id="18" name="">
            <a:extLst xmlns:a="http://schemas.openxmlformats.org/drawingml/2006/main">
              <a:ext uri="{FF2B5EF4-FFF2-40B4-BE49-F238E27FC236}">
                <a16:creationId xmlns:a16="http://schemas.microsoft.com/office/drawing/2014/main" id="{66B0CF48-C78C-42D2-819D-6062B05684A6}"/>
              </a:ext>
            </a:extLst>
          </p:cNvPr>
          <p:cNvSpPr>
            <a:spLocks xmlns:a="http://schemas.openxmlformats.org/drawingml/2006/main" noGrp="1"/>
          </p:cNvSpPr>
          <p:nvPr/>
        </p:nvSpPr>
        <p:spPr>
          <a:xfrm xmlns:a="http://schemas.openxmlformats.org/drawingml/2006/main">
            <a:off x="3429000" y="1790700"/>
            <a:ext cx="2552700" cy="666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6EE847A-0C31-4E41-B889-6812B3FF7093}"/>
              </a:ext>
            </a:extLst>
          </p:cNvPr>
          <p:cNvSpPr>
            <a:spLocks xmlns:a="http://schemas.openxmlformats.org/drawingml/2006/main" noGrp="1"/>
          </p:cNvSpPr>
          <p:nvPr/>
        </p:nvSpPr>
        <p:spPr>
          <a:xfrm xmlns:a="http://schemas.openxmlformats.org/drawingml/2006/main">
            <a:off x="3638550" y="20764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EF7E00"/>
                </a:solidFill>
                <a:latin typeface="Yu Gothic UI"/>
                <a:ea typeface="Yu Gothic UI"/>
                <a:cs typeface="Yu Gothic UI"/>
              </a:defRPr>
            </a:pPr>
            <a:r>
              <a:rPr sz="1875" b="1">
                <a:solidFill>
                  <a:srgbClr val="EF7E00"/>
                </a:solidFill>
                <a:latin typeface="Yu Gothic UI"/>
                <a:ea typeface="Yu Gothic UI"/>
                <a:cs typeface="Yu Gothic UI"/>
              </a:rPr>
              <a:t>02</a:t>
            </a:r>
          </a:p>
        </p:txBody>
      </p:sp>
      <p:sp>
        <p:nvSpPr>
          <p:cNvPr id="20" name="">
            <a:extLst xmlns:a="http://schemas.openxmlformats.org/drawingml/2006/main">
              <a:ext uri="{FF2B5EF4-FFF2-40B4-BE49-F238E27FC236}">
                <a16:creationId xmlns:a16="http://schemas.microsoft.com/office/drawing/2014/main" id="{5A015F6D-D1A5-4B86-9682-38B397C91112}"/>
              </a:ext>
            </a:extLst>
          </p:cNvPr>
          <p:cNvSpPr>
            <a:spLocks xmlns:a="http://schemas.openxmlformats.org/drawingml/2006/main" noGrp="1"/>
          </p:cNvSpPr>
          <p:nvPr/>
        </p:nvSpPr>
        <p:spPr>
          <a:xfrm xmlns:a="http://schemas.openxmlformats.org/drawingml/2006/main">
            <a:off x="3638550" y="2647950"/>
            <a:ext cx="2133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575" b="1">
                <a:solidFill>
                  <a:srgbClr val="17242B"/>
                </a:solidFill>
                <a:latin typeface="Yu Gothic UI"/>
                <a:ea typeface="Yu Gothic UI"/>
                <a:cs typeface="Yu Gothic UI"/>
              </a:defRPr>
            </a:pPr>
            <a:r>
              <a:rPr sz="1575" b="1">
                <a:solidFill>
                  <a:srgbClr val="17242B"/>
                </a:solidFill>
                <a:latin typeface="Yu Gothic UI"/>
                <a:ea typeface="Yu Gothic UI"/>
                <a:cs typeface="Yu Gothic UI"/>
              </a:rPr>
              <a:t>直前説明</a:t>
            </a:r>
          </a:p>
        </p:txBody>
      </p:sp>
      <p:sp>
        <p:nvSpPr>
          <p:cNvPr id="21" name="">
            <a:extLst xmlns:a="http://schemas.openxmlformats.org/drawingml/2006/main">
              <a:ext uri="{FF2B5EF4-FFF2-40B4-BE49-F238E27FC236}">
                <a16:creationId xmlns:a16="http://schemas.microsoft.com/office/drawing/2014/main" id="{51A0F92C-86CD-44FA-B1C9-F3A804B45A39}"/>
              </a:ext>
            </a:extLst>
          </p:cNvPr>
          <p:cNvSpPr>
            <a:spLocks xmlns:a="http://schemas.openxmlformats.org/drawingml/2006/main" noGrp="1"/>
          </p:cNvSpPr>
          <p:nvPr/>
        </p:nvSpPr>
        <p:spPr>
          <a:xfrm xmlns:a="http://schemas.openxmlformats.org/drawingml/2006/main">
            <a:off x="3638550" y="3238500"/>
            <a:ext cx="2133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6000"/>
              </a:lnSpc>
              <a:buNone/>
              <a:defRPr sz="1238">
                <a:solidFill>
                  <a:srgbClr val="536978"/>
                </a:solidFill>
                <a:latin typeface="Yu Gothic UI"/>
                <a:ea typeface="Yu Gothic UI"/>
                <a:cs typeface="Yu Gothic UI"/>
              </a:defRPr>
            </a:pPr>
            <a:r>
              <a:rPr sz="1238">
                <a:solidFill>
                  <a:srgbClr val="536978"/>
                </a:solidFill>
                <a:latin typeface="Yu Gothic UI"/>
                <a:ea typeface="Yu Gothic UI"/>
                <a:cs typeface="Yu Gothic UI"/>
              </a:rPr>
              <a:t>次の操作で何が起きるかを30秒だけ説明する</a:t>
            </a:r>
          </a:p>
        </p:txBody>
      </p:sp>
      <p:sp>
        <p:nvSpPr>
          <p:cNvPr id="22" name="">
            <a:extLst xmlns:a="http://schemas.openxmlformats.org/drawingml/2006/main">
              <a:ext uri="{FF2B5EF4-FFF2-40B4-BE49-F238E27FC236}">
                <a16:creationId xmlns:a16="http://schemas.microsoft.com/office/drawing/2014/main" id="{0BA84831-FDFB-4BDA-B1D5-1420E52B2C2B}"/>
              </a:ext>
            </a:extLst>
          </p:cNvPr>
          <p:cNvSpPr>
            <a:spLocks xmlns:a="http://schemas.openxmlformats.org/drawingml/2006/main" noGrp="1"/>
          </p:cNvSpPr>
          <p:nvPr/>
        </p:nvSpPr>
        <p:spPr>
          <a:xfrm xmlns:a="http://schemas.openxmlformats.org/drawingml/2006/main">
            <a:off x="6210300" y="1790700"/>
            <a:ext cx="2552700" cy="2647950"/>
          </a:xfrm>
          <a:prstGeom xmlns:a="http://schemas.openxmlformats.org/drawingml/2006/main" prst="roundRect">
            <a:avLst>
              <a:gd name="adj" fmla="val 2985"/>
            </a:avLst>
          </a:prstGeom>
          <a:noFill xmlns:a="http://schemas.openxmlformats.org/drawingml/2006/main"/>
          <a:ln xmlns:a="http://schemas.openxmlformats.org/drawingml/2006/main" w="11430">
            <a:solidFill>
              <a:srgbClr val="C9D8E1"/>
            </a:solidFill>
            <a:prstDash val="solid"/>
          </a:ln>
        </p:spPr>
      </p:sp>
      <p:sp>
        <p:nvSpPr>
          <p:cNvPr id="23" name="">
            <a:extLst xmlns:a="http://schemas.openxmlformats.org/drawingml/2006/main">
              <a:ext uri="{FF2B5EF4-FFF2-40B4-BE49-F238E27FC236}">
                <a16:creationId xmlns:a16="http://schemas.microsoft.com/office/drawing/2014/main" id="{154E8877-E3F2-47A3-8DB3-31CC72621678}"/>
              </a:ext>
            </a:extLst>
          </p:cNvPr>
          <p:cNvSpPr>
            <a:spLocks xmlns:a="http://schemas.openxmlformats.org/drawingml/2006/main" noGrp="1"/>
          </p:cNvSpPr>
          <p:nvPr/>
        </p:nvSpPr>
        <p:spPr>
          <a:xfrm xmlns:a="http://schemas.openxmlformats.org/drawingml/2006/main">
            <a:off x="6210300" y="1790700"/>
            <a:ext cx="2552700" cy="66675"/>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F4A0590-2C22-48FD-B663-6F68673AC086}"/>
              </a:ext>
            </a:extLst>
          </p:cNvPr>
          <p:cNvSpPr>
            <a:spLocks xmlns:a="http://schemas.openxmlformats.org/drawingml/2006/main" noGrp="1"/>
          </p:cNvSpPr>
          <p:nvPr/>
        </p:nvSpPr>
        <p:spPr>
          <a:xfrm xmlns:a="http://schemas.openxmlformats.org/drawingml/2006/main">
            <a:off x="6419850" y="20764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2F9E63"/>
                </a:solidFill>
                <a:latin typeface="Yu Gothic UI"/>
                <a:ea typeface="Yu Gothic UI"/>
                <a:cs typeface="Yu Gothic UI"/>
              </a:defRPr>
            </a:pPr>
            <a:r>
              <a:rPr sz="1875" b="1">
                <a:solidFill>
                  <a:srgbClr val="2F9E63"/>
                </a:solidFill>
                <a:latin typeface="Yu Gothic UI"/>
                <a:ea typeface="Yu Gothic UI"/>
                <a:cs typeface="Yu Gothic UI"/>
              </a:rPr>
              <a:t>03</a:t>
            </a:r>
          </a:p>
        </p:txBody>
      </p:sp>
      <p:sp>
        <p:nvSpPr>
          <p:cNvPr id="25" name="">
            <a:extLst xmlns:a="http://schemas.openxmlformats.org/drawingml/2006/main">
              <a:ext uri="{FF2B5EF4-FFF2-40B4-BE49-F238E27FC236}">
                <a16:creationId xmlns:a16="http://schemas.microsoft.com/office/drawing/2014/main" id="{35113F1D-DB67-40CF-AC9A-5B447D279AD2}"/>
              </a:ext>
            </a:extLst>
          </p:cNvPr>
          <p:cNvSpPr>
            <a:spLocks xmlns:a="http://schemas.openxmlformats.org/drawingml/2006/main" noGrp="1"/>
          </p:cNvSpPr>
          <p:nvPr/>
        </p:nvSpPr>
        <p:spPr>
          <a:xfrm xmlns:a="http://schemas.openxmlformats.org/drawingml/2006/main">
            <a:off x="6419850" y="2647950"/>
            <a:ext cx="2133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575" b="1">
                <a:solidFill>
                  <a:srgbClr val="17242B"/>
                </a:solidFill>
                <a:latin typeface="Yu Gothic UI"/>
                <a:ea typeface="Yu Gothic UI"/>
                <a:cs typeface="Yu Gothic UI"/>
              </a:defRPr>
            </a:pPr>
            <a:r>
              <a:rPr sz="1575" b="1">
                <a:solidFill>
                  <a:srgbClr val="17242B"/>
                </a:solidFill>
                <a:latin typeface="Yu Gothic UI"/>
                <a:ea typeface="Yu Gothic UI"/>
                <a:cs typeface="Yu Gothic UI"/>
              </a:rPr>
              <a:t>実行と観察</a:t>
            </a:r>
          </a:p>
        </p:txBody>
      </p:sp>
      <p:sp>
        <p:nvSpPr>
          <p:cNvPr id="26" name="">
            <a:extLst xmlns:a="http://schemas.openxmlformats.org/drawingml/2006/main">
              <a:ext uri="{FF2B5EF4-FFF2-40B4-BE49-F238E27FC236}">
                <a16:creationId xmlns:a16="http://schemas.microsoft.com/office/drawing/2014/main" id="{5638D2E9-44BA-42E4-92F5-EE9A85DE8943}"/>
              </a:ext>
            </a:extLst>
          </p:cNvPr>
          <p:cNvSpPr>
            <a:spLocks xmlns:a="http://schemas.openxmlformats.org/drawingml/2006/main" noGrp="1"/>
          </p:cNvSpPr>
          <p:nvPr/>
        </p:nvSpPr>
        <p:spPr>
          <a:xfrm xmlns:a="http://schemas.openxmlformats.org/drawingml/2006/main">
            <a:off x="6419850" y="3238500"/>
            <a:ext cx="2133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6000"/>
              </a:lnSpc>
              <a:buNone/>
              <a:defRPr sz="1238">
                <a:solidFill>
                  <a:srgbClr val="536978"/>
                </a:solidFill>
                <a:latin typeface="Yu Gothic UI"/>
                <a:ea typeface="Yu Gothic UI"/>
                <a:cs typeface="Yu Gothic UI"/>
              </a:defRPr>
            </a:pPr>
            <a:r>
              <a:rPr sz="1238">
                <a:solidFill>
                  <a:srgbClr val="536978"/>
                </a:solidFill>
                <a:latin typeface="Yu Gothic UI"/>
                <a:ea typeface="Yu Gothic UI"/>
                <a:cs typeface="Yu Gothic UI"/>
              </a:rPr>
              <a:t>出力・差分・速度・画面を、その場で証拠として見る</a:t>
            </a:r>
          </a:p>
        </p:txBody>
      </p:sp>
      <p:sp>
        <p:nvSpPr>
          <p:cNvPr id="27" name="">
            <a:extLst xmlns:a="http://schemas.openxmlformats.org/drawingml/2006/main">
              <a:ext uri="{FF2B5EF4-FFF2-40B4-BE49-F238E27FC236}">
                <a16:creationId xmlns:a16="http://schemas.microsoft.com/office/drawing/2014/main" id="{340BD166-2C15-4059-B447-338F848720BB}"/>
              </a:ext>
            </a:extLst>
          </p:cNvPr>
          <p:cNvSpPr>
            <a:spLocks xmlns:a="http://schemas.openxmlformats.org/drawingml/2006/main" noGrp="1"/>
          </p:cNvSpPr>
          <p:nvPr/>
        </p:nvSpPr>
        <p:spPr>
          <a:xfrm xmlns:a="http://schemas.openxmlformats.org/drawingml/2006/main">
            <a:off x="8991600" y="1790700"/>
            <a:ext cx="2552700" cy="2647950"/>
          </a:xfrm>
          <a:prstGeom xmlns:a="http://schemas.openxmlformats.org/drawingml/2006/main" prst="roundRect">
            <a:avLst>
              <a:gd name="adj" fmla="val 2985"/>
            </a:avLst>
          </a:prstGeom>
          <a:noFill xmlns:a="http://schemas.openxmlformats.org/drawingml/2006/main"/>
          <a:ln xmlns:a="http://schemas.openxmlformats.org/drawingml/2006/main" w="11430">
            <a:solidFill>
              <a:srgbClr val="C9D8E1"/>
            </a:solidFill>
            <a:prstDash val="solid"/>
          </a:ln>
        </p:spPr>
      </p:sp>
      <p:sp>
        <p:nvSpPr>
          <p:cNvPr id="28" name="">
            <a:extLst xmlns:a="http://schemas.openxmlformats.org/drawingml/2006/main">
              <a:ext uri="{FF2B5EF4-FFF2-40B4-BE49-F238E27FC236}">
                <a16:creationId xmlns:a16="http://schemas.microsoft.com/office/drawing/2014/main" id="{AE4C508A-4702-4088-8E0B-D1518255A70C}"/>
              </a:ext>
            </a:extLst>
          </p:cNvPr>
          <p:cNvSpPr>
            <a:spLocks xmlns:a="http://schemas.openxmlformats.org/drawingml/2006/main" noGrp="1"/>
          </p:cNvSpPr>
          <p:nvPr/>
        </p:nvSpPr>
        <p:spPr>
          <a:xfrm xmlns:a="http://schemas.openxmlformats.org/drawingml/2006/main">
            <a:off x="8991600" y="1790700"/>
            <a:ext cx="2552700" cy="66675"/>
          </a:xfrm>
          <a:prstGeom xmlns:a="http://schemas.openxmlformats.org/drawingml/2006/main" prst="rect">
            <a:avLst/>
          </a:prstGeom>
          <a:solidFill xmlns:a="http://schemas.openxmlformats.org/drawingml/2006/main">
            <a:srgbClr val="D9485F"/>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61FC09E-3771-4054-9E52-72F02A9BBBA0}"/>
              </a:ext>
            </a:extLst>
          </p:cNvPr>
          <p:cNvSpPr>
            <a:spLocks xmlns:a="http://schemas.openxmlformats.org/drawingml/2006/main" noGrp="1"/>
          </p:cNvSpPr>
          <p:nvPr/>
        </p:nvSpPr>
        <p:spPr>
          <a:xfrm xmlns:a="http://schemas.openxmlformats.org/drawingml/2006/main">
            <a:off x="9201150" y="20764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D9485F"/>
                </a:solidFill>
                <a:latin typeface="Yu Gothic UI"/>
                <a:ea typeface="Yu Gothic UI"/>
                <a:cs typeface="Yu Gothic UI"/>
              </a:defRPr>
            </a:pPr>
            <a:r>
              <a:rPr sz="1875" b="1">
                <a:solidFill>
                  <a:srgbClr val="D9485F"/>
                </a:solidFill>
                <a:latin typeface="Yu Gothic UI"/>
                <a:ea typeface="Yu Gothic UI"/>
                <a:cs typeface="Yu Gothic UI"/>
              </a:rPr>
              <a:t>04</a:t>
            </a:r>
          </a:p>
        </p:txBody>
      </p:sp>
      <p:sp>
        <p:nvSpPr>
          <p:cNvPr id="30" name="">
            <a:extLst xmlns:a="http://schemas.openxmlformats.org/drawingml/2006/main">
              <a:ext uri="{FF2B5EF4-FFF2-40B4-BE49-F238E27FC236}">
                <a16:creationId xmlns:a16="http://schemas.microsoft.com/office/drawing/2014/main" id="{81435A95-4D12-41CC-AD5E-39699478248B}"/>
              </a:ext>
            </a:extLst>
          </p:cNvPr>
          <p:cNvSpPr>
            <a:spLocks xmlns:a="http://schemas.openxmlformats.org/drawingml/2006/main" noGrp="1"/>
          </p:cNvSpPr>
          <p:nvPr/>
        </p:nvSpPr>
        <p:spPr>
          <a:xfrm xmlns:a="http://schemas.openxmlformats.org/drawingml/2006/main">
            <a:off x="9201150" y="2647950"/>
            <a:ext cx="2133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575" b="1">
                <a:solidFill>
                  <a:srgbClr val="17242B"/>
                </a:solidFill>
                <a:latin typeface="Yu Gothic UI"/>
                <a:ea typeface="Yu Gothic UI"/>
                <a:cs typeface="Yu Gothic UI"/>
              </a:defRPr>
            </a:pPr>
            <a:r>
              <a:rPr sz="1575" b="1">
                <a:solidFill>
                  <a:srgbClr val="17242B"/>
                </a:solidFill>
                <a:latin typeface="Yu Gothic UI"/>
                <a:ea typeface="Yu Gothic UI"/>
                <a:cs typeface="Yu Gothic UI"/>
              </a:rPr>
              <a:t>言語化</a:t>
            </a:r>
          </a:p>
        </p:txBody>
      </p:sp>
      <p:sp>
        <p:nvSpPr>
          <p:cNvPr id="31" name="">
            <a:extLst xmlns:a="http://schemas.openxmlformats.org/drawingml/2006/main">
              <a:ext uri="{FF2B5EF4-FFF2-40B4-BE49-F238E27FC236}">
                <a16:creationId xmlns:a16="http://schemas.microsoft.com/office/drawing/2014/main" id="{401F5A68-0C81-4156-A0BB-3F9D5CFB1CDD}"/>
              </a:ext>
            </a:extLst>
          </p:cNvPr>
          <p:cNvSpPr>
            <a:spLocks xmlns:a="http://schemas.openxmlformats.org/drawingml/2006/main" noGrp="1"/>
          </p:cNvSpPr>
          <p:nvPr/>
        </p:nvSpPr>
        <p:spPr>
          <a:xfrm xmlns:a="http://schemas.openxmlformats.org/drawingml/2006/main">
            <a:off x="9201150" y="3238500"/>
            <a:ext cx="2133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6000"/>
              </a:lnSpc>
              <a:buNone/>
              <a:defRPr sz="1238">
                <a:solidFill>
                  <a:srgbClr val="536978"/>
                </a:solidFill>
                <a:latin typeface="Yu Gothic UI"/>
                <a:ea typeface="Yu Gothic UI"/>
                <a:cs typeface="Yu Gothic UI"/>
              </a:defRPr>
            </a:pPr>
            <a:r>
              <a:rPr sz="1238">
                <a:solidFill>
                  <a:srgbClr val="536978"/>
                </a:solidFill>
                <a:latin typeface="Yu Gothic UI"/>
                <a:ea typeface="Yu Gothic UI"/>
                <a:cs typeface="Yu Gothic UI"/>
              </a:rPr>
              <a:t>『何が変わった？』を一問し、実務の使い所へつなぐ</a:t>
            </a:r>
          </a:p>
        </p:txBody>
      </p:sp>
      <p:sp>
        <p:nvSpPr>
          <p:cNvPr id="32" name="">
            <a:extLst xmlns:a="http://schemas.openxmlformats.org/drawingml/2006/main">
              <a:ext uri="{FF2B5EF4-FFF2-40B4-BE49-F238E27FC236}">
                <a16:creationId xmlns:a16="http://schemas.microsoft.com/office/drawing/2014/main" id="{2B5DF97E-F8C4-4ADE-83E8-27615A2907F0}"/>
              </a:ext>
            </a:extLst>
          </p:cNvPr>
          <p:cNvSpPr>
            <a:spLocks xmlns:a="http://schemas.openxmlformats.org/drawingml/2006/main" noGrp="1"/>
          </p:cNvSpPr>
          <p:nvPr/>
        </p:nvSpPr>
        <p:spPr>
          <a:xfrm xmlns:a="http://schemas.openxmlformats.org/drawingml/2006/main">
            <a:off x="1466850" y="4800600"/>
            <a:ext cx="9258300" cy="781050"/>
          </a:xfrm>
          <a:prstGeom xmlns:a="http://schemas.openxmlformats.org/drawingml/2006/main" prst="roundRect">
            <a:avLst>
              <a:gd name="adj" fmla="val 9756"/>
            </a:avLst>
          </a:prstGeom>
          <a:solidFill xmlns:a="http://schemas.openxmlformats.org/drawingml/2006/main">
            <a:srgbClr val="071A2B"/>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84F35B8A-5648-4DAB-A11A-A2E5CED94DF4}"/>
              </a:ext>
            </a:extLst>
          </p:cNvPr>
          <p:cNvSpPr>
            <a:spLocks xmlns:a="http://schemas.openxmlformats.org/drawingml/2006/main" noGrp="1"/>
          </p:cNvSpPr>
          <p:nvPr/>
        </p:nvSpPr>
        <p:spPr>
          <a:xfrm xmlns:a="http://schemas.openxmlformats.org/drawingml/2006/main">
            <a:off x="1809750" y="5019675"/>
            <a:ext cx="857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a:solidFill>
                  <a:srgbClr val="FFFFFF"/>
                </a:solidFill>
                <a:latin typeface="Yu Gothic UI"/>
                <a:ea typeface="Yu Gothic UI"/>
                <a:cs typeface="Yu Gothic UI"/>
              </a:defRPr>
            </a:pPr>
            <a:r>
              <a:rPr sz="1500" b="1">
                <a:solidFill>
                  <a:srgbClr val="FFFFFF"/>
                </a:solidFill>
                <a:latin typeface="Yu Gothic UI"/>
                <a:ea typeface="Yu Gothic UI"/>
                <a:cs typeface="Yu Gothic UI"/>
              </a:rPr>
              <a:t>講師の一言: 『今、何を任せ、どの証拠で成功と判断しましたか？』</a:t>
            </a:r>
          </a:p>
        </p:txBody>
      </p:sp>
      <p:sp>
        <p:nvSpPr>
          <p:cNvPr id="34" name="">
            <a:extLst xmlns:a="http://schemas.openxmlformats.org/drawingml/2006/main">
              <a:ext uri="{FF2B5EF4-FFF2-40B4-BE49-F238E27FC236}">
                <a16:creationId xmlns:a16="http://schemas.microsoft.com/office/drawing/2014/main" id="{7448AD8E-C470-4754-A18D-66AB59F86070}"/>
              </a:ext>
            </a:extLst>
          </p:cNvPr>
          <p:cNvSpPr>
            <a:spLocks xmlns:a="http://schemas.openxmlformats.org/drawingml/2006/main" noGrp="1"/>
          </p:cNvSpPr>
          <p:nvPr/>
        </p:nvSpPr>
        <p:spPr>
          <a:xfrm xmlns:a="http://schemas.openxmlformats.org/drawingml/2006/main">
            <a:off x="647700" y="5772150"/>
            <a:ext cx="476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788">
                <a:solidFill>
                  <a:srgbClr val="536978"/>
                </a:solidFill>
                <a:latin typeface="Yu Gothic UI"/>
                <a:ea typeface="Yu Gothic UI"/>
                <a:cs typeface="Yu Gothic UI"/>
              </a:defRPr>
            </a:pPr>
            <a:r>
              <a:rPr sz="788">
                <a:solidFill>
                  <a:srgbClr val="536978"/>
                </a:solidFill>
                <a:latin typeface="Yu Gothic UI"/>
                <a:ea typeface="Yu Gothic UI"/>
                <a:cs typeface="Yu Gothic UI"/>
              </a:rPr>
              <a:t>参考: MIXI 26新卒技術研修 AI Day1</a:t>
            </a:r>
          </a:p>
        </p:txBody>
      </p:sp>
    </p:spTree>
    <p:extLst>
      <p:ext uri="{BB962C8B-B14F-4D97-AF65-F5344CB8AC3E}">
        <p14:creationId xmlns:p14="http://schemas.microsoft.com/office/powerpoint/2010/main" val="101826840"/>
      </p:ext>
    </p:extLst>
  </p:cSld>
</p:sld>
</file>

<file path=ppt/slides/slide2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25 / 36</a:t>
            </a:r>
          </a:p>
        </p:txBody>
      </p:sp>
      <p:sp>
        <p:nvSpPr>
          <p:cNvPr id="10" name="">
            <a:extLst xmlns:a="http://schemas.openxmlformats.org/drawingml/2006/main">
              <a:ext uri="{FF2B5EF4-FFF2-40B4-BE49-F238E27FC236}">
                <a16:creationId xmlns:a16="http://schemas.microsoft.com/office/drawing/2014/main" id="{0EE9AFD7-B162-45BA-A997-A0AEC507AECD}"/>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ANTIGRAVITY  |  THREE SURFACES</a:t>
            </a:r>
          </a:p>
        </p:txBody>
      </p:sp>
      <p:sp>
        <p:nvSpPr>
          <p:cNvPr id="11" name="">
            <a:extLst xmlns:a="http://schemas.openxmlformats.org/drawingml/2006/main">
              <a:ext uri="{FF2B5EF4-FFF2-40B4-BE49-F238E27FC236}">
                <a16:creationId xmlns:a16="http://schemas.microsoft.com/office/drawing/2014/main" id="{EC89278D-6E4A-4C8E-A978-C1ECB4E5CACA}"/>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同じagent coreでも、入口を変えると仕事の見え方が変わります</a:t>
            </a:r>
          </a:p>
        </p:txBody>
      </p:sp>
      <p:sp>
        <p:nvSpPr>
          <p:cNvPr id="12" name="">
            <a:extLst xmlns:a="http://schemas.openxmlformats.org/drawingml/2006/main">
              <a:ext uri="{FF2B5EF4-FFF2-40B4-BE49-F238E27FC236}">
                <a16:creationId xmlns:a16="http://schemas.microsoft.com/office/drawing/2014/main" id="{D150F73C-CAF0-4619-9274-E4DFD4257AFB}"/>
              </a:ext>
            </a:extLst>
          </p:cNvPr>
          <p:cNvSpPr>
            <a:spLocks xmlns:a="http://schemas.openxmlformats.org/drawingml/2006/main" noGrp="1"/>
          </p:cNvSpPr>
          <p:nvPr/>
        </p:nvSpPr>
        <p:spPr>
          <a:xfrm xmlns:a="http://schemas.openxmlformats.org/drawingml/2006/main">
            <a:off x="647700" y="1752600"/>
            <a:ext cx="3467100" cy="3143250"/>
          </a:xfrm>
          <a:prstGeom xmlns:a="http://schemas.openxmlformats.org/drawingml/2006/main" prst="roundRect">
            <a:avLst>
              <a:gd name="adj" fmla="val 2424"/>
            </a:avLst>
          </a:prstGeom>
          <a:noFill xmlns:a="http://schemas.openxmlformats.org/drawingml/2006/main"/>
          <a:ln xmlns:a="http://schemas.openxmlformats.org/drawingml/2006/main" w="11430">
            <a:solidFill>
              <a:srgbClr val="C9D8E1"/>
            </a:solidFill>
            <a:prstDash val="solid"/>
          </a:ln>
        </p:spPr>
      </p:sp>
      <p:sp>
        <p:nvSpPr>
          <p:cNvPr id="13" name="">
            <a:extLst xmlns:a="http://schemas.openxmlformats.org/drawingml/2006/main">
              <a:ext uri="{FF2B5EF4-FFF2-40B4-BE49-F238E27FC236}">
                <a16:creationId xmlns:a16="http://schemas.microsoft.com/office/drawing/2014/main" id="{C08BA62D-D9F2-4B14-95D7-E3645FD03154}"/>
              </a:ext>
            </a:extLst>
          </p:cNvPr>
          <p:cNvSpPr>
            <a:spLocks xmlns:a="http://schemas.openxmlformats.org/drawingml/2006/main" noGrp="1"/>
          </p:cNvSpPr>
          <p:nvPr/>
        </p:nvSpPr>
        <p:spPr>
          <a:xfrm xmlns:a="http://schemas.openxmlformats.org/drawingml/2006/main">
            <a:off x="647700" y="1752600"/>
            <a:ext cx="3467100" cy="666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111E5DF-6388-4EBA-A05F-ACC80F179CAB}"/>
              </a:ext>
            </a:extLst>
          </p:cNvPr>
          <p:cNvSpPr>
            <a:spLocks xmlns:a="http://schemas.openxmlformats.org/drawingml/2006/main" noGrp="1"/>
          </p:cNvSpPr>
          <p:nvPr/>
        </p:nvSpPr>
        <p:spPr>
          <a:xfrm xmlns:a="http://schemas.openxmlformats.org/drawingml/2006/main">
            <a:off x="876300" y="2095500"/>
            <a:ext cx="3009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2550" b="1">
                <a:solidFill>
                  <a:srgbClr val="00A5E3"/>
                </a:solidFill>
                <a:latin typeface="Yu Gothic UI"/>
                <a:ea typeface="Yu Gothic UI"/>
                <a:cs typeface="Yu Gothic UI"/>
              </a:defRPr>
            </a:pPr>
            <a:r>
              <a:rPr sz="2550" b="1">
                <a:solidFill>
                  <a:srgbClr val="00A5E3"/>
                </a:solidFill>
                <a:latin typeface="Yu Gothic UI"/>
                <a:ea typeface="Yu Gothic UI"/>
                <a:cs typeface="Yu Gothic UI"/>
              </a:rPr>
              <a:t>IDE</a:t>
            </a:r>
          </a:p>
        </p:txBody>
      </p:sp>
      <p:sp>
        <p:nvSpPr>
          <p:cNvPr id="15" name="">
            <a:extLst xmlns:a="http://schemas.openxmlformats.org/drawingml/2006/main">
              <a:ext uri="{FF2B5EF4-FFF2-40B4-BE49-F238E27FC236}">
                <a16:creationId xmlns:a16="http://schemas.microsoft.com/office/drawing/2014/main" id="{6575039A-A8AD-4D93-8DEC-88DF75C17CE7}"/>
              </a:ext>
            </a:extLst>
          </p:cNvPr>
          <p:cNvSpPr>
            <a:spLocks xmlns:a="http://schemas.openxmlformats.org/drawingml/2006/main" noGrp="1"/>
          </p:cNvSpPr>
          <p:nvPr/>
        </p:nvSpPr>
        <p:spPr>
          <a:xfrm xmlns:a="http://schemas.openxmlformats.org/drawingml/2006/main">
            <a:off x="876300" y="2800350"/>
            <a:ext cx="30099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500" b="1">
                <a:solidFill>
                  <a:srgbClr val="17242B"/>
                </a:solidFill>
                <a:latin typeface="Yu Gothic UI"/>
                <a:ea typeface="Yu Gothic UI"/>
                <a:cs typeface="Yu Gothic UI"/>
              </a:defRPr>
            </a:pPr>
            <a:r>
              <a:rPr sz="1500" b="1">
                <a:solidFill>
                  <a:srgbClr val="17242B"/>
                </a:solidFill>
                <a:latin typeface="Yu Gothic UI"/>
                <a:ea typeface="Yu Gothic UI"/>
                <a:cs typeface="Yu Gothic UI"/>
              </a:rPr>
              <a:t>見る・相談する</a:t>
            </a:r>
          </a:p>
        </p:txBody>
      </p:sp>
      <p:sp>
        <p:nvSpPr>
          <p:cNvPr id="16" name="">
            <a:extLst xmlns:a="http://schemas.openxmlformats.org/drawingml/2006/main">
              <a:ext uri="{FF2B5EF4-FFF2-40B4-BE49-F238E27FC236}">
                <a16:creationId xmlns:a16="http://schemas.microsoft.com/office/drawing/2014/main" id="{7C0DB83A-F2EF-4110-A3F1-0F39FAD077A8}"/>
              </a:ext>
            </a:extLst>
          </p:cNvPr>
          <p:cNvSpPr>
            <a:spLocks xmlns:a="http://schemas.openxmlformats.org/drawingml/2006/main" noGrp="1"/>
          </p:cNvSpPr>
          <p:nvPr/>
        </p:nvSpPr>
        <p:spPr>
          <a:xfrm xmlns:a="http://schemas.openxmlformats.org/drawingml/2006/main">
            <a:off x="876300" y="3409950"/>
            <a:ext cx="30099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20000"/>
              </a:lnSpc>
              <a:buNone/>
              <a:defRPr sz="1350">
                <a:solidFill>
                  <a:srgbClr val="536978"/>
                </a:solidFill>
                <a:latin typeface="Yu Gothic UI"/>
                <a:ea typeface="Yu Gothic UI"/>
                <a:cs typeface="Yu Gothic UI"/>
              </a:defRPr>
            </a:pPr>
            <a:r>
              <a:rPr sz="1350">
                <a:solidFill>
                  <a:srgbClr val="536978"/>
                </a:solidFill>
                <a:latin typeface="Yu Gothic UI"/>
                <a:ea typeface="Yu Gothic UI"/>
                <a:cs typeface="Yu Gothic UI"/>
              </a:rPr>
              <a:t>Agent Manager</a:t>
            </a:r>
          </a:p>
          <a:p xmlns:a="http://schemas.openxmlformats.org/drawingml/2006/main">
            <a:pPr>
              <a:lnSpc>
                <a:spcPct val="120000"/>
              </a:lnSpc>
              <a:buNone/>
              <a:defRPr sz="1350">
                <a:solidFill>
                  <a:srgbClr val="536978"/>
                </a:solidFill>
                <a:latin typeface="Yu Gothic UI"/>
                <a:ea typeface="Yu Gothic UI"/>
                <a:cs typeface="Yu Gothic UI"/>
              </a:defRPr>
            </a:pPr>
            <a:r>
              <a:rPr sz="1350">
                <a:solidFill>
                  <a:srgbClr val="536978"/>
                </a:solidFill>
                <a:latin typeface="Yu Gothic UI"/>
                <a:ea typeface="Yu Gothic UI"/>
                <a:cs typeface="Yu Gothic UI"/>
              </a:rPr>
              <a:t>Editor / Browser</a:t>
            </a:r>
          </a:p>
          <a:p xmlns:a="http://schemas.openxmlformats.org/drawingml/2006/main">
            <a:pPr>
              <a:lnSpc>
                <a:spcPct val="120000"/>
              </a:lnSpc>
              <a:buNone/>
              <a:defRPr sz="1350">
                <a:solidFill>
                  <a:srgbClr val="536978"/>
                </a:solidFill>
                <a:latin typeface="Yu Gothic UI"/>
                <a:ea typeface="Yu Gothic UI"/>
                <a:cs typeface="Yu Gothic UI"/>
              </a:defRPr>
            </a:pPr>
            <a:r>
              <a:rPr sz="1350">
                <a:solidFill>
                  <a:srgbClr val="536978"/>
                </a:solidFill>
                <a:latin typeface="Yu Gothic UI"/>
                <a:ea typeface="Yu Gothic UI"/>
                <a:cs typeface="Yu Gothic UI"/>
              </a:rPr>
              <a:t>Artifacts</a:t>
            </a:r>
          </a:p>
        </p:txBody>
      </p:sp>
      <p:sp>
        <p:nvSpPr>
          <p:cNvPr id="17" name="">
            <a:extLst xmlns:a="http://schemas.openxmlformats.org/drawingml/2006/main">
              <a:ext uri="{FF2B5EF4-FFF2-40B4-BE49-F238E27FC236}">
                <a16:creationId xmlns:a16="http://schemas.microsoft.com/office/drawing/2014/main" id="{268CEA30-A97B-47BA-86A4-9A242C53C1E2}"/>
              </a:ext>
            </a:extLst>
          </p:cNvPr>
          <p:cNvSpPr>
            <a:spLocks xmlns:a="http://schemas.openxmlformats.org/drawingml/2006/main" noGrp="1"/>
          </p:cNvSpPr>
          <p:nvPr/>
        </p:nvSpPr>
        <p:spPr>
          <a:xfrm xmlns:a="http://schemas.openxmlformats.org/drawingml/2006/main">
            <a:off x="4362450" y="1752600"/>
            <a:ext cx="3467100" cy="3143250"/>
          </a:xfrm>
          <a:prstGeom xmlns:a="http://schemas.openxmlformats.org/drawingml/2006/main" prst="roundRect">
            <a:avLst>
              <a:gd name="adj" fmla="val 2424"/>
            </a:avLst>
          </a:prstGeom>
          <a:noFill xmlns:a="http://schemas.openxmlformats.org/drawingml/2006/main"/>
          <a:ln xmlns:a="http://schemas.openxmlformats.org/drawingml/2006/main" w="11430">
            <a:solidFill>
              <a:srgbClr val="C9D8E1"/>
            </a:solidFill>
            <a:prstDash val="solid"/>
          </a:ln>
        </p:spPr>
      </p:sp>
      <p:sp>
        <p:nvSpPr>
          <p:cNvPr id="18" name="">
            <a:extLst xmlns:a="http://schemas.openxmlformats.org/drawingml/2006/main">
              <a:ext uri="{FF2B5EF4-FFF2-40B4-BE49-F238E27FC236}">
                <a16:creationId xmlns:a16="http://schemas.microsoft.com/office/drawing/2014/main" id="{2A3FA896-21A9-4BC6-9741-ACB5EC35BF30}"/>
              </a:ext>
            </a:extLst>
          </p:cNvPr>
          <p:cNvSpPr>
            <a:spLocks xmlns:a="http://schemas.openxmlformats.org/drawingml/2006/main" noGrp="1"/>
          </p:cNvSpPr>
          <p:nvPr/>
        </p:nvSpPr>
        <p:spPr>
          <a:xfrm xmlns:a="http://schemas.openxmlformats.org/drawingml/2006/main">
            <a:off x="4362450" y="1752600"/>
            <a:ext cx="3467100" cy="666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ED05693-1CE3-41D5-B928-245103C855B5}"/>
              </a:ext>
            </a:extLst>
          </p:cNvPr>
          <p:cNvSpPr>
            <a:spLocks xmlns:a="http://schemas.openxmlformats.org/drawingml/2006/main" noGrp="1"/>
          </p:cNvSpPr>
          <p:nvPr/>
        </p:nvSpPr>
        <p:spPr>
          <a:xfrm xmlns:a="http://schemas.openxmlformats.org/drawingml/2006/main">
            <a:off x="4591050" y="2095500"/>
            <a:ext cx="3009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2550" b="1">
                <a:solidFill>
                  <a:srgbClr val="EF7E00"/>
                </a:solidFill>
                <a:latin typeface="Yu Gothic UI"/>
                <a:ea typeface="Yu Gothic UI"/>
                <a:cs typeface="Yu Gothic UI"/>
              </a:defRPr>
            </a:pPr>
            <a:r>
              <a:rPr sz="2550" b="1">
                <a:solidFill>
                  <a:srgbClr val="EF7E00"/>
                </a:solidFill>
                <a:latin typeface="Yu Gothic UI"/>
                <a:ea typeface="Yu Gothic UI"/>
                <a:cs typeface="Yu Gothic UI"/>
              </a:rPr>
              <a:t>CLI</a:t>
            </a:r>
          </a:p>
        </p:txBody>
      </p:sp>
      <p:sp>
        <p:nvSpPr>
          <p:cNvPr id="20" name="">
            <a:extLst xmlns:a="http://schemas.openxmlformats.org/drawingml/2006/main">
              <a:ext uri="{FF2B5EF4-FFF2-40B4-BE49-F238E27FC236}">
                <a16:creationId xmlns:a16="http://schemas.microsoft.com/office/drawing/2014/main" id="{B273B7B9-7BED-4623-8BDF-2D4E42D67294}"/>
              </a:ext>
            </a:extLst>
          </p:cNvPr>
          <p:cNvSpPr>
            <a:spLocks xmlns:a="http://schemas.openxmlformats.org/drawingml/2006/main" noGrp="1"/>
          </p:cNvSpPr>
          <p:nvPr/>
        </p:nvSpPr>
        <p:spPr>
          <a:xfrm xmlns:a="http://schemas.openxmlformats.org/drawingml/2006/main">
            <a:off x="4591050" y="2800350"/>
            <a:ext cx="30099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500" b="1">
                <a:solidFill>
                  <a:srgbClr val="17242B"/>
                </a:solidFill>
                <a:latin typeface="Yu Gothic UI"/>
                <a:ea typeface="Yu Gothic UI"/>
                <a:cs typeface="Yu Gothic UI"/>
              </a:defRPr>
            </a:pPr>
            <a:r>
              <a:rPr sz="1500" b="1">
                <a:solidFill>
                  <a:srgbClr val="17242B"/>
                </a:solidFill>
                <a:latin typeface="Yu Gothic UI"/>
                <a:ea typeface="Yu Gothic UI"/>
                <a:cs typeface="Yu Gothic UI"/>
              </a:rPr>
              <a:t>速く確かめる</a:t>
            </a:r>
          </a:p>
        </p:txBody>
      </p:sp>
      <p:sp>
        <p:nvSpPr>
          <p:cNvPr id="21" name="">
            <a:extLst xmlns:a="http://schemas.openxmlformats.org/drawingml/2006/main">
              <a:ext uri="{FF2B5EF4-FFF2-40B4-BE49-F238E27FC236}">
                <a16:creationId xmlns:a16="http://schemas.microsoft.com/office/drawing/2014/main" id="{1615E554-A0DC-4961-A31D-AF621C2ACFB0}"/>
              </a:ext>
            </a:extLst>
          </p:cNvPr>
          <p:cNvSpPr>
            <a:spLocks xmlns:a="http://schemas.openxmlformats.org/drawingml/2006/main" noGrp="1"/>
          </p:cNvSpPr>
          <p:nvPr/>
        </p:nvSpPr>
        <p:spPr>
          <a:xfrm xmlns:a="http://schemas.openxmlformats.org/drawingml/2006/main">
            <a:off x="4591050" y="3409950"/>
            <a:ext cx="30099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20000"/>
              </a:lnSpc>
              <a:buNone/>
              <a:defRPr sz="1350">
                <a:solidFill>
                  <a:srgbClr val="536978"/>
                </a:solidFill>
                <a:latin typeface="Yu Gothic UI"/>
                <a:ea typeface="Yu Gothic UI"/>
                <a:cs typeface="Yu Gothic UI"/>
              </a:defRPr>
            </a:pPr>
            <a:r>
              <a:rPr sz="1350">
                <a:solidFill>
                  <a:srgbClr val="536978"/>
                </a:solidFill>
                <a:latin typeface="Yu Gothic UI"/>
                <a:ea typeface="Yu Gothic UI"/>
                <a:cs typeface="Yu Gothic UI"/>
              </a:rPr>
              <a:t>keyboard-driven TUI</a:t>
            </a:r>
          </a:p>
          <a:p xmlns:a="http://schemas.openxmlformats.org/drawingml/2006/main">
            <a:pPr>
              <a:lnSpc>
                <a:spcPct val="120000"/>
              </a:lnSpc>
              <a:buNone/>
              <a:defRPr sz="1350">
                <a:solidFill>
                  <a:srgbClr val="536978"/>
                </a:solidFill>
                <a:latin typeface="Yu Gothic UI"/>
                <a:ea typeface="Yu Gothic UI"/>
                <a:cs typeface="Yu Gothic UI"/>
              </a:defRPr>
            </a:pPr>
            <a:r>
              <a:rPr sz="1350">
                <a:solidFill>
                  <a:srgbClr val="536978"/>
                </a:solidFill>
                <a:latin typeface="Yu Gothic UI"/>
                <a:ea typeface="Yu Gothic UI"/>
                <a:cs typeface="Yu Gothic UI"/>
              </a:rPr>
              <a:t>local / SSH</a:t>
            </a:r>
          </a:p>
          <a:p xmlns:a="http://schemas.openxmlformats.org/drawingml/2006/main">
            <a:pPr>
              <a:lnSpc>
                <a:spcPct val="120000"/>
              </a:lnSpc>
              <a:buNone/>
              <a:defRPr sz="1350">
                <a:solidFill>
                  <a:srgbClr val="536978"/>
                </a:solidFill>
                <a:latin typeface="Yu Gothic UI"/>
                <a:ea typeface="Yu Gothic UI"/>
                <a:cs typeface="Yu Gothic UI"/>
              </a:defRPr>
            </a:pPr>
            <a:r>
              <a:rPr sz="1350">
                <a:solidFill>
                  <a:srgbClr val="536978"/>
                </a:solidFill>
                <a:latin typeface="Yu Gothic UI"/>
                <a:ea typeface="Yu Gothic UI"/>
                <a:cs typeface="Yu Gothic UI"/>
              </a:rPr>
              <a:t>short iterations</a:t>
            </a:r>
          </a:p>
        </p:txBody>
      </p:sp>
      <p:sp>
        <p:nvSpPr>
          <p:cNvPr id="22" name="">
            <a:extLst xmlns:a="http://schemas.openxmlformats.org/drawingml/2006/main">
              <a:ext uri="{FF2B5EF4-FFF2-40B4-BE49-F238E27FC236}">
                <a16:creationId xmlns:a16="http://schemas.microsoft.com/office/drawing/2014/main" id="{4DE5AE4B-D671-45FD-9CD5-F14D586C7123}"/>
              </a:ext>
            </a:extLst>
          </p:cNvPr>
          <p:cNvSpPr>
            <a:spLocks xmlns:a="http://schemas.openxmlformats.org/drawingml/2006/main" noGrp="1"/>
          </p:cNvSpPr>
          <p:nvPr/>
        </p:nvSpPr>
        <p:spPr>
          <a:xfrm xmlns:a="http://schemas.openxmlformats.org/drawingml/2006/main">
            <a:off x="8077200" y="1752600"/>
            <a:ext cx="3467100" cy="3143250"/>
          </a:xfrm>
          <a:prstGeom xmlns:a="http://schemas.openxmlformats.org/drawingml/2006/main" prst="roundRect">
            <a:avLst>
              <a:gd name="adj" fmla="val 2424"/>
            </a:avLst>
          </a:prstGeom>
          <a:noFill xmlns:a="http://schemas.openxmlformats.org/drawingml/2006/main"/>
          <a:ln xmlns:a="http://schemas.openxmlformats.org/drawingml/2006/main" w="11430">
            <a:solidFill>
              <a:srgbClr val="C9D8E1"/>
            </a:solidFill>
            <a:prstDash val="solid"/>
          </a:ln>
        </p:spPr>
      </p:sp>
      <p:sp>
        <p:nvSpPr>
          <p:cNvPr id="23" name="">
            <a:extLst xmlns:a="http://schemas.openxmlformats.org/drawingml/2006/main">
              <a:ext uri="{FF2B5EF4-FFF2-40B4-BE49-F238E27FC236}">
                <a16:creationId xmlns:a16="http://schemas.microsoft.com/office/drawing/2014/main" id="{3D2FAF0B-C6FF-42C9-BFD2-FF6C0DA44507}"/>
              </a:ext>
            </a:extLst>
          </p:cNvPr>
          <p:cNvSpPr>
            <a:spLocks xmlns:a="http://schemas.openxmlformats.org/drawingml/2006/main" noGrp="1"/>
          </p:cNvSpPr>
          <p:nvPr/>
        </p:nvSpPr>
        <p:spPr>
          <a:xfrm xmlns:a="http://schemas.openxmlformats.org/drawingml/2006/main">
            <a:off x="8077200" y="1752600"/>
            <a:ext cx="3467100" cy="66675"/>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2C430A7-C39C-4969-BEAF-D1F8E7811463}"/>
              </a:ext>
            </a:extLst>
          </p:cNvPr>
          <p:cNvSpPr>
            <a:spLocks xmlns:a="http://schemas.openxmlformats.org/drawingml/2006/main" noGrp="1"/>
          </p:cNvSpPr>
          <p:nvPr/>
        </p:nvSpPr>
        <p:spPr>
          <a:xfrm xmlns:a="http://schemas.openxmlformats.org/drawingml/2006/main">
            <a:off x="8305800" y="2095500"/>
            <a:ext cx="3009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2550" b="1">
                <a:solidFill>
                  <a:srgbClr val="2F9E63"/>
                </a:solidFill>
                <a:latin typeface="Yu Gothic UI"/>
                <a:ea typeface="Yu Gothic UI"/>
                <a:cs typeface="Yu Gothic UI"/>
              </a:defRPr>
            </a:pPr>
            <a:r>
              <a:rPr sz="2550" b="1">
                <a:solidFill>
                  <a:srgbClr val="2F9E63"/>
                </a:solidFill>
                <a:latin typeface="Yu Gothic UI"/>
                <a:ea typeface="Yu Gothic UI"/>
                <a:cs typeface="Yu Gothic UI"/>
              </a:rPr>
              <a:t>SDK</a:t>
            </a:r>
          </a:p>
        </p:txBody>
      </p:sp>
      <p:sp>
        <p:nvSpPr>
          <p:cNvPr id="25" name="">
            <a:extLst xmlns:a="http://schemas.openxmlformats.org/drawingml/2006/main">
              <a:ext uri="{FF2B5EF4-FFF2-40B4-BE49-F238E27FC236}">
                <a16:creationId xmlns:a16="http://schemas.microsoft.com/office/drawing/2014/main" id="{6B5AE9B9-6515-430A-B672-45581A7EB125}"/>
              </a:ext>
            </a:extLst>
          </p:cNvPr>
          <p:cNvSpPr>
            <a:spLocks xmlns:a="http://schemas.openxmlformats.org/drawingml/2006/main" noGrp="1"/>
          </p:cNvSpPr>
          <p:nvPr/>
        </p:nvSpPr>
        <p:spPr>
          <a:xfrm xmlns:a="http://schemas.openxmlformats.org/drawingml/2006/main">
            <a:off x="8305800" y="2800350"/>
            <a:ext cx="30099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500" b="1">
                <a:solidFill>
                  <a:srgbClr val="17242B"/>
                </a:solidFill>
                <a:latin typeface="Yu Gothic UI"/>
                <a:ea typeface="Yu Gothic UI"/>
                <a:cs typeface="Yu Gothic UI"/>
              </a:defRPr>
            </a:pPr>
            <a:r>
              <a:rPr sz="1500" b="1">
                <a:solidFill>
                  <a:srgbClr val="17242B"/>
                </a:solidFill>
                <a:latin typeface="Yu Gothic UI"/>
                <a:ea typeface="Yu Gothic UI"/>
                <a:cs typeface="Yu Gothic UI"/>
              </a:rPr>
              <a:t>仕組みに組み込む</a:t>
            </a:r>
          </a:p>
        </p:txBody>
      </p:sp>
      <p:sp>
        <p:nvSpPr>
          <p:cNvPr id="26" name="">
            <a:extLst xmlns:a="http://schemas.openxmlformats.org/drawingml/2006/main">
              <a:ext uri="{FF2B5EF4-FFF2-40B4-BE49-F238E27FC236}">
                <a16:creationId xmlns:a16="http://schemas.microsoft.com/office/drawing/2014/main" id="{6F43014F-FA37-4A21-A116-8AF8A0588181}"/>
              </a:ext>
            </a:extLst>
          </p:cNvPr>
          <p:cNvSpPr>
            <a:spLocks xmlns:a="http://schemas.openxmlformats.org/drawingml/2006/main" noGrp="1"/>
          </p:cNvSpPr>
          <p:nvPr/>
        </p:nvSpPr>
        <p:spPr>
          <a:xfrm xmlns:a="http://schemas.openxmlformats.org/drawingml/2006/main">
            <a:off x="8305800" y="3409950"/>
            <a:ext cx="30099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20000"/>
              </a:lnSpc>
              <a:buNone/>
              <a:defRPr sz="1350">
                <a:solidFill>
                  <a:srgbClr val="536978"/>
                </a:solidFill>
                <a:latin typeface="Yu Gothic UI"/>
                <a:ea typeface="Yu Gothic UI"/>
                <a:cs typeface="Yu Gothic UI"/>
              </a:defRPr>
            </a:pPr>
            <a:r>
              <a:rPr sz="1350">
                <a:solidFill>
                  <a:srgbClr val="536978"/>
                </a:solidFill>
                <a:latin typeface="Yu Gothic UI"/>
                <a:ea typeface="Yu Gothic UI"/>
                <a:cs typeface="Yu Gothic UI"/>
              </a:rPr>
              <a:t>Python agent</a:t>
            </a:r>
          </a:p>
          <a:p xmlns:a="http://schemas.openxmlformats.org/drawingml/2006/main">
            <a:pPr>
              <a:lnSpc>
                <a:spcPct val="120000"/>
              </a:lnSpc>
              <a:buNone/>
              <a:defRPr sz="1350">
                <a:solidFill>
                  <a:srgbClr val="536978"/>
                </a:solidFill>
                <a:latin typeface="Yu Gothic UI"/>
                <a:ea typeface="Yu Gothic UI"/>
                <a:cs typeface="Yu Gothic UI"/>
              </a:defRPr>
            </a:pPr>
            <a:r>
              <a:rPr sz="1350">
                <a:solidFill>
                  <a:srgbClr val="536978"/>
                </a:solidFill>
                <a:latin typeface="Yu Gothic UI"/>
                <a:ea typeface="Yu Gothic UI"/>
                <a:cs typeface="Yu Gothic UI"/>
              </a:rPr>
              <a:t>policies / tools</a:t>
            </a:r>
          </a:p>
          <a:p xmlns:a="http://schemas.openxmlformats.org/drawingml/2006/main">
            <a:pPr>
              <a:lnSpc>
                <a:spcPct val="120000"/>
              </a:lnSpc>
              <a:buNone/>
              <a:defRPr sz="1350">
                <a:solidFill>
                  <a:srgbClr val="536978"/>
                </a:solidFill>
                <a:latin typeface="Yu Gothic UI"/>
                <a:ea typeface="Yu Gothic UI"/>
                <a:cs typeface="Yu Gothic UI"/>
              </a:defRPr>
            </a:pPr>
            <a:r>
              <a:rPr sz="1350">
                <a:solidFill>
                  <a:srgbClr val="536978"/>
                </a:solidFill>
                <a:latin typeface="Yu Gothic UI"/>
                <a:ea typeface="Yu Gothic UI"/>
                <a:cs typeface="Yu Gothic UI"/>
              </a:rPr>
              <a:t>stream output</a:t>
            </a:r>
          </a:p>
        </p:txBody>
      </p:sp>
      <p:sp>
        <p:nvSpPr>
          <p:cNvPr id="27" name="">
            <a:extLst xmlns:a="http://schemas.openxmlformats.org/drawingml/2006/main">
              <a:ext uri="{FF2B5EF4-FFF2-40B4-BE49-F238E27FC236}">
                <a16:creationId xmlns:a16="http://schemas.microsoft.com/office/drawing/2014/main" id="{914CA36F-5E58-41CE-B519-28CC10762A0A}"/>
              </a:ext>
            </a:extLst>
          </p:cNvPr>
          <p:cNvSpPr>
            <a:spLocks xmlns:a="http://schemas.openxmlformats.org/drawingml/2006/main" noGrp="1"/>
          </p:cNvSpPr>
          <p:nvPr/>
        </p:nvSpPr>
        <p:spPr>
          <a:xfrm xmlns:a="http://schemas.openxmlformats.org/drawingml/2006/main">
            <a:off x="1409700" y="5219700"/>
            <a:ext cx="9372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650" b="1">
                <a:solidFill>
                  <a:srgbClr val="17242B"/>
                </a:solidFill>
                <a:latin typeface="Yu Gothic UI"/>
                <a:ea typeface="Yu Gothic UI"/>
                <a:cs typeface="Yu Gothic UI"/>
              </a:defRPr>
            </a:pPr>
            <a:r>
              <a:rPr sz="1650" b="1">
                <a:solidFill>
                  <a:srgbClr val="17242B"/>
                </a:solidFill>
                <a:latin typeface="Yu Gothic UI"/>
                <a:ea typeface="Yu Gothic UI"/>
                <a:cs typeface="Yu Gothic UI"/>
              </a:rPr>
              <a:t>本編では IDEだけが制作。CLIとSDKは同じrepoをread-onlyで監査します。</a:t>
            </a:r>
          </a:p>
        </p:txBody>
      </p:sp>
    </p:spTree>
    <p:extLst>
      <p:ext uri="{BB962C8B-B14F-4D97-AF65-F5344CB8AC3E}">
        <p14:creationId xmlns:p14="http://schemas.microsoft.com/office/powerpoint/2010/main" val="101826840"/>
      </p:ext>
    </p:extLst>
  </p:cSld>
</p:sld>
</file>

<file path=ppt/slides/slide2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26 / 36</a:t>
            </a:r>
          </a:p>
        </p:txBody>
      </p:sp>
      <p:sp>
        <p:nvSpPr>
          <p:cNvPr id="10" name="">
            <a:extLst xmlns:a="http://schemas.openxmlformats.org/drawingml/2006/main">
              <a:ext uri="{FF2B5EF4-FFF2-40B4-BE49-F238E27FC236}">
                <a16:creationId xmlns:a16="http://schemas.microsoft.com/office/drawing/2014/main" id="{7027B131-259B-4BB0-910A-D0A54FBDC0F7}"/>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IDE DEMO  |  VISUAL WORKSPACE</a:t>
            </a:r>
          </a:p>
        </p:txBody>
      </p:sp>
      <p:sp>
        <p:nvSpPr>
          <p:cNvPr id="11" name="">
            <a:extLst xmlns:a="http://schemas.openxmlformats.org/drawingml/2006/main">
              <a:ext uri="{FF2B5EF4-FFF2-40B4-BE49-F238E27FC236}">
                <a16:creationId xmlns:a16="http://schemas.microsoft.com/office/drawing/2014/main" id="{AA79AAE6-6A07-45A2-A335-94C3F28FA865}"/>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IDEでは、依頼・コード・ブラウザ結果を同じ視野で追えます</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f7c497bcf09c4079"/>
          <a:srcRect xmlns:a="http://schemas.openxmlformats.org/drawingml/2006/main" l="0" t="3943" r="0" b="3943"/>
          <a:stretch xmlns:a="http://schemas.openxmlformats.org/drawingml/2006/main">
            <a:fillRect l="0" t="0" r="0" b="0"/>
          </a:stretch>
        </p:blipFill>
        <p:spPr>
          <a:xfrm xmlns:a="http://schemas.openxmlformats.org/drawingml/2006/main">
            <a:off x="647700" y="1657350"/>
            <a:ext cx="8020050" cy="4000500"/>
          </a:xfrm>
          <a:prstGeom xmlns:a="http://schemas.openxmlformats.org/drawingml/2006/main" prst="roundRect">
            <a:avLst>
              <a:gd name="adj" fmla="val 1905"/>
            </a:avLst>
          </a:prstGeom>
        </p:spPr>
      </p:pic>
      <p:sp>
        <p:nvSpPr>
          <p:cNvPr id="13" name="">
            <a:extLst xmlns:a="http://schemas.openxmlformats.org/drawingml/2006/main">
              <a:ext uri="{FF2B5EF4-FFF2-40B4-BE49-F238E27FC236}">
                <a16:creationId xmlns:a16="http://schemas.microsoft.com/office/drawing/2014/main" id="{539611A2-2BD8-4E8E-8DF3-BBEE2751AFE5}"/>
              </a:ext>
            </a:extLst>
          </p:cNvPr>
          <p:cNvSpPr>
            <a:spLocks xmlns:a="http://schemas.openxmlformats.org/drawingml/2006/main" noGrp="1"/>
          </p:cNvSpPr>
          <p:nvPr/>
        </p:nvSpPr>
        <p:spPr>
          <a:xfrm xmlns:a="http://schemas.openxmlformats.org/drawingml/2006/main">
            <a:off x="8934450" y="1657350"/>
            <a:ext cx="2609850" cy="4000500"/>
          </a:xfrm>
          <a:prstGeom xmlns:a="http://schemas.openxmlformats.org/drawingml/2006/main" prst="roundRect">
            <a:avLst>
              <a:gd name="adj" fmla="val 2920"/>
            </a:avLst>
          </a:prstGeom>
          <a:noFill xmlns:a="http://schemas.openxmlformats.org/drawingml/2006/main"/>
          <a:ln xmlns:a="http://schemas.openxmlformats.org/drawingml/2006/main" w="11430">
            <a:solidFill>
              <a:srgbClr val="C9D8E1"/>
            </a:solidFill>
            <a:prstDash val="solid"/>
          </a:ln>
        </p:spPr>
      </p:sp>
      <p:sp>
        <p:nvSpPr>
          <p:cNvPr id="14" name="">
            <a:extLst xmlns:a="http://schemas.openxmlformats.org/drawingml/2006/main">
              <a:ext uri="{FF2B5EF4-FFF2-40B4-BE49-F238E27FC236}">
                <a16:creationId xmlns:a16="http://schemas.microsoft.com/office/drawing/2014/main" id="{AFA64E3B-49FC-417E-A860-437293FFC151}"/>
              </a:ext>
            </a:extLst>
          </p:cNvPr>
          <p:cNvSpPr>
            <a:spLocks xmlns:a="http://schemas.openxmlformats.org/drawingml/2006/main" noGrp="1"/>
          </p:cNvSpPr>
          <p:nvPr/>
        </p:nvSpPr>
        <p:spPr>
          <a:xfrm xmlns:a="http://schemas.openxmlformats.org/drawingml/2006/main">
            <a:off x="9201150" y="1962150"/>
            <a:ext cx="2076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00A5E3"/>
                </a:solidFill>
                <a:latin typeface="Yu Gothic UI"/>
                <a:ea typeface="Yu Gothic UI"/>
                <a:cs typeface="Yu Gothic UI"/>
              </a:defRPr>
            </a:pPr>
            <a:r>
              <a:rPr sz="1050" b="1">
                <a:solidFill>
                  <a:srgbClr val="00A5E3"/>
                </a:solidFill>
                <a:latin typeface="Yu Gothic UI"/>
                <a:ea typeface="Yu Gothic UI"/>
                <a:cs typeface="Yu Gothic UI"/>
              </a:rPr>
              <a:t>LIVE VIEW</a:t>
            </a:r>
          </a:p>
        </p:txBody>
      </p:sp>
      <p:sp>
        <p:nvSpPr>
          <p:cNvPr id="15" name="">
            <a:extLst xmlns:a="http://schemas.openxmlformats.org/drawingml/2006/main">
              <a:ext uri="{FF2B5EF4-FFF2-40B4-BE49-F238E27FC236}">
                <a16:creationId xmlns:a16="http://schemas.microsoft.com/office/drawing/2014/main" id="{E1CDCBFC-D9D1-43DC-A31A-4D4AA6D86F28}"/>
              </a:ext>
            </a:extLst>
          </p:cNvPr>
          <p:cNvSpPr>
            <a:spLocks xmlns:a="http://schemas.openxmlformats.org/drawingml/2006/main" noGrp="1"/>
          </p:cNvSpPr>
          <p:nvPr/>
        </p:nvSpPr>
        <p:spPr>
          <a:xfrm xmlns:a="http://schemas.openxmlformats.org/drawingml/2006/main">
            <a:off x="9201150" y="2381250"/>
            <a:ext cx="2076450" cy="2724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4000"/>
              </a:lnSpc>
              <a:buNone/>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Browser</a:t>
            </a:r>
          </a:p>
          <a:p xmlns:a="http://schemas.openxmlformats.org/drawingml/2006/main">
            <a:pPr>
              <a:lnSpc>
                <a:spcPct val="114000"/>
              </a:lnSpc>
              <a:buNone/>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実際の成果物</a:t>
            </a:r>
          </a:p>
          <a:p xmlns:a="http://schemas.openxmlformats.org/drawingml/2006/main">
            <a:r>
              <a:t/>
            </a:r>
          </a:p>
          <a:p xmlns:a="http://schemas.openxmlformats.org/drawingml/2006/main">
            <a:pPr>
              <a:lnSpc>
                <a:spcPct val="114000"/>
              </a:lnSpc>
              <a:buNone/>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Agent</a:t>
            </a:r>
          </a:p>
          <a:p xmlns:a="http://schemas.openxmlformats.org/drawingml/2006/main">
            <a:pPr>
              <a:lnSpc>
                <a:spcPct val="114000"/>
              </a:lnSpc>
              <a:buNone/>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計画とtool実行</a:t>
            </a:r>
          </a:p>
          <a:p xmlns:a="http://schemas.openxmlformats.org/drawingml/2006/main">
            <a:r>
              <a:t/>
            </a:r>
          </a:p>
          <a:p xmlns:a="http://schemas.openxmlformats.org/drawingml/2006/main">
            <a:pPr>
              <a:lnSpc>
                <a:spcPct val="114000"/>
              </a:lnSpc>
              <a:buNone/>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Editor</a:t>
            </a:r>
          </a:p>
          <a:p xmlns:a="http://schemas.openxmlformats.org/drawingml/2006/main">
            <a:pPr>
              <a:lnSpc>
                <a:spcPct val="114000"/>
              </a:lnSpc>
              <a:buNone/>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変更ファイル</a:t>
            </a:r>
          </a:p>
          <a:p xmlns:a="http://schemas.openxmlformats.org/drawingml/2006/main">
            <a:r>
              <a:t/>
            </a:r>
          </a:p>
          <a:p xmlns:a="http://schemas.openxmlformats.org/drawingml/2006/main">
            <a:pPr>
              <a:lnSpc>
                <a:spcPct val="114000"/>
              </a:lnSpc>
              <a:buNone/>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Artifacts</a:t>
            </a:r>
          </a:p>
          <a:p xmlns:a="http://schemas.openxmlformats.org/drawingml/2006/main">
            <a:pPr>
              <a:lnSpc>
                <a:spcPct val="114000"/>
              </a:lnSpc>
              <a:buNone/>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差分と証拠</a:t>
            </a:r>
          </a:p>
        </p:txBody>
      </p:sp>
      <p:sp>
        <p:nvSpPr>
          <p:cNvPr id="16" name="">
            <a:extLst xmlns:a="http://schemas.openxmlformats.org/drawingml/2006/main">
              <a:ext uri="{FF2B5EF4-FFF2-40B4-BE49-F238E27FC236}">
                <a16:creationId xmlns:a16="http://schemas.microsoft.com/office/drawing/2014/main" id="{A6F7743A-BF82-4EDF-B827-44BC5D9E6D70}"/>
              </a:ext>
            </a:extLst>
          </p:cNvPr>
          <p:cNvSpPr>
            <a:spLocks xmlns:a="http://schemas.openxmlformats.org/drawingml/2006/main" noGrp="1"/>
          </p:cNvSpPr>
          <p:nvPr/>
        </p:nvSpPr>
        <p:spPr>
          <a:xfrm xmlns:a="http://schemas.openxmlformats.org/drawingml/2006/main">
            <a:off x="9201150" y="521970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見た目を確認しながら具体的に直せる</a:t>
            </a:r>
          </a:p>
        </p:txBody>
      </p:sp>
    </p:spTree>
    <p:extLst>
      <p:ext uri="{BB962C8B-B14F-4D97-AF65-F5344CB8AC3E}">
        <p14:creationId xmlns:p14="http://schemas.microsoft.com/office/powerpoint/2010/main" val="101826840"/>
      </p:ext>
    </p:extLst>
  </p:cSld>
</p:sld>
</file>

<file path=ppt/slides/slide2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27 / 36</a:t>
            </a:r>
          </a:p>
        </p:txBody>
      </p:sp>
      <p:pic>
        <p:nvPicPr>
          <p:cNvPr id="34" name="Picture 16"/>
          <p:cNvPicPr>
            <a:picLocks xmlns:a="http://schemas.openxmlformats.org/drawingml/2006/main" noChangeAspect="1"/>
          </p:cNvPicPr>
          <p:nvPr/>
        </p:nvPicPr>
        <p:blipFill>
          <a:blip xmlns:r="http://schemas.openxmlformats.org/officeDocument/2006/relationships" xmlns:a="http://schemas.openxmlformats.org/drawingml/2006/main" r:embed="Rf94adafd13b0441c"/>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4C3A737A-9192-4CEE-B8FD-4801B7572F64}"/>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CLI DEMO  |  READ ONLY</a:t>
            </a:r>
          </a:p>
        </p:txBody>
      </p:sp>
      <p:sp>
        <p:nvSpPr>
          <p:cNvPr id="19" name="">
            <a:extLst xmlns:a="http://schemas.openxmlformats.org/drawingml/2006/main">
              <a:ext uri="{FF2B5EF4-FFF2-40B4-BE49-F238E27FC236}">
                <a16:creationId xmlns:a16="http://schemas.microsoft.com/office/drawing/2014/main" id="{BA75EB1C-03A8-46EF-AA11-D589BF074CCD}"/>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CLIでは、同じrepoをターミナルから3分で監査します</a:t>
            </a:r>
          </a:p>
        </p:txBody>
      </p:sp>
      <p:sp>
        <p:nvSpPr>
          <p:cNvPr id="20" name="">
            <a:extLst xmlns:a="http://schemas.openxmlformats.org/drawingml/2006/main">
              <a:ext uri="{FF2B5EF4-FFF2-40B4-BE49-F238E27FC236}">
                <a16:creationId xmlns:a16="http://schemas.microsoft.com/office/drawing/2014/main" id="{530ADB76-5074-4A52-AA91-7F98C48BA5F3}"/>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D6A4917-A989-4ADA-A3A7-8B456B46CEA9}"/>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INTO AGY</a:t>
            </a:r>
          </a:p>
        </p:txBody>
      </p:sp>
      <p:sp>
        <p:nvSpPr>
          <p:cNvPr id="22" name="">
            <a:extLst xmlns:a="http://schemas.openxmlformats.org/drawingml/2006/main">
              <a:ext uri="{FF2B5EF4-FFF2-40B4-BE49-F238E27FC236}">
                <a16:creationId xmlns:a16="http://schemas.microsoft.com/office/drawing/2014/main" id="{BA6D0428-2452-40F9-B75B-00E0FDC1FC35}"/>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3" name="">
            <a:extLst xmlns:a="http://schemas.openxmlformats.org/drawingml/2006/main">
              <a:ext uri="{FF2B5EF4-FFF2-40B4-BE49-F238E27FC236}">
                <a16:creationId xmlns:a16="http://schemas.microsoft.com/office/drawing/2014/main" id="{FC251E2F-61AB-4BD7-BB3F-A542414B539A}"/>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4" name="">
            <a:extLst xmlns:a="http://schemas.openxmlformats.org/drawingml/2006/main">
              <a:ext uri="{FF2B5EF4-FFF2-40B4-BE49-F238E27FC236}">
                <a16:creationId xmlns:a16="http://schemas.microsoft.com/office/drawing/2014/main" id="{252410D7-E40E-48C6-B2AD-746752BCBB58}"/>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65602"/>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CLI DEMO / READ ONLY</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Antigravity CLIから、現在の専用デモリポジトリを読み取り専用で監査してください。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対象:</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index.html</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styles.css</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app.js</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SITE_BRIEF.md</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制約: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ファイルの作成、変更、削除をしない。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shell command、外部通信、commit、pushを実行しない。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認証情報、個人情報、環境変数の値を表示しない。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読み取れない項目を推測しない。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次の見出しと順番だけで、日本語の短い結果を返してください。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SURFACE: ANTIGRAVITY CLI</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FILES: 読み取れた対象ファイル</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PRODUCTS: index.htmlから確認できた製品名と件数</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INTERACTIONS: app.jsから確認できた操作を3点以内</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SAFETY: SYNTHETIC_DATA_ONLYの有無と、書き込みを行っていないこと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NEXT: IDEでブラウザ確認する項目を1点</a:t>
            </a:r>
          </a:p>
        </p:txBody>
      </p:sp>
      <p:sp>
        <p:nvSpPr>
          <p:cNvPr id="25" name="">
            <a:extLst xmlns:a="http://schemas.openxmlformats.org/drawingml/2006/main">
              <a:ext uri="{FF2B5EF4-FFF2-40B4-BE49-F238E27FC236}">
                <a16:creationId xmlns:a16="http://schemas.microsoft.com/office/drawing/2014/main" id="{FD368089-C8ED-4EBD-BA2A-E32B176CB9E3}"/>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docs/demo/antigravity_workshop/PROMPT_10_CLI_READONLY.txt</a:t>
            </a:r>
          </a:p>
        </p:txBody>
      </p:sp>
    </p:spTree>
    <p:extLst>
      <p:ext uri="{BB962C8B-B14F-4D97-AF65-F5344CB8AC3E}">
        <p14:creationId xmlns:p14="http://schemas.microsoft.com/office/powerpoint/2010/main" val="107929079"/>
      </p:ext>
    </p:extLst>
  </p:cSld>
</p:sld>
</file>

<file path=ppt/slides/slide2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28 / 36</a:t>
            </a:r>
          </a:p>
        </p:txBody>
      </p:sp>
      <p:sp>
        <p:nvSpPr>
          <p:cNvPr id="10" name="">
            <a:extLst xmlns:a="http://schemas.openxmlformats.org/drawingml/2006/main">
              <a:ext uri="{FF2B5EF4-FFF2-40B4-BE49-F238E27FC236}">
                <a16:creationId xmlns:a16="http://schemas.microsoft.com/office/drawing/2014/main" id="{4472141D-C872-416D-83C2-F1D14A7EBAB7}"/>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SDK DEMO  |  PYTHON</a:t>
            </a:r>
          </a:p>
        </p:txBody>
      </p:sp>
      <p:sp>
        <p:nvSpPr>
          <p:cNvPr id="11" name="">
            <a:extLst xmlns:a="http://schemas.openxmlformats.org/drawingml/2006/main">
              <a:ext uri="{FF2B5EF4-FFF2-40B4-BE49-F238E27FC236}">
                <a16:creationId xmlns:a16="http://schemas.microsoft.com/office/drawing/2014/main" id="{EB2E4C68-4A73-4B0B-9BF5-33BA18AEAE76}"/>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SDKでは、agentの役割と権限をコードで再現できます</a:t>
            </a:r>
          </a:p>
        </p:txBody>
      </p:sp>
      <p:sp>
        <p:nvSpPr>
          <p:cNvPr id="12" name="">
            <a:extLst xmlns:a="http://schemas.openxmlformats.org/drawingml/2006/main">
              <a:ext uri="{FF2B5EF4-FFF2-40B4-BE49-F238E27FC236}">
                <a16:creationId xmlns:a16="http://schemas.microsoft.com/office/drawing/2014/main" id="{43F8C2A4-C2A6-4152-8064-AA22BB023E39}"/>
              </a:ext>
            </a:extLst>
          </p:cNvPr>
          <p:cNvSpPr>
            <a:spLocks xmlns:a="http://schemas.openxmlformats.org/drawingml/2006/main" noGrp="1"/>
          </p:cNvSpPr>
          <p:nvPr/>
        </p:nvSpPr>
        <p:spPr>
          <a:xfrm xmlns:a="http://schemas.openxmlformats.org/drawingml/2006/main">
            <a:off x="647700" y="1657350"/>
            <a:ext cx="6781800" cy="4000500"/>
          </a:xfrm>
          <a:prstGeom xmlns:a="http://schemas.openxmlformats.org/drawingml/2006/main" prst="roundRect">
            <a:avLst>
              <a:gd name="adj" fmla="val 1905"/>
            </a:avLst>
          </a:prstGeom>
          <a:solidFill xmlns:a="http://schemas.openxmlformats.org/drawingml/2006/main">
            <a:srgbClr val="071A2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0E188BE-9EC6-4653-9981-DB890D714A7C}"/>
              </a:ext>
            </a:extLst>
          </p:cNvPr>
          <p:cNvSpPr>
            <a:spLocks xmlns:a="http://schemas.openxmlformats.org/drawingml/2006/main" noGrp="1"/>
          </p:cNvSpPr>
          <p:nvPr/>
        </p:nvSpPr>
        <p:spPr>
          <a:xfrm xmlns:a="http://schemas.openxmlformats.org/drawingml/2006/main">
            <a:off x="895350" y="1885950"/>
            <a:ext cx="2781300" cy="342900"/>
          </a:xfrm>
          <a:prstGeom xmlns:a="http://schemas.openxmlformats.org/drawingml/2006/main" prst="roundRect">
            <a:avLst>
              <a:gd name="adj" fmla="val 22222"/>
            </a:avLst>
          </a:prstGeom>
          <a:solidFill xmlns:a="http://schemas.openxmlformats.org/drawingml/2006/main">
            <a:srgbClr val="2F9E63"/>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antigravity_sdk_readonly.py</a:t>
            </a:r>
          </a:p>
        </p:txBody>
      </p:sp>
      <p:sp>
        <p:nvSpPr>
          <p:cNvPr id="14" name="">
            <a:extLst xmlns:a="http://schemas.openxmlformats.org/drawingml/2006/main">
              <a:ext uri="{FF2B5EF4-FFF2-40B4-BE49-F238E27FC236}">
                <a16:creationId xmlns:a16="http://schemas.microsoft.com/office/drawing/2014/main" id="{7AACB21B-1FE4-48D7-8520-8622040CF955}"/>
              </a:ext>
            </a:extLst>
          </p:cNvPr>
          <p:cNvSpPr>
            <a:spLocks xmlns:a="http://schemas.openxmlformats.org/drawingml/2006/main" noGrp="1"/>
          </p:cNvSpPr>
          <p:nvPr/>
        </p:nvSpPr>
        <p:spPr>
          <a:xfrm xmlns:a="http://schemas.openxmlformats.org/drawingml/2006/main">
            <a:off x="933450" y="2419350"/>
            <a:ext cx="6038850" cy="2895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from google.antigravity import Agent, LocalAgentConfig</a:t>
            </a:r>
          </a:p>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from google.antigravity.types import (</a:t>
            </a:r>
          </a:p>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    BuiltinTools, CapabilitiesConfig,</a:t>
            </a:r>
          </a:p>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a:t>
            </a:r>
          </a:p>
          <a:p xmlns:a="http://schemas.openxmlformats.org/drawingml/2006/main">
            <a:r>
              <a:t/>
            </a:r>
          </a:p>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config = LocalAgentConfig(</a:t>
            </a:r>
          </a:p>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    system_instructions=READ_ONLY_RULES,</a:t>
            </a:r>
          </a:p>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    capabilities=CapabilitiesConfig(</a:t>
            </a:r>
          </a:p>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        enabled_tools=BuiltinTools.read_only(),</a:t>
            </a:r>
          </a:p>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    ),</a:t>
            </a:r>
          </a:p>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a:t>
            </a:r>
          </a:p>
          <a:p xmlns:a="http://schemas.openxmlformats.org/drawingml/2006/main">
            <a:r>
              <a:t/>
            </a:r>
          </a:p>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async with Agent(config) as agent:</a:t>
            </a:r>
          </a:p>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    response = await agent.chat(prompt)</a:t>
            </a:r>
          </a:p>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    async for token in response:</a:t>
            </a:r>
          </a:p>
          <a:p xmlns:a="http://schemas.openxmlformats.org/drawingml/2006/main">
            <a:pPr>
              <a:lnSpc>
                <a:spcPct val="102000"/>
              </a:lnSpc>
              <a:buNone/>
              <a:defRPr sz="982">
                <a:solidFill>
                  <a:srgbClr val="EDF6FA"/>
                </a:solidFill>
                <a:latin typeface="Cascadia Mono"/>
                <a:ea typeface="Cascadia Mono"/>
                <a:cs typeface="Cascadia Mono"/>
              </a:defRPr>
            </a:pPr>
            <a:r>
              <a:rPr sz="982">
                <a:solidFill>
                  <a:srgbClr val="EDF6FA"/>
                </a:solidFill>
                <a:latin typeface="Cascadia Mono"/>
                <a:ea typeface="Cascadia Mono"/>
                <a:cs typeface="Cascadia Mono"/>
              </a:rPr>
              <a:t>        print(token, end="", flush=True)</a:t>
            </a:r>
          </a:p>
        </p:txBody>
      </p:sp>
      <p:sp>
        <p:nvSpPr>
          <p:cNvPr id="15" name="">
            <a:extLst xmlns:a="http://schemas.openxmlformats.org/drawingml/2006/main">
              <a:ext uri="{FF2B5EF4-FFF2-40B4-BE49-F238E27FC236}">
                <a16:creationId xmlns:a16="http://schemas.microsoft.com/office/drawing/2014/main" id="{50FBA128-69C9-4C07-99CA-6AB8924C1732}"/>
              </a:ext>
            </a:extLst>
          </p:cNvPr>
          <p:cNvSpPr>
            <a:spLocks xmlns:a="http://schemas.openxmlformats.org/drawingml/2006/main" noGrp="1"/>
          </p:cNvSpPr>
          <p:nvPr/>
        </p:nvSpPr>
        <p:spPr>
          <a:xfrm xmlns:a="http://schemas.openxmlformats.org/drawingml/2006/main">
            <a:off x="7696200" y="1657350"/>
            <a:ext cx="3848100" cy="4000500"/>
          </a:xfrm>
          <a:prstGeom xmlns:a="http://schemas.openxmlformats.org/drawingml/2006/main" prst="roundRect">
            <a:avLst>
              <a:gd name="adj" fmla="val 1980"/>
            </a:avLst>
          </a:prstGeom>
          <a:solidFill xmlns:a="http://schemas.openxmlformats.org/drawingml/2006/main">
            <a:srgbClr val="FFFFFF"/>
          </a:solidFill>
          <a:ln xmlns:a="http://schemas.openxmlformats.org/drawingml/2006/main" w="11430">
            <a:solidFill>
              <a:srgbClr val="C9D8E1"/>
            </a:solidFill>
            <a:prstDash val="solid"/>
          </a:ln>
        </p:spPr>
      </p:sp>
      <p:sp>
        <p:nvSpPr>
          <p:cNvPr id="16" name="">
            <a:extLst xmlns:a="http://schemas.openxmlformats.org/drawingml/2006/main">
              <a:ext uri="{FF2B5EF4-FFF2-40B4-BE49-F238E27FC236}">
                <a16:creationId xmlns:a16="http://schemas.microsoft.com/office/drawing/2014/main" id="{019004FA-4B32-4979-8B23-2A316731592D}"/>
              </a:ext>
            </a:extLst>
          </p:cNvPr>
          <p:cNvSpPr>
            <a:spLocks xmlns:a="http://schemas.openxmlformats.org/drawingml/2006/main" noGrp="1"/>
          </p:cNvSpPr>
          <p:nvPr/>
        </p:nvSpPr>
        <p:spPr>
          <a:xfrm xmlns:a="http://schemas.openxmlformats.org/drawingml/2006/main">
            <a:off x="7981950" y="1962150"/>
            <a:ext cx="3276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EF7E00"/>
                </a:solidFill>
                <a:latin typeface="Yu Gothic UI"/>
                <a:ea typeface="Yu Gothic UI"/>
                <a:cs typeface="Yu Gothic UI"/>
              </a:defRPr>
            </a:pPr>
            <a:r>
              <a:rPr sz="1050" b="1">
                <a:solidFill>
                  <a:srgbClr val="EF7E00"/>
                </a:solidFill>
                <a:latin typeface="Yu Gothic UI"/>
                <a:ea typeface="Yu Gothic UI"/>
                <a:cs typeface="Yu Gothic UI"/>
              </a:rPr>
              <a:t>RUN</a:t>
            </a:r>
          </a:p>
        </p:txBody>
      </p:sp>
      <p:sp>
        <p:nvSpPr>
          <p:cNvPr id="17" name="">
            <a:extLst xmlns:a="http://schemas.openxmlformats.org/drawingml/2006/main">
              <a:ext uri="{FF2B5EF4-FFF2-40B4-BE49-F238E27FC236}">
                <a16:creationId xmlns:a16="http://schemas.microsoft.com/office/drawing/2014/main" id="{616F25EC-8BEE-4695-A2C3-D1D996157CD2}"/>
              </a:ext>
            </a:extLst>
          </p:cNvPr>
          <p:cNvSpPr>
            <a:spLocks xmlns:a="http://schemas.openxmlformats.org/drawingml/2006/main" noGrp="1"/>
          </p:cNvSpPr>
          <p:nvPr/>
        </p:nvSpPr>
        <p:spPr>
          <a:xfrm xmlns:a="http://schemas.openxmlformats.org/drawingml/2006/main">
            <a:off x="7981950" y="2419350"/>
            <a:ext cx="32766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990" b="1">
                <a:solidFill>
                  <a:srgbClr val="17242B"/>
                </a:solidFill>
                <a:latin typeface="Cascadia Mono"/>
                <a:ea typeface="Cascadia Mono"/>
                <a:cs typeface="Cascadia Mono"/>
              </a:defRPr>
            </a:pPr>
            <a:r>
              <a:rPr sz="990" b="1">
                <a:solidFill>
                  <a:srgbClr val="17242B"/>
                </a:solidFill>
                <a:latin typeface="Cascadia Mono"/>
                <a:ea typeface="Cascadia Mono"/>
                <a:cs typeface="Cascadia Mono"/>
              </a:rPr>
              <a:t>.\.venv-antigravity-sdk\Scripts\Activate.ps1</a:t>
            </a:r>
          </a:p>
          <a:p xmlns:a="http://schemas.openxmlformats.org/drawingml/2006/main">
            <a:r>
              <a:t/>
            </a:r>
          </a:p>
          <a:p xmlns:a="http://schemas.openxmlformats.org/drawingml/2006/main">
            <a:pPr>
              <a:lnSpc>
                <a:spcPct val="112000"/>
              </a:lnSpc>
              <a:buNone/>
              <a:defRPr sz="990" b="1">
                <a:solidFill>
                  <a:srgbClr val="17242B"/>
                </a:solidFill>
                <a:latin typeface="Cascadia Mono"/>
                <a:ea typeface="Cascadia Mono"/>
                <a:cs typeface="Cascadia Mono"/>
              </a:defRPr>
            </a:pPr>
            <a:r>
              <a:rPr sz="990" b="1">
                <a:solidFill>
                  <a:srgbClr val="17242B"/>
                </a:solidFill>
                <a:latin typeface="Cascadia Mono"/>
                <a:ea typeface="Cascadia Mono"/>
                <a:cs typeface="Cascadia Mono"/>
              </a:rPr>
              <a:t>python .\antigravity_sdk_readonly.py --workspace .</a:t>
            </a:r>
          </a:p>
        </p:txBody>
      </p:sp>
      <p:sp>
        <p:nvSpPr>
          <p:cNvPr id="18" name="">
            <a:extLst xmlns:a="http://schemas.openxmlformats.org/drawingml/2006/main">
              <a:ext uri="{FF2B5EF4-FFF2-40B4-BE49-F238E27FC236}">
                <a16:creationId xmlns:a16="http://schemas.microsoft.com/office/drawing/2014/main" id="{25466F0B-540A-4FB4-95D9-4D1FDBEE439D}"/>
              </a:ext>
            </a:extLst>
          </p:cNvPr>
          <p:cNvSpPr>
            <a:spLocks xmlns:a="http://schemas.openxmlformats.org/drawingml/2006/main" noGrp="1"/>
          </p:cNvSpPr>
          <p:nvPr/>
        </p:nvSpPr>
        <p:spPr>
          <a:xfrm xmlns:a="http://schemas.openxmlformats.org/drawingml/2006/main">
            <a:off x="7981950" y="3905250"/>
            <a:ext cx="32766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0000"/>
              </a:lnSpc>
              <a:buNone/>
              <a:defRPr sz="1200" b="1">
                <a:solidFill>
                  <a:srgbClr val="536978"/>
                </a:solidFill>
                <a:latin typeface="Yu Gothic UI"/>
                <a:ea typeface="Yu Gothic UI"/>
                <a:cs typeface="Yu Gothic UI"/>
              </a:defRPr>
            </a:pPr>
            <a:r>
              <a:rPr sz="1200" b="1">
                <a:solidFill>
                  <a:srgbClr val="536978"/>
                </a:solidFill>
                <a:latin typeface="Yu Gothic UI"/>
                <a:ea typeface="Yu Gothic UI"/>
                <a:cs typeface="Yu Gothic UI"/>
              </a:rPr>
              <a:t>事前検証</a:t>
            </a:r>
          </a:p>
          <a:p xmlns:a="http://schemas.openxmlformats.org/drawingml/2006/main">
            <a:pPr>
              <a:lnSpc>
                <a:spcPct val="110000"/>
              </a:lnSpc>
              <a:buNone/>
              <a:defRPr sz="1200" b="1">
                <a:solidFill>
                  <a:srgbClr val="536978"/>
                </a:solidFill>
                <a:latin typeface="Yu Gothic UI"/>
                <a:ea typeface="Yu Gothic UI"/>
                <a:cs typeface="Yu Gothic UI"/>
              </a:defRPr>
            </a:pPr>
            <a:r>
              <a:rPr sz="1200" b="1">
                <a:solidFill>
                  <a:srgbClr val="536978"/>
                </a:solidFill>
                <a:latin typeface="Yu Gothic UI"/>
                <a:ea typeface="Yu Gothic UI"/>
                <a:cs typeface="Yu Gothic UI"/>
              </a:rPr>
              <a:t>✓ agy 1.1.11</a:t>
            </a:r>
          </a:p>
          <a:p xmlns:a="http://schemas.openxmlformats.org/drawingml/2006/main">
            <a:pPr>
              <a:lnSpc>
                <a:spcPct val="110000"/>
              </a:lnSpc>
              <a:buNone/>
              <a:defRPr sz="1200" b="1">
                <a:solidFill>
                  <a:srgbClr val="536978"/>
                </a:solidFill>
                <a:latin typeface="Yu Gothic UI"/>
                <a:ea typeface="Yu Gothic UI"/>
                <a:cs typeface="Yu Gothic UI"/>
              </a:defRPr>
            </a:pPr>
            <a:r>
              <a:rPr sz="1200" b="1">
                <a:solidFill>
                  <a:srgbClr val="536978"/>
                </a:solidFill>
                <a:latin typeface="Yu Gothic UI"/>
                <a:ea typeface="Yu Gothic UI"/>
                <a:cs typeface="Yu Gothic UI"/>
              </a:rPr>
              <a:t>✓ SDK 0.1.10 import</a:t>
            </a:r>
          </a:p>
          <a:p xmlns:a="http://schemas.openxmlformats.org/drawingml/2006/main">
            <a:pPr>
              <a:lnSpc>
                <a:spcPct val="110000"/>
              </a:lnSpc>
              <a:buNone/>
              <a:defRPr sz="1200" b="1">
                <a:solidFill>
                  <a:srgbClr val="536978"/>
                </a:solidFill>
                <a:latin typeface="Yu Gothic UI"/>
                <a:ea typeface="Yu Gothic UI"/>
                <a:cs typeface="Yu Gothic UI"/>
              </a:defRPr>
            </a:pPr>
            <a:r>
              <a:rPr sz="1200" b="1">
                <a:solidFill>
                  <a:srgbClr val="536978"/>
                </a:solidFill>
                <a:latin typeface="Yu Gothic UI"/>
                <a:ea typeface="Yu Gothic UI"/>
                <a:cs typeface="Yu Gothic UI"/>
              </a:rPr>
              <a:t>✓ dry-run PASS</a:t>
            </a:r>
          </a:p>
          <a:p xmlns:a="http://schemas.openxmlformats.org/drawingml/2006/main">
            <a:pPr>
              <a:lnSpc>
                <a:spcPct val="110000"/>
              </a:lnSpc>
              <a:buNone/>
              <a:defRPr sz="1200" b="1">
                <a:solidFill>
                  <a:srgbClr val="536978"/>
                </a:solidFill>
                <a:latin typeface="Yu Gothic UI"/>
                <a:ea typeface="Yu Gothic UI"/>
                <a:cs typeface="Yu Gothic UI"/>
              </a:defRPr>
            </a:pPr>
            <a:r>
              <a:rPr sz="1200" b="1">
                <a:solidFill>
                  <a:srgbClr val="536978"/>
                </a:solidFill>
                <a:latin typeface="Yu Gothic UI"/>
                <a:ea typeface="Yu Gothic UI"/>
                <a:cs typeface="Yu Gothic UI"/>
              </a:rPr>
              <a:t>! GEMINI_API_KEYは前日設定</a:t>
            </a:r>
          </a:p>
          <a:p xmlns:a="http://schemas.openxmlformats.org/drawingml/2006/main">
            <a:pPr>
              <a:lnSpc>
                <a:spcPct val="110000"/>
              </a:lnSpc>
              <a:buNone/>
              <a:defRPr sz="1200" b="1">
                <a:solidFill>
                  <a:srgbClr val="536978"/>
                </a:solidFill>
                <a:latin typeface="Yu Gothic UI"/>
                <a:ea typeface="Yu Gothic UI"/>
                <a:cs typeface="Yu Gothic UI"/>
              </a:defRPr>
            </a:pPr>
            <a:r>
              <a:rPr sz="1200" b="1">
                <a:solidFill>
                  <a:srgbClr val="536978"/>
                </a:solidFill>
                <a:latin typeface="Yu Gothic UI"/>
                <a:ea typeface="Yu Gothic UI"/>
                <a:cs typeface="Yu Gothic UI"/>
              </a:rPr>
              <a:t>! 値は画面へ出さない</a:t>
            </a:r>
          </a:p>
        </p:txBody>
      </p:sp>
    </p:spTree>
    <p:extLst>
      <p:ext uri="{BB962C8B-B14F-4D97-AF65-F5344CB8AC3E}">
        <p14:creationId xmlns:p14="http://schemas.microsoft.com/office/powerpoint/2010/main" val="101826840"/>
      </p:ext>
    </p:extLst>
  </p:cSld>
</p:sld>
</file>

<file path=ppt/slides/slide2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29 / 36</a:t>
            </a:r>
          </a:p>
        </p:txBody>
      </p:sp>
      <p:pic>
        <p:nvPicPr>
          <p:cNvPr id="34" name="Picture 16"/>
          <p:cNvPicPr>
            <a:picLocks xmlns:a="http://schemas.openxmlformats.org/drawingml/2006/main" noChangeAspect="1"/>
          </p:cNvPicPr>
          <p:nvPr/>
        </p:nvPicPr>
        <p:blipFill>
          <a:blip xmlns:r="http://schemas.openxmlformats.org/officeDocument/2006/relationships" xmlns:a="http://schemas.openxmlformats.org/drawingml/2006/main" r:embed="R4e3d87c7061c4411"/>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225CDA43-4D77-445D-9342-A5B4305F4A09}"/>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SDK PROMPT  |  READ ONLY</a:t>
            </a:r>
          </a:p>
        </p:txBody>
      </p:sp>
      <p:sp>
        <p:nvSpPr>
          <p:cNvPr id="19" name="">
            <a:extLst xmlns:a="http://schemas.openxmlformats.org/drawingml/2006/main">
              <a:ext uri="{FF2B5EF4-FFF2-40B4-BE49-F238E27FC236}">
                <a16:creationId xmlns:a16="http://schemas.microsoft.com/office/drawing/2014/main" id="{2A407EEA-3A13-4A9B-89E4-BDB2A3D46508}"/>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SDKへ渡す指示も、PowerPointから全文確認できます</a:t>
            </a:r>
          </a:p>
        </p:txBody>
      </p:sp>
      <p:sp>
        <p:nvSpPr>
          <p:cNvPr id="20" name="">
            <a:extLst xmlns:a="http://schemas.openxmlformats.org/drawingml/2006/main">
              <a:ext uri="{FF2B5EF4-FFF2-40B4-BE49-F238E27FC236}">
                <a16:creationId xmlns:a16="http://schemas.microsoft.com/office/drawing/2014/main" id="{BCF4B9F7-0951-4964-8319-9746A5600DEE}"/>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2B0C2D2-3FD1-4162-9F75-19C59D4D5945}"/>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SDK PROMPT</a:t>
            </a:r>
          </a:p>
        </p:txBody>
      </p:sp>
      <p:sp>
        <p:nvSpPr>
          <p:cNvPr id="22" name="">
            <a:extLst xmlns:a="http://schemas.openxmlformats.org/drawingml/2006/main">
              <a:ext uri="{FF2B5EF4-FFF2-40B4-BE49-F238E27FC236}">
                <a16:creationId xmlns:a16="http://schemas.microsoft.com/office/drawing/2014/main" id="{07DD8410-05C2-4F28-A468-C53E12A8F1F3}"/>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3" name="">
            <a:extLst xmlns:a="http://schemas.openxmlformats.org/drawingml/2006/main">
              <a:ext uri="{FF2B5EF4-FFF2-40B4-BE49-F238E27FC236}">
                <a16:creationId xmlns:a16="http://schemas.microsoft.com/office/drawing/2014/main" id="{7B40978F-CD45-4113-86F2-87EA66B91A41}"/>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4" name="">
            <a:extLst xmlns:a="http://schemas.openxmlformats.org/drawingml/2006/main">
              <a:ext uri="{FF2B5EF4-FFF2-40B4-BE49-F238E27FC236}">
                <a16:creationId xmlns:a16="http://schemas.microsoft.com/office/drawing/2014/main" id="{D240BE21-DE6B-4D85-9D92-245AD239C69C}"/>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SDK DEMO / READ ONLY</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現在の作業ディレクトリにあるAI Agent Learning Hubを、読み取り専用で監査してください。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index.html、styles.css、app.js、SITE_BRIEF.mdだけを読み、次を日本語で報告してください。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1. 製品カードの件数と製品名</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2. フィルターと比較操作の有無</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3. SYNTHETIC_DATA_ONLYの有無</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4. 画面確認で見るべき点を1つ</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ファイルの作成、変更、削除、shell command、外部通信、git操作を行わないでください。読み取れない項目は推測せず、NOT_VERIFIEDとしてください。</a:t>
            </a:r>
          </a:p>
        </p:txBody>
      </p:sp>
      <p:sp>
        <p:nvSpPr>
          <p:cNvPr id="25" name="">
            <a:extLst xmlns:a="http://schemas.openxmlformats.org/drawingml/2006/main">
              <a:ext uri="{FF2B5EF4-FFF2-40B4-BE49-F238E27FC236}">
                <a16:creationId xmlns:a16="http://schemas.microsoft.com/office/drawing/2014/main" id="{CE278D95-3775-4611-8A45-867814423B1A}"/>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docs/demo/antigravity_workshop/PROMPT_11_SDK_READONLY.txt</a:t>
            </a:r>
          </a:p>
        </p:txBody>
      </p:sp>
    </p:spTree>
    <p:extLst>
      <p:ext uri="{BB962C8B-B14F-4D97-AF65-F5344CB8AC3E}">
        <p14:creationId xmlns:p14="http://schemas.microsoft.com/office/powerpoint/2010/main" val="107929079"/>
      </p:ext>
    </p:extLst>
  </p:cSld>
</p:sld>
</file>

<file path=ppt/slides/slide3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30 / 36</a:t>
            </a:r>
          </a:p>
        </p:txBody>
      </p:sp>
      <p:sp>
        <p:nvSpPr>
          <p:cNvPr id="10" name="">
            <a:extLst xmlns:a="http://schemas.openxmlformats.org/drawingml/2006/main">
              <a:ext uri="{FF2B5EF4-FFF2-40B4-BE49-F238E27FC236}">
                <a16:creationId xmlns:a16="http://schemas.microsoft.com/office/drawing/2014/main" id="{75C36533-59D7-4BAA-84AD-A231C3D3B26F}"/>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THREE SURFACES  |  OBSERVATION</a:t>
            </a:r>
          </a:p>
        </p:txBody>
      </p:sp>
      <p:sp>
        <p:nvSpPr>
          <p:cNvPr id="11" name="">
            <a:extLst xmlns:a="http://schemas.openxmlformats.org/drawingml/2006/main">
              <a:ext uri="{FF2B5EF4-FFF2-40B4-BE49-F238E27FC236}">
                <a16:creationId xmlns:a16="http://schemas.microsoft.com/office/drawing/2014/main" id="{AB666351-1A57-42AF-A2CC-DADD2FA60207}"/>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入口ごとに、任せる仕事と確認する証拠を変えます</a:t>
            </a:r>
          </a:p>
        </p:txBody>
      </p:sp>
      <p:sp>
        <p:nvSpPr>
          <p:cNvPr id="12" name="">
            <a:extLst xmlns:a="http://schemas.openxmlformats.org/drawingml/2006/main">
              <a:ext uri="{FF2B5EF4-FFF2-40B4-BE49-F238E27FC236}">
                <a16:creationId xmlns:a16="http://schemas.microsoft.com/office/drawing/2014/main" id="{676CB91B-1D4D-4F20-B975-88FB28C3A087}"/>
              </a:ext>
            </a:extLst>
          </p:cNvPr>
          <p:cNvSpPr>
            <a:spLocks xmlns:a="http://schemas.openxmlformats.org/drawingml/2006/main" noGrp="1"/>
          </p:cNvSpPr>
          <p:nvPr/>
        </p:nvSpPr>
        <p:spPr>
          <a:xfrm xmlns:a="http://schemas.openxmlformats.org/drawingml/2006/main">
            <a:off x="647700" y="1752600"/>
            <a:ext cx="171450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5F12FA9-F561-4491-9B97-20DADA8F8656}"/>
              </a:ext>
            </a:extLst>
          </p:cNvPr>
          <p:cNvSpPr>
            <a:spLocks xmlns:a="http://schemas.openxmlformats.org/drawingml/2006/main" noGrp="1"/>
          </p:cNvSpPr>
          <p:nvPr/>
        </p:nvSpPr>
        <p:spPr>
          <a:xfrm xmlns:a="http://schemas.openxmlformats.org/drawingml/2006/main">
            <a:off x="762000" y="1847850"/>
            <a:ext cx="1485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操作面</a:t>
            </a:r>
          </a:p>
        </p:txBody>
      </p:sp>
      <p:sp>
        <p:nvSpPr>
          <p:cNvPr id="14" name="">
            <a:extLst xmlns:a="http://schemas.openxmlformats.org/drawingml/2006/main">
              <a:ext uri="{FF2B5EF4-FFF2-40B4-BE49-F238E27FC236}">
                <a16:creationId xmlns:a16="http://schemas.microsoft.com/office/drawing/2014/main" id="{5A81222D-1BFC-4575-9F22-78BDE2402D87}"/>
              </a:ext>
            </a:extLst>
          </p:cNvPr>
          <p:cNvSpPr>
            <a:spLocks xmlns:a="http://schemas.openxmlformats.org/drawingml/2006/main" noGrp="1"/>
          </p:cNvSpPr>
          <p:nvPr/>
        </p:nvSpPr>
        <p:spPr>
          <a:xfrm xmlns:a="http://schemas.openxmlformats.org/drawingml/2006/main">
            <a:off x="2362200" y="1752600"/>
            <a:ext cx="32956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9A031658-25DF-4A5F-9DFC-7D472564E6C3}"/>
              </a:ext>
            </a:extLst>
          </p:cNvPr>
          <p:cNvSpPr>
            <a:spLocks xmlns:a="http://schemas.openxmlformats.org/drawingml/2006/main" noGrp="1"/>
          </p:cNvSpPr>
          <p:nvPr/>
        </p:nvSpPr>
        <p:spPr>
          <a:xfrm xmlns:a="http://schemas.openxmlformats.org/drawingml/2006/main">
            <a:off x="2476500" y="1847850"/>
            <a:ext cx="30670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観客が見るもの</a:t>
            </a:r>
          </a:p>
        </p:txBody>
      </p:sp>
      <p:sp>
        <p:nvSpPr>
          <p:cNvPr id="16" name="">
            <a:extLst xmlns:a="http://schemas.openxmlformats.org/drawingml/2006/main">
              <a:ext uri="{FF2B5EF4-FFF2-40B4-BE49-F238E27FC236}">
                <a16:creationId xmlns:a16="http://schemas.microsoft.com/office/drawing/2014/main" id="{4C2224CA-28AD-4E2A-B146-40EDA219371E}"/>
              </a:ext>
            </a:extLst>
          </p:cNvPr>
          <p:cNvSpPr>
            <a:spLocks xmlns:a="http://schemas.openxmlformats.org/drawingml/2006/main" noGrp="1"/>
          </p:cNvSpPr>
          <p:nvPr/>
        </p:nvSpPr>
        <p:spPr>
          <a:xfrm xmlns:a="http://schemas.openxmlformats.org/drawingml/2006/main">
            <a:off x="5657850" y="1752600"/>
            <a:ext cx="28384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80F7DA0-C506-49A0-8D6E-7DADC9DFC810}"/>
              </a:ext>
            </a:extLst>
          </p:cNvPr>
          <p:cNvSpPr>
            <a:spLocks xmlns:a="http://schemas.openxmlformats.org/drawingml/2006/main" noGrp="1"/>
          </p:cNvSpPr>
          <p:nvPr/>
        </p:nvSpPr>
        <p:spPr>
          <a:xfrm xmlns:a="http://schemas.openxmlformats.org/drawingml/2006/main">
            <a:off x="5772150" y="1847850"/>
            <a:ext cx="26098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任せる仕事</a:t>
            </a:r>
          </a:p>
        </p:txBody>
      </p:sp>
      <p:sp>
        <p:nvSpPr>
          <p:cNvPr id="18" name="">
            <a:extLst xmlns:a="http://schemas.openxmlformats.org/drawingml/2006/main">
              <a:ext uri="{FF2B5EF4-FFF2-40B4-BE49-F238E27FC236}">
                <a16:creationId xmlns:a16="http://schemas.microsoft.com/office/drawing/2014/main" id="{EAFF4741-90A0-4C91-96AF-1E8E6718FAD3}"/>
              </a:ext>
            </a:extLst>
          </p:cNvPr>
          <p:cNvSpPr>
            <a:spLocks xmlns:a="http://schemas.openxmlformats.org/drawingml/2006/main" noGrp="1"/>
          </p:cNvSpPr>
          <p:nvPr/>
        </p:nvSpPr>
        <p:spPr>
          <a:xfrm xmlns:a="http://schemas.openxmlformats.org/drawingml/2006/main">
            <a:off x="8496300" y="1752600"/>
            <a:ext cx="304800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63AA724-0903-4A64-836D-BEB788ED690C}"/>
              </a:ext>
            </a:extLst>
          </p:cNvPr>
          <p:cNvSpPr>
            <a:spLocks xmlns:a="http://schemas.openxmlformats.org/drawingml/2006/main" noGrp="1"/>
          </p:cNvSpPr>
          <p:nvPr/>
        </p:nvSpPr>
        <p:spPr>
          <a:xfrm xmlns:a="http://schemas.openxmlformats.org/drawingml/2006/main">
            <a:off x="8610600" y="1847850"/>
            <a:ext cx="2819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成功の証拠</a:t>
            </a:r>
          </a:p>
        </p:txBody>
      </p:sp>
      <p:sp>
        <p:nvSpPr>
          <p:cNvPr id="20" name="">
            <a:extLst xmlns:a="http://schemas.openxmlformats.org/drawingml/2006/main">
              <a:ext uri="{FF2B5EF4-FFF2-40B4-BE49-F238E27FC236}">
                <a16:creationId xmlns:a16="http://schemas.microsoft.com/office/drawing/2014/main" id="{7D44CC49-7AF7-4251-8DB4-83C56F57C743}"/>
              </a:ext>
            </a:extLst>
          </p:cNvPr>
          <p:cNvSpPr>
            <a:spLocks xmlns:a="http://schemas.openxmlformats.org/drawingml/2006/main" noGrp="1"/>
          </p:cNvSpPr>
          <p:nvPr/>
        </p:nvSpPr>
        <p:spPr>
          <a:xfrm xmlns:a="http://schemas.openxmlformats.org/drawingml/2006/main">
            <a:off x="647700" y="2171700"/>
            <a:ext cx="1714500" cy="10096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1" name="">
            <a:extLst xmlns:a="http://schemas.openxmlformats.org/drawingml/2006/main">
              <a:ext uri="{FF2B5EF4-FFF2-40B4-BE49-F238E27FC236}">
                <a16:creationId xmlns:a16="http://schemas.microsoft.com/office/drawing/2014/main" id="{9DCFFD8F-15AE-4D67-8AE0-B0BD1F01AE8E}"/>
              </a:ext>
            </a:extLst>
          </p:cNvPr>
          <p:cNvSpPr>
            <a:spLocks xmlns:a="http://schemas.openxmlformats.org/drawingml/2006/main" noGrp="1"/>
          </p:cNvSpPr>
          <p:nvPr/>
        </p:nvSpPr>
        <p:spPr>
          <a:xfrm xmlns:a="http://schemas.openxmlformats.org/drawingml/2006/main">
            <a:off x="742950" y="2286000"/>
            <a:ext cx="1524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IDE</a:t>
            </a:r>
          </a:p>
        </p:txBody>
      </p:sp>
      <p:sp>
        <p:nvSpPr>
          <p:cNvPr id="22" name="">
            <a:extLst xmlns:a="http://schemas.openxmlformats.org/drawingml/2006/main">
              <a:ext uri="{FF2B5EF4-FFF2-40B4-BE49-F238E27FC236}">
                <a16:creationId xmlns:a16="http://schemas.microsoft.com/office/drawing/2014/main" id="{734E02FE-C475-43D7-82BB-E103845EB99E}"/>
              </a:ext>
            </a:extLst>
          </p:cNvPr>
          <p:cNvSpPr>
            <a:spLocks xmlns:a="http://schemas.openxmlformats.org/drawingml/2006/main" noGrp="1"/>
          </p:cNvSpPr>
          <p:nvPr/>
        </p:nvSpPr>
        <p:spPr>
          <a:xfrm xmlns:a="http://schemas.openxmlformats.org/drawingml/2006/main">
            <a:off x="2362200" y="2171700"/>
            <a:ext cx="3295650" cy="10096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3" name="">
            <a:extLst xmlns:a="http://schemas.openxmlformats.org/drawingml/2006/main">
              <a:ext uri="{FF2B5EF4-FFF2-40B4-BE49-F238E27FC236}">
                <a16:creationId xmlns:a16="http://schemas.microsoft.com/office/drawing/2014/main" id="{FF374342-5150-4B01-AE86-F224C762C6E5}"/>
              </a:ext>
            </a:extLst>
          </p:cNvPr>
          <p:cNvSpPr>
            <a:spLocks xmlns:a="http://schemas.openxmlformats.org/drawingml/2006/main" noGrp="1"/>
          </p:cNvSpPr>
          <p:nvPr/>
        </p:nvSpPr>
        <p:spPr>
          <a:xfrm xmlns:a="http://schemas.openxmlformats.org/drawingml/2006/main">
            <a:off x="2457450" y="2286000"/>
            <a:ext cx="31051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会話 / 計画 / Editor / Browser</a:t>
            </a:r>
          </a:p>
        </p:txBody>
      </p:sp>
      <p:sp>
        <p:nvSpPr>
          <p:cNvPr id="24" name="">
            <a:extLst xmlns:a="http://schemas.openxmlformats.org/drawingml/2006/main">
              <a:ext uri="{FF2B5EF4-FFF2-40B4-BE49-F238E27FC236}">
                <a16:creationId xmlns:a16="http://schemas.microsoft.com/office/drawing/2014/main" id="{F6C1032C-A723-4B89-9551-04932AC040F8}"/>
              </a:ext>
            </a:extLst>
          </p:cNvPr>
          <p:cNvSpPr>
            <a:spLocks xmlns:a="http://schemas.openxmlformats.org/drawingml/2006/main" noGrp="1"/>
          </p:cNvSpPr>
          <p:nvPr/>
        </p:nvSpPr>
        <p:spPr>
          <a:xfrm xmlns:a="http://schemas.openxmlformats.org/drawingml/2006/main">
            <a:off x="5657850" y="2171700"/>
            <a:ext cx="2838450" cy="10096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5" name="">
            <a:extLst xmlns:a="http://schemas.openxmlformats.org/drawingml/2006/main">
              <a:ext uri="{FF2B5EF4-FFF2-40B4-BE49-F238E27FC236}">
                <a16:creationId xmlns:a16="http://schemas.microsoft.com/office/drawing/2014/main" id="{998AEC27-5DC2-4204-863D-6D1881C68EB0}"/>
              </a:ext>
            </a:extLst>
          </p:cNvPr>
          <p:cNvSpPr>
            <a:spLocks xmlns:a="http://schemas.openxmlformats.org/drawingml/2006/main" noGrp="1"/>
          </p:cNvSpPr>
          <p:nvPr/>
        </p:nvSpPr>
        <p:spPr>
          <a:xfrm xmlns:a="http://schemas.openxmlformats.org/drawingml/2006/main">
            <a:off x="5753100" y="2286000"/>
            <a:ext cx="26479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サイト制作と改善</a:t>
            </a:r>
          </a:p>
        </p:txBody>
      </p:sp>
      <p:sp>
        <p:nvSpPr>
          <p:cNvPr id="26" name="">
            <a:extLst xmlns:a="http://schemas.openxmlformats.org/drawingml/2006/main">
              <a:ext uri="{FF2B5EF4-FFF2-40B4-BE49-F238E27FC236}">
                <a16:creationId xmlns:a16="http://schemas.microsoft.com/office/drawing/2014/main" id="{EEF80154-F409-4064-B66D-7D9E3FFDAB94}"/>
              </a:ext>
            </a:extLst>
          </p:cNvPr>
          <p:cNvSpPr>
            <a:spLocks xmlns:a="http://schemas.openxmlformats.org/drawingml/2006/main" noGrp="1"/>
          </p:cNvSpPr>
          <p:nvPr/>
        </p:nvSpPr>
        <p:spPr>
          <a:xfrm xmlns:a="http://schemas.openxmlformats.org/drawingml/2006/main">
            <a:off x="8496300" y="2171700"/>
            <a:ext cx="3048000" cy="10096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7" name="">
            <a:extLst xmlns:a="http://schemas.openxmlformats.org/drawingml/2006/main">
              <a:ext uri="{FF2B5EF4-FFF2-40B4-BE49-F238E27FC236}">
                <a16:creationId xmlns:a16="http://schemas.microsoft.com/office/drawing/2014/main" id="{D48EB0DD-9619-426B-B6FC-1C4A8269F42D}"/>
              </a:ext>
            </a:extLst>
          </p:cNvPr>
          <p:cNvSpPr>
            <a:spLocks xmlns:a="http://schemas.openxmlformats.org/drawingml/2006/main" noGrp="1"/>
          </p:cNvSpPr>
          <p:nvPr/>
        </p:nvSpPr>
        <p:spPr>
          <a:xfrm xmlns:a="http://schemas.openxmlformats.org/drawingml/2006/main">
            <a:off x="8591550" y="2286000"/>
            <a:ext cx="2857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差分 + 実画面 + 2 viewport</a:t>
            </a:r>
          </a:p>
        </p:txBody>
      </p:sp>
      <p:sp>
        <p:nvSpPr>
          <p:cNvPr id="28" name="">
            <a:extLst xmlns:a="http://schemas.openxmlformats.org/drawingml/2006/main">
              <a:ext uri="{FF2B5EF4-FFF2-40B4-BE49-F238E27FC236}">
                <a16:creationId xmlns:a16="http://schemas.microsoft.com/office/drawing/2014/main" id="{4A803F01-1E2A-49A4-8157-30194BD7A54A}"/>
              </a:ext>
            </a:extLst>
          </p:cNvPr>
          <p:cNvSpPr>
            <a:spLocks xmlns:a="http://schemas.openxmlformats.org/drawingml/2006/main" noGrp="1"/>
          </p:cNvSpPr>
          <p:nvPr/>
        </p:nvSpPr>
        <p:spPr>
          <a:xfrm xmlns:a="http://schemas.openxmlformats.org/drawingml/2006/main">
            <a:off x="647700" y="3181350"/>
            <a:ext cx="1714500" cy="10096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9" name="">
            <a:extLst xmlns:a="http://schemas.openxmlformats.org/drawingml/2006/main">
              <a:ext uri="{FF2B5EF4-FFF2-40B4-BE49-F238E27FC236}">
                <a16:creationId xmlns:a16="http://schemas.microsoft.com/office/drawing/2014/main" id="{5FC7A147-B7F9-47A5-98A7-CD658CC1D498}"/>
              </a:ext>
            </a:extLst>
          </p:cNvPr>
          <p:cNvSpPr>
            <a:spLocks xmlns:a="http://schemas.openxmlformats.org/drawingml/2006/main" noGrp="1"/>
          </p:cNvSpPr>
          <p:nvPr/>
        </p:nvSpPr>
        <p:spPr>
          <a:xfrm xmlns:a="http://schemas.openxmlformats.org/drawingml/2006/main">
            <a:off x="742950" y="3295650"/>
            <a:ext cx="1524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CLI</a:t>
            </a:r>
          </a:p>
        </p:txBody>
      </p:sp>
      <p:sp>
        <p:nvSpPr>
          <p:cNvPr id="30" name="">
            <a:extLst xmlns:a="http://schemas.openxmlformats.org/drawingml/2006/main">
              <a:ext uri="{FF2B5EF4-FFF2-40B4-BE49-F238E27FC236}">
                <a16:creationId xmlns:a16="http://schemas.microsoft.com/office/drawing/2014/main" id="{9B89B3F7-7CCF-47C9-8F3F-11F5B9F0261A}"/>
              </a:ext>
            </a:extLst>
          </p:cNvPr>
          <p:cNvSpPr>
            <a:spLocks xmlns:a="http://schemas.openxmlformats.org/drawingml/2006/main" noGrp="1"/>
          </p:cNvSpPr>
          <p:nvPr/>
        </p:nvSpPr>
        <p:spPr>
          <a:xfrm xmlns:a="http://schemas.openxmlformats.org/drawingml/2006/main">
            <a:off x="2362200" y="3181350"/>
            <a:ext cx="3295650" cy="10096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1" name="">
            <a:extLst xmlns:a="http://schemas.openxmlformats.org/drawingml/2006/main">
              <a:ext uri="{FF2B5EF4-FFF2-40B4-BE49-F238E27FC236}">
                <a16:creationId xmlns:a16="http://schemas.microsoft.com/office/drawing/2014/main" id="{81DC1240-D86D-4947-B3D2-029B10016958}"/>
              </a:ext>
            </a:extLst>
          </p:cNvPr>
          <p:cNvSpPr>
            <a:spLocks xmlns:a="http://schemas.openxmlformats.org/drawingml/2006/main" noGrp="1"/>
          </p:cNvSpPr>
          <p:nvPr/>
        </p:nvSpPr>
        <p:spPr>
          <a:xfrm xmlns:a="http://schemas.openxmlformats.org/drawingml/2006/main">
            <a:off x="2457450" y="3295650"/>
            <a:ext cx="31051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TUI / tool log / 短い監査結果</a:t>
            </a:r>
          </a:p>
        </p:txBody>
      </p:sp>
      <p:sp>
        <p:nvSpPr>
          <p:cNvPr id="32" name="">
            <a:extLst xmlns:a="http://schemas.openxmlformats.org/drawingml/2006/main">
              <a:ext uri="{FF2B5EF4-FFF2-40B4-BE49-F238E27FC236}">
                <a16:creationId xmlns:a16="http://schemas.microsoft.com/office/drawing/2014/main" id="{AB529B14-AA52-4FD6-96C7-7DF8EAF1C15E}"/>
              </a:ext>
            </a:extLst>
          </p:cNvPr>
          <p:cNvSpPr>
            <a:spLocks xmlns:a="http://schemas.openxmlformats.org/drawingml/2006/main" noGrp="1"/>
          </p:cNvSpPr>
          <p:nvPr/>
        </p:nvSpPr>
        <p:spPr>
          <a:xfrm xmlns:a="http://schemas.openxmlformats.org/drawingml/2006/main">
            <a:off x="5657850" y="3181350"/>
            <a:ext cx="2838450" cy="10096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3" name="">
            <a:extLst xmlns:a="http://schemas.openxmlformats.org/drawingml/2006/main">
              <a:ext uri="{FF2B5EF4-FFF2-40B4-BE49-F238E27FC236}">
                <a16:creationId xmlns:a16="http://schemas.microsoft.com/office/drawing/2014/main" id="{78317100-568A-49E9-A88D-F7145E38F27A}"/>
              </a:ext>
            </a:extLst>
          </p:cNvPr>
          <p:cNvSpPr>
            <a:spLocks xmlns:a="http://schemas.openxmlformats.org/drawingml/2006/main" noGrp="1"/>
          </p:cNvSpPr>
          <p:nvPr/>
        </p:nvSpPr>
        <p:spPr>
          <a:xfrm xmlns:a="http://schemas.openxmlformats.org/drawingml/2006/main">
            <a:off x="5753100" y="3295650"/>
            <a:ext cx="26479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同じrepoをread-only監査</a:t>
            </a:r>
          </a:p>
        </p:txBody>
      </p:sp>
      <p:sp>
        <p:nvSpPr>
          <p:cNvPr id="34" name="">
            <a:extLst xmlns:a="http://schemas.openxmlformats.org/drawingml/2006/main">
              <a:ext uri="{FF2B5EF4-FFF2-40B4-BE49-F238E27FC236}">
                <a16:creationId xmlns:a16="http://schemas.microsoft.com/office/drawing/2014/main" id="{A1BB341D-1B71-4D75-8000-78C353185CC9}"/>
              </a:ext>
            </a:extLst>
          </p:cNvPr>
          <p:cNvSpPr>
            <a:spLocks xmlns:a="http://schemas.openxmlformats.org/drawingml/2006/main" noGrp="1"/>
          </p:cNvSpPr>
          <p:nvPr/>
        </p:nvSpPr>
        <p:spPr>
          <a:xfrm xmlns:a="http://schemas.openxmlformats.org/drawingml/2006/main">
            <a:off x="8496300" y="3181350"/>
            <a:ext cx="3048000" cy="10096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5" name="">
            <a:extLst xmlns:a="http://schemas.openxmlformats.org/drawingml/2006/main">
              <a:ext uri="{FF2B5EF4-FFF2-40B4-BE49-F238E27FC236}">
                <a16:creationId xmlns:a16="http://schemas.microsoft.com/office/drawing/2014/main" id="{03441B30-4F10-4E92-A53E-F8B0483B0DA8}"/>
              </a:ext>
            </a:extLst>
          </p:cNvPr>
          <p:cNvSpPr>
            <a:spLocks xmlns:a="http://schemas.openxmlformats.org/drawingml/2006/main" noGrp="1"/>
          </p:cNvSpPr>
          <p:nvPr/>
        </p:nvSpPr>
        <p:spPr>
          <a:xfrm xmlns:a="http://schemas.openxmlformats.org/drawingml/2006/main">
            <a:off x="8591550" y="3295650"/>
            <a:ext cx="2857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件数 + 操作 + safetyの4行</a:t>
            </a:r>
          </a:p>
        </p:txBody>
      </p:sp>
      <p:sp>
        <p:nvSpPr>
          <p:cNvPr id="36" name="">
            <a:extLst xmlns:a="http://schemas.openxmlformats.org/drawingml/2006/main">
              <a:ext uri="{FF2B5EF4-FFF2-40B4-BE49-F238E27FC236}">
                <a16:creationId xmlns:a16="http://schemas.microsoft.com/office/drawing/2014/main" id="{26A0F5AF-FD3A-422E-8585-9CCA024C795D}"/>
              </a:ext>
            </a:extLst>
          </p:cNvPr>
          <p:cNvSpPr>
            <a:spLocks xmlns:a="http://schemas.openxmlformats.org/drawingml/2006/main" noGrp="1"/>
          </p:cNvSpPr>
          <p:nvPr/>
        </p:nvSpPr>
        <p:spPr>
          <a:xfrm xmlns:a="http://schemas.openxmlformats.org/drawingml/2006/main">
            <a:off x="647700" y="4191000"/>
            <a:ext cx="1714500" cy="10096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7" name="">
            <a:extLst xmlns:a="http://schemas.openxmlformats.org/drawingml/2006/main">
              <a:ext uri="{FF2B5EF4-FFF2-40B4-BE49-F238E27FC236}">
                <a16:creationId xmlns:a16="http://schemas.microsoft.com/office/drawing/2014/main" id="{77650373-CC51-4157-8184-38E984FBDE4B}"/>
              </a:ext>
            </a:extLst>
          </p:cNvPr>
          <p:cNvSpPr>
            <a:spLocks xmlns:a="http://schemas.openxmlformats.org/drawingml/2006/main" noGrp="1"/>
          </p:cNvSpPr>
          <p:nvPr/>
        </p:nvSpPr>
        <p:spPr>
          <a:xfrm xmlns:a="http://schemas.openxmlformats.org/drawingml/2006/main">
            <a:off x="742950" y="4305300"/>
            <a:ext cx="1524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SDK</a:t>
            </a:r>
          </a:p>
        </p:txBody>
      </p:sp>
      <p:sp>
        <p:nvSpPr>
          <p:cNvPr id="38" name="">
            <a:extLst xmlns:a="http://schemas.openxmlformats.org/drawingml/2006/main">
              <a:ext uri="{FF2B5EF4-FFF2-40B4-BE49-F238E27FC236}">
                <a16:creationId xmlns:a16="http://schemas.microsoft.com/office/drawing/2014/main" id="{240B1273-9B7C-47FE-9381-5C63811E51A0}"/>
              </a:ext>
            </a:extLst>
          </p:cNvPr>
          <p:cNvSpPr>
            <a:spLocks xmlns:a="http://schemas.openxmlformats.org/drawingml/2006/main" noGrp="1"/>
          </p:cNvSpPr>
          <p:nvPr/>
        </p:nvSpPr>
        <p:spPr>
          <a:xfrm xmlns:a="http://schemas.openxmlformats.org/drawingml/2006/main">
            <a:off x="2362200" y="4191000"/>
            <a:ext cx="3295650" cy="10096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9" name="">
            <a:extLst xmlns:a="http://schemas.openxmlformats.org/drawingml/2006/main">
              <a:ext uri="{FF2B5EF4-FFF2-40B4-BE49-F238E27FC236}">
                <a16:creationId xmlns:a16="http://schemas.microsoft.com/office/drawing/2014/main" id="{8FE7273F-7D9E-44BF-B831-BC49203052C5}"/>
              </a:ext>
            </a:extLst>
          </p:cNvPr>
          <p:cNvSpPr>
            <a:spLocks xmlns:a="http://schemas.openxmlformats.org/drawingml/2006/main" noGrp="1"/>
          </p:cNvSpPr>
          <p:nvPr/>
        </p:nvSpPr>
        <p:spPr>
          <a:xfrm xmlns:a="http://schemas.openxmlformats.org/drawingml/2006/main">
            <a:off x="2457450" y="4305300"/>
            <a:ext cx="31051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Python / policy / stream output</a:t>
            </a:r>
          </a:p>
        </p:txBody>
      </p:sp>
      <p:sp>
        <p:nvSpPr>
          <p:cNvPr id="40" name="">
            <a:extLst xmlns:a="http://schemas.openxmlformats.org/drawingml/2006/main">
              <a:ext uri="{FF2B5EF4-FFF2-40B4-BE49-F238E27FC236}">
                <a16:creationId xmlns:a16="http://schemas.microsoft.com/office/drawing/2014/main" id="{754E8B0D-CE39-4444-B502-A1E7870690F1}"/>
              </a:ext>
            </a:extLst>
          </p:cNvPr>
          <p:cNvSpPr>
            <a:spLocks xmlns:a="http://schemas.openxmlformats.org/drawingml/2006/main" noGrp="1"/>
          </p:cNvSpPr>
          <p:nvPr/>
        </p:nvSpPr>
        <p:spPr>
          <a:xfrm xmlns:a="http://schemas.openxmlformats.org/drawingml/2006/main">
            <a:off x="5657850" y="4191000"/>
            <a:ext cx="2838450" cy="10096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1" name="">
            <a:extLst xmlns:a="http://schemas.openxmlformats.org/drawingml/2006/main">
              <a:ext uri="{FF2B5EF4-FFF2-40B4-BE49-F238E27FC236}">
                <a16:creationId xmlns:a16="http://schemas.microsoft.com/office/drawing/2014/main" id="{2FE8E8F1-6725-4BE7-80E7-EE12D664CD52}"/>
              </a:ext>
            </a:extLst>
          </p:cNvPr>
          <p:cNvSpPr>
            <a:spLocks xmlns:a="http://schemas.openxmlformats.org/drawingml/2006/main" noGrp="1"/>
          </p:cNvSpPr>
          <p:nvPr/>
        </p:nvSpPr>
        <p:spPr>
          <a:xfrm xmlns:a="http://schemas.openxmlformats.org/drawingml/2006/main">
            <a:off x="5753100" y="4305300"/>
            <a:ext cx="26479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監査を繰り返せる形へ</a:t>
            </a:r>
          </a:p>
        </p:txBody>
      </p:sp>
      <p:sp>
        <p:nvSpPr>
          <p:cNvPr id="42" name="">
            <a:extLst xmlns:a="http://schemas.openxmlformats.org/drawingml/2006/main">
              <a:ext uri="{FF2B5EF4-FFF2-40B4-BE49-F238E27FC236}">
                <a16:creationId xmlns:a16="http://schemas.microsoft.com/office/drawing/2014/main" id="{9173CEC8-AEC6-4F08-B266-E3542390810E}"/>
              </a:ext>
            </a:extLst>
          </p:cNvPr>
          <p:cNvSpPr>
            <a:spLocks xmlns:a="http://schemas.openxmlformats.org/drawingml/2006/main" noGrp="1"/>
          </p:cNvSpPr>
          <p:nvPr/>
        </p:nvSpPr>
        <p:spPr>
          <a:xfrm xmlns:a="http://schemas.openxmlformats.org/drawingml/2006/main">
            <a:off x="8496300" y="4191000"/>
            <a:ext cx="3048000" cy="10096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3" name="">
            <a:extLst xmlns:a="http://schemas.openxmlformats.org/drawingml/2006/main">
              <a:ext uri="{FF2B5EF4-FFF2-40B4-BE49-F238E27FC236}">
                <a16:creationId xmlns:a16="http://schemas.microsoft.com/office/drawing/2014/main" id="{ACFCC704-1F41-4329-A6D4-FC2DD9E62FC9}"/>
              </a:ext>
            </a:extLst>
          </p:cNvPr>
          <p:cNvSpPr>
            <a:spLocks xmlns:a="http://schemas.openxmlformats.org/drawingml/2006/main" noGrp="1"/>
          </p:cNvSpPr>
          <p:nvPr/>
        </p:nvSpPr>
        <p:spPr>
          <a:xfrm xmlns:a="http://schemas.openxmlformats.org/drawingml/2006/main">
            <a:off x="8591550" y="4305300"/>
            <a:ext cx="2857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read-only policy + stream結果</a:t>
            </a:r>
          </a:p>
        </p:txBody>
      </p:sp>
      <p:sp>
        <p:nvSpPr>
          <p:cNvPr id="44" name="">
            <a:extLst xmlns:a="http://schemas.openxmlformats.org/drawingml/2006/main">
              <a:ext uri="{FF2B5EF4-FFF2-40B4-BE49-F238E27FC236}">
                <a16:creationId xmlns:a16="http://schemas.microsoft.com/office/drawing/2014/main" id="{F77CB4B0-536F-4D46-B54B-8362BD207868}"/>
              </a:ext>
            </a:extLst>
          </p:cNvPr>
          <p:cNvSpPr>
            <a:spLocks xmlns:a="http://schemas.openxmlformats.org/drawingml/2006/main" noGrp="1"/>
          </p:cNvSpPr>
          <p:nvPr/>
        </p:nvSpPr>
        <p:spPr>
          <a:xfrm xmlns:a="http://schemas.openxmlformats.org/drawingml/2006/main">
            <a:off x="1809750" y="5200650"/>
            <a:ext cx="8572500" cy="514350"/>
          </a:xfrm>
          <a:prstGeom xmlns:a="http://schemas.openxmlformats.org/drawingml/2006/main" prst="roundRect">
            <a:avLst>
              <a:gd name="adj" fmla="val 14815"/>
            </a:avLst>
          </a:prstGeom>
          <a:solidFill xmlns:a="http://schemas.openxmlformats.org/drawingml/2006/main">
            <a:srgbClr val="071A2B"/>
          </a:solidFill>
          <a:ln xmlns:a="http://schemas.openxmlformats.org/drawingml/2006/main" w="0">
            <a:noFill/>
            <a:prstDash val="solid"/>
          </a:ln>
        </p:spPr>
      </p:sp>
      <p:sp>
        <p:nvSpPr>
          <p:cNvPr id="45" name="">
            <a:extLst xmlns:a="http://schemas.openxmlformats.org/drawingml/2006/main">
              <a:ext uri="{FF2B5EF4-FFF2-40B4-BE49-F238E27FC236}">
                <a16:creationId xmlns:a16="http://schemas.microsoft.com/office/drawing/2014/main" id="{8D615690-241E-42F5-B619-E31AAB0A5451}"/>
              </a:ext>
            </a:extLst>
          </p:cNvPr>
          <p:cNvSpPr>
            <a:spLocks xmlns:a="http://schemas.openxmlformats.org/drawingml/2006/main" noGrp="1"/>
          </p:cNvSpPr>
          <p:nvPr/>
        </p:nvSpPr>
        <p:spPr>
          <a:xfrm xmlns:a="http://schemas.openxmlformats.org/drawingml/2006/main">
            <a:off x="2152650" y="5334000"/>
            <a:ext cx="7886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a:solidFill>
                  <a:srgbClr val="FFFFFF"/>
                </a:solidFill>
                <a:latin typeface="Yu Gothic UI"/>
                <a:ea typeface="Yu Gothic UI"/>
                <a:cs typeface="Yu Gothic UI"/>
              </a:defRPr>
            </a:pPr>
            <a:r>
              <a:rPr sz="1500" b="1">
                <a:solidFill>
                  <a:srgbClr val="FFFFFF"/>
                </a:solidFill>
                <a:latin typeface="Yu Gothic UI"/>
                <a:ea typeface="Yu Gothic UI"/>
                <a:cs typeface="Yu Gothic UI"/>
              </a:rPr>
              <a:t>確認: IDE / CLI / SDKを、それぞれ一言で説明できますか？</a:t>
            </a:r>
          </a:p>
        </p:txBody>
      </p:sp>
    </p:spTree>
    <p:extLst>
      <p:ext uri="{BB962C8B-B14F-4D97-AF65-F5344CB8AC3E}">
        <p14:creationId xmlns:p14="http://schemas.microsoft.com/office/powerpoint/2010/main" val="101826840"/>
      </p:ext>
    </p:extLst>
  </p:cSld>
</p:sld>
</file>

<file path=ppt/slides/slide3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31 / 36</a:t>
            </a:r>
          </a:p>
        </p:txBody>
      </p:sp>
      <p:pic>
        <p:nvPicPr>
          <p:cNvPr id="34" name="Picture 16"/>
          <p:cNvPicPr>
            <a:picLocks xmlns:a="http://schemas.openxmlformats.org/drawingml/2006/main" noChangeAspect="1"/>
          </p:cNvPicPr>
          <p:nvPr/>
        </p:nvPicPr>
        <p:blipFill>
          <a:blip xmlns:r="http://schemas.openxmlformats.org/officeDocument/2006/relationships" xmlns:a="http://schemas.openxmlformats.org/drawingml/2006/main" r:embed="R8075a3803c894a98"/>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6C37724C-62C3-4066-A5F9-D5A1F04A7A35}"/>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Q&amp;A PROMPT 7  |  OFFICIAL VIDEO</a:t>
            </a:r>
          </a:p>
        </p:txBody>
      </p:sp>
      <p:sp>
        <p:nvSpPr>
          <p:cNvPr id="19" name="">
            <a:extLst xmlns:a="http://schemas.openxmlformats.org/drawingml/2006/main">
              <a:ext uri="{FF2B5EF4-FFF2-40B4-BE49-F238E27FC236}">
                <a16:creationId xmlns:a16="http://schemas.microsoft.com/office/drawing/2014/main" id="{F2903CA7-4201-4EDD-B3C2-4C851665129D}"/>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公式性を照合してから、指定動画だけを追加します</a:t>
            </a:r>
          </a:p>
        </p:txBody>
      </p:sp>
      <p:sp>
        <p:nvSpPr>
          <p:cNvPr id="20" name="">
            <a:extLst xmlns:a="http://schemas.openxmlformats.org/drawingml/2006/main">
              <a:ext uri="{FF2B5EF4-FFF2-40B4-BE49-F238E27FC236}">
                <a16:creationId xmlns:a16="http://schemas.microsoft.com/office/drawing/2014/main" id="{24CA7D90-3362-48E9-B841-491CB45C9D19}"/>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D407A41-7294-405F-82CD-917F93E1B6BB}"/>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Q&amp;A / VIDEO</a:t>
            </a:r>
          </a:p>
        </p:txBody>
      </p:sp>
      <p:sp>
        <p:nvSpPr>
          <p:cNvPr id="22" name="">
            <a:extLst xmlns:a="http://schemas.openxmlformats.org/drawingml/2006/main">
              <a:ext uri="{FF2B5EF4-FFF2-40B4-BE49-F238E27FC236}">
                <a16:creationId xmlns:a16="http://schemas.microsoft.com/office/drawing/2014/main" id="{5B7318C7-608B-4605-ACA4-A6F740C4C1C9}"/>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3" name="">
            <a:extLst xmlns:a="http://schemas.openxmlformats.org/drawingml/2006/main">
              <a:ext uri="{FF2B5EF4-FFF2-40B4-BE49-F238E27FC236}">
                <a16:creationId xmlns:a16="http://schemas.microsoft.com/office/drawing/2014/main" id="{375E820B-7FAE-484E-BECF-91A4F8FDCAD3}"/>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4" name="">
            <a:extLst xmlns:a="http://schemas.openxmlformats.org/drawingml/2006/main">
              <a:ext uri="{FF2B5EF4-FFF2-40B4-BE49-F238E27FC236}">
                <a16:creationId xmlns:a16="http://schemas.microsoft.com/office/drawing/2014/main" id="{66CB901F-80B2-4F01-BA56-CD81B14F17CD}"/>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7935"/>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7 / Q&amp;A用: 公式動画を出典確認して追加する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/browser</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AI Agent Learning HubのAntigravityカード付近に、次の動画をサイト内で再生できる導線を追加してください。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URL: https://www.youtube.com/watch?v=SVCBA-pBgt0</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動画ID: SVCBA-pBgt0</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実装前にYouTube oEmbedまたは動画ページで、titleが「Welcome to Google Antigravity」、author_nameが「Google Antigravity」、author_urlが`https://www.youtube.com/@googleantigravity`であることを確認してください。1項目でも確認できなければ「公式」と表示せず、ファイルを変更しないで停止してください。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確認できた場合だけ、privacy-enhanced modeの`https://www.youtube-nocookie.com/embed/SVCBA-pBgt0`を使い、Antigravityカードの近くに「Google Antigravity公式紹介動画」として追加してください。モーダルを使う場合は、閉じるボタン、Escape、背景クリック、focus復帰、YouTubeで開くリンクに対応してください。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5製品を増やさず、料金、クォータ、他製品の動画、外部フォント、診断、検索、エクスポート、テーマ切替を追加しないでください。commitとpushは実行しないでください。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1440x900と390x844で、動画導線、モーダル、キーボード操作、横スクロール、既存の絞り込みと2製品比較を確認し、「出典確認／変更ファイル／ブラウザ確認」を3行で報告してください。</a:t>
            </a:r>
          </a:p>
        </p:txBody>
      </p:sp>
      <p:sp>
        <p:nvSpPr>
          <p:cNvPr id="25" name="">
            <a:extLst xmlns:a="http://schemas.openxmlformats.org/drawingml/2006/main">
              <a:ext uri="{FF2B5EF4-FFF2-40B4-BE49-F238E27FC236}">
                <a16:creationId xmlns:a16="http://schemas.microsoft.com/office/drawing/2014/main" id="{A9A07C5A-8C4A-4A68-B340-501A9BDBFFA7}"/>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docs/demo/antigravity_workshop/PROMPT_07_OFFICIAL_VIDEO.txt</a:t>
            </a:r>
          </a:p>
        </p:txBody>
      </p:sp>
    </p:spTree>
    <p:extLst>
      <p:ext uri="{BB962C8B-B14F-4D97-AF65-F5344CB8AC3E}">
        <p14:creationId xmlns:p14="http://schemas.microsoft.com/office/powerpoint/2010/main" val="107929079"/>
      </p:ext>
    </p:extLst>
  </p:cSld>
</p:sld>
</file>

<file path=ppt/slides/slide3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32 / 36</a:t>
            </a:r>
          </a:p>
        </p:txBody>
      </p:sp>
      <p:pic>
        <p:nvPicPr>
          <p:cNvPr id="34" name="Picture 16"/>
          <p:cNvPicPr>
            <a:picLocks xmlns:a="http://schemas.openxmlformats.org/drawingml/2006/main" noChangeAspect="1"/>
          </p:cNvPicPr>
          <p:nvPr/>
        </p:nvPicPr>
        <p:blipFill>
          <a:blip xmlns:r="http://schemas.openxmlformats.org/officeDocument/2006/relationships" xmlns:a="http://schemas.openxmlformats.org/drawingml/2006/main" r:embed="Rbdc47c371da54a7d"/>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B16B359D-446B-44BD-9F55-198304C37F5B}"/>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Q&amp;A PROMPT 8  |  NANO BANANA</a:t>
            </a:r>
          </a:p>
        </p:txBody>
      </p:sp>
      <p:sp>
        <p:nvSpPr>
          <p:cNvPr id="19" name="">
            <a:extLst xmlns:a="http://schemas.openxmlformats.org/drawingml/2006/main">
              <a:ext uri="{FF2B5EF4-FFF2-40B4-BE49-F238E27FC236}">
                <a16:creationId xmlns:a16="http://schemas.microsoft.com/office/drawing/2014/main" id="{B6D0FAF0-1918-4C4A-A25D-0D261B12DC93}"/>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Nano Bananaは模擬UIではなく、実画像を1枚作って見せます</a:t>
            </a:r>
          </a:p>
        </p:txBody>
      </p:sp>
      <p:sp>
        <p:nvSpPr>
          <p:cNvPr id="20" name="">
            <a:extLst xmlns:a="http://schemas.openxmlformats.org/drawingml/2006/main">
              <a:ext uri="{FF2B5EF4-FFF2-40B4-BE49-F238E27FC236}">
                <a16:creationId xmlns:a16="http://schemas.microsoft.com/office/drawing/2014/main" id="{DA4A45F5-8A15-4279-8A17-C2299967481F}"/>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1610D7D-8014-45A9-A05B-4C9DF5C44BB4}"/>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Q&amp;A / IMAGE</a:t>
            </a:r>
          </a:p>
        </p:txBody>
      </p:sp>
      <p:sp>
        <p:nvSpPr>
          <p:cNvPr id="22" name="">
            <a:extLst xmlns:a="http://schemas.openxmlformats.org/drawingml/2006/main">
              <a:ext uri="{FF2B5EF4-FFF2-40B4-BE49-F238E27FC236}">
                <a16:creationId xmlns:a16="http://schemas.microsoft.com/office/drawing/2014/main" id="{D945D2D2-76EE-499B-A8AF-90D1A8C59E5E}"/>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3" name="">
            <a:extLst xmlns:a="http://schemas.openxmlformats.org/drawingml/2006/main">
              <a:ext uri="{FF2B5EF4-FFF2-40B4-BE49-F238E27FC236}">
                <a16:creationId xmlns:a16="http://schemas.microsoft.com/office/drawing/2014/main" id="{2C092C1F-8E6C-4ABF-938B-0782BAF1AACC}"/>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4" name="">
            <a:extLst xmlns:a="http://schemas.openxmlformats.org/drawingml/2006/main">
              <a:ext uri="{FF2B5EF4-FFF2-40B4-BE49-F238E27FC236}">
                <a16:creationId xmlns:a16="http://schemas.microsoft.com/office/drawing/2014/main" id="{2BD757C4-D7CA-469F-A609-638A8B45AC4D}"/>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2999"/>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8 / Q&amp;A用: Nano Bananaで実画像を作って差し替える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/frontend-design</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Antigravityのgenerative image toolを使い、AI Agent Learning Hubのヒーロー用画像を1枚だけ生成してください。Antigravity公式Modelsページで、画像生成ToolがNano Banana 2を使用することを確認してから実行してください。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画像要件:</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- 1600x900の横長ラスター画像</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日本の社内研修で、非エンジニアと開発者がAIエージェントの画面を一緒に確認している実写調</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画面内に読める文字、製品ロゴ、人物名、顧客情報を入れない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既存の明るい業務向け配色と本文の可読性を損なわない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assets/agent-workflow-hero.pngへ保存し、適切な日本語altを付ける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重要: CSSの色切替やプリセットボタンを「Nano Banana」と呼ばないでください。Nano Bananaシミュレーター、テーマ切替、別製品、料金、クォータを追加しないでください。画像生成Toolが使えない場合は既存画像を維持し、模擬実装をせず「SKIPPED」と報告してください。commitとpushは実行しないで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/browserで1440x900と390x844を確認し、「使用したTool／生成画像／ブラウザ確認」を3行で報告してください。</a:t>
            </a:r>
          </a:p>
        </p:txBody>
      </p:sp>
      <p:sp>
        <p:nvSpPr>
          <p:cNvPr id="25" name="">
            <a:extLst xmlns:a="http://schemas.openxmlformats.org/drawingml/2006/main">
              <a:ext uri="{FF2B5EF4-FFF2-40B4-BE49-F238E27FC236}">
                <a16:creationId xmlns:a16="http://schemas.microsoft.com/office/drawing/2014/main" id="{0BC76A15-689A-45CD-829B-299C8EE2CB8D}"/>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docs/demo/antigravity_workshop/PROMPT_08_NANO_BANANA.txt</a:t>
            </a:r>
          </a:p>
        </p:txBody>
      </p:sp>
    </p:spTree>
    <p:extLst>
      <p:ext uri="{BB962C8B-B14F-4D97-AF65-F5344CB8AC3E}">
        <p14:creationId xmlns:p14="http://schemas.microsoft.com/office/powerpoint/2010/main" val="107929079"/>
      </p:ext>
    </p:extLst>
  </p:cSld>
</p:sld>
</file>

<file path=ppt/slides/slide3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33 / 36</a:t>
            </a:r>
          </a:p>
        </p:txBody>
      </p:sp>
      <p:pic>
        <p:nvPicPr>
          <p:cNvPr id="34" name="Picture 16"/>
          <p:cNvPicPr>
            <a:picLocks xmlns:a="http://schemas.openxmlformats.org/drawingml/2006/main" noChangeAspect="1"/>
          </p:cNvPicPr>
          <p:nvPr/>
        </p:nvPicPr>
        <p:blipFill>
          <a:blip xmlns:r="http://schemas.openxmlformats.org/officeDocument/2006/relationships" xmlns:a="http://schemas.openxmlformats.org/drawingml/2006/main" r:embed="Rdbdbe90ab15a488b"/>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3CCC8B27-4E85-43BF-BB29-BEC0BB06A93E}"/>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Q&amp;A PROMPT 9  |  VISUAL FEEDBACK</a:t>
            </a:r>
          </a:p>
        </p:txBody>
      </p:sp>
      <p:sp>
        <p:nvSpPr>
          <p:cNvPr id="19" name="">
            <a:extLst xmlns:a="http://schemas.openxmlformats.org/drawingml/2006/main">
              <a:ext uri="{FF2B5EF4-FFF2-40B4-BE49-F238E27FC236}">
                <a16:creationId xmlns:a16="http://schemas.microsoft.com/office/drawing/2014/main" id="{33B0BF4C-1052-4243-B007-B7B667E7E523}"/>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025" b="1">
                <a:solidFill>
                  <a:srgbClr val="17242B"/>
                </a:solidFill>
                <a:latin typeface="Yu Gothic UI"/>
                <a:ea typeface="Yu Gothic UI"/>
                <a:cs typeface="Yu Gothic UI"/>
              </a:defRPr>
            </a:pPr>
            <a:r>
              <a:rPr sz="2025" b="1">
                <a:solidFill>
                  <a:srgbClr val="17242B"/>
                </a:solidFill>
                <a:latin typeface="Yu Gothic UI"/>
                <a:ea typeface="Yu Gothic UI"/>
                <a:cs typeface="Yu Gothic UI"/>
              </a:rPr>
              <a:t>Screenshot Artifactの位置へコメントし、重なりだけを直します</a:t>
            </a:r>
          </a:p>
        </p:txBody>
      </p:sp>
      <p:sp>
        <p:nvSpPr>
          <p:cNvPr id="20" name="">
            <a:extLst xmlns:a="http://schemas.openxmlformats.org/drawingml/2006/main">
              <a:ext uri="{FF2B5EF4-FFF2-40B4-BE49-F238E27FC236}">
                <a16:creationId xmlns:a16="http://schemas.microsoft.com/office/drawing/2014/main" id="{6B9B307C-9576-4F8D-A9F5-4549390A777E}"/>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07051BE-6238-44A9-8D5B-85570CE58120}"/>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ARTIFACT COMMENT</a:t>
            </a:r>
          </a:p>
        </p:txBody>
      </p:sp>
      <p:sp>
        <p:nvSpPr>
          <p:cNvPr id="22" name="">
            <a:extLst xmlns:a="http://schemas.openxmlformats.org/drawingml/2006/main">
              <a:ext uri="{FF2B5EF4-FFF2-40B4-BE49-F238E27FC236}">
                <a16:creationId xmlns:a16="http://schemas.microsoft.com/office/drawing/2014/main" id="{DBD309BB-5F1D-4C02-8966-4E8CAA5E7D24}"/>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3" name="">
            <a:extLst xmlns:a="http://schemas.openxmlformats.org/drawingml/2006/main">
              <a:ext uri="{FF2B5EF4-FFF2-40B4-BE49-F238E27FC236}">
                <a16:creationId xmlns:a16="http://schemas.microsoft.com/office/drawing/2014/main" id="{5E03130A-3014-48E5-8CA5-9B397B10672C}"/>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4" name="">
            <a:extLst xmlns:a="http://schemas.openxmlformats.org/drawingml/2006/main">
              <a:ext uri="{FF2B5EF4-FFF2-40B4-BE49-F238E27FC236}">
                <a16:creationId xmlns:a16="http://schemas.microsoft.com/office/drawing/2014/main" id="{DDCBA505-0F65-45BF-B57C-174429407C5F}"/>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9 / Q&amp;A用: Screenshot Artifactへ位置指定コメントを残す</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/browser</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ローカルのAI Agent Learning Hubを1440x900で開き、ページ上部からVisual Feedback用のScreenshot Artifactを1枚作成してください。ファイルはまだ変更せず、Screenshot Artifactが表示されたら停止してください。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Artifactが表示されたら、比較サマリーが他の内容へ重なる位置をクリックし、次のコメント全文を貼り付けます。</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この固定比較サマリーが下のセクションを隠しています。デスクトップでは右下の非遮蔽パネル、モバイルでは通常フローへ変更し、1440x900と390x844で重なり0・横スクロール0を確認してください。ほかの機能、5製品、文言、公式動画、画像は変更しないでください。commitとpushは実行しないで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修正後は新しいScreenshot Artifactを作り、変更ファイル、重なり検証、維持した範囲を3行で報告してください。</a:t>
            </a:r>
          </a:p>
        </p:txBody>
      </p:sp>
      <p:sp>
        <p:nvSpPr>
          <p:cNvPr id="25" name="">
            <a:extLst xmlns:a="http://schemas.openxmlformats.org/drawingml/2006/main">
              <a:ext uri="{FF2B5EF4-FFF2-40B4-BE49-F238E27FC236}">
                <a16:creationId xmlns:a16="http://schemas.microsoft.com/office/drawing/2014/main" id="{C2FB2B18-19C1-4226-97ED-CADEEA4EDB78}"/>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docs/demo/antigravity_workshop/PROMPT_09_VISUAL_FEEDBACK_COMMENT.txt</a:t>
            </a:r>
          </a:p>
        </p:txBody>
      </p:sp>
    </p:spTree>
    <p:extLst>
      <p:ext uri="{BB962C8B-B14F-4D97-AF65-F5344CB8AC3E}">
        <p14:creationId xmlns:p14="http://schemas.microsoft.com/office/powerpoint/2010/main" val="107929079"/>
      </p:ext>
    </p:extLst>
  </p:cSld>
</p:sld>
</file>

<file path=ppt/slides/slide3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34 / 36</a:t>
            </a:r>
          </a:p>
        </p:txBody>
      </p:sp>
      <p:sp>
        <p:nvSpPr>
          <p:cNvPr id="10" name="">
            <a:extLst xmlns:a="http://schemas.openxmlformats.org/drawingml/2006/main">
              <a:ext uri="{FF2B5EF4-FFF2-40B4-BE49-F238E27FC236}">
                <a16:creationId xmlns:a16="http://schemas.microsoft.com/office/drawing/2014/main" id="{C452A4F3-CDB0-41BC-92B0-D2B88EEB438A}"/>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RESET  |  AFTER REHEARSAL</a:t>
            </a:r>
          </a:p>
        </p:txBody>
      </p:sp>
      <p:sp>
        <p:nvSpPr>
          <p:cNvPr id="11" name="">
            <a:extLst xmlns:a="http://schemas.openxmlformats.org/drawingml/2006/main">
              <a:ext uri="{FF2B5EF4-FFF2-40B4-BE49-F238E27FC236}">
                <a16:creationId xmlns:a16="http://schemas.microsoft.com/office/drawing/2014/main" id="{EEA52B17-7FFA-41F1-B728-CF73FAC0A305}"/>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025" b="1">
                <a:solidFill>
                  <a:srgbClr val="17242B"/>
                </a:solidFill>
                <a:latin typeface="Yu Gothic UI"/>
                <a:ea typeface="Yu Gothic UI"/>
                <a:cs typeface="Yu Gothic UI"/>
              </a:defRPr>
            </a:pPr>
            <a:r>
              <a:rPr sz="2025" b="1">
                <a:solidFill>
                  <a:srgbClr val="17242B"/>
                </a:solidFill>
                <a:latin typeface="Yu Gothic UI"/>
                <a:ea typeface="Yu Gothic UI"/>
                <a:cs typeface="Yu Gothic UI"/>
              </a:rPr>
              <a:t>Skillを削除し、履歴を残すgit revertで準備状態へ戻します</a:t>
            </a:r>
          </a:p>
        </p:txBody>
      </p:sp>
      <p:sp>
        <p:nvSpPr>
          <p:cNvPr id="12" name="">
            <a:extLst xmlns:a="http://schemas.openxmlformats.org/drawingml/2006/main">
              <a:ext uri="{FF2B5EF4-FFF2-40B4-BE49-F238E27FC236}">
                <a16:creationId xmlns:a16="http://schemas.microsoft.com/office/drawing/2014/main" id="{96B82F07-305E-4FF7-96BC-456D433E2EFA}"/>
              </a:ext>
            </a:extLst>
          </p:cNvPr>
          <p:cNvSpPr>
            <a:spLocks xmlns:a="http://schemas.openxmlformats.org/drawingml/2006/main" noGrp="1"/>
          </p:cNvSpPr>
          <p:nvPr/>
        </p:nvSpPr>
        <p:spPr>
          <a:xfrm xmlns:a="http://schemas.openxmlformats.org/drawingml/2006/main">
            <a:off x="647700" y="1657350"/>
            <a:ext cx="6667500" cy="4000500"/>
          </a:xfrm>
          <a:prstGeom xmlns:a="http://schemas.openxmlformats.org/drawingml/2006/main" prst="roundRect">
            <a:avLst>
              <a:gd name="adj" fmla="val 1905"/>
            </a:avLst>
          </a:prstGeom>
          <a:solidFill xmlns:a="http://schemas.openxmlformats.org/drawingml/2006/main">
            <a:srgbClr val="071A2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F3201F1-6419-44F5-838C-27E4507BC1EB}"/>
              </a:ext>
            </a:extLst>
          </p:cNvPr>
          <p:cNvSpPr>
            <a:spLocks xmlns:a="http://schemas.openxmlformats.org/drawingml/2006/main" noGrp="1"/>
          </p:cNvSpPr>
          <p:nvPr/>
        </p:nvSpPr>
        <p:spPr>
          <a:xfrm xmlns:a="http://schemas.openxmlformats.org/drawingml/2006/main">
            <a:off x="895350" y="1885950"/>
            <a:ext cx="23812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RUN AFTER REHEARSAL</a:t>
            </a:r>
          </a:p>
        </p:txBody>
      </p:sp>
      <p:sp>
        <p:nvSpPr>
          <p:cNvPr id="14" name="">
            <a:extLst xmlns:a="http://schemas.openxmlformats.org/drawingml/2006/main">
              <a:ext uri="{FF2B5EF4-FFF2-40B4-BE49-F238E27FC236}">
                <a16:creationId xmlns:a16="http://schemas.microsoft.com/office/drawing/2014/main" id="{5EEDB0C9-0933-457A-97AC-85590FFA8265}"/>
              </a:ext>
            </a:extLst>
          </p:cNvPr>
          <p:cNvSpPr>
            <a:spLocks xmlns:a="http://schemas.openxmlformats.org/drawingml/2006/main" noGrp="1"/>
          </p:cNvSpPr>
          <p:nvPr/>
        </p:nvSpPr>
        <p:spPr>
          <a:xfrm xmlns:a="http://schemas.openxmlformats.org/drawingml/2006/main">
            <a:off x="933450" y="2381250"/>
            <a:ext cx="6096000" cy="3028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npx skills remove frontend-design --agent antigravity -y</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$root = (Resolve-Path .agents/skills).Path</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$skill = Join-Path $root 'frontend-design'</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if (Test-Path $skill) {</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  $resolved = (Resolve-Path $skill).Path</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  if ((Split-Path $resolved -Parent) -ne $root) { throw 'stop' }</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  Remove-Item -LiteralPath $resolved -Recurse -Force</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Remove-Item .\skills-lock.json -Force -ErrorAction SilentlyContinue</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npx skills list --json</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git revert --no-commit 4fc2ec4..347ce89</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git commit -m "Restore Antigravity rehearsal baseline"</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git push origin main</a:t>
            </a:r>
          </a:p>
        </p:txBody>
      </p:sp>
      <p:sp>
        <p:nvSpPr>
          <p:cNvPr id="15" name="">
            <a:extLst xmlns:a="http://schemas.openxmlformats.org/drawingml/2006/main">
              <a:ext uri="{FF2B5EF4-FFF2-40B4-BE49-F238E27FC236}">
                <a16:creationId xmlns:a16="http://schemas.microsoft.com/office/drawing/2014/main" id="{B57DEF89-CB06-48FF-8F8A-276BF51F9D13}"/>
              </a:ext>
            </a:extLst>
          </p:cNvPr>
          <p:cNvSpPr>
            <a:spLocks xmlns:a="http://schemas.openxmlformats.org/drawingml/2006/main" noGrp="1"/>
          </p:cNvSpPr>
          <p:nvPr/>
        </p:nvSpPr>
        <p:spPr>
          <a:xfrm xmlns:a="http://schemas.openxmlformats.org/drawingml/2006/main">
            <a:off x="7620000" y="1657350"/>
            <a:ext cx="3924300" cy="4000500"/>
          </a:xfrm>
          <a:prstGeom xmlns:a="http://schemas.openxmlformats.org/drawingml/2006/main" prst="roundRect">
            <a:avLst>
              <a:gd name="adj" fmla="val 1942"/>
            </a:avLst>
          </a:prstGeom>
          <a:solidFill xmlns:a="http://schemas.openxmlformats.org/drawingml/2006/main">
            <a:srgbClr val="FFFFFF"/>
          </a:solidFill>
          <a:ln xmlns:a="http://schemas.openxmlformats.org/drawingml/2006/main" w="11430">
            <a:solidFill>
              <a:srgbClr val="C9D8E1"/>
            </a:solidFill>
            <a:prstDash val="solid"/>
          </a:ln>
        </p:spPr>
      </p:sp>
      <p:sp>
        <p:nvSpPr>
          <p:cNvPr id="16" name="">
            <a:extLst xmlns:a="http://schemas.openxmlformats.org/drawingml/2006/main">
              <a:ext uri="{FF2B5EF4-FFF2-40B4-BE49-F238E27FC236}">
                <a16:creationId xmlns:a16="http://schemas.microsoft.com/office/drawing/2014/main" id="{0034BBFA-7B6B-4489-9632-D0EDD5F546C5}"/>
              </a:ext>
            </a:extLst>
          </p:cNvPr>
          <p:cNvSpPr>
            <a:spLocks xmlns:a="http://schemas.openxmlformats.org/drawingml/2006/main" noGrp="1"/>
          </p:cNvSpPr>
          <p:nvPr/>
        </p:nvSpPr>
        <p:spPr>
          <a:xfrm xmlns:a="http://schemas.openxmlformats.org/drawingml/2006/main">
            <a:off x="7905750" y="1962150"/>
            <a:ext cx="335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復元後の4証拠</a:t>
            </a:r>
          </a:p>
        </p:txBody>
      </p:sp>
      <p:sp>
        <p:nvSpPr>
          <p:cNvPr id="17" name="">
            <a:extLst xmlns:a="http://schemas.openxmlformats.org/drawingml/2006/main">
              <a:ext uri="{FF2B5EF4-FFF2-40B4-BE49-F238E27FC236}">
                <a16:creationId xmlns:a16="http://schemas.microsoft.com/office/drawing/2014/main" id="{CFD3C474-595F-4821-884A-69AC63FBA48E}"/>
              </a:ext>
            </a:extLst>
          </p:cNvPr>
          <p:cNvSpPr>
            <a:spLocks xmlns:a="http://schemas.openxmlformats.org/drawingml/2006/main" noGrp="1"/>
          </p:cNvSpPr>
          <p:nvPr/>
        </p:nvSpPr>
        <p:spPr>
          <a:xfrm xmlns:a="http://schemas.openxmlformats.org/drawingml/2006/main">
            <a:off x="7905750" y="2705100"/>
            <a:ext cx="33528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38" b="1">
                <a:solidFill>
                  <a:srgbClr val="17242B"/>
                </a:solidFill>
                <a:latin typeface="Yu Gothic UI"/>
                <a:ea typeface="Yu Gothic UI"/>
                <a:cs typeface="Yu Gothic UI"/>
              </a:defRPr>
            </a:pPr>
            <a:r>
              <a:rPr sz="1238" b="1">
                <a:solidFill>
                  <a:srgbClr val="17242B"/>
                </a:solidFill>
                <a:latin typeface="Yu Gothic UI"/>
                <a:ea typeface="Yu Gothic UI"/>
                <a:cs typeface="Yu Gothic UI"/>
              </a:rPr>
              <a:t>1  frontend-designがない</a:t>
            </a:r>
          </a:p>
          <a:p xmlns:a="http://schemas.openxmlformats.org/drawingml/2006/main">
            <a:r>
              <a:t/>
            </a:r>
          </a:p>
          <a:p xmlns:a="http://schemas.openxmlformats.org/drawingml/2006/main">
            <a:pPr>
              <a:defRPr sz="1238" b="1">
                <a:solidFill>
                  <a:srgbClr val="17242B"/>
                </a:solidFill>
                <a:latin typeface="Yu Gothic UI"/>
                <a:ea typeface="Yu Gothic UI"/>
                <a:cs typeface="Yu Gothic UI"/>
              </a:defRPr>
            </a:pPr>
            <a:r>
              <a:rPr sz="1238" b="1">
                <a:solidFill>
                  <a:srgbClr val="17242B"/>
                </a:solidFill>
                <a:latin typeface="Yu Gothic UI"/>
                <a:ea typeface="Yu Gothic UI"/>
                <a:cs typeface="Yu Gothic UI"/>
              </a:rPr>
              <a:t>2  /grill-me と /find-skillsは残る</a:t>
            </a:r>
          </a:p>
          <a:p xmlns:a="http://schemas.openxmlformats.org/drawingml/2006/main">
            <a:r>
              <a:t/>
            </a:r>
          </a:p>
          <a:p xmlns:a="http://schemas.openxmlformats.org/drawingml/2006/main">
            <a:pPr>
              <a:defRPr sz="1238" b="1">
                <a:solidFill>
                  <a:srgbClr val="17242B"/>
                </a:solidFill>
                <a:latin typeface="Yu Gothic UI"/>
                <a:ea typeface="Yu Gothic UI"/>
                <a:cs typeface="Yu Gothic UI"/>
              </a:defRPr>
            </a:pPr>
            <a:r>
              <a:rPr sz="1238" b="1">
                <a:solidFill>
                  <a:srgbClr val="17242B"/>
                </a:solidFill>
                <a:latin typeface="Yu Gothic UI"/>
                <a:ea typeface="Yu Gothic UI"/>
                <a:cs typeface="Yu Gothic UI"/>
              </a:rPr>
              <a:t>3  11 commitsを1件のrevert commitで戻す</a:t>
            </a:r>
          </a:p>
          <a:p xmlns:a="http://schemas.openxmlformats.org/drawingml/2006/main">
            <a:r>
              <a:t/>
            </a:r>
          </a:p>
          <a:p xmlns:a="http://schemas.openxmlformats.org/drawingml/2006/main">
            <a:pPr>
              <a:defRPr sz="1238" b="1">
                <a:solidFill>
                  <a:srgbClr val="17242B"/>
                </a:solidFill>
                <a:latin typeface="Yu Gothic UI"/>
                <a:ea typeface="Yu Gothic UI"/>
                <a:cs typeface="Yu Gothic UI"/>
              </a:defRPr>
            </a:pPr>
            <a:r>
              <a:rPr sz="1238" b="1">
                <a:solidFill>
                  <a:srgbClr val="17242B"/>
                </a:solidFill>
                <a:latin typeface="Yu Gothic UI"/>
                <a:ea typeface="Yu Gothic UI"/>
                <a:cs typeface="Yu Gothic UI"/>
              </a:rPr>
              <a:t>4  公開URLが準備ページへ戻る</a:t>
            </a:r>
          </a:p>
          <a:p xmlns:a="http://schemas.openxmlformats.org/drawingml/2006/main">
            <a:r>
              <a:t/>
            </a:r>
          </a:p>
          <a:p xmlns:a="http://schemas.openxmlformats.org/drawingml/2006/main">
            <a:pPr>
              <a:defRPr sz="1238" b="1">
                <a:solidFill>
                  <a:srgbClr val="17242B"/>
                </a:solidFill>
                <a:latin typeface="Yu Gothic UI"/>
                <a:ea typeface="Yu Gothic UI"/>
                <a:cs typeface="Yu Gothic UI"/>
              </a:defRPr>
            </a:pPr>
            <a:r>
              <a:rPr sz="1238" b="1">
                <a:solidFill>
                  <a:srgbClr val="17242B"/>
                </a:solidFill>
                <a:latin typeface="Yu Gothic UI"/>
                <a:ea typeface="Yu Gothic UI"/>
                <a:cs typeface="Yu Gothic UI"/>
              </a:rPr>
              <a:t>5  git status --short が空</a:t>
            </a:r>
          </a:p>
        </p:txBody>
      </p:sp>
      <p:sp>
        <p:nvSpPr>
          <p:cNvPr id="18" name="">
            <a:extLst xmlns:a="http://schemas.openxmlformats.org/drawingml/2006/main">
              <a:ext uri="{FF2B5EF4-FFF2-40B4-BE49-F238E27FC236}">
                <a16:creationId xmlns:a16="http://schemas.microsoft.com/office/drawing/2014/main" id="{B047F595-439B-48F2-9058-967120737E43}"/>
              </a:ext>
            </a:extLst>
          </p:cNvPr>
          <p:cNvSpPr>
            <a:spLocks xmlns:a="http://schemas.openxmlformats.org/drawingml/2006/main" noGrp="1"/>
          </p:cNvSpPr>
          <p:nvPr/>
        </p:nvSpPr>
        <p:spPr>
          <a:xfrm xmlns:a="http://schemas.openxmlformats.org/drawingml/2006/main">
            <a:off x="7905750" y="5219700"/>
            <a:ext cx="3352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b="1">
                <a:solidFill>
                  <a:srgbClr val="EF7E00"/>
                </a:solidFill>
                <a:latin typeface="Yu Gothic UI"/>
                <a:ea typeface="Yu Gothic UI"/>
                <a:cs typeface="Yu Gothic UI"/>
              </a:defRPr>
            </a:pPr>
            <a:r>
              <a:rPr sz="975" b="1">
                <a:solidFill>
                  <a:srgbClr val="EF7E00"/>
                </a:solidFill>
                <a:latin typeface="Yu Gothic UI"/>
                <a:ea typeface="Yu Gothic UI"/>
                <a:cs typeface="Yu Gothic UI"/>
              </a:rPr>
              <a:t>reset --hard / force push は使わない</a:t>
            </a:r>
          </a:p>
        </p:txBody>
      </p:sp>
    </p:spTree>
    <p:extLst>
      <p:ext uri="{BB962C8B-B14F-4D97-AF65-F5344CB8AC3E}">
        <p14:creationId xmlns:p14="http://schemas.microsoft.com/office/powerpoint/2010/main" val="101826840"/>
      </p:ext>
    </p:extLst>
  </p:cSld>
</p:sld>
</file>

<file path=ppt/slides/slide3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35 / 36</a:t>
            </a:r>
          </a:p>
        </p:txBody>
      </p:sp>
      <p:sp>
        <p:nvSpPr>
          <p:cNvPr id="10" name="">
            <a:extLst xmlns:a="http://schemas.openxmlformats.org/drawingml/2006/main">
              <a:ext uri="{FF2B5EF4-FFF2-40B4-BE49-F238E27FC236}">
                <a16:creationId xmlns:a16="http://schemas.microsoft.com/office/drawing/2014/main" id="{F7B4BC6B-C4AD-485F-9FAC-405A9BFBFA93}"/>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90-SECOND RECOVERY  |  FAILBACK</a:t>
            </a:r>
          </a:p>
        </p:txBody>
      </p:sp>
      <p:sp>
        <p:nvSpPr>
          <p:cNvPr id="11" name="">
            <a:extLst xmlns:a="http://schemas.openxmlformats.org/drawingml/2006/main">
              <a:ext uri="{FF2B5EF4-FFF2-40B4-BE49-F238E27FC236}">
                <a16:creationId xmlns:a16="http://schemas.microsoft.com/office/drawing/2014/main" id="{FB23A1D6-2F0B-4ABA-94A6-88D9894C6E06}"/>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止まったら理由を短く伝え、完成済み成果物で流れを続けます</a:t>
            </a:r>
          </a:p>
        </p:txBody>
      </p:sp>
      <p:sp>
        <p:nvSpPr>
          <p:cNvPr id="12" name="">
            <a:extLst xmlns:a="http://schemas.openxmlformats.org/drawingml/2006/main">
              <a:ext uri="{FF2B5EF4-FFF2-40B4-BE49-F238E27FC236}">
                <a16:creationId xmlns:a16="http://schemas.microsoft.com/office/drawing/2014/main" id="{7D222054-0253-4B79-90F2-2B585867ADFB}"/>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3" name="">
            <a:extLst xmlns:a="http://schemas.openxmlformats.org/drawingml/2006/main">
              <a:ext uri="{FF2B5EF4-FFF2-40B4-BE49-F238E27FC236}">
                <a16:creationId xmlns:a16="http://schemas.microsoft.com/office/drawing/2014/main" id="{AF6FF2D8-783C-4220-9810-6A52A0C8F18D}"/>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90 sec</a:t>
            </a:r>
          </a:p>
        </p:txBody>
      </p:sp>
      <p:sp>
        <p:nvSpPr>
          <p:cNvPr id="14" name="">
            <a:extLst xmlns:a="http://schemas.openxmlformats.org/drawingml/2006/main">
              <a:ext uri="{FF2B5EF4-FFF2-40B4-BE49-F238E27FC236}">
                <a16:creationId xmlns:a16="http://schemas.microsoft.com/office/drawing/2014/main" id="{288F1CD0-D4EA-4778-AACA-E9D1E63186D5}"/>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01EA6204-0A5C-4446-B72B-1B961917EC50}"/>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811"/>
          </a:bodyPr>
          <a:lstStyle xmlns:a="http://schemas.openxmlformats.org/drawingml/2006/main"/>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SKILL SEARCH</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既知候補frontend-designを説明</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BUILD / BROWSER</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完成済み成果物へ</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CLI / SDK</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導入・認証せず検証済み画面へ</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MCP</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『読み取り確認は省略』</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PAGES / Q&amp;A</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実URLとcommit evidenceへ</a:t>
            </a:r>
          </a:p>
        </p:txBody>
      </p:sp>
      <p:sp>
        <p:nvSpPr>
          <p:cNvPr id="16" name="">
            <a:extLst xmlns:a="http://schemas.openxmlformats.org/drawingml/2006/main">
              <a:ext uri="{FF2B5EF4-FFF2-40B4-BE49-F238E27FC236}">
                <a16:creationId xmlns:a16="http://schemas.microsoft.com/office/drawing/2014/main" id="{792A687A-2BFB-4834-961C-23447B092744}"/>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7F606C45-E5E1-44DB-9B2D-2C55D02A4ECE}"/>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会場でやらないこと</a:t>
            </a:r>
          </a:p>
        </p:txBody>
      </p:sp>
      <p:sp>
        <p:nvSpPr>
          <p:cNvPr id="18" name="">
            <a:extLst xmlns:a="http://schemas.openxmlformats.org/drawingml/2006/main">
              <a:ext uri="{FF2B5EF4-FFF2-40B4-BE49-F238E27FC236}">
                <a16:creationId xmlns:a16="http://schemas.microsoft.com/office/drawing/2014/main" id="{E4903032-B583-4107-8C65-AA95C88EBD37}"/>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315ADC6-C539-483E-94BA-39470E694BAC}"/>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 global Skill install</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 MCPの新規認証</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 本番repo / 本番URL変更</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 secretの入力・表示</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 force push / reset --hard</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 その場の大幅な要件変更</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観客へ伝える</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『安全な境界を守ることも、AIエージェント運用の一部です』</a:t>
            </a:r>
          </a:p>
        </p:txBody>
      </p:sp>
    </p:spTree>
    <p:extLst>
      <p:ext uri="{BB962C8B-B14F-4D97-AF65-F5344CB8AC3E}">
        <p14:creationId xmlns:p14="http://schemas.microsoft.com/office/powerpoint/2010/main" val="101826840"/>
      </p:ext>
    </p:extLst>
  </p:cSld>
</p:sld>
</file>

<file path=ppt/slides/slide3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275" b="1">
                <a:solidFill>
                  <a:srgbClr val="00A5E3"/>
                </a:solidFill>
                <a:latin typeface="Yu Gothic UI"/>
                <a:ea typeface="Yu Gothic UI"/>
                <a:cs typeface="Yu Gothic UI"/>
              </a:defRPr>
            </a:pPr>
            <a:r>
              <a:rPr sz="1275" b="1">
                <a:solidFill>
                  <a:srgbClr val="00A5E3"/>
                </a:solidFill>
                <a:latin typeface="Yu Gothic UI"/>
                <a:ea typeface="Yu Gothic UI"/>
                <a:cs typeface="Yu Gothic UI"/>
              </a:rPr>
              <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14000"/>
              </a:lnSpc>
              <a:buNone/>
              <a:defRPr sz="2700" b="1">
                <a:solidFill>
                  <a:srgbClr val="17242B"/>
                </a:solidFill>
                <a:latin typeface="Yu Gothic UI"/>
                <a:ea typeface="Yu Gothic UI"/>
                <a:cs typeface="Yu Gothic UI"/>
              </a:defRPr>
            </a:pPr>
            <a:r>
              <a:rPr sz="2700" b="1">
                <a:solidFill>
                  <a:srgbClr val="17242B"/>
                </a:solidFill>
                <a:latin typeface="Yu Gothic UI"/>
                <a:ea typeface="Yu Gothic UI"/>
                <a:cs typeface="Yu Gothic UI"/>
              </a:rPr>
              <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36 / 36</a:t>
            </a:r>
          </a:p>
        </p:txBody>
      </p:sp>
      <p:sp>
        <p:nvSpPr>
          <p:cNvPr id="10" name="">
            <a:extLst xmlns:a="http://schemas.openxmlformats.org/drawingml/2006/main">
              <a:ext uri="{FF2B5EF4-FFF2-40B4-BE49-F238E27FC236}">
                <a16:creationId xmlns:a16="http://schemas.microsoft.com/office/drawing/2014/main" id="{5F8A998F-4F39-44F6-8E62-FB89ED7CCC95}"/>
              </a:ext>
            </a:extLst>
          </p:cNvPr>
          <p:cNvSpPr>
            <a:spLocks xmlns:a="http://schemas.openxmlformats.org/drawingml/2006/main" noGrp="1"/>
          </p:cNvSpPr>
          <p:nvPr/>
        </p:nvSpPr>
        <p:spPr>
          <a:xfrm xmlns:a="http://schemas.openxmlformats.org/drawingml/2006/main">
            <a:off x="876300" y="40005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OUTCOME CHECK  |  Q&amp;A</a:t>
            </a:r>
          </a:p>
        </p:txBody>
      </p:sp>
      <p:sp>
        <p:nvSpPr>
          <p:cNvPr id="11" name="">
            <a:extLst xmlns:a="http://schemas.openxmlformats.org/drawingml/2006/main">
              <a:ext uri="{FF2B5EF4-FFF2-40B4-BE49-F238E27FC236}">
                <a16:creationId xmlns:a16="http://schemas.microsoft.com/office/drawing/2014/main" id="{52875022-9CEF-477B-AE36-74D901B9A7B0}"/>
              </a:ext>
            </a:extLst>
          </p:cNvPr>
          <p:cNvSpPr>
            <a:spLocks xmlns:a="http://schemas.openxmlformats.org/drawingml/2006/main" noGrp="1"/>
          </p:cNvSpPr>
          <p:nvPr/>
        </p:nvSpPr>
        <p:spPr>
          <a:xfrm xmlns:a="http://schemas.openxmlformats.org/drawingml/2006/main">
            <a:off x="876300" y="838200"/>
            <a:ext cx="1043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最初に約束した3つを、実演の証拠で振り返ります</a:t>
            </a:r>
          </a:p>
        </p:txBody>
      </p:sp>
      <p:sp>
        <p:nvSpPr>
          <p:cNvPr id="12" name="">
            <a:extLst xmlns:a="http://schemas.openxmlformats.org/drawingml/2006/main">
              <a:ext uri="{FF2B5EF4-FFF2-40B4-BE49-F238E27FC236}">
                <a16:creationId xmlns:a16="http://schemas.microsoft.com/office/drawing/2014/main" id="{05A0A6C1-5D46-4474-82A5-3F9E44E30274}"/>
              </a:ext>
            </a:extLst>
          </p:cNvPr>
          <p:cNvSpPr>
            <a:spLocks xmlns:a="http://schemas.openxmlformats.org/drawingml/2006/main" noGrp="1"/>
          </p:cNvSpPr>
          <p:nvPr/>
        </p:nvSpPr>
        <p:spPr>
          <a:xfrm xmlns:a="http://schemas.openxmlformats.org/drawingml/2006/main">
            <a:off x="647700" y="1885950"/>
            <a:ext cx="3467100" cy="2095500"/>
          </a:xfrm>
          <a:prstGeom xmlns:a="http://schemas.openxmlformats.org/drawingml/2006/main" prst="roundRect">
            <a:avLst>
              <a:gd name="adj" fmla="val 3636"/>
            </a:avLst>
          </a:prstGeom>
          <a:noFill xmlns:a="http://schemas.openxmlformats.org/drawingml/2006/main"/>
          <a:ln xmlns:a="http://schemas.openxmlformats.org/drawingml/2006/main" w="11430">
            <a:solidFill>
              <a:srgbClr val="C9D8E1"/>
            </a:solidFill>
            <a:prstDash val="solid"/>
          </a:ln>
        </p:spPr>
      </p:sp>
      <p:sp>
        <p:nvSpPr>
          <p:cNvPr id="13" name="">
            <a:extLst xmlns:a="http://schemas.openxmlformats.org/drawingml/2006/main">
              <a:ext uri="{FF2B5EF4-FFF2-40B4-BE49-F238E27FC236}">
                <a16:creationId xmlns:a16="http://schemas.microsoft.com/office/drawing/2014/main" id="{0DC6E578-7CF1-4DE9-A55B-31B4E597F640}"/>
              </a:ext>
            </a:extLst>
          </p:cNvPr>
          <p:cNvSpPr>
            <a:spLocks xmlns:a="http://schemas.openxmlformats.org/drawingml/2006/main" noGrp="1"/>
          </p:cNvSpPr>
          <p:nvPr/>
        </p:nvSpPr>
        <p:spPr>
          <a:xfrm xmlns:a="http://schemas.openxmlformats.org/drawingml/2006/main">
            <a:off x="647700" y="1885950"/>
            <a:ext cx="3467100" cy="666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28F4D37-BEF2-4EEB-BDD5-88D0AC835EE1}"/>
              </a:ext>
            </a:extLst>
          </p:cNvPr>
          <p:cNvSpPr>
            <a:spLocks xmlns:a="http://schemas.openxmlformats.org/drawingml/2006/main" noGrp="1"/>
          </p:cNvSpPr>
          <p:nvPr/>
        </p:nvSpPr>
        <p:spPr>
          <a:xfrm xmlns:a="http://schemas.openxmlformats.org/drawingml/2006/main">
            <a:off x="876300" y="21526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01</a:t>
            </a:r>
          </a:p>
        </p:txBody>
      </p:sp>
      <p:sp>
        <p:nvSpPr>
          <p:cNvPr id="15" name="">
            <a:extLst xmlns:a="http://schemas.openxmlformats.org/drawingml/2006/main">
              <a:ext uri="{FF2B5EF4-FFF2-40B4-BE49-F238E27FC236}">
                <a16:creationId xmlns:a16="http://schemas.microsoft.com/office/drawing/2014/main" id="{CEDFD16B-E3E4-4C2E-9321-71F687DA78E5}"/>
              </a:ext>
            </a:extLst>
          </p:cNvPr>
          <p:cNvSpPr>
            <a:spLocks xmlns:a="http://schemas.openxmlformats.org/drawingml/2006/main" noGrp="1"/>
          </p:cNvSpPr>
          <p:nvPr/>
        </p:nvSpPr>
        <p:spPr>
          <a:xfrm xmlns:a="http://schemas.openxmlformats.org/drawingml/2006/main">
            <a:off x="876300" y="2686050"/>
            <a:ext cx="3009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650" b="1">
                <a:solidFill>
                  <a:srgbClr val="17242B"/>
                </a:solidFill>
                <a:latin typeface="Yu Gothic UI"/>
                <a:ea typeface="Yu Gothic UI"/>
                <a:cs typeface="Yu Gothic UI"/>
              </a:defRPr>
            </a:pPr>
            <a:r>
              <a:rPr sz="1650" b="1">
                <a:solidFill>
                  <a:srgbClr val="17242B"/>
                </a:solidFill>
                <a:latin typeface="Yu Gothic UI"/>
                <a:ea typeface="Yu Gothic UI"/>
                <a:cs typeface="Yu Gothic UI"/>
              </a:rPr>
              <a:t>説明できる</a:t>
            </a:r>
          </a:p>
        </p:txBody>
      </p:sp>
      <p:sp>
        <p:nvSpPr>
          <p:cNvPr id="16" name="">
            <a:extLst xmlns:a="http://schemas.openxmlformats.org/drawingml/2006/main">
              <a:ext uri="{FF2B5EF4-FFF2-40B4-BE49-F238E27FC236}">
                <a16:creationId xmlns:a16="http://schemas.microsoft.com/office/drawing/2014/main" id="{B859DA95-3511-4335-811C-8E5D4C1F02D5}"/>
              </a:ext>
            </a:extLst>
          </p:cNvPr>
          <p:cNvSpPr>
            <a:spLocks xmlns:a="http://schemas.openxmlformats.org/drawingml/2006/main" noGrp="1"/>
          </p:cNvSpPr>
          <p:nvPr/>
        </p:nvSpPr>
        <p:spPr>
          <a:xfrm xmlns:a="http://schemas.openxmlformats.org/drawingml/2006/main">
            <a:off x="876300" y="3238500"/>
            <a:ext cx="3009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238">
                <a:solidFill>
                  <a:srgbClr val="536978"/>
                </a:solidFill>
                <a:latin typeface="Yu Gothic UI"/>
                <a:ea typeface="Yu Gothic UI"/>
                <a:cs typeface="Yu Gothic UI"/>
              </a:defRPr>
            </a:pPr>
            <a:r>
              <a:rPr sz="1238">
                <a:solidFill>
                  <a:srgbClr val="536978"/>
                </a:solidFill>
                <a:latin typeface="Yu Gothic UI"/>
                <a:ea typeface="Yu Gothic UI"/>
                <a:cs typeface="Yu Gothic UI"/>
              </a:rPr>
              <a:t>目的 → 計画 → Tool → 証拠</a:t>
            </a:r>
          </a:p>
          <a:p xmlns:a="http://schemas.openxmlformats.org/drawingml/2006/main">
            <a:pPr>
              <a:lnSpc>
                <a:spcPct val="112000"/>
              </a:lnSpc>
              <a:buNone/>
              <a:defRPr sz="1238">
                <a:solidFill>
                  <a:srgbClr val="536978"/>
                </a:solidFill>
                <a:latin typeface="Yu Gothic UI"/>
                <a:ea typeface="Yu Gothic UI"/>
                <a:cs typeface="Yu Gothic UI"/>
              </a:defRPr>
            </a:pPr>
            <a:r>
              <a:rPr sz="1238">
                <a:solidFill>
                  <a:srgbClr val="536978"/>
                </a:solidFill>
                <a:latin typeface="Yu Gothic UI"/>
                <a:ea typeface="Yu Gothic UI"/>
                <a:cs typeface="Yu Gothic UI"/>
              </a:rPr>
              <a:t>AIが会話だけで終わらない</a:t>
            </a:r>
          </a:p>
        </p:txBody>
      </p:sp>
      <p:sp>
        <p:nvSpPr>
          <p:cNvPr id="17" name="">
            <a:extLst xmlns:a="http://schemas.openxmlformats.org/drawingml/2006/main">
              <a:ext uri="{FF2B5EF4-FFF2-40B4-BE49-F238E27FC236}">
                <a16:creationId xmlns:a16="http://schemas.microsoft.com/office/drawing/2014/main" id="{DD990191-4F9A-4A90-8EEF-95AEAF19D429}"/>
              </a:ext>
            </a:extLst>
          </p:cNvPr>
          <p:cNvSpPr>
            <a:spLocks xmlns:a="http://schemas.openxmlformats.org/drawingml/2006/main" noGrp="1"/>
          </p:cNvSpPr>
          <p:nvPr/>
        </p:nvSpPr>
        <p:spPr>
          <a:xfrm xmlns:a="http://schemas.openxmlformats.org/drawingml/2006/main">
            <a:off x="4362450" y="1885950"/>
            <a:ext cx="3467100" cy="2095500"/>
          </a:xfrm>
          <a:prstGeom xmlns:a="http://schemas.openxmlformats.org/drawingml/2006/main" prst="roundRect">
            <a:avLst>
              <a:gd name="adj" fmla="val 3636"/>
            </a:avLst>
          </a:prstGeom>
          <a:noFill xmlns:a="http://schemas.openxmlformats.org/drawingml/2006/main"/>
          <a:ln xmlns:a="http://schemas.openxmlformats.org/drawingml/2006/main" w="11430">
            <a:solidFill>
              <a:srgbClr val="C9D8E1"/>
            </a:solidFill>
            <a:prstDash val="solid"/>
          </a:ln>
        </p:spPr>
      </p:sp>
      <p:sp>
        <p:nvSpPr>
          <p:cNvPr id="18" name="">
            <a:extLst xmlns:a="http://schemas.openxmlformats.org/drawingml/2006/main">
              <a:ext uri="{FF2B5EF4-FFF2-40B4-BE49-F238E27FC236}">
                <a16:creationId xmlns:a16="http://schemas.microsoft.com/office/drawing/2014/main" id="{5577BE40-2F8D-4BBF-8EFD-A0BA27831465}"/>
              </a:ext>
            </a:extLst>
          </p:cNvPr>
          <p:cNvSpPr>
            <a:spLocks xmlns:a="http://schemas.openxmlformats.org/drawingml/2006/main" noGrp="1"/>
          </p:cNvSpPr>
          <p:nvPr/>
        </p:nvSpPr>
        <p:spPr>
          <a:xfrm xmlns:a="http://schemas.openxmlformats.org/drawingml/2006/main">
            <a:off x="4362450" y="1885950"/>
            <a:ext cx="3467100" cy="666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52FEE84-82D1-47FD-85AD-D4AB9E8DD42C}"/>
              </a:ext>
            </a:extLst>
          </p:cNvPr>
          <p:cNvSpPr>
            <a:spLocks xmlns:a="http://schemas.openxmlformats.org/drawingml/2006/main" noGrp="1"/>
          </p:cNvSpPr>
          <p:nvPr/>
        </p:nvSpPr>
        <p:spPr>
          <a:xfrm xmlns:a="http://schemas.openxmlformats.org/drawingml/2006/main">
            <a:off x="4591050" y="21526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EF7E00"/>
                </a:solidFill>
                <a:latin typeface="Yu Gothic UI"/>
                <a:ea typeface="Yu Gothic UI"/>
                <a:cs typeface="Yu Gothic UI"/>
              </a:defRPr>
            </a:pPr>
            <a:r>
              <a:rPr sz="1875" b="1">
                <a:solidFill>
                  <a:srgbClr val="EF7E00"/>
                </a:solidFill>
                <a:latin typeface="Yu Gothic UI"/>
                <a:ea typeface="Yu Gothic UI"/>
                <a:cs typeface="Yu Gothic UI"/>
              </a:rPr>
              <a:t>02</a:t>
            </a:r>
          </a:p>
        </p:txBody>
      </p:sp>
      <p:sp>
        <p:nvSpPr>
          <p:cNvPr id="20" name="">
            <a:extLst xmlns:a="http://schemas.openxmlformats.org/drawingml/2006/main">
              <a:ext uri="{FF2B5EF4-FFF2-40B4-BE49-F238E27FC236}">
                <a16:creationId xmlns:a16="http://schemas.microsoft.com/office/drawing/2014/main" id="{1640530F-6BE1-4E19-BB60-7248CF03699F}"/>
              </a:ext>
            </a:extLst>
          </p:cNvPr>
          <p:cNvSpPr>
            <a:spLocks xmlns:a="http://schemas.openxmlformats.org/drawingml/2006/main" noGrp="1"/>
          </p:cNvSpPr>
          <p:nvPr/>
        </p:nvSpPr>
        <p:spPr>
          <a:xfrm xmlns:a="http://schemas.openxmlformats.org/drawingml/2006/main">
            <a:off x="4591050" y="2686050"/>
            <a:ext cx="3009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650" b="1">
                <a:solidFill>
                  <a:srgbClr val="17242B"/>
                </a:solidFill>
                <a:latin typeface="Yu Gothic UI"/>
                <a:ea typeface="Yu Gothic UI"/>
                <a:cs typeface="Yu Gothic UI"/>
              </a:defRPr>
            </a:pPr>
            <a:r>
              <a:rPr sz="1650" b="1">
                <a:solidFill>
                  <a:srgbClr val="17242B"/>
                </a:solidFill>
                <a:latin typeface="Yu Gothic UI"/>
                <a:ea typeface="Yu Gothic UI"/>
                <a:cs typeface="Yu Gothic UI"/>
              </a:rPr>
              <a:t>使い分けられる</a:t>
            </a:r>
          </a:p>
        </p:txBody>
      </p:sp>
      <p:sp>
        <p:nvSpPr>
          <p:cNvPr id="21" name="">
            <a:extLst xmlns:a="http://schemas.openxmlformats.org/drawingml/2006/main">
              <a:ext uri="{FF2B5EF4-FFF2-40B4-BE49-F238E27FC236}">
                <a16:creationId xmlns:a16="http://schemas.microsoft.com/office/drawing/2014/main" id="{0F1EB02B-582F-460D-8852-0A1088C0CB53}"/>
              </a:ext>
            </a:extLst>
          </p:cNvPr>
          <p:cNvSpPr>
            <a:spLocks xmlns:a="http://schemas.openxmlformats.org/drawingml/2006/main" noGrp="1"/>
          </p:cNvSpPr>
          <p:nvPr/>
        </p:nvSpPr>
        <p:spPr>
          <a:xfrm xmlns:a="http://schemas.openxmlformats.org/drawingml/2006/main">
            <a:off x="4591050" y="3238500"/>
            <a:ext cx="3009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238">
                <a:solidFill>
                  <a:srgbClr val="536978"/>
                </a:solidFill>
                <a:latin typeface="Yu Gothic UI"/>
                <a:ea typeface="Yu Gothic UI"/>
                <a:cs typeface="Yu Gothic UI"/>
              </a:defRPr>
            </a:pPr>
            <a:r>
              <a:rPr sz="1238">
                <a:solidFill>
                  <a:srgbClr val="536978"/>
                </a:solidFill>
                <a:latin typeface="Yu Gothic UI"/>
                <a:ea typeface="Yu Gothic UI"/>
                <a:cs typeface="Yu Gothic UI"/>
              </a:rPr>
              <a:t>IDEで見る / CLIで確認</a:t>
            </a:r>
          </a:p>
          <a:p xmlns:a="http://schemas.openxmlformats.org/drawingml/2006/main">
            <a:pPr>
              <a:lnSpc>
                <a:spcPct val="112000"/>
              </a:lnSpc>
              <a:buNone/>
              <a:defRPr sz="1238">
                <a:solidFill>
                  <a:srgbClr val="536978"/>
                </a:solidFill>
                <a:latin typeface="Yu Gothic UI"/>
                <a:ea typeface="Yu Gothic UI"/>
                <a:cs typeface="Yu Gothic UI"/>
              </a:defRPr>
            </a:pPr>
            <a:r>
              <a:rPr sz="1238">
                <a:solidFill>
                  <a:srgbClr val="536978"/>
                </a:solidFill>
                <a:latin typeface="Yu Gothic UI"/>
                <a:ea typeface="Yu Gothic UI"/>
                <a:cs typeface="Yu Gothic UI"/>
              </a:rPr>
              <a:t>SDKで仕組みにする</a:t>
            </a:r>
          </a:p>
        </p:txBody>
      </p:sp>
      <p:sp>
        <p:nvSpPr>
          <p:cNvPr id="22" name="">
            <a:extLst xmlns:a="http://schemas.openxmlformats.org/drawingml/2006/main">
              <a:ext uri="{FF2B5EF4-FFF2-40B4-BE49-F238E27FC236}">
                <a16:creationId xmlns:a16="http://schemas.microsoft.com/office/drawing/2014/main" id="{E2D4FB0A-5C5C-43BD-BFC9-EDEA8EDB7632}"/>
              </a:ext>
            </a:extLst>
          </p:cNvPr>
          <p:cNvSpPr>
            <a:spLocks xmlns:a="http://schemas.openxmlformats.org/drawingml/2006/main" noGrp="1"/>
          </p:cNvSpPr>
          <p:nvPr/>
        </p:nvSpPr>
        <p:spPr>
          <a:xfrm xmlns:a="http://schemas.openxmlformats.org/drawingml/2006/main">
            <a:off x="8077200" y="1885950"/>
            <a:ext cx="3467100" cy="2095500"/>
          </a:xfrm>
          <a:prstGeom xmlns:a="http://schemas.openxmlformats.org/drawingml/2006/main" prst="roundRect">
            <a:avLst>
              <a:gd name="adj" fmla="val 3636"/>
            </a:avLst>
          </a:prstGeom>
          <a:noFill xmlns:a="http://schemas.openxmlformats.org/drawingml/2006/main"/>
          <a:ln xmlns:a="http://schemas.openxmlformats.org/drawingml/2006/main" w="11430">
            <a:solidFill>
              <a:srgbClr val="C9D8E1"/>
            </a:solidFill>
            <a:prstDash val="solid"/>
          </a:ln>
        </p:spPr>
      </p:sp>
      <p:sp>
        <p:nvSpPr>
          <p:cNvPr id="23" name="">
            <a:extLst xmlns:a="http://schemas.openxmlformats.org/drawingml/2006/main">
              <a:ext uri="{FF2B5EF4-FFF2-40B4-BE49-F238E27FC236}">
                <a16:creationId xmlns:a16="http://schemas.microsoft.com/office/drawing/2014/main" id="{48250E10-811D-4B8F-842F-7FF0CDB8070E}"/>
              </a:ext>
            </a:extLst>
          </p:cNvPr>
          <p:cNvSpPr>
            <a:spLocks xmlns:a="http://schemas.openxmlformats.org/drawingml/2006/main" noGrp="1"/>
          </p:cNvSpPr>
          <p:nvPr/>
        </p:nvSpPr>
        <p:spPr>
          <a:xfrm xmlns:a="http://schemas.openxmlformats.org/drawingml/2006/main">
            <a:off x="8077200" y="1885950"/>
            <a:ext cx="3467100" cy="66675"/>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694F9145-61FC-4057-A1ED-AA9F2CA26C9D}"/>
              </a:ext>
            </a:extLst>
          </p:cNvPr>
          <p:cNvSpPr>
            <a:spLocks xmlns:a="http://schemas.openxmlformats.org/drawingml/2006/main" noGrp="1"/>
          </p:cNvSpPr>
          <p:nvPr/>
        </p:nvSpPr>
        <p:spPr>
          <a:xfrm xmlns:a="http://schemas.openxmlformats.org/drawingml/2006/main">
            <a:off x="8305800" y="21526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2F9E63"/>
                </a:solidFill>
                <a:latin typeface="Yu Gothic UI"/>
                <a:ea typeface="Yu Gothic UI"/>
                <a:cs typeface="Yu Gothic UI"/>
              </a:defRPr>
            </a:pPr>
            <a:r>
              <a:rPr sz="1875" b="1">
                <a:solidFill>
                  <a:srgbClr val="2F9E63"/>
                </a:solidFill>
                <a:latin typeface="Yu Gothic UI"/>
                <a:ea typeface="Yu Gothic UI"/>
                <a:cs typeface="Yu Gothic UI"/>
              </a:rPr>
              <a:t>03</a:t>
            </a:r>
          </a:p>
        </p:txBody>
      </p:sp>
      <p:sp>
        <p:nvSpPr>
          <p:cNvPr id="25" name="">
            <a:extLst xmlns:a="http://schemas.openxmlformats.org/drawingml/2006/main">
              <a:ext uri="{FF2B5EF4-FFF2-40B4-BE49-F238E27FC236}">
                <a16:creationId xmlns:a16="http://schemas.microsoft.com/office/drawing/2014/main" id="{15BFB4E0-F008-46BC-BEDE-5B1268DC30BE}"/>
              </a:ext>
            </a:extLst>
          </p:cNvPr>
          <p:cNvSpPr>
            <a:spLocks xmlns:a="http://schemas.openxmlformats.org/drawingml/2006/main" noGrp="1"/>
          </p:cNvSpPr>
          <p:nvPr/>
        </p:nvSpPr>
        <p:spPr>
          <a:xfrm xmlns:a="http://schemas.openxmlformats.org/drawingml/2006/main">
            <a:off x="8305800" y="2686050"/>
            <a:ext cx="3009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650" b="1">
                <a:solidFill>
                  <a:srgbClr val="17242B"/>
                </a:solidFill>
                <a:latin typeface="Yu Gothic UI"/>
                <a:ea typeface="Yu Gothic UI"/>
                <a:cs typeface="Yu Gothic UI"/>
              </a:defRPr>
            </a:pPr>
            <a:r>
              <a:rPr sz="1650" b="1">
                <a:solidFill>
                  <a:srgbClr val="17242B"/>
                </a:solidFill>
                <a:latin typeface="Yu Gothic UI"/>
                <a:ea typeface="Yu Gothic UI"/>
                <a:cs typeface="Yu Gothic UI"/>
              </a:rPr>
              <a:t>安全に任せられる</a:t>
            </a:r>
          </a:p>
        </p:txBody>
      </p:sp>
      <p:sp>
        <p:nvSpPr>
          <p:cNvPr id="26" name="">
            <a:extLst xmlns:a="http://schemas.openxmlformats.org/drawingml/2006/main">
              <a:ext uri="{FF2B5EF4-FFF2-40B4-BE49-F238E27FC236}">
                <a16:creationId xmlns:a16="http://schemas.microsoft.com/office/drawing/2014/main" id="{40B91683-88B2-4ECE-A34F-E42717619580}"/>
              </a:ext>
            </a:extLst>
          </p:cNvPr>
          <p:cNvSpPr>
            <a:spLocks xmlns:a="http://schemas.openxmlformats.org/drawingml/2006/main" noGrp="1"/>
          </p:cNvSpPr>
          <p:nvPr/>
        </p:nvSpPr>
        <p:spPr>
          <a:xfrm xmlns:a="http://schemas.openxmlformats.org/drawingml/2006/main">
            <a:off x="8305800" y="3238500"/>
            <a:ext cx="3009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238">
                <a:solidFill>
                  <a:srgbClr val="536978"/>
                </a:solidFill>
                <a:latin typeface="Yu Gothic UI"/>
                <a:ea typeface="Yu Gothic UI"/>
                <a:cs typeface="Yu Gothic UI"/>
              </a:defRPr>
            </a:pPr>
            <a:r>
              <a:rPr sz="1238">
                <a:solidFill>
                  <a:srgbClr val="536978"/>
                </a:solidFill>
                <a:latin typeface="Yu Gothic UI"/>
                <a:ea typeface="Yu Gothic UI"/>
                <a:cs typeface="Yu Gothic UI"/>
              </a:rPr>
              <a:t>目的・境界・証拠・承認</a:t>
            </a:r>
          </a:p>
          <a:p xmlns:a="http://schemas.openxmlformats.org/drawingml/2006/main">
            <a:pPr>
              <a:lnSpc>
                <a:spcPct val="112000"/>
              </a:lnSpc>
              <a:buNone/>
              <a:defRPr sz="1238">
                <a:solidFill>
                  <a:srgbClr val="536978"/>
                </a:solidFill>
                <a:latin typeface="Yu Gothic UI"/>
                <a:ea typeface="Yu Gothic UI"/>
                <a:cs typeface="Yu Gothic UI"/>
              </a:defRPr>
            </a:pPr>
            <a:r>
              <a:rPr sz="1238">
                <a:solidFill>
                  <a:srgbClr val="536978"/>
                </a:solidFill>
                <a:latin typeface="Yu Gothic UI"/>
                <a:ea typeface="Yu Gothic UI"/>
                <a:cs typeface="Yu Gothic UI"/>
              </a:rPr>
              <a:t>重要判断は人が持つ</a:t>
            </a:r>
          </a:p>
        </p:txBody>
      </p:sp>
      <p:sp>
        <p:nvSpPr>
          <p:cNvPr id="27" name="">
            <a:extLst xmlns:a="http://schemas.openxmlformats.org/drawingml/2006/main">
              <a:ext uri="{FF2B5EF4-FFF2-40B4-BE49-F238E27FC236}">
                <a16:creationId xmlns:a16="http://schemas.microsoft.com/office/drawing/2014/main" id="{7DD3B4DF-2580-43A0-89A2-F86D82747F29}"/>
              </a:ext>
            </a:extLst>
          </p:cNvPr>
          <p:cNvSpPr>
            <a:spLocks xmlns:a="http://schemas.openxmlformats.org/drawingml/2006/main" noGrp="1"/>
          </p:cNvSpPr>
          <p:nvPr/>
        </p:nvSpPr>
        <p:spPr>
          <a:xfrm xmlns:a="http://schemas.openxmlformats.org/drawingml/2006/main">
            <a:off x="1466850" y="4362450"/>
            <a:ext cx="9258300" cy="1066800"/>
          </a:xfrm>
          <a:prstGeom xmlns:a="http://schemas.openxmlformats.org/drawingml/2006/main" prst="roundRect">
            <a:avLst>
              <a:gd name="adj" fmla="val 7143"/>
            </a:avLst>
          </a:prstGeom>
          <a:solidFill xmlns:a="http://schemas.openxmlformats.org/drawingml/2006/main">
            <a:srgbClr val="071A2B"/>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1795A3F1-DFD9-4EE0-A9C9-622E6186357B}"/>
              </a:ext>
            </a:extLst>
          </p:cNvPr>
          <p:cNvSpPr>
            <a:spLocks xmlns:a="http://schemas.openxmlformats.org/drawingml/2006/main" noGrp="1"/>
          </p:cNvSpPr>
          <p:nvPr/>
        </p:nvSpPr>
        <p:spPr>
          <a:xfrm xmlns:a="http://schemas.openxmlformats.org/drawingml/2006/main">
            <a:off x="1847850" y="4610100"/>
            <a:ext cx="8496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500" b="1">
                <a:solidFill>
                  <a:srgbClr val="FFFFFF"/>
                </a:solidFill>
                <a:latin typeface="Yu Gothic UI"/>
                <a:ea typeface="Yu Gothic UI"/>
                <a:cs typeface="Yu Gothic UI"/>
              </a:defRPr>
            </a:pPr>
            <a:r>
              <a:rPr sz="1500" b="1">
                <a:solidFill>
                  <a:srgbClr val="FFFFFF"/>
                </a:solidFill>
                <a:latin typeface="Yu Gothic UI"/>
                <a:ea typeface="Yu Gothic UI"/>
                <a:cs typeface="Yu Gothic UI"/>
              </a:rPr>
              <a:t>明日の10分: 架空の小さな仕事を /grill-me で問い直し、成功の証拠を1つ決める</a:t>
            </a:r>
          </a:p>
        </p:txBody>
      </p:sp>
      <p:sp>
        <p:nvSpPr>
          <p:cNvPr id="29" name="">
            <a:extLst xmlns:a="http://schemas.openxmlformats.org/drawingml/2006/main">
              <a:ext uri="{FF2B5EF4-FFF2-40B4-BE49-F238E27FC236}">
                <a16:creationId xmlns:a16="http://schemas.microsoft.com/office/drawing/2014/main" id="{74F0F1AF-82B8-425E-A143-52E84C11802B}"/>
              </a:ext>
            </a:extLst>
          </p:cNvPr>
          <p:cNvSpPr>
            <a:spLocks xmlns:a="http://schemas.openxmlformats.org/drawingml/2006/main" noGrp="1"/>
          </p:cNvSpPr>
          <p:nvPr/>
        </p:nvSpPr>
        <p:spPr>
          <a:xfrm xmlns:a="http://schemas.openxmlformats.org/drawingml/2006/main">
            <a:off x="1847850" y="5029200"/>
            <a:ext cx="849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13">
                <a:solidFill>
                  <a:srgbClr val="B9D6E4"/>
                </a:solidFill>
                <a:latin typeface="Yu Gothic UI"/>
                <a:ea typeface="Yu Gothic UI"/>
                <a:cs typeface="Yu Gothic UI"/>
              </a:defRPr>
            </a:pPr>
            <a:r>
              <a:rPr sz="1013">
                <a:solidFill>
                  <a:srgbClr val="B9D6E4"/>
                </a:solidFill>
                <a:latin typeface="Yu Gothic UI"/>
                <a:ea typeface="Yu Gothic UI"/>
                <a:cs typeface="Yu Gothic UI"/>
              </a:rPr>
              <a:t>その後は Q&amp;A。公式動画 / Nano Banana / Visual Feedbackは質問に応じて実演します。</a:t>
            </a:r>
          </a:p>
        </p:txBody>
      </p:sp>
    </p:spTree>
    <p:extLst>
      <p:ext uri="{BB962C8B-B14F-4D97-AF65-F5344CB8AC3E}">
        <p14:creationId xmlns:p14="http://schemas.microsoft.com/office/powerpoint/2010/main" val="101826840"/>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2026-08-12T17:08:04.4120000Z</dcterms:created>
  <dcterms:modified xsi:type="dcterms:W3CDTF">2026-08-12T17:08:04.4120000Z</dcterms:modified>
</coreProperties>
</file>