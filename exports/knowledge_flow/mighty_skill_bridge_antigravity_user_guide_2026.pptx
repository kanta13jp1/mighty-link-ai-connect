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c376b27e2845e0" /><Relationship Type="http://schemas.openxmlformats.org/officeDocument/2006/relationships/extended-properties" Target="/docProps/app.xml" Id="Reee98ae39c704051" /><Relationship Type="http://schemas.openxmlformats.org/officeDocument/2006/relationships/officeDocument" Target="/ppt/presentation.xml" Id="Ra9babb6c724d4684" /></Relationships>
</file>

<file path=ppt/presentation.xml><?xml version="1.0" encoding="utf-8"?>
<p:presentation xmlns:p="http://schemas.openxmlformats.org/presentationml/2006/main">
  <p:sldMasterIdLst>
    <p:sldMasterId xmlns:r="http://schemas.openxmlformats.org/officeDocument/2006/relationships" id="2147483648" r:id="R3bc8283b63464143"/>
  </p:sldMasterIdLst>
  <p:notesMasterIdLst>
    <p:notesMasterId xmlns:r="http://schemas.openxmlformats.org/officeDocument/2006/relationships" r:id="R347c6e5bfdc14ec5"/>
  </p:notesMasterIdLst>
  <p:sldIdLst>
    <p:sldId xmlns:r="http://schemas.openxmlformats.org/officeDocument/2006/relationships" id="256" r:id="Rcc2bc660d9cc42ce"/>
    <p:sldId xmlns:r="http://schemas.openxmlformats.org/officeDocument/2006/relationships" id="257" r:id="R0bb56c1e9a884d58"/>
    <p:sldId xmlns:r="http://schemas.openxmlformats.org/officeDocument/2006/relationships" id="258" r:id="R50adb46740dd435f"/>
    <p:sldId xmlns:r="http://schemas.openxmlformats.org/officeDocument/2006/relationships" id="259" r:id="R06b19c008e104f8d"/>
    <p:sldId xmlns:r="http://schemas.openxmlformats.org/officeDocument/2006/relationships" id="260" r:id="R287e0eb6edf548c9"/>
    <p:sldId xmlns:r="http://schemas.openxmlformats.org/officeDocument/2006/relationships" id="261" r:id="R2c2cccc554174fc3"/>
    <p:sldId xmlns:r="http://schemas.openxmlformats.org/officeDocument/2006/relationships" id="262" r:id="R64a24d9e3a7b4976"/>
    <p:sldId xmlns:r="http://schemas.openxmlformats.org/officeDocument/2006/relationships" id="263" r:id="Ree8c6c1fac24498f"/>
    <p:sldId xmlns:r="http://schemas.openxmlformats.org/officeDocument/2006/relationships" id="264" r:id="R5629d37172694d9f"/>
    <p:sldId xmlns:r="http://schemas.openxmlformats.org/officeDocument/2006/relationships" id="265" r:id="Rcc197139a17f4f62"/>
    <p:sldId xmlns:r="http://schemas.openxmlformats.org/officeDocument/2006/relationships" id="266" r:id="R445d05ec78af4592"/>
    <p:sldId xmlns:r="http://schemas.openxmlformats.org/officeDocument/2006/relationships" id="267" r:id="R536b0200a8c14f5e"/>
    <p:sldId xmlns:r="http://schemas.openxmlformats.org/officeDocument/2006/relationships" id="268" r:id="Rbbfebae85c1a4596"/>
    <p:sldId xmlns:r="http://schemas.openxmlformats.org/officeDocument/2006/relationships" id="269" r:id="R31f81b64dfe640db"/>
    <p:sldId xmlns:r="http://schemas.openxmlformats.org/officeDocument/2006/relationships" id="270" r:id="Re4ff532a83244da6"/>
    <p:sldId xmlns:r="http://schemas.openxmlformats.org/officeDocument/2006/relationships" id="271" r:id="R3086fe021dc3416b"/>
    <p:sldId xmlns:r="http://schemas.openxmlformats.org/officeDocument/2006/relationships" id="272" r:id="Rc9b1d2bcf4ed4888"/>
    <p:sldId xmlns:r="http://schemas.openxmlformats.org/officeDocument/2006/relationships" id="273" r:id="Rdd81ac93a801424b"/>
    <p:sldId xmlns:r="http://schemas.openxmlformats.org/officeDocument/2006/relationships" id="274" r:id="R5969b5a9a45c49b9"/>
    <p:sldId xmlns:r="http://schemas.openxmlformats.org/officeDocument/2006/relationships" id="275" r:id="Rc463edad8f3d4e10"/>
    <p:sldId xmlns:r="http://schemas.openxmlformats.org/officeDocument/2006/relationships" id="276" r:id="R76ede49969884a89"/>
    <p:sldId xmlns:r="http://schemas.openxmlformats.org/officeDocument/2006/relationships" id="277" r:id="R5170ceacf3884088"/>
    <p:sldId xmlns:r="http://schemas.openxmlformats.org/officeDocument/2006/relationships" id="278" r:id="R61bb17913e424440"/>
    <p:sldId xmlns:r="http://schemas.openxmlformats.org/officeDocument/2006/relationships" id="279" r:id="R695ab95bf5a04404"/>
    <p:sldId xmlns:r="http://schemas.openxmlformats.org/officeDocument/2006/relationships" id="280" r:id="R800838e81df44d91"/>
    <p:sldId xmlns:r="http://schemas.openxmlformats.org/officeDocument/2006/relationships" id="281" r:id="R19b9f7508838414c"/>
    <p:sldId xmlns:r="http://schemas.openxmlformats.org/officeDocument/2006/relationships" id="282" r:id="R5843cd0b887e449e"/>
    <p:sldId xmlns:r="http://schemas.openxmlformats.org/officeDocument/2006/relationships" id="283" r:id="R82884d187ae946b1"/>
    <p:sldId xmlns:r="http://schemas.openxmlformats.org/officeDocument/2006/relationships" id="284" r:id="R462434cf8ac647b1"/>
    <p:sldId xmlns:r="http://schemas.openxmlformats.org/officeDocument/2006/relationships" id="285" r:id="R13ba6421cb34448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db2a578bd944676" /><Relationship Type="http://schemas.openxmlformats.org/officeDocument/2006/relationships/slideMaster" Target="/ppt/slideMasters/slideMaster1.xml" Id="R3bc8283b63464143" /><Relationship Type="http://schemas.openxmlformats.org/officeDocument/2006/relationships/notesMaster" Target="/ppt/notesMasters/notesMaster1.xml" Id="R347c6e5bfdc14ec5" /><Relationship Type="http://schemas.openxmlformats.org/officeDocument/2006/relationships/presProps" Target="/ppt/presProps.xml" Id="R99f3a0116aaa48c1" /><Relationship Type="http://schemas.openxmlformats.org/officeDocument/2006/relationships/viewProps" Target="/ppt/viewProps.xml" Id="R6ef25005640549b6" /><Relationship Type="http://schemas.openxmlformats.org/officeDocument/2006/relationships/tableStyles" Target="/ppt/tableStyles.xml" Id="R88181fd2ce5e40e7" /><Relationship Type="http://schemas.openxmlformats.org/officeDocument/2006/relationships/slide" Target="/ppt/slides/slide1.xml" Id="Rcc2bc660d9cc42ce" /><Relationship Type="http://schemas.openxmlformats.org/officeDocument/2006/relationships/slide" Target="/ppt/slides/slide2.xml" Id="R0bb56c1e9a884d58" /><Relationship Type="http://schemas.openxmlformats.org/officeDocument/2006/relationships/slide" Target="/ppt/slides/slide3.xml" Id="R50adb46740dd435f" /><Relationship Type="http://schemas.openxmlformats.org/officeDocument/2006/relationships/slide" Target="/ppt/slides/slide4.xml" Id="R06b19c008e104f8d" /><Relationship Type="http://schemas.openxmlformats.org/officeDocument/2006/relationships/slide" Target="/ppt/slides/slide5.xml" Id="R287e0eb6edf548c9" /><Relationship Type="http://schemas.openxmlformats.org/officeDocument/2006/relationships/slide" Target="/ppt/slides/slide6.xml" Id="R2c2cccc554174fc3" /><Relationship Type="http://schemas.openxmlformats.org/officeDocument/2006/relationships/slide" Target="/ppt/slides/slide7.xml" Id="R64a24d9e3a7b4976" /><Relationship Type="http://schemas.openxmlformats.org/officeDocument/2006/relationships/slide" Target="/ppt/slides/slide8.xml" Id="Ree8c6c1fac24498f" /><Relationship Type="http://schemas.openxmlformats.org/officeDocument/2006/relationships/slide" Target="/ppt/slides/slide9.xml" Id="R5629d37172694d9f" /><Relationship Type="http://schemas.openxmlformats.org/officeDocument/2006/relationships/slide" Target="/ppt/slides/slide10.xml" Id="Rcc197139a17f4f62" /><Relationship Type="http://schemas.openxmlformats.org/officeDocument/2006/relationships/slide" Target="/ppt/slides/slide11.xml" Id="R445d05ec78af4592" /><Relationship Type="http://schemas.openxmlformats.org/officeDocument/2006/relationships/slide" Target="/ppt/slides/slide12.xml" Id="R536b0200a8c14f5e" /><Relationship Type="http://schemas.openxmlformats.org/officeDocument/2006/relationships/slide" Target="/ppt/slides/slide13.xml" Id="Rbbfebae85c1a4596" /><Relationship Type="http://schemas.openxmlformats.org/officeDocument/2006/relationships/slide" Target="/ppt/slides/slide14.xml" Id="R31f81b64dfe640db" /><Relationship Type="http://schemas.openxmlformats.org/officeDocument/2006/relationships/slide" Target="/ppt/slides/slide15.xml" Id="Re4ff532a83244da6" /><Relationship Type="http://schemas.openxmlformats.org/officeDocument/2006/relationships/slide" Target="/ppt/slides/slide16.xml" Id="R3086fe021dc3416b" /><Relationship Type="http://schemas.openxmlformats.org/officeDocument/2006/relationships/slide" Target="/ppt/slides/slide17.xml" Id="Rc9b1d2bcf4ed4888" /><Relationship Type="http://schemas.openxmlformats.org/officeDocument/2006/relationships/slide" Target="/ppt/slides/slide18.xml" Id="Rdd81ac93a801424b" /><Relationship Type="http://schemas.openxmlformats.org/officeDocument/2006/relationships/slide" Target="/ppt/slides/slide19.xml" Id="R5969b5a9a45c49b9" /><Relationship Type="http://schemas.openxmlformats.org/officeDocument/2006/relationships/slide" Target="/ppt/slides/slide20.xml" Id="Rc463edad8f3d4e10" /><Relationship Type="http://schemas.openxmlformats.org/officeDocument/2006/relationships/slide" Target="/ppt/slides/slide21.xml" Id="R76ede49969884a89" /><Relationship Type="http://schemas.openxmlformats.org/officeDocument/2006/relationships/slide" Target="/ppt/slides/slide22.xml" Id="R5170ceacf3884088" /><Relationship Type="http://schemas.openxmlformats.org/officeDocument/2006/relationships/slide" Target="/ppt/slides/slide23.xml" Id="R61bb17913e424440" /><Relationship Type="http://schemas.openxmlformats.org/officeDocument/2006/relationships/slide" Target="/ppt/slides/slide24.xml" Id="R695ab95bf5a04404" /><Relationship Type="http://schemas.openxmlformats.org/officeDocument/2006/relationships/slide" Target="/ppt/slides/slide25.xml" Id="R800838e81df44d91" /><Relationship Type="http://schemas.openxmlformats.org/officeDocument/2006/relationships/slide" Target="/ppt/slides/slide26.xml" Id="R19b9f7508838414c" /><Relationship Type="http://schemas.openxmlformats.org/officeDocument/2006/relationships/slide" Target="/ppt/slides/slide27.xml" Id="R5843cd0b887e449e" /><Relationship Type="http://schemas.openxmlformats.org/officeDocument/2006/relationships/slide" Target="/ppt/slides/slide28.xml" Id="R82884d187ae946b1" /><Relationship Type="http://schemas.openxmlformats.org/officeDocument/2006/relationships/slide" Target="/ppt/slides/slide29.xml" Id="R462434cf8ac647b1" /><Relationship Type="http://schemas.openxmlformats.org/officeDocument/2006/relationships/slide" Target="/ppt/slides/slide30.xml" Id="R13ba6421cb3444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4494608e2d45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ff0320efaf44051" /><Relationship Type="http://schemas.openxmlformats.org/officeDocument/2006/relationships/notesMaster" Target="/ppt/notesMasters/notesMaster1.xml" Id="R3ac2e82296ce4c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80a8c83b5d4523" /><Relationship Type="http://schemas.openxmlformats.org/officeDocument/2006/relationships/notesMaster" Target="/ppt/notesMasters/notesMaster1.xml" Id="R7567dcc5a8c84f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41752dc91d473a" /><Relationship Type="http://schemas.openxmlformats.org/officeDocument/2006/relationships/notesMaster" Target="/ppt/notesMasters/notesMaster1.xml" Id="R395e69816b564d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69746a05204228" /><Relationship Type="http://schemas.openxmlformats.org/officeDocument/2006/relationships/notesMaster" Target="/ppt/notesMasters/notesMaster1.xml" Id="R11cbb48b9d0645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ed8f894a3e493d" /><Relationship Type="http://schemas.openxmlformats.org/officeDocument/2006/relationships/notesMaster" Target="/ppt/notesMasters/notesMaster1.xml" Id="Rffa7ec7040a240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79d5ead7634f01" /><Relationship Type="http://schemas.openxmlformats.org/officeDocument/2006/relationships/notesMaster" Target="/ppt/notesMasters/notesMaster1.xml" Id="R08d8ed61b17e46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395fe5d5324991" /><Relationship Type="http://schemas.openxmlformats.org/officeDocument/2006/relationships/notesMaster" Target="/ppt/notesMasters/notesMaster1.xml" Id="R111d974e7de543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30da4b5ae54ff6" /><Relationship Type="http://schemas.openxmlformats.org/officeDocument/2006/relationships/notesMaster" Target="/ppt/notesMasters/notesMaster1.xml" Id="Rf1f223472d7c4f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be4848b5b943b8" /><Relationship Type="http://schemas.openxmlformats.org/officeDocument/2006/relationships/notesMaster" Target="/ppt/notesMasters/notesMaster1.xml" Id="Rb35203d4e59d4b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166a96f1644dd9" /><Relationship Type="http://schemas.openxmlformats.org/officeDocument/2006/relationships/notesMaster" Target="/ppt/notesMasters/notesMaster1.xml" Id="R7b9db70e117e45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93c746aec045a0" /><Relationship Type="http://schemas.openxmlformats.org/officeDocument/2006/relationships/notesMaster" Target="/ppt/notesMasters/notesMaster1.xml" Id="Ra12a9548f42649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7b4defa604a4162" /><Relationship Type="http://schemas.openxmlformats.org/officeDocument/2006/relationships/notesMaster" Target="/ppt/notesMasters/notesMaster1.xml" Id="R41bd7f1b317f4e6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53533006831415c" /><Relationship Type="http://schemas.openxmlformats.org/officeDocument/2006/relationships/notesMaster" Target="/ppt/notesMasters/notesMaster1.xml" Id="R522861ddd225426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cb61e452f043fe" /><Relationship Type="http://schemas.openxmlformats.org/officeDocument/2006/relationships/notesMaster" Target="/ppt/notesMasters/notesMaster1.xml" Id="R57995d0e779a41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8d9e6b1ce044aad" /><Relationship Type="http://schemas.openxmlformats.org/officeDocument/2006/relationships/notesMaster" Target="/ppt/notesMasters/notesMaster1.xml" Id="Rfe8e3537e9014d0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f625ad23d59430c" /><Relationship Type="http://schemas.openxmlformats.org/officeDocument/2006/relationships/notesMaster" Target="/ppt/notesMasters/notesMaster1.xml" Id="Rb0f61faeef6b44d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67022889aa4777" /><Relationship Type="http://schemas.openxmlformats.org/officeDocument/2006/relationships/notesMaster" Target="/ppt/notesMasters/notesMaster1.xml" Id="Rde825afd5a254b6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50327dba7ef4ba8" /><Relationship Type="http://schemas.openxmlformats.org/officeDocument/2006/relationships/notesMaster" Target="/ppt/notesMasters/notesMaster1.xml" Id="R6ba64bb9761e47e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99c007823d048e1" /><Relationship Type="http://schemas.openxmlformats.org/officeDocument/2006/relationships/notesMaster" Target="/ppt/notesMasters/notesMaster1.xml" Id="Re178a7ccd911404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7f1ce0daecd488a" /><Relationship Type="http://schemas.openxmlformats.org/officeDocument/2006/relationships/notesMaster" Target="/ppt/notesMasters/notesMaster1.xml" Id="Rfb02d60ec9f748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e6fafc54b364717" /><Relationship Type="http://schemas.openxmlformats.org/officeDocument/2006/relationships/notesMaster" Target="/ppt/notesMasters/notesMaster1.xml" Id="R250b59b8538d48e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d752e49a8b74595" /><Relationship Type="http://schemas.openxmlformats.org/officeDocument/2006/relationships/notesMaster" Target="/ppt/notesMasters/notesMaster1.xml" Id="Rce18fddb327e470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056eb77643542fe" /><Relationship Type="http://schemas.openxmlformats.org/officeDocument/2006/relationships/notesMaster" Target="/ppt/notesMasters/notesMaster1.xml" Id="Rb74711eb98f3457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3b86bb7ef6045ad" /><Relationship Type="http://schemas.openxmlformats.org/officeDocument/2006/relationships/notesMaster" Target="/ppt/notesMasters/notesMaster1.xml" Id="R87d29494829e4e1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c8943b3d06644e9" /><Relationship Type="http://schemas.openxmlformats.org/officeDocument/2006/relationships/notesMaster" Target="/ppt/notesMasters/notesMaster1.xml" Id="R94b3dae869ba47e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36856f69f3c431c" /><Relationship Type="http://schemas.openxmlformats.org/officeDocument/2006/relationships/notesMaster" Target="/ppt/notesMasters/notesMaster1.xml" Id="R7b65470c2938473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9558a50a8ce4599" /><Relationship Type="http://schemas.openxmlformats.org/officeDocument/2006/relationships/notesMaster" Target="/ppt/notesMasters/notesMaster1.xml" Id="Ra5cb08a78bca420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df7aeb85d584a79" /><Relationship Type="http://schemas.openxmlformats.org/officeDocument/2006/relationships/notesMaster" Target="/ppt/notesMasters/notesMaster1.xml" Id="Rbf429bb2541f45a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3750cb8cfb4595" /><Relationship Type="http://schemas.openxmlformats.org/officeDocument/2006/relationships/notesMaster" Target="/ppt/notesMasters/notesMaster1.xml" Id="R080d90efafcc400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b05ebfd4cda4d55" /><Relationship Type="http://schemas.openxmlformats.org/officeDocument/2006/relationships/notesMaster" Target="/ppt/notesMasters/notesMaster1.xml" Id="R8aedd1d6904943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ゴールはサイトの内容を教えることではなく、AIエージェントに要件整理から公開まで任せる流れを理解してもらうこと。</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学習サイトは短時間でも完成度の高い成果物を作れることを示すための題材。</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ライブ操作は価格と準備負荷を抑えるためAntigravityだけを使う。比較は製品選定の優劣ではなく用途理解のため。</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https://claude.com/product/cowork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公式ドキュメントに基づく代表的な使い分け。料金や網羅的機能比較ではない。</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https://support.claude.com/en/articles/13345190-get-started-with-claude-cowork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同名の機能でも保存場所、権限、呼び出し方法は製品ごとに異なる。</a:t>
            </a:r>
          </a:p>
          <a:p xmlns:a="http://schemas.openxmlformats.org/drawingml/2006/main">
            <a:r>
              <a:t/>
            </a:r>
          </a:p>
          <a:p xmlns:a="http://schemas.openxmlformats.org/drawingml/2006/main">
            <a:r>
              <a:t>[Sources]</a:t>
            </a:r>
          </a:p>
          <a:p xmlns:a="http://schemas.openxmlformats.org/drawingml/2006/main">
            <a:r>
              <a:t>- https://learn.chatgpt.com/docs/agent-configuration/agents-md</a:t>
            </a:r>
          </a:p>
          <a:p xmlns:a="http://schemas.openxmlformats.org/drawingml/2006/main">
            <a:r>
              <a:t>- https://code.claude.com/docs/en/memory</a:t>
            </a:r>
          </a:p>
          <a:p xmlns:a="http://schemas.openxmlformats.org/drawingml/2006/main">
            <a:r>
              <a:t>- https://kiro.dev/docs/steering/</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Steeringという一般動詞とKiroの正式機能名を分ける。Antigravityで方向修正を説明するときはfeedbackまたはRulesを使う。</a:t>
            </a:r>
          </a:p>
          <a:p xmlns:a="http://schemas.openxmlformats.org/drawingml/2006/main">
            <a:r>
              <a:t/>
            </a:r>
          </a:p>
          <a:p xmlns:a="http://schemas.openxmlformats.org/drawingml/2006/main">
            <a:r>
              <a:t>[Sources]</a:t>
            </a:r>
          </a:p>
          <a:p xmlns:a="http://schemas.openxmlformats.org/drawingml/2006/main">
            <a:r>
              <a:t>- https://kiro.dev/docs/steering/</a:t>
            </a:r>
          </a:p>
          <a:p xmlns:a="http://schemas.openxmlformats.org/drawingml/2006/main">
            <a:r>
              <a:t>- https://kiro.dev/docs/powers/</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残り30分は質疑応答または予備。公式動画、Nano Banana、Visual FeedbackはSlides 25-27のQ&amp;A用。90秒止まった工程は停止してバックアップへ。</a:t>
            </a:r>
          </a:p>
          <a:p xmlns:a="http://schemas.openxmlformats.org/drawingml/2006/main">
            <a:r>
              <a:t/>
            </a:r>
          </a:p>
          <a:p xmlns:a="http://schemas.openxmlformats.org/drawingml/2006/main">
            <a:r>
              <a:t>[Sources]</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remote、branch、公開URLが一つでも違えばデモを停止する。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このスライドの濃紺枠を全文コピーし、Antigravityへ貼り付ける。質問は最大2問。ここでは実装しない。</a:t>
            </a:r>
          </a:p>
          <a:p xmlns:a="http://schemas.openxmlformats.org/drawingml/2006/main">
            <a:r>
              <a:t/>
            </a:r>
          </a:p>
          <a:p xmlns:a="http://schemas.openxmlformats.org/drawingml/2006/main">
            <a:r>
              <a:t>[Sources]</a:t>
            </a:r>
          </a:p>
          <a:p xmlns:a="http://schemas.openxmlformats.org/drawingml/2006/main">
            <a:r>
              <a:t>- local: docs/demo/antigravity_workshop/PROMPT_00_GRILL_ME.txt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Skillは名前と説明から発見され、必要時にSKILL.mdを読み、必要な資料やスクリプトだけを使う。</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https://learn.chatgpt.com/docs/build-skills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このスライドの濃紺枠を全文コピーし、Antigravityへ貼り付ける。まだインストールしない。</a:t>
            </a:r>
          </a:p>
          <a:p xmlns:a="http://schemas.openxmlformats.org/drawingml/2006/main">
            <a:r>
              <a:t/>
            </a:r>
          </a:p>
          <a:p xmlns:a="http://schemas.openxmlformats.org/drawingml/2006/main">
            <a:r>
              <a:t>[Sources]</a:t>
            </a:r>
          </a:p>
          <a:p xmlns:a="http://schemas.openxmlformats.org/drawingml/2006/main">
            <a:r>
              <a:t>- local: docs/demo/antigravity_workshop/PROMPT_01_FIND_SKILLS.txt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インストール数は変動するため検索時点の参考値。候補の比較軸を見せることが目的。</a:t>
            </a:r>
          </a:p>
          <a:p xmlns:a="http://schemas.openxmlformats.org/drawingml/2006/main">
            <a:r>
              <a:t/>
            </a:r>
          </a:p>
          <a:p xmlns:a="http://schemas.openxmlformats.org/drawingml/2006/main">
            <a:r>
              <a:t>[Sources]</a:t>
            </a:r>
          </a:p>
          <a:p xmlns:a="http://schemas.openxmlformats.org/drawingml/2006/main">
            <a:r>
              <a:t>- https://skills.sh/anthropics/skills/frontend-design</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このスライドの濃紺枠を全文コピーし、Antigravityへ貼り付ける。remote / branch / status / existing Skillを先に確認する。</a:t>
            </a:r>
          </a:p>
          <a:p xmlns:a="http://schemas.openxmlformats.org/drawingml/2006/main">
            <a:r>
              <a:t/>
            </a:r>
          </a:p>
          <a:p xmlns:a="http://schemas.openxmlformats.org/drawingml/2006/main">
            <a:r>
              <a:t>[Sources]</a:t>
            </a:r>
          </a:p>
          <a:p xmlns:a="http://schemas.openxmlformats.org/drawingml/2006/main">
            <a:r>
              <a:t>- local: docs/demo/antigravity_workshop/PROMPT_02_INSTALL_SKILL.txt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frontend-designはproduction-gradeで独自性のあるUI判断を促すが、事実・権限・公開判断の責任は持たせない。</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このスライドの濃紺枠を全文コピーし、Antigravityへ貼り付ける。index.htmlとstyles.cssだけを変更する。</a:t>
            </a:r>
          </a:p>
          <a:p xmlns:a="http://schemas.openxmlformats.org/drawingml/2006/main">
            <a:r>
              <a:t/>
            </a:r>
          </a:p>
          <a:p xmlns:a="http://schemas.openxmlformats.org/drawingml/2006/main">
            <a:r>
              <a:t>[Sources]</a:t>
            </a:r>
          </a:p>
          <a:p xmlns:a="http://schemas.openxmlformats.org/drawingml/2006/main">
            <a:r>
              <a:t>- local: docs/demo/antigravity_workshop/PROMPT_03_BUILD.txt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初版と改善版を分けることで、Skillがどの判断を変えたかを観客へ見せる。</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このスライドの濃紺枠を全文コピーし、Antigravityへ貼り付ける。フィルター件数と最大2比較を数値で検証する。</a:t>
            </a:r>
          </a:p>
          <a:p xmlns:a="http://schemas.openxmlformats.org/drawingml/2006/main">
            <a:r>
              <a:t/>
            </a:r>
          </a:p>
          <a:p xmlns:a="http://schemas.openxmlformats.org/drawingml/2006/main">
            <a:r>
              <a:t>[Sources]</a:t>
            </a:r>
          </a:p>
          <a:p xmlns:a="http://schemas.openxmlformats.org/drawingml/2006/main">
            <a:r>
              <a:t>- local: docs/demo/antigravity_workshop/PROMPT_04_APPLY_SKILL.txt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Skillが変えた判断、追加機能、ブラウザ検証の3行をAntigravityから報告させる。</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このスライドの濃紺枠を全文コピーし、Antigravityへ貼り付ける。未接続なら会場で認証せず省略する。</a:t>
            </a:r>
          </a:p>
          <a:p xmlns:a="http://schemas.openxmlformats.org/drawingml/2006/main">
            <a:r>
              <a:t/>
            </a:r>
          </a:p>
          <a:p xmlns:a="http://schemas.openxmlformats.org/drawingml/2006/main">
            <a:r>
              <a:t>[Sources]</a:t>
            </a:r>
          </a:p>
          <a:p xmlns:a="http://schemas.openxmlformats.org/drawingml/2006/main">
            <a:r>
              <a:t>- local: docs/demo/antigravity_workshop/PROMPT_05_MCP_CHECK.txt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MCP未接続なら認証を始めず、gitと公開URL確認へ進む。</a:t>
            </a:r>
          </a:p>
          <a:p xmlns:a="http://schemas.openxmlformats.org/drawingml/2006/main">
            <a:r>
              <a:t/>
            </a:r>
          </a:p>
          <a:p xmlns:a="http://schemas.openxmlformats.org/drawingml/2006/main">
            <a:r>
              <a:t>[Sources]</a:t>
            </a:r>
          </a:p>
          <a:p xmlns:a="http://schemas.openxmlformats.org/drawingml/2006/main">
            <a:r>
              <a:t>- https://modelcontextprotocol.io/</a:t>
            </a:r>
          </a:p>
          <a:p xmlns:a="http://schemas.openxmlformats.org/drawingml/2006/main">
            <a:r>
              <a:t>- https://antigravity.google/docs/mcp</a:t>
            </a:r>
          </a:p>
          <a:p xmlns:a="http://schemas.openxmlformats.org/drawingml/2006/main">
            <a:r>
              <a:t>- https://learn.chatgpt.com/docs/extend/mcp?surface=cli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このスライドの濃紺枠を全文コピーし、Antigravityへ貼り付ける。正確な『公開して』までgit add / commit / pushを禁止する。</a:t>
            </a:r>
          </a:p>
          <a:p xmlns:a="http://schemas.openxmlformats.org/drawingml/2006/main">
            <a:r>
              <a:t/>
            </a:r>
          </a:p>
          <a:p xmlns:a="http://schemas.openxmlformats.org/drawingml/2006/main">
            <a:r>
              <a:t>[Sources]</a:t>
            </a:r>
          </a:p>
          <a:p xmlns:a="http://schemas.openxmlformats.org/drawingml/2006/main">
            <a:r>
              <a:t>- local: docs/demo/antigravity_workshop/PROMPT_06_PUBLISH.txt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公開URLを開き、タイトル、件数、2製品比較まで動かして証拠にする。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https://docs.github.com/en/pages/getting-started-with-github-pages/securing-your-github-pages-site-with-https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初回公開05cfa7cから最終改善347ce89までの実リハーサル結果。時間はgit commit時刻21:16:29から22:34:44の差。</a:t>
            </a:r>
          </a:p>
          <a:p xmlns:a="http://schemas.openxmlformats.org/drawingml/2006/main">
            <a:r>
              <a:t/>
            </a:r>
          </a:p>
          <a:p xmlns:a="http://schemas.openxmlformats.org/drawingml/2006/main">
            <a:r>
              <a:t>[Sources]</a:t>
            </a:r>
          </a:p>
          <a:p xmlns:a="http://schemas.openxmlformats.org/drawingml/2006/main">
            <a:r>
              <a:t>- https://kanta13jp1.github.io/mighty-link-antigravity-live-demo/</a:t>
            </a:r>
          </a:p>
          <a:p xmlns:a="http://schemas.openxmlformats.org/drawingml/2006/main">
            <a:r>
              <a:t>- https://github.com/kanta13jp1/mighty-link-antigravity-live-demo/commits/main/</a:t>
            </a:r>
          </a:p>
          <a:p xmlns:a="http://schemas.openxmlformats.org/drawingml/2006/main">
            <a:r>
              <a:t>- local: .codex/tmp/ai-agent-demo-deck-20260809/rehearsal-site/qa.json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リハーサルの成功点だけでなく、スコープ逸脱と用語誤認を本番プロンプトへ戻す。</a:t>
            </a:r>
          </a:p>
          <a:p xmlns:a="http://schemas.openxmlformats.org/drawingml/2006/main">
            <a:r>
              <a:t/>
            </a:r>
          </a:p>
          <a:p xmlns:a="http://schemas.openxmlformats.org/drawingml/2006/main">
            <a:r>
              <a:t>[Sources]</a:t>
            </a:r>
          </a:p>
          <a:p xmlns:a="http://schemas.openxmlformats.org/drawingml/2006/main">
            <a:r>
              <a:t>- https://antigravity.google/docs/screenshots</a:t>
            </a:r>
          </a:p>
          <a:p xmlns:a="http://schemas.openxmlformats.org/drawingml/2006/main">
            <a:r>
              <a:t>- https://antigravity.google/docs/models</a:t>
            </a:r>
          </a:p>
          <a:p xmlns:a="http://schemas.openxmlformats.org/drawingml/2006/main">
            <a:r>
              <a:t>- local: docs/demo/antigravity_workshop/DEMO_CONCEPTS.md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このスライドの濃紺枠を全文コピーし、Antigravityへ貼り付ける。本編では実行しない。title / author_name / author_urlを確認できなければ停止する。</a:t>
            </a:r>
          </a:p>
          <a:p xmlns:a="http://schemas.openxmlformats.org/drawingml/2006/main">
            <a:r>
              <a:t/>
            </a:r>
          </a:p>
          <a:p xmlns:a="http://schemas.openxmlformats.org/drawingml/2006/main">
            <a:r>
              <a:t>[Sources]</a:t>
            </a:r>
          </a:p>
          <a:p xmlns:a="http://schemas.openxmlformats.org/drawingml/2006/main">
            <a:r>
              <a:t>- local: docs/demo/antigravity_workshop/PROMPT_07_OFFICIAL_VIDEO.txt</a:t>
            </a:r>
          </a:p>
          <a:p xmlns:a="http://schemas.openxmlformats.org/drawingml/2006/main">
            <a:r>
              <a:t>- https://antigravity.google/docs/skills</a:t>
            </a:r>
          </a:p>
          <a:p xmlns:a="http://schemas.openxmlformats.org/drawingml/2006/main">
            <a:r>
              <a:t>- https://www.youtube.com/watch?v=SVCBA-pBgt0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このスライドの濃紺枠を全文コピーし、Antigravityへ貼り付ける。画像生成Toolが使えなければ既存画像を維持し、SKIPPEDとする。</a:t>
            </a:r>
          </a:p>
          <a:p xmlns:a="http://schemas.openxmlformats.org/drawingml/2006/main">
            <a:r>
              <a:t/>
            </a:r>
          </a:p>
          <a:p xmlns:a="http://schemas.openxmlformats.org/drawingml/2006/main">
            <a:r>
              <a:t>[Sources]</a:t>
            </a:r>
          </a:p>
          <a:p xmlns:a="http://schemas.openxmlformats.org/drawingml/2006/main">
            <a:r>
              <a:t>- local: docs/demo/antigravity_workshop/PROMPT_08_NANO_BANANA.txt</a:t>
            </a:r>
          </a:p>
          <a:p xmlns:a="http://schemas.openxmlformats.org/drawingml/2006/main">
            <a:r>
              <a:t>- https://antigravity.google/docs/skills</a:t>
            </a:r>
          </a:p>
          <a:p xmlns:a="http://schemas.openxmlformats.org/drawingml/2006/main">
            <a:r>
              <a:t>- https://antigravity.google/docs/models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このスライドの濃紺枠を全文コピーし、Antigravityへ貼り付ける。サイト内の模擬pin UIではなく、AntigravityのScreenshot Artifactへ貼り付ける。</a:t>
            </a:r>
          </a:p>
          <a:p xmlns:a="http://schemas.openxmlformats.org/drawingml/2006/main">
            <a:r>
              <a:t/>
            </a:r>
          </a:p>
          <a:p xmlns:a="http://schemas.openxmlformats.org/drawingml/2006/main">
            <a:r>
              <a:t>[Sources]</a:t>
            </a:r>
          </a:p>
          <a:p xmlns:a="http://schemas.openxmlformats.org/drawingml/2006/main">
            <a:r>
              <a:t>- local: docs/demo/antigravity_workshop/PROMPT_09_VISUAL_FEEDBACK_COMMENT.txt</a:t>
            </a:r>
          </a:p>
          <a:p xmlns:a="http://schemas.openxmlformats.org/drawingml/2006/main">
            <a:r>
              <a:t>- https://antigravity.google/docs/skills</a:t>
            </a:r>
          </a:p>
          <a:p xmlns:a="http://schemas.openxmlformats.org/drawingml/2006/main">
            <a:r>
              <a:t>- https://antigravity.google/docs/screenshots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基礎Skillの/grill-meと/find-skillsは本番でも使うため削除しない。ライブ導入したfrontend-designだけを削除する。</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https://git-scm.com/docs/git-revert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エラーの復旧を延々見せない。デモの学習目標を維持する。</a:t>
            </a:r>
          </a:p>
          <a:p xmlns:a="http://schemas.openxmlformats.org/drawingml/2006/main">
            <a:r>
              <a:t/>
            </a:r>
          </a:p>
          <a:p xmlns:a="http://schemas.openxmlformats.org/drawingml/2006/main">
            <a:r>
              <a:t>[Sources]</a:t>
            </a:r>
          </a:p>
          <a:p xmlns:a="http://schemas.openxmlformats.org/drawingml/2006/main">
            <a:r>
              <a:t>- local: docs/demo/antigravity_workshop/BACKUP_PROMPTS.txt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学習サイトはこの流れを可視化する成果物。観客に自分の仕事なら何を任せたいかを問いかける。</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a:p xmlns:a="http://schemas.openxmlformats.org/drawingml/2006/main">
            <a:r>
              <a:t>- https://antigravity.google/docs/mcp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bf79c2be2d44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29515ea784402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d41ad342174d8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6e15e21c1a2463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093a0d8d3be4f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e4e81e8c3442e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c95a4328d9c4c1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a74a5236cb7450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ead9618deac414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2f9357a0f1a406a"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319fd5fd47c4319"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F2005F-010D-4879-B4A5-2F0B4A35DFD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D43F7C2-4BC4-4DBA-B92A-FB2D13D2448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6581E8D-E9A6-4A51-ADCF-DF6DFF62E0B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7871991-FE0F-4ABE-84C8-8911307FADA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90965A2-6D0F-4FAF-8919-75625CFA2F7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0F782CA-06EF-4CAD-909B-8401A5FFB5F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62E98B-7F02-40BD-99BA-39B3D8CC51D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9C0CD4E-AC4D-4C04-B20B-AD95B8867C3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4D7E4C9-C46C-4394-8E02-F0D72F3A28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6E0D42-C926-4A0E-B4F7-999B8A3643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3E78E3-652E-4C8C-A507-07CA44CC760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B173EAC-50B5-46EB-960E-F2010C5D85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ACE1AFB-BAB3-4D6A-B547-7C77C046724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4A8E308-276F-458B-870A-C31A511F5B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BDE78DC-79CD-4E91-A67D-BE6EF04D8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946986-8BF6-4B0E-A71C-78AF370D391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5419A9A-A270-4616-AF9B-0CFB74E8683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AEA15DB-4793-4205-91A7-DF75AABC2A65}"/>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49B073DE-C6F9-4B02-9A65-8C8FC5E2E1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1BE8C75-E191-49E7-9687-890EDB25E9D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7CCF35-17C3-4454-B5EA-0FA9C230E7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344304F-D9C3-481C-9D67-86194F8131B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6BEA75B-9BDA-46B5-9614-839EA8DF037A}"/>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6AD4F4D-55E7-4A3C-8D01-9C892F26C9E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EA7C7741-BA5B-4BF1-BAAF-99DFADE5F1A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8DB9F93-81C9-4B4E-A498-6611C7B37FF3}"/>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BFAE4694-44A9-4DA2-8AD8-15AC6CE13DB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4F73A481-9A72-4F09-AB44-4D87B17236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AF4FE67-EA9F-4B70-A2F8-9E4F6CEEACE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B7798-3BDD-4A69-9A32-460B68C606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2A5A5020-D3DA-41C3-ACDB-3094F9888E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E9FB9D4-695C-4325-B531-A5B031502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AA37A3D-DCF0-400E-9CE9-6BAF3FDBDA2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3C0E483-8CD9-4CCE-A073-4A9962126FC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5242A54-C18D-40BC-B529-3698392EAC2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2183B91-11D1-4C8F-9505-96CE6A3B49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D49209-3F08-46EB-87F5-C80A503C0EA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49364E4-58F2-4F1D-90E2-439B64F612F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D6ADE0-65C3-4D7D-B8B2-8283E82BD32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529E67D-E0F9-4532-A321-E7FA2F6CF7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3ABC3D7-3C7C-4FC2-B322-FCAE24E681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081958D-8336-48FC-AE8D-6BFBA5CE455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4CBA31-A261-46D3-8835-90E5E781C23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3093C3F-8F84-45AF-8FCE-42D5CE10379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DC1B413-F42A-457B-BF70-9CF33C34BB0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4E11C9-602C-4F1D-AD1B-6000B0C9F6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80E42CE-8D03-4612-8824-C718F54AF1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C55257-8FBE-46A0-B283-1E231A85CBE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E46B00-003E-4C93-8834-B7C192BFF7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2027A45-44B5-49C6-AAED-2AD4835F32A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E5FA00D-AF57-4E30-A01B-4BB6D35A3D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6DD1F3F-9F5C-4E26-83A5-2DC1231588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CB604C7-AEB2-4B33-ABA1-AA8C924F43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DEE97CB-4B36-4674-BF60-47956ADBE57E}"/>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7C47F25F-95C5-48D2-80FF-66956370ABA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E63C951-9C61-4725-B26A-0E352D2D5F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71AE6A7-B888-4634-82B6-AF0855F6F1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38618E-65C1-4959-98B1-BB7A6FDD59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efbe4d7c924828" /><Relationship Type="http://schemas.openxmlformats.org/officeDocument/2006/relationships/slideLayout" Target="/ppt/slideLayouts/slideLayout1.xml" Id="R0c78918d07f24348" /><Relationship Type="http://schemas.openxmlformats.org/officeDocument/2006/relationships/slideLayout" Target="/ppt/slideLayouts/slideLayout2.xml" Id="Rcd3fec960b1f470e" /><Relationship Type="http://schemas.openxmlformats.org/officeDocument/2006/relationships/slideLayout" Target="/ppt/slideLayouts/slideLayout3.xml" Id="R89ecaf623eb942b5" /><Relationship Type="http://schemas.openxmlformats.org/officeDocument/2006/relationships/slideLayout" Target="/ppt/slideLayouts/slideLayout4.xml" Id="R770249173f0341ff" /><Relationship Type="http://schemas.openxmlformats.org/officeDocument/2006/relationships/slideLayout" Target="/ppt/slideLayouts/slideLayout5.xml" Id="Rf85d5fbc614e41ee" /><Relationship Type="http://schemas.openxmlformats.org/officeDocument/2006/relationships/slideLayout" Target="/ppt/slideLayouts/slideLayout6.xml" Id="R42f2b263953f453e" /><Relationship Type="http://schemas.openxmlformats.org/officeDocument/2006/relationships/slideLayout" Target="/ppt/slideLayouts/slideLayout7.xml" Id="R4dc29498bd294c7d" /><Relationship Type="http://schemas.openxmlformats.org/officeDocument/2006/relationships/slideLayout" Target="/ppt/slideLayouts/slideLayout8.xml" Id="Re4c590d95b7a43dd" /><Relationship Type="http://schemas.openxmlformats.org/officeDocument/2006/relationships/slideLayout" Target="/ppt/slideLayouts/slideLayout9.xml" Id="R31ffe82197204e02" /><Relationship Type="http://schemas.openxmlformats.org/officeDocument/2006/relationships/slideLayout" Target="/ppt/slideLayouts/slideLayout10.xml" Id="Rcf40a80fb4464141" /><Relationship Type="http://schemas.openxmlformats.org/officeDocument/2006/relationships/slideLayout" Target="/ppt/slideLayouts/slideLayout11.xml" Id="R772e7a310fb34dd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2A5C51-A346-4EA8-AF14-DAB2FC57200E}"/>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BC0995A-002C-4095-ADCD-05161173E7D0}"/>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D102396-6D45-4188-8E9C-92B2EFE6FA4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169B75E-F3F2-45FE-9624-6DE8143DFB4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44A33AB-596F-4E82-BE63-F4D9C240D61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78918d07f24348"/>
    <p:sldLayoutId xmlns:r="http://schemas.openxmlformats.org/officeDocument/2006/relationships" id="2147483650" r:id="Rcd3fec960b1f470e"/>
    <p:sldLayoutId xmlns:r="http://schemas.openxmlformats.org/officeDocument/2006/relationships" id="2147483651" r:id="R89ecaf623eb942b5"/>
    <p:sldLayoutId xmlns:r="http://schemas.openxmlformats.org/officeDocument/2006/relationships" id="2147483652" r:id="R770249173f0341ff"/>
    <p:sldLayoutId xmlns:r="http://schemas.openxmlformats.org/officeDocument/2006/relationships" id="2147483653" r:id="Rf85d5fbc614e41ee"/>
    <p:sldLayoutId xmlns:r="http://schemas.openxmlformats.org/officeDocument/2006/relationships" id="2147483654" r:id="R42f2b263953f453e"/>
    <p:sldLayoutId xmlns:r="http://schemas.openxmlformats.org/officeDocument/2006/relationships" id="2147483655" r:id="R4dc29498bd294c7d"/>
    <p:sldLayoutId xmlns:r="http://schemas.openxmlformats.org/officeDocument/2006/relationships" id="2147483656" r:id="Re4c590d95b7a43dd"/>
    <p:sldLayoutId xmlns:r="http://schemas.openxmlformats.org/officeDocument/2006/relationships" id="2147483657" r:id="R31ffe82197204e02"/>
    <p:sldLayoutId xmlns:r="http://schemas.openxmlformats.org/officeDocument/2006/relationships" id="2147483658" r:id="Rcf40a80fb4464141"/>
    <p:sldLayoutId xmlns:r="http://schemas.openxmlformats.org/officeDocument/2006/relationships" id="2147483659" r:id="R772e7a310fb34dd5"/>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0b50ef4c620240ac" /><Relationship Type="http://schemas.openxmlformats.org/officeDocument/2006/relationships/image" Target="/ppt/media/image.png" Id="Rfbdad0dccded493e" /><Relationship Type="http://schemas.openxmlformats.org/officeDocument/2006/relationships/image" Target="/ppt/media/image2.png" Id="R3563b3532c0e4d46" /><Relationship Type="http://schemas.openxmlformats.org/officeDocument/2006/relationships/notesSlide" Target="/ppt/notesSlides/notesSlide1.xml" Id="R17d0c3fec9db4a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2c003e19ca734599" /><Relationship Type="http://schemas.openxmlformats.org/officeDocument/2006/relationships/notesSlide" Target="/ppt/notesSlides/notesSlide2.xml" Id="Ra58b801e286240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b9b29cd1473a49e6" /><Relationship Type="http://schemas.openxmlformats.org/officeDocument/2006/relationships/notesSlide" Target="/ppt/notesSlides/notesSlide3.xml" Id="R0cb9e76d31084d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12498f18bc24897" /><Relationship Type="http://schemas.openxmlformats.org/officeDocument/2006/relationships/notesSlide" Target="/ppt/notesSlides/notesSlide4.xml" Id="R545ede0082a345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8810f52a696144dd" /><Relationship Type="http://schemas.openxmlformats.org/officeDocument/2006/relationships/notesSlide" Target="/ppt/notesSlides/notesSlide5.xml" Id="R0c0d53684ede47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d2a0e6c225f4605" /><Relationship Type="http://schemas.openxmlformats.org/officeDocument/2006/relationships/notesSlide" Target="/ppt/notesSlides/notesSlide6.xml" Id="R7f063122c2114944"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890a037b07004249" /><Relationship Type="http://schemas.openxmlformats.org/officeDocument/2006/relationships/notesSlide" Target="/ppt/notesSlides/notesSlide7.xml" Id="R15faa3e9946440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b3a936b11fa41cd" /><Relationship Type="http://schemas.openxmlformats.org/officeDocument/2006/relationships/notesSlide" Target="/ppt/notesSlides/notesSlide8.xml" Id="R0f92861c2ef444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da69466018a3424e" /><Relationship Type="http://schemas.openxmlformats.org/officeDocument/2006/relationships/image" Target="/ppt/media/image3.png" Id="Ra2581bfca99d4f9e" /><Relationship Type="http://schemas.openxmlformats.org/officeDocument/2006/relationships/notesSlide" Target="/ppt/notesSlides/notesSlide9.xml" Id="R89d00999a5fc40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84dac6446d624537" /><Relationship Type="http://schemas.openxmlformats.org/officeDocument/2006/relationships/notesSlide" Target="/ppt/notesSlides/notesSlide10.xml" Id="R8911b8932b4143f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9d2afd0619d4483c" /><Relationship Type="http://schemas.openxmlformats.org/officeDocument/2006/relationships/image" Target="/ppt/media/image3.png" Id="R08341d82ebdb4acf" /><Relationship Type="http://schemas.openxmlformats.org/officeDocument/2006/relationships/notesSlide" Target="/ppt/notesSlides/notesSlide11.xml" Id="R4b2e0dd4dd264b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e5acc295380643f2" /><Relationship Type="http://schemas.openxmlformats.org/officeDocument/2006/relationships/notesSlide" Target="/ppt/notesSlides/notesSlide12.xml" Id="R7e180f8fd5944b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bb058099bb3d498b" /><Relationship Type="http://schemas.openxmlformats.org/officeDocument/2006/relationships/image" Target="/ppt/media/image3.png" Id="Rfb8d23e0f2484fcd" /><Relationship Type="http://schemas.openxmlformats.org/officeDocument/2006/relationships/notesSlide" Target="/ppt/notesSlides/notesSlide13.xml" Id="R3783d1bd657c428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823bf30bcd3840a9" /><Relationship Type="http://schemas.openxmlformats.org/officeDocument/2006/relationships/notesSlide" Target="/ppt/notesSlides/notesSlide14.xml" Id="R7bf4ebb8ff4d4d7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df346d9fce5142c5" /><Relationship Type="http://schemas.openxmlformats.org/officeDocument/2006/relationships/image" Target="/ppt/media/image3.png" Id="Rea08f25cc0c341fa" /><Relationship Type="http://schemas.openxmlformats.org/officeDocument/2006/relationships/notesSlide" Target="/ppt/notesSlides/notesSlide15.xml" Id="R6ac160d19e12446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e63eededa5194c15" /><Relationship Type="http://schemas.openxmlformats.org/officeDocument/2006/relationships/notesSlide" Target="/ppt/notesSlides/notesSlide16.xml" Id="R3e5cf169cecb4eb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89776c8790104476" /><Relationship Type="http://schemas.openxmlformats.org/officeDocument/2006/relationships/image" Target="/ppt/media/image3.png" Id="R8d87cd8355c94c30" /><Relationship Type="http://schemas.openxmlformats.org/officeDocument/2006/relationships/notesSlide" Target="/ppt/notesSlides/notesSlide17.xml" Id="R050e9e6e75484f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869bd337203a401f" /><Relationship Type="http://schemas.openxmlformats.org/officeDocument/2006/relationships/notesSlide" Target="/ppt/notesSlides/notesSlide18.xml" Id="Ra7b1c3b4fc6f47d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1fcf087f45ca44be" /><Relationship Type="http://schemas.openxmlformats.org/officeDocument/2006/relationships/image" Target="/ppt/media/image3.png" Id="R6c046a76e9604e59" /><Relationship Type="http://schemas.openxmlformats.org/officeDocument/2006/relationships/notesSlide" Target="/ppt/notesSlides/notesSlide19.xml" Id="R6cec9b9b1a1b47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137370d577fc4c9f" /><Relationship Type="http://schemas.openxmlformats.org/officeDocument/2006/relationships/notesSlide" Target="/ppt/notesSlides/notesSlide20.xml" Id="R17dc4d4cda0144b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531344e1ba584708" /><Relationship Type="http://schemas.openxmlformats.org/officeDocument/2006/relationships/image" Target="/ppt/media/image3.png" Id="Rf5462d0b29ca4dbc" /><Relationship Type="http://schemas.openxmlformats.org/officeDocument/2006/relationships/notesSlide" Target="/ppt/notesSlides/notesSlide21.xml" Id="Rea52fd7bf32f41f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004ef95279f74304" /><Relationship Type="http://schemas.openxmlformats.org/officeDocument/2006/relationships/notesSlide" Target="/ppt/notesSlides/notesSlide22.xml" Id="R68d32ac0eb62407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3fcd6d3be3ce4b9e" /><Relationship Type="http://schemas.openxmlformats.org/officeDocument/2006/relationships/image" Target="/ppt/media/image4.png" Id="R895a4b8f255547a3" /><Relationship Type="http://schemas.openxmlformats.org/officeDocument/2006/relationships/notesSlide" Target="/ppt/notesSlides/notesSlide23.xml" Id="Rc9ef2f0da775487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ccc1ad04f0f24933" /><Relationship Type="http://schemas.openxmlformats.org/officeDocument/2006/relationships/notesSlide" Target="/ppt/notesSlides/notesSlide24.xml" Id="Rbda3db377f1e4ae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1ef42233c5da4e50" /><Relationship Type="http://schemas.openxmlformats.org/officeDocument/2006/relationships/image" Target="/ppt/media/image3.png" Id="R1016cd628c7242fa" /><Relationship Type="http://schemas.openxmlformats.org/officeDocument/2006/relationships/notesSlide" Target="/ppt/notesSlides/notesSlide25.xml" Id="R73c43b4f112247e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e15955fa380640c1" /><Relationship Type="http://schemas.openxmlformats.org/officeDocument/2006/relationships/image" Target="/ppt/media/image3.png" Id="R3e3617e2c6e24e7e" /><Relationship Type="http://schemas.openxmlformats.org/officeDocument/2006/relationships/notesSlide" Target="/ppt/notesSlides/notesSlide26.xml" Id="Rb15998eb95c046a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7.xml" Id="Rb3dd921147a6482c" /><Relationship Type="http://schemas.openxmlformats.org/officeDocument/2006/relationships/image" Target="/ppt/media/image3.png" Id="R594df343c0874213" /><Relationship Type="http://schemas.openxmlformats.org/officeDocument/2006/relationships/notesSlide" Target="/ppt/notesSlides/notesSlide27.xml" Id="Rf5c5ad84e95842f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7.xml" Id="Rdb151cb89a9b44ac" /><Relationship Type="http://schemas.openxmlformats.org/officeDocument/2006/relationships/notesSlide" Target="/ppt/notesSlides/notesSlide28.xml" Id="R2a33c7df4dd348e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7.xml" Id="Rd2f4e7dfd07e4e56" /><Relationship Type="http://schemas.openxmlformats.org/officeDocument/2006/relationships/notesSlide" Target="/ppt/notesSlides/notesSlide29.xml" Id="R77c22b68c022405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7.xml" Id="Rd29bb900ede84c22" /><Relationship Type="http://schemas.openxmlformats.org/officeDocument/2006/relationships/notesSlide" Target="/ppt/notesSlides/notesSlide30.xml" Id="Ra72aadcf5ba749fa" /></Relationships>
</file>

<file path=ppt/slides/slide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451BB22-5A9D-498B-B4A7-832312C6089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8450AFC5-3358-459D-BAE9-3CD63253475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58B33D43-0D18-404E-A4B5-426E0E37B758}"/>
              </a:ext>
            </a:extLst>
          </p:cNvPr>
          <p:cNvSpPr>
            <a:spLocks xmlns:a="http://schemas.openxmlformats.org/drawingml/2006/main" noGrp="1"/>
          </p:cNvSpPr>
          <p:nvPr/>
        </p:nvSpPr>
        <p:spPr>
          <a:xfrm xmlns:a="http://schemas.openxmlformats.org/drawingml/2006/main">
            <a:off x="171450" y="0"/>
            <a:ext cx="47625" cy="68580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C9D38E9-F2F1-4C60-B862-159212F7F4CC}"/>
              </a:ext>
            </a:extLst>
          </p:cNvPr>
          <p:cNvSpPr>
            <a:spLocks xmlns:a="http://schemas.openxmlformats.org/drawingml/2006/main" noGrp="1"/>
          </p:cNvSpPr>
          <p:nvPr/>
        </p:nvSpPr>
        <p:spPr>
          <a:xfrm xmlns:a="http://schemas.openxmlformats.org/drawingml/2006/main">
            <a:off x="723900" y="6477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1">
                <a:solidFill>
                  <a:srgbClr val="00A5E3"/>
                </a:solidFill>
                <a:latin typeface="Yu Gothic UI"/>
                <a:ea typeface="Yu Gothic UI"/>
                <a:cs typeface="Yu Gothic UI"/>
              </a:defRPr>
            </a:pPr>
            <a:r>
              <a:rPr sz="1350" b="1">
                <a:solidFill>
                  <a:srgbClr val="00A5E3"/>
                </a:solidFill>
                <a:latin typeface="Yu Gothic UI"/>
                <a:ea typeface="Yu Gothic UI"/>
                <a:cs typeface="Yu Gothic UI"/>
              </a:rPr>
              <a:t>MIGHTYLINK  |  ANTIGRAVITY LIVE DEMO</a:t>
            </a:r>
          </a:p>
        </p:txBody>
      </p:sp>
      <p:sp>
        <p:nvSpPr>
          <p:cNvPr id="6" name="TextBox 5">
            <a:extLst xmlns:a="http://schemas.openxmlformats.org/drawingml/2006/main">
              <a:ext uri="{FF2B5EF4-FFF2-40B4-BE49-F238E27FC236}">
                <a16:creationId xmlns:a16="http://schemas.microsoft.com/office/drawing/2014/main" id="{F9DBFE0E-4D5A-40D9-86E0-B5A15118F616}"/>
              </a:ext>
            </a:extLst>
          </p:cNvPr>
          <p:cNvSpPr>
            <a:spLocks xmlns:a="http://schemas.openxmlformats.org/drawingml/2006/main" noGrp="1"/>
          </p:cNvSpPr>
          <p:nvPr/>
        </p:nvSpPr>
        <p:spPr>
          <a:xfrm xmlns:a="http://schemas.openxmlformats.org/drawingml/2006/main">
            <a:off x="723900" y="1257300"/>
            <a:ext cx="57150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AIエージェントの使い方を</a:t>
            </a:r>
          </a:p>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30分で体験する</a:t>
            </a:r>
          </a:p>
        </p:txBody>
      </p:sp>
      <p:sp>
        <p:nvSpPr>
          <p:cNvPr id="7" name="Rectangle 6">
            <a:extLst xmlns:a="http://schemas.openxmlformats.org/drawingml/2006/main">
              <a:ext uri="{FF2B5EF4-FFF2-40B4-BE49-F238E27FC236}">
                <a16:creationId xmlns:a16="http://schemas.microsoft.com/office/drawing/2014/main" id="{00349D2D-B546-4350-A909-C9C9385D2F75}"/>
              </a:ext>
            </a:extLst>
          </p:cNvPr>
          <p:cNvSpPr>
            <a:spLocks xmlns:a="http://schemas.openxmlformats.org/drawingml/2006/main" noGrp="1"/>
          </p:cNvSpPr>
          <p:nvPr/>
        </p:nvSpPr>
        <p:spPr>
          <a:xfrm xmlns:a="http://schemas.openxmlformats.org/drawingml/2006/main">
            <a:off x="723900" y="3162300"/>
            <a:ext cx="5334000" cy="72390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950" b="1">
                <a:solidFill>
                  <a:srgbClr val="17242B"/>
                </a:solidFill>
                <a:latin typeface="Yu Gothic UI"/>
                <a:ea typeface="Yu Gothic UI"/>
                <a:cs typeface="Yu Gothic UI"/>
              </a:defRPr>
            </a:pPr>
            <a:r>
              <a:rPr sz="1950" b="1">
                <a:solidFill>
                  <a:srgbClr val="17242B"/>
                </a:solidFill>
                <a:latin typeface="Yu Gothic UI"/>
                <a:ea typeface="Yu Gothic UI"/>
                <a:cs typeface="Yu Gothic UI"/>
              </a:rPr>
              <a:t>考える → 探す → 作る → 改善する → 確かめる → 公開する</a:t>
            </a:r>
          </a:p>
        </p:txBody>
      </p:sp>
      <p:sp>
        <p:nvSpPr>
          <p:cNvPr id="8" name="TextBox 7">
            <a:extLst xmlns:a="http://schemas.openxmlformats.org/drawingml/2006/main">
              <a:ext uri="{FF2B5EF4-FFF2-40B4-BE49-F238E27FC236}">
                <a16:creationId xmlns:a16="http://schemas.microsoft.com/office/drawing/2014/main" id="{CD8F1CF6-78B1-4776-843B-6F1DEA0B7639}"/>
              </a:ext>
            </a:extLst>
          </p:cNvPr>
          <p:cNvSpPr>
            <a:spLocks xmlns:a="http://schemas.openxmlformats.org/drawingml/2006/main" noGrp="1"/>
          </p:cNvSpPr>
          <p:nvPr/>
        </p:nvSpPr>
        <p:spPr>
          <a:xfrm xmlns:a="http://schemas.openxmlformats.org/drawingml/2006/main">
            <a:off x="762000" y="41338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1">
                <a:solidFill>
                  <a:srgbClr val="4A5F68"/>
                </a:solidFill>
                <a:latin typeface="Yu Gothic UI"/>
                <a:ea typeface="Yu Gothic UI"/>
                <a:cs typeface="Yu Gothic UI"/>
              </a:defRPr>
            </a:pPr>
            <a:r>
              <a:rPr sz="1500" b="1">
                <a:solidFill>
                  <a:srgbClr val="4A5F68"/>
                </a:solidFill>
                <a:latin typeface="Yu Gothic UI"/>
                <a:ea typeface="Yu Gothic UI"/>
                <a:cs typeface="Yu Gothic UI"/>
              </a:rPr>
              <a:t>成果物: 5製品を比較できる AI Agent Learning Hub</a:t>
            </a:r>
          </a:p>
        </p:txBody>
      </p:sp>
      <p:sp>
        <p:nvSpPr>
          <p:cNvPr id="9" name="TextBox 8">
            <a:extLst xmlns:a="http://schemas.openxmlformats.org/drawingml/2006/main">
              <a:ext uri="{FF2B5EF4-FFF2-40B4-BE49-F238E27FC236}">
                <a16:creationId xmlns:a16="http://schemas.microsoft.com/office/drawing/2014/main" id="{84EFCE2C-0A87-417F-8CF7-76A7F464F6C0}"/>
              </a:ext>
            </a:extLst>
          </p:cNvPr>
          <p:cNvSpPr>
            <a:spLocks xmlns:a="http://schemas.openxmlformats.org/drawingml/2006/main" noGrp="1"/>
          </p:cNvSpPr>
          <p:nvPr/>
        </p:nvSpPr>
        <p:spPr>
          <a:xfrm xmlns:a="http://schemas.openxmlformats.org/drawingml/2006/main">
            <a:off x="723900" y="4838700"/>
            <a:ext cx="4000500" cy="552450"/>
          </a:xfrm>
          <a:prstGeom xmlns:a="http://schemas.openxmlformats.org/drawingml/2006/main" prst="roundRect">
            <a:avLst>
              <a:gd name="adj" fmla="val 10345"/>
            </a:avLst>
          </a:prstGeom>
          <a:solidFill xmlns:a="http://schemas.openxmlformats.org/drawingml/2006/main">
            <a:srgbClr val="E8F6FC"/>
          </a:solidFill>
          <a:ln xmlns:a="http://schemas.openxmlformats.org/drawingml/2006/main" w="14288">
            <a:solidFill>
              <a:srgbClr val="00A5E3"/>
            </a:solidFill>
            <a:prstDash val="solid"/>
          </a:ln>
        </p:spPr>
        <p:txBody>
          <a:bodyPr xmlns:a="http://schemas.openxmlformats.org/drawingml/2006/main" wrap="square" lIns="171450" tIns="95250" rIns="171450" bIns="95250" anchor="ctr">
            <a:normAutofit fontScale="99375"/>
          </a:bodyPr>
          <a:lstStyle xmlns:a="http://schemas.openxmlformats.org/drawingml/2006/main"/>
          <a:p xmlns:a="http://schemas.openxmlformats.org/drawingml/2006/main">
            <a:pPr algn="l">
              <a:lnSpc>
                <a:spcPct val="114000"/>
              </a:lnSpc>
              <a:buNone/>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30分デモ  |  30分 Q&amp;A・予備  |  実リハーサル反映版</a:t>
            </a:r>
          </a:p>
        </p:txBody>
      </p:sp>
      <p:sp>
        <p:nvSpPr>
          <p:cNvPr id="10" name="Rectangle 9">
            <a:extLst xmlns:a="http://schemas.openxmlformats.org/drawingml/2006/main">
              <a:ext uri="{FF2B5EF4-FFF2-40B4-BE49-F238E27FC236}">
                <a16:creationId xmlns:a16="http://schemas.microsoft.com/office/drawing/2014/main" id="{81CE107E-C71F-4DFD-AE39-41627BF7ECF3}"/>
              </a:ext>
            </a:extLst>
          </p:cNvPr>
          <p:cNvSpPr>
            <a:spLocks xmlns:a="http://schemas.openxmlformats.org/drawingml/2006/main" noGrp="1"/>
          </p:cNvSpPr>
          <p:nvPr/>
        </p:nvSpPr>
        <p:spPr>
          <a:xfrm xmlns:a="http://schemas.openxmlformats.org/drawingml/2006/main">
            <a:off x="723900" y="5695950"/>
            <a:ext cx="2286000" cy="32385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800" b="1">
                <a:solidFill>
                  <a:srgbClr val="EF7E00"/>
                </a:solidFill>
                <a:latin typeface="Yu Gothic UI"/>
                <a:ea typeface="Yu Gothic UI"/>
                <a:cs typeface="Yu Gothic UI"/>
              </a:defRPr>
            </a:pPr>
            <a:r>
              <a:rPr sz="1800" b="1">
                <a:solidFill>
                  <a:srgbClr val="EF7E00"/>
                </a:solidFill>
                <a:latin typeface="Yu Gothic UI"/>
                <a:ea typeface="Yu Gothic UI"/>
                <a:cs typeface="Yu Gothic UI"/>
              </a:rPr>
              <a:t>2026.08.26</a:t>
            </a:r>
          </a:p>
        </p:txBody>
      </p:sp>
      <p:sp>
        <p:nvSpPr>
          <p:cNvPr id="11" name="TextBox 10">
            <a:extLst xmlns:a="http://schemas.openxmlformats.org/drawingml/2006/main">
              <a:ext uri="{FF2B5EF4-FFF2-40B4-BE49-F238E27FC236}">
                <a16:creationId xmlns:a16="http://schemas.microsoft.com/office/drawing/2014/main" id="{E904AEAD-D46C-4152-AC73-6BCBC81AC93C}"/>
              </a:ext>
            </a:extLst>
          </p:cNvPr>
          <p:cNvSpPr>
            <a:spLocks xmlns:a="http://schemas.openxmlformats.org/drawingml/2006/main" noGrp="1"/>
          </p:cNvSpPr>
          <p:nvPr/>
        </p:nvSpPr>
        <p:spPr>
          <a:xfrm xmlns:a="http://schemas.openxmlformats.org/drawingml/2006/main">
            <a:off x="723900" y="6124575"/>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0">
                <a:solidFill>
                  <a:srgbClr val="526571"/>
                </a:solidFill>
                <a:latin typeface="Yu Gothic UI"/>
                <a:ea typeface="Yu Gothic UI"/>
                <a:cs typeface="Yu Gothic UI"/>
              </a:defRPr>
            </a:pPr>
            <a:r>
              <a:rPr sz="1350" b="0">
                <a:solidFill>
                  <a:srgbClr val="526571"/>
                </a:solidFill>
                <a:latin typeface="Yu Gothic UI"/>
                <a:ea typeface="Yu Gothic UI"/>
                <a:cs typeface="Yu Gothic UI"/>
              </a:rPr>
              <a:t>株式会社MightyLINK</a:t>
            </a:r>
          </a:p>
        </p:txBody>
      </p:sp>
      <p:sp>
        <p:nvSpPr>
          <p:cNvPr id="12" name="TextBox 11">
            <a:extLst xmlns:a="http://schemas.openxmlformats.org/drawingml/2006/main">
              <a:ext uri="{FF2B5EF4-FFF2-40B4-BE49-F238E27FC236}">
                <a16:creationId xmlns:a16="http://schemas.microsoft.com/office/drawing/2014/main" id="{806581E5-1AB2-4BBA-A1CF-E374F14A6096}"/>
              </a:ext>
            </a:extLst>
          </p:cNvPr>
          <p:cNvSpPr>
            <a:spLocks xmlns:a="http://schemas.openxmlformats.org/drawingml/2006/main" noGrp="1"/>
          </p:cNvSpPr>
          <p:nvPr/>
        </p:nvSpPr>
        <p:spPr>
          <a:xfrm xmlns:a="http://schemas.openxmlformats.org/drawingml/2006/main">
            <a:off x="6248400" y="514350"/>
            <a:ext cx="5238750" cy="5829300"/>
          </a:xfrm>
          <a:prstGeom xmlns:a="http://schemas.openxmlformats.org/drawingml/2006/main" prst="roundRect">
            <a:avLst>
              <a:gd name="adj" fmla="val 1091"/>
            </a:avLst>
          </a:prstGeom>
          <a:solidFill xmlns:a="http://schemas.openxmlformats.org/drawingml/2006/main">
            <a:srgbClr val="FFFFFF"/>
          </a:solidFill>
          <a:ln xmlns:a="http://schemas.openxmlformats.org/drawingml/2006/main" w="9525">
            <a:solidFill>
              <a:srgbClr val="C9D8E1"/>
            </a:solidFill>
            <a:prstDash val="solid"/>
          </a:ln>
        </p:spPr>
        <p:txBody>
          <a:bodyPr xmlns:a="http://schemas.openxmlformats.org/drawingml/2006/main" wrap="square" lIns="152400" tIns="95250" rIns="152400" bIns="0" anchor="t">
            <a:noAutofit/>
          </a:bodyPr>
          <a:lstStyle xmlns:a="http://schemas.openxmlformats.org/drawingml/2006/main"/>
          <a:p xmlns:a="http://schemas.openxmlformats.org/drawingml/2006/main">
            <a:pPr algn="r">
              <a:lnSpc>
                <a:spcPct val="114000"/>
              </a:lnSpc>
              <a:buNone/>
              <a:defRPr sz="1125" b="1">
                <a:solidFill>
                  <a:srgbClr val="526571"/>
                </a:solidFill>
                <a:latin typeface="Yu Gothic UI"/>
                <a:ea typeface="Yu Gothic UI"/>
                <a:cs typeface="Yu Gothic UI"/>
              </a:defRPr>
            </a:pPr>
            <a:r>
              <a:rPr sz="1125" b="1">
                <a:solidFill>
                  <a:srgbClr val="526571"/>
                </a:solidFill>
                <a:latin typeface="Yu Gothic UI"/>
                <a:ea typeface="Yu Gothic UI"/>
                <a:cs typeface="Yu Gothic UI"/>
              </a:rPr>
              <a:t>GOOGLE ANTIGRAVITY</a:t>
            </a:r>
          </a:p>
        </p:txBody>
      </p:sp>
      <p:sp>
        <p:nvSpPr>
          <p:cNvPr id="13" name="Rectangle 12">
            <a:extLst xmlns:a="http://schemas.openxmlformats.org/drawingml/2006/main">
              <a:ext uri="{FF2B5EF4-FFF2-40B4-BE49-F238E27FC236}">
                <a16:creationId xmlns:a16="http://schemas.microsoft.com/office/drawing/2014/main" id="{6A9FB01C-28CD-4D29-B9D7-FDFC7F4D294E}"/>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pic>
        <p:nvPicPr>
          <p:cNvPr id="28" name="Picture 13"/>
          <p:cNvPicPr>
            <a:picLocks xmlns:a="http://schemas.openxmlformats.org/drawingml/2006/main" noChangeAspect="1"/>
          </p:cNvPicPr>
          <p:nvPr/>
        </p:nvPicPr>
        <p:blipFill>
          <a:blip xmlns:r="http://schemas.openxmlformats.org/officeDocument/2006/relationships" xmlns:a="http://schemas.openxmlformats.org/drawingml/2006/main" r:embed="Rfbdad0dccded493e"/>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563b3532c0e4d46"/>
          <a:stretch xmlns:a="http://schemas.openxmlformats.org/drawingml/2006/main"/>
        </p:blipFill>
        <p:spPr>
          <a:xfrm xmlns:a="http://schemas.openxmlformats.org/drawingml/2006/main">
            <a:off x="6400800" y="2714125"/>
            <a:ext cx="4933950" cy="1467850"/>
          </a:xfrm>
          <a:prstGeom xmlns:a="http://schemas.openxmlformats.org/drawingml/2006/main" prst="roundRect">
            <a:avLst>
              <a:gd name="adj" fmla="val 1158"/>
            </a:avLst>
          </a:prstGeom>
        </p:spPr>
      </p:pic>
    </p:spTree>
    <p:extLst>
      <p:ext uri="{BB962C8B-B14F-4D97-AF65-F5344CB8AC3E}">
        <p14:creationId xmlns:p14="http://schemas.microsoft.com/office/powerpoint/2010/main" val="1640357837"/>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GOAL  |  ONE WORKFLOW</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見せたいのはサイトではなく、AIエージェントとの仕事の進め方です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02 / 30</a:t>
            </a:r>
          </a:p>
        </p:txBody>
      </p:sp>
      <p:sp>
        <p:nvSpPr>
          <p:cNvPr id="10" name="">
            <a:extLst xmlns:a="http://schemas.openxmlformats.org/drawingml/2006/main">
              <a:ext uri="{FF2B5EF4-FFF2-40B4-BE49-F238E27FC236}">
                <a16:creationId xmlns:a16="http://schemas.microsoft.com/office/drawing/2014/main" id="{79327BF6-6782-4C92-AFD1-91FC01C70889}"/>
              </a:ext>
            </a:extLst>
          </p:cNvPr>
          <p:cNvSpPr>
            <a:spLocks xmlns:a="http://schemas.openxmlformats.org/drawingml/2006/main" noGrp="1"/>
          </p:cNvSpPr>
          <p:nvPr/>
        </p:nvSpPr>
        <p:spPr>
          <a:xfrm xmlns:a="http://schemas.openxmlformats.org/drawingml/2006/main">
            <a:off x="6477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B2533C32-E2C1-4CCF-A0DD-29445FB7E914}"/>
              </a:ext>
            </a:extLst>
          </p:cNvPr>
          <p:cNvSpPr>
            <a:spLocks xmlns:a="http://schemas.openxmlformats.org/drawingml/2006/main" noGrp="1"/>
          </p:cNvSpPr>
          <p:nvPr/>
        </p:nvSpPr>
        <p:spPr>
          <a:xfrm xmlns:a="http://schemas.openxmlformats.org/drawingml/2006/main">
            <a:off x="647700"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AD8630-1084-4DFC-929F-66FD77FCBF10}"/>
              </a:ext>
            </a:extLst>
          </p:cNvPr>
          <p:cNvSpPr>
            <a:spLocks xmlns:a="http://schemas.openxmlformats.org/drawingml/2006/main" noGrp="1"/>
          </p:cNvSpPr>
          <p:nvPr/>
        </p:nvSpPr>
        <p:spPr>
          <a:xfrm xmlns:a="http://schemas.openxmlformats.org/drawingml/2006/main">
            <a:off x="8191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60C1D5DE-E94E-4D5E-BE44-65AE8BDBED7F}"/>
              </a:ext>
            </a:extLst>
          </p:cNvPr>
          <p:cNvSpPr>
            <a:spLocks xmlns:a="http://schemas.openxmlformats.org/drawingml/2006/main" noGrp="1"/>
          </p:cNvSpPr>
          <p:nvPr/>
        </p:nvSpPr>
        <p:spPr>
          <a:xfrm xmlns:a="http://schemas.openxmlformats.org/drawingml/2006/main">
            <a:off x="8191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決める</a:t>
            </a:r>
          </a:p>
        </p:txBody>
      </p:sp>
      <p:sp>
        <p:nvSpPr>
          <p:cNvPr id="14" name="">
            <a:extLst xmlns:a="http://schemas.openxmlformats.org/drawingml/2006/main">
              <a:ext uri="{FF2B5EF4-FFF2-40B4-BE49-F238E27FC236}">
                <a16:creationId xmlns:a16="http://schemas.microsoft.com/office/drawing/2014/main" id="{BA3BA80E-EF10-4F2C-9BE7-FEF4C0F41B0E}"/>
              </a:ext>
            </a:extLst>
          </p:cNvPr>
          <p:cNvSpPr>
            <a:spLocks xmlns:a="http://schemas.openxmlformats.org/drawingml/2006/main" noGrp="1"/>
          </p:cNvSpPr>
          <p:nvPr/>
        </p:nvSpPr>
        <p:spPr>
          <a:xfrm xmlns:a="http://schemas.openxmlformats.org/drawingml/2006/main">
            <a:off x="8191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問い直して境界を固定</a:t>
            </a:r>
          </a:p>
        </p:txBody>
      </p:sp>
      <p:sp>
        <p:nvSpPr>
          <p:cNvPr id="15" name="">
            <a:extLst xmlns:a="http://schemas.openxmlformats.org/drawingml/2006/main">
              <a:ext uri="{FF2B5EF4-FFF2-40B4-BE49-F238E27FC236}">
                <a16:creationId xmlns:a16="http://schemas.microsoft.com/office/drawing/2014/main" id="{7FE2433F-1D88-4827-8BB8-4573C7C8B182}"/>
              </a:ext>
            </a:extLst>
          </p:cNvPr>
          <p:cNvSpPr>
            <a:spLocks xmlns:a="http://schemas.openxmlformats.org/drawingml/2006/main" noGrp="1"/>
          </p:cNvSpPr>
          <p:nvPr/>
        </p:nvSpPr>
        <p:spPr>
          <a:xfrm xmlns:a="http://schemas.openxmlformats.org/drawingml/2006/main">
            <a:off x="24860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263A97CE-9AB5-43C0-96D4-C5035BA8125D}"/>
              </a:ext>
            </a:extLst>
          </p:cNvPr>
          <p:cNvSpPr>
            <a:spLocks xmlns:a="http://schemas.openxmlformats.org/drawingml/2006/main" noGrp="1"/>
          </p:cNvSpPr>
          <p:nvPr/>
        </p:nvSpPr>
        <p:spPr>
          <a:xfrm xmlns:a="http://schemas.openxmlformats.org/drawingml/2006/main">
            <a:off x="2486025"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3FEE840-4F30-43E6-832A-4D2CFC1CF5B1}"/>
              </a:ext>
            </a:extLst>
          </p:cNvPr>
          <p:cNvSpPr>
            <a:spLocks xmlns:a="http://schemas.openxmlformats.org/drawingml/2006/main" noGrp="1"/>
          </p:cNvSpPr>
          <p:nvPr/>
        </p:nvSpPr>
        <p:spPr>
          <a:xfrm xmlns:a="http://schemas.openxmlformats.org/drawingml/2006/main">
            <a:off x="26574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05B5B8CA-1256-4CAE-A323-9E06DD41417A}"/>
              </a:ext>
            </a:extLst>
          </p:cNvPr>
          <p:cNvSpPr>
            <a:spLocks xmlns:a="http://schemas.openxmlformats.org/drawingml/2006/main" noGrp="1"/>
          </p:cNvSpPr>
          <p:nvPr/>
        </p:nvSpPr>
        <p:spPr>
          <a:xfrm xmlns:a="http://schemas.openxmlformats.org/drawingml/2006/main">
            <a:off x="26574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探す</a:t>
            </a:r>
          </a:p>
        </p:txBody>
      </p:sp>
      <p:sp>
        <p:nvSpPr>
          <p:cNvPr id="19" name="">
            <a:extLst xmlns:a="http://schemas.openxmlformats.org/drawingml/2006/main">
              <a:ext uri="{FF2B5EF4-FFF2-40B4-BE49-F238E27FC236}">
                <a16:creationId xmlns:a16="http://schemas.microsoft.com/office/drawing/2014/main" id="{1CD1AE3D-40C0-4A30-B522-B2AADDE19FC1}"/>
              </a:ext>
            </a:extLst>
          </p:cNvPr>
          <p:cNvSpPr>
            <a:spLocks xmlns:a="http://schemas.openxmlformats.org/drawingml/2006/main" noGrp="1"/>
          </p:cNvSpPr>
          <p:nvPr/>
        </p:nvSpPr>
        <p:spPr>
          <a:xfrm xmlns:a="http://schemas.openxmlformats.org/drawingml/2006/main">
            <a:off x="26574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Skillで専門能力を追加</a:t>
            </a:r>
          </a:p>
        </p:txBody>
      </p:sp>
      <p:sp>
        <p:nvSpPr>
          <p:cNvPr id="20" name="">
            <a:extLst xmlns:a="http://schemas.openxmlformats.org/drawingml/2006/main">
              <a:ext uri="{FF2B5EF4-FFF2-40B4-BE49-F238E27FC236}">
                <a16:creationId xmlns:a16="http://schemas.microsoft.com/office/drawing/2014/main" id="{B30E751F-0F8D-4C3D-91BE-2ECDFC376E69}"/>
              </a:ext>
            </a:extLst>
          </p:cNvPr>
          <p:cNvSpPr>
            <a:spLocks xmlns:a="http://schemas.openxmlformats.org/drawingml/2006/main" noGrp="1"/>
          </p:cNvSpPr>
          <p:nvPr/>
        </p:nvSpPr>
        <p:spPr>
          <a:xfrm xmlns:a="http://schemas.openxmlformats.org/drawingml/2006/main">
            <a:off x="432435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35549634-4312-4E71-95DB-0AFFF6FFCD33}"/>
              </a:ext>
            </a:extLst>
          </p:cNvPr>
          <p:cNvSpPr>
            <a:spLocks xmlns:a="http://schemas.openxmlformats.org/drawingml/2006/main" noGrp="1"/>
          </p:cNvSpPr>
          <p:nvPr/>
        </p:nvSpPr>
        <p:spPr>
          <a:xfrm xmlns:a="http://schemas.openxmlformats.org/drawingml/2006/main">
            <a:off x="4324350"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F296C6A-9D0D-4C16-8E40-05CC22920329}"/>
              </a:ext>
            </a:extLst>
          </p:cNvPr>
          <p:cNvSpPr>
            <a:spLocks xmlns:a="http://schemas.openxmlformats.org/drawingml/2006/main" noGrp="1"/>
          </p:cNvSpPr>
          <p:nvPr/>
        </p:nvSpPr>
        <p:spPr>
          <a:xfrm xmlns:a="http://schemas.openxmlformats.org/drawingml/2006/main">
            <a:off x="449580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9DFCDCFF-8805-4D2D-9357-4AB93D7A6F83}"/>
              </a:ext>
            </a:extLst>
          </p:cNvPr>
          <p:cNvSpPr>
            <a:spLocks xmlns:a="http://schemas.openxmlformats.org/drawingml/2006/main" noGrp="1"/>
          </p:cNvSpPr>
          <p:nvPr/>
        </p:nvSpPr>
        <p:spPr>
          <a:xfrm xmlns:a="http://schemas.openxmlformats.org/drawingml/2006/main">
            <a:off x="449580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作る</a:t>
            </a:r>
          </a:p>
        </p:txBody>
      </p:sp>
      <p:sp>
        <p:nvSpPr>
          <p:cNvPr id="24" name="">
            <a:extLst xmlns:a="http://schemas.openxmlformats.org/drawingml/2006/main">
              <a:ext uri="{FF2B5EF4-FFF2-40B4-BE49-F238E27FC236}">
                <a16:creationId xmlns:a16="http://schemas.microsoft.com/office/drawing/2014/main" id="{4318D2F8-F764-4BDE-88CD-96D1C2D14CEB}"/>
              </a:ext>
            </a:extLst>
          </p:cNvPr>
          <p:cNvSpPr>
            <a:spLocks xmlns:a="http://schemas.openxmlformats.org/drawingml/2006/main" noGrp="1"/>
          </p:cNvSpPr>
          <p:nvPr/>
        </p:nvSpPr>
        <p:spPr>
          <a:xfrm xmlns:a="http://schemas.openxmlformats.org/drawingml/2006/main">
            <a:off x="449580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初版を短時間で実装</a:t>
            </a:r>
          </a:p>
        </p:txBody>
      </p:sp>
      <p:sp>
        <p:nvSpPr>
          <p:cNvPr id="25" name="">
            <a:extLst xmlns:a="http://schemas.openxmlformats.org/drawingml/2006/main">
              <a:ext uri="{FF2B5EF4-FFF2-40B4-BE49-F238E27FC236}">
                <a16:creationId xmlns:a16="http://schemas.microsoft.com/office/drawing/2014/main" id="{BE13B102-EB78-4C84-8231-E3D0B94579E3}"/>
              </a:ext>
            </a:extLst>
          </p:cNvPr>
          <p:cNvSpPr>
            <a:spLocks xmlns:a="http://schemas.openxmlformats.org/drawingml/2006/main" noGrp="1"/>
          </p:cNvSpPr>
          <p:nvPr/>
        </p:nvSpPr>
        <p:spPr>
          <a:xfrm xmlns:a="http://schemas.openxmlformats.org/drawingml/2006/main">
            <a:off x="616267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8A51D04E-938E-461D-972B-56C0DE96559B}"/>
              </a:ext>
            </a:extLst>
          </p:cNvPr>
          <p:cNvSpPr>
            <a:spLocks xmlns:a="http://schemas.openxmlformats.org/drawingml/2006/main" noGrp="1"/>
          </p:cNvSpPr>
          <p:nvPr/>
        </p:nvSpPr>
        <p:spPr>
          <a:xfrm xmlns:a="http://schemas.openxmlformats.org/drawingml/2006/main">
            <a:off x="6162675"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9686EA1-6314-4FF2-A318-3CEFCB134FF9}"/>
              </a:ext>
            </a:extLst>
          </p:cNvPr>
          <p:cNvSpPr>
            <a:spLocks xmlns:a="http://schemas.openxmlformats.org/drawingml/2006/main" noGrp="1"/>
          </p:cNvSpPr>
          <p:nvPr/>
        </p:nvSpPr>
        <p:spPr>
          <a:xfrm xmlns:a="http://schemas.openxmlformats.org/drawingml/2006/main">
            <a:off x="633412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3A8891A5-7405-4DB5-92FB-B68AC388B600}"/>
              </a:ext>
            </a:extLst>
          </p:cNvPr>
          <p:cNvSpPr>
            <a:spLocks xmlns:a="http://schemas.openxmlformats.org/drawingml/2006/main" noGrp="1"/>
          </p:cNvSpPr>
          <p:nvPr/>
        </p:nvSpPr>
        <p:spPr>
          <a:xfrm xmlns:a="http://schemas.openxmlformats.org/drawingml/2006/main">
            <a:off x="633412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改善</a:t>
            </a:r>
          </a:p>
        </p:txBody>
      </p:sp>
      <p:sp>
        <p:nvSpPr>
          <p:cNvPr id="29" name="">
            <a:extLst xmlns:a="http://schemas.openxmlformats.org/drawingml/2006/main">
              <a:ext uri="{FF2B5EF4-FFF2-40B4-BE49-F238E27FC236}">
                <a16:creationId xmlns:a16="http://schemas.microsoft.com/office/drawing/2014/main" id="{06DB68E6-E9F2-4BBB-8AA0-0A991A924F0D}"/>
              </a:ext>
            </a:extLst>
          </p:cNvPr>
          <p:cNvSpPr>
            <a:spLocks xmlns:a="http://schemas.openxmlformats.org/drawingml/2006/main" noGrp="1"/>
          </p:cNvSpPr>
          <p:nvPr/>
        </p:nvSpPr>
        <p:spPr>
          <a:xfrm xmlns:a="http://schemas.openxmlformats.org/drawingml/2006/main">
            <a:off x="633412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具体条件で品質を上げる</a:t>
            </a:r>
          </a:p>
        </p:txBody>
      </p:sp>
      <p:sp>
        <p:nvSpPr>
          <p:cNvPr id="30" name="">
            <a:extLst xmlns:a="http://schemas.openxmlformats.org/drawingml/2006/main">
              <a:ext uri="{FF2B5EF4-FFF2-40B4-BE49-F238E27FC236}">
                <a16:creationId xmlns:a16="http://schemas.microsoft.com/office/drawing/2014/main" id="{0B82F9B4-28F1-4614-83D8-F17FFA8B3F6A}"/>
              </a:ext>
            </a:extLst>
          </p:cNvPr>
          <p:cNvSpPr>
            <a:spLocks xmlns:a="http://schemas.openxmlformats.org/drawingml/2006/main" noGrp="1"/>
          </p:cNvSpPr>
          <p:nvPr/>
        </p:nvSpPr>
        <p:spPr>
          <a:xfrm xmlns:a="http://schemas.openxmlformats.org/drawingml/2006/main">
            <a:off x="80010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E0ECD039-E665-4ED5-B2E1-CC416210B652}"/>
              </a:ext>
            </a:extLst>
          </p:cNvPr>
          <p:cNvSpPr>
            <a:spLocks xmlns:a="http://schemas.openxmlformats.org/drawingml/2006/main" noGrp="1"/>
          </p:cNvSpPr>
          <p:nvPr/>
        </p:nvSpPr>
        <p:spPr>
          <a:xfrm xmlns:a="http://schemas.openxmlformats.org/drawingml/2006/main">
            <a:off x="8001000"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05177A6-C4DD-41E5-9439-A81FFE97F7F1}"/>
              </a:ext>
            </a:extLst>
          </p:cNvPr>
          <p:cNvSpPr>
            <a:spLocks xmlns:a="http://schemas.openxmlformats.org/drawingml/2006/main" noGrp="1"/>
          </p:cNvSpPr>
          <p:nvPr/>
        </p:nvSpPr>
        <p:spPr>
          <a:xfrm xmlns:a="http://schemas.openxmlformats.org/drawingml/2006/main">
            <a:off x="81724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9DE0E33A-F745-4503-83BF-37ADF26A1A5C}"/>
              </a:ext>
            </a:extLst>
          </p:cNvPr>
          <p:cNvSpPr>
            <a:spLocks xmlns:a="http://schemas.openxmlformats.org/drawingml/2006/main" noGrp="1"/>
          </p:cNvSpPr>
          <p:nvPr/>
        </p:nvSpPr>
        <p:spPr>
          <a:xfrm xmlns:a="http://schemas.openxmlformats.org/drawingml/2006/main">
            <a:off x="81724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検証</a:t>
            </a:r>
          </a:p>
        </p:txBody>
      </p:sp>
      <p:sp>
        <p:nvSpPr>
          <p:cNvPr id="34" name="">
            <a:extLst xmlns:a="http://schemas.openxmlformats.org/drawingml/2006/main">
              <a:ext uri="{FF2B5EF4-FFF2-40B4-BE49-F238E27FC236}">
                <a16:creationId xmlns:a16="http://schemas.microsoft.com/office/drawing/2014/main" id="{1441F5C3-1D8A-4CFC-BD80-789C422F8ED1}"/>
              </a:ext>
            </a:extLst>
          </p:cNvPr>
          <p:cNvSpPr>
            <a:spLocks xmlns:a="http://schemas.openxmlformats.org/drawingml/2006/main" noGrp="1"/>
          </p:cNvSpPr>
          <p:nvPr/>
        </p:nvSpPr>
        <p:spPr>
          <a:xfrm xmlns:a="http://schemas.openxmlformats.org/drawingml/2006/main">
            <a:off x="81724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Browser / MCPで証拠化</a:t>
            </a:r>
          </a:p>
        </p:txBody>
      </p:sp>
      <p:sp>
        <p:nvSpPr>
          <p:cNvPr id="35" name="">
            <a:extLst xmlns:a="http://schemas.openxmlformats.org/drawingml/2006/main">
              <a:ext uri="{FF2B5EF4-FFF2-40B4-BE49-F238E27FC236}">
                <a16:creationId xmlns:a16="http://schemas.microsoft.com/office/drawing/2014/main" id="{E9AAAEF0-7EDD-4CC3-99F4-B08CDF01C868}"/>
              </a:ext>
            </a:extLst>
          </p:cNvPr>
          <p:cNvSpPr>
            <a:spLocks xmlns:a="http://schemas.openxmlformats.org/drawingml/2006/main" noGrp="1"/>
          </p:cNvSpPr>
          <p:nvPr/>
        </p:nvSpPr>
        <p:spPr>
          <a:xfrm xmlns:a="http://schemas.openxmlformats.org/drawingml/2006/main">
            <a:off x="98393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98CBCD93-DDCC-4508-BF57-690541C89226}"/>
              </a:ext>
            </a:extLst>
          </p:cNvPr>
          <p:cNvSpPr>
            <a:spLocks xmlns:a="http://schemas.openxmlformats.org/drawingml/2006/main" noGrp="1"/>
          </p:cNvSpPr>
          <p:nvPr/>
        </p:nvSpPr>
        <p:spPr>
          <a:xfrm xmlns:a="http://schemas.openxmlformats.org/drawingml/2006/main">
            <a:off x="9839325"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BABD62E7-3124-468D-B6F8-D9E05F4F92A5}"/>
              </a:ext>
            </a:extLst>
          </p:cNvPr>
          <p:cNvSpPr>
            <a:spLocks xmlns:a="http://schemas.openxmlformats.org/drawingml/2006/main" noGrp="1"/>
          </p:cNvSpPr>
          <p:nvPr/>
        </p:nvSpPr>
        <p:spPr>
          <a:xfrm xmlns:a="http://schemas.openxmlformats.org/drawingml/2006/main">
            <a:off x="100107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6D92C02F-1264-476F-859F-5CB125CAA0C6}"/>
              </a:ext>
            </a:extLst>
          </p:cNvPr>
          <p:cNvSpPr>
            <a:spLocks xmlns:a="http://schemas.openxmlformats.org/drawingml/2006/main" noGrp="1"/>
          </p:cNvSpPr>
          <p:nvPr/>
        </p:nvSpPr>
        <p:spPr>
          <a:xfrm xmlns:a="http://schemas.openxmlformats.org/drawingml/2006/main">
            <a:off x="100107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共有</a:t>
            </a:r>
          </a:p>
        </p:txBody>
      </p:sp>
      <p:sp>
        <p:nvSpPr>
          <p:cNvPr id="39" name="">
            <a:extLst xmlns:a="http://schemas.openxmlformats.org/drawingml/2006/main">
              <a:ext uri="{FF2B5EF4-FFF2-40B4-BE49-F238E27FC236}">
                <a16:creationId xmlns:a16="http://schemas.microsoft.com/office/drawing/2014/main" id="{B73F76C5-71CF-48EF-AB19-15117AC6F087}"/>
              </a:ext>
            </a:extLst>
          </p:cNvPr>
          <p:cNvSpPr>
            <a:spLocks xmlns:a="http://schemas.openxmlformats.org/drawingml/2006/main" noGrp="1"/>
          </p:cNvSpPr>
          <p:nvPr/>
        </p:nvSpPr>
        <p:spPr>
          <a:xfrm xmlns:a="http://schemas.openxmlformats.org/drawingml/2006/main">
            <a:off x="100107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人の承認後に公開</a:t>
            </a:r>
          </a:p>
        </p:txBody>
      </p:sp>
      <p:sp>
        <p:nvSpPr>
          <p:cNvPr id="40" name="">
            <a:extLst xmlns:a="http://schemas.openxmlformats.org/drawingml/2006/main">
              <a:ext uri="{FF2B5EF4-FFF2-40B4-BE49-F238E27FC236}">
                <a16:creationId xmlns:a16="http://schemas.microsoft.com/office/drawing/2014/main" id="{89D1F27D-DFAA-42C0-900C-D531B40C9088}"/>
              </a:ext>
            </a:extLst>
          </p:cNvPr>
          <p:cNvSpPr>
            <a:spLocks xmlns:a="http://schemas.openxmlformats.org/drawingml/2006/main" noGrp="1"/>
          </p:cNvSpPr>
          <p:nvPr/>
        </p:nvSpPr>
        <p:spPr>
          <a:xfrm xmlns:a="http://schemas.openxmlformats.org/drawingml/2006/main">
            <a:off x="1714500" y="4324350"/>
            <a:ext cx="8763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人が目的・境界・承認を持ち、エージェントが計画・実行・検証をつなぐ</a:t>
            </a:r>
          </a:p>
        </p:txBody>
      </p:sp>
    </p:spTree>
    <p:extLst>
      <p:ext uri="{BB962C8B-B14F-4D97-AF65-F5344CB8AC3E}">
        <p14:creationId xmlns:p14="http://schemas.microsoft.com/office/powerpoint/2010/main" val="101826840"/>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ORIENTATION  |  FIVE PRODUCTS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同じAIエージェントでも、得意な仕事と操作面が違います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03 / 30</a:t>
            </a:r>
          </a:p>
        </p:txBody>
      </p:sp>
      <p:sp>
        <p:nvSpPr>
          <p:cNvPr id="10" name="">
            <a:extLst xmlns:a="http://schemas.openxmlformats.org/drawingml/2006/main">
              <a:ext uri="{FF2B5EF4-FFF2-40B4-BE49-F238E27FC236}">
                <a16:creationId xmlns:a16="http://schemas.microsoft.com/office/drawing/2014/main" id="{128915F5-8FC6-4946-80D9-BCA90937EB03}"/>
              </a:ext>
            </a:extLst>
          </p:cNvPr>
          <p:cNvSpPr>
            <a:spLocks xmlns:a="http://schemas.openxmlformats.org/drawingml/2006/main" noGrp="1"/>
          </p:cNvSpPr>
          <p:nvPr/>
        </p:nvSpPr>
        <p:spPr>
          <a:xfrm xmlns:a="http://schemas.openxmlformats.org/drawingml/2006/main">
            <a:off x="64770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7C6AE576-1619-4935-B241-2915CC8C6DEC}"/>
              </a:ext>
            </a:extLst>
          </p:cNvPr>
          <p:cNvSpPr>
            <a:spLocks xmlns:a="http://schemas.openxmlformats.org/drawingml/2006/main" noGrp="1"/>
          </p:cNvSpPr>
          <p:nvPr/>
        </p:nvSpPr>
        <p:spPr>
          <a:xfrm xmlns:a="http://schemas.openxmlformats.org/drawingml/2006/main">
            <a:off x="647700" y="1714500"/>
            <a:ext cx="2072640"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78D1F6-85BF-4CC4-AB9E-5BFA1B8DF789}"/>
              </a:ext>
            </a:extLst>
          </p:cNvPr>
          <p:cNvSpPr>
            <a:spLocks xmlns:a="http://schemas.openxmlformats.org/drawingml/2006/main" noGrp="1"/>
          </p:cNvSpPr>
          <p:nvPr/>
        </p:nvSpPr>
        <p:spPr>
          <a:xfrm xmlns:a="http://schemas.openxmlformats.org/drawingml/2006/main">
            <a:off x="81915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00A5E3"/>
                </a:solidFill>
                <a:latin typeface="Yu Gothic UI"/>
                <a:ea typeface="Yu Gothic UI"/>
                <a:cs typeface="Yu Gothic UI"/>
              </a:defRPr>
            </a:pPr>
            <a:r>
              <a:rPr sz="1650" b="1">
                <a:solidFill>
                  <a:srgbClr val="00A5E3"/>
                </a:solidFill>
                <a:latin typeface="Yu Gothic UI"/>
                <a:ea typeface="Yu Gothic UI"/>
                <a:cs typeface="Yu Gothic UI"/>
              </a:rPr>
              <a:t>Codex</a:t>
            </a:r>
          </a:p>
        </p:txBody>
      </p:sp>
      <p:sp>
        <p:nvSpPr>
          <p:cNvPr id="13" name="">
            <a:extLst xmlns:a="http://schemas.openxmlformats.org/drawingml/2006/main">
              <a:ext uri="{FF2B5EF4-FFF2-40B4-BE49-F238E27FC236}">
                <a16:creationId xmlns:a16="http://schemas.microsoft.com/office/drawing/2014/main" id="{6170618E-9942-4DF7-8BBF-33EA3EB21E65}"/>
              </a:ext>
            </a:extLst>
          </p:cNvPr>
          <p:cNvSpPr>
            <a:spLocks xmlns:a="http://schemas.openxmlformats.org/drawingml/2006/main" noGrp="1"/>
          </p:cNvSpPr>
          <p:nvPr/>
        </p:nvSpPr>
        <p:spPr>
          <a:xfrm xmlns:a="http://schemas.openxmlformats.org/drawingml/2006/main">
            <a:off x="81915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14" name="">
            <a:extLst xmlns:a="http://schemas.openxmlformats.org/drawingml/2006/main">
              <a:ext uri="{FF2B5EF4-FFF2-40B4-BE49-F238E27FC236}">
                <a16:creationId xmlns:a16="http://schemas.microsoft.com/office/drawing/2014/main" id="{3C4E9BA3-086A-47FE-9D90-264CB44C3584}"/>
              </a:ext>
            </a:extLst>
          </p:cNvPr>
          <p:cNvSpPr>
            <a:spLocks xmlns:a="http://schemas.openxmlformats.org/drawingml/2006/main" noGrp="1"/>
          </p:cNvSpPr>
          <p:nvPr/>
        </p:nvSpPr>
        <p:spPr>
          <a:xfrm xmlns:a="http://schemas.openxmlformats.org/drawingml/2006/main">
            <a:off x="81915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開発 + 周辺業務</a:t>
            </a:r>
          </a:p>
        </p:txBody>
      </p:sp>
      <p:sp>
        <p:nvSpPr>
          <p:cNvPr id="15" name="">
            <a:extLst xmlns:a="http://schemas.openxmlformats.org/drawingml/2006/main">
              <a:ext uri="{FF2B5EF4-FFF2-40B4-BE49-F238E27FC236}">
                <a16:creationId xmlns:a16="http://schemas.microsoft.com/office/drawing/2014/main" id="{618BC3E2-D3C6-4CED-8049-B20EEE46DFDB}"/>
              </a:ext>
            </a:extLst>
          </p:cNvPr>
          <p:cNvSpPr>
            <a:spLocks xmlns:a="http://schemas.openxmlformats.org/drawingml/2006/main" noGrp="1"/>
          </p:cNvSpPr>
          <p:nvPr/>
        </p:nvSpPr>
        <p:spPr>
          <a:xfrm xmlns:a="http://schemas.openxmlformats.org/drawingml/2006/main">
            <a:off x="81915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16" name="">
            <a:extLst xmlns:a="http://schemas.openxmlformats.org/drawingml/2006/main">
              <a:ext uri="{FF2B5EF4-FFF2-40B4-BE49-F238E27FC236}">
                <a16:creationId xmlns:a16="http://schemas.microsoft.com/office/drawing/2014/main" id="{37B599BD-0C42-4AC7-A596-C74E2A792298}"/>
              </a:ext>
            </a:extLst>
          </p:cNvPr>
          <p:cNvSpPr>
            <a:spLocks xmlns:a="http://schemas.openxmlformats.org/drawingml/2006/main" noGrp="1"/>
          </p:cNvSpPr>
          <p:nvPr/>
        </p:nvSpPr>
        <p:spPr>
          <a:xfrm xmlns:a="http://schemas.openxmlformats.org/drawingml/2006/main">
            <a:off x="81915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CLI / IDE / cloud</a:t>
            </a:r>
          </a:p>
        </p:txBody>
      </p:sp>
      <p:sp>
        <p:nvSpPr>
          <p:cNvPr id="17" name="">
            <a:extLst xmlns:a="http://schemas.openxmlformats.org/drawingml/2006/main">
              <a:ext uri="{FF2B5EF4-FFF2-40B4-BE49-F238E27FC236}">
                <a16:creationId xmlns:a16="http://schemas.microsoft.com/office/drawing/2014/main" id="{B4716DDB-EA21-4822-A625-6BCB97962793}"/>
              </a:ext>
            </a:extLst>
          </p:cNvPr>
          <p:cNvSpPr>
            <a:spLocks xmlns:a="http://schemas.openxmlformats.org/drawingml/2006/main" noGrp="1"/>
          </p:cNvSpPr>
          <p:nvPr/>
        </p:nvSpPr>
        <p:spPr>
          <a:xfrm xmlns:a="http://schemas.openxmlformats.org/drawingml/2006/main">
            <a:off x="285369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2108F99B-DC90-4527-8E97-881C26DB8020}"/>
              </a:ext>
            </a:extLst>
          </p:cNvPr>
          <p:cNvSpPr>
            <a:spLocks xmlns:a="http://schemas.openxmlformats.org/drawingml/2006/main" noGrp="1"/>
          </p:cNvSpPr>
          <p:nvPr/>
        </p:nvSpPr>
        <p:spPr>
          <a:xfrm xmlns:a="http://schemas.openxmlformats.org/drawingml/2006/main">
            <a:off x="2853690" y="1714500"/>
            <a:ext cx="2072640"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1C72DF1-1673-4AB3-B7F3-0014938BFE3A}"/>
              </a:ext>
            </a:extLst>
          </p:cNvPr>
          <p:cNvSpPr>
            <a:spLocks xmlns:a="http://schemas.openxmlformats.org/drawingml/2006/main" noGrp="1"/>
          </p:cNvSpPr>
          <p:nvPr/>
        </p:nvSpPr>
        <p:spPr>
          <a:xfrm xmlns:a="http://schemas.openxmlformats.org/drawingml/2006/main">
            <a:off x="302514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EF7E00"/>
                </a:solidFill>
                <a:latin typeface="Yu Gothic UI"/>
                <a:ea typeface="Yu Gothic UI"/>
                <a:cs typeface="Yu Gothic UI"/>
              </a:defRPr>
            </a:pPr>
            <a:r>
              <a:rPr sz="1650" b="1">
                <a:solidFill>
                  <a:srgbClr val="EF7E00"/>
                </a:solidFill>
                <a:latin typeface="Yu Gothic UI"/>
                <a:ea typeface="Yu Gothic UI"/>
                <a:cs typeface="Yu Gothic UI"/>
              </a:rPr>
              <a:t>Claude Code</a:t>
            </a:r>
          </a:p>
        </p:txBody>
      </p:sp>
      <p:sp>
        <p:nvSpPr>
          <p:cNvPr id="20" name="">
            <a:extLst xmlns:a="http://schemas.openxmlformats.org/drawingml/2006/main">
              <a:ext uri="{FF2B5EF4-FFF2-40B4-BE49-F238E27FC236}">
                <a16:creationId xmlns:a16="http://schemas.microsoft.com/office/drawing/2014/main" id="{B90076E7-7BB5-4A7E-8574-2EDAD9228829}"/>
              </a:ext>
            </a:extLst>
          </p:cNvPr>
          <p:cNvSpPr>
            <a:spLocks xmlns:a="http://schemas.openxmlformats.org/drawingml/2006/main" noGrp="1"/>
          </p:cNvSpPr>
          <p:nvPr/>
        </p:nvSpPr>
        <p:spPr>
          <a:xfrm xmlns:a="http://schemas.openxmlformats.org/drawingml/2006/main">
            <a:off x="302514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1" name="">
            <a:extLst xmlns:a="http://schemas.openxmlformats.org/drawingml/2006/main">
              <a:ext uri="{FF2B5EF4-FFF2-40B4-BE49-F238E27FC236}">
                <a16:creationId xmlns:a16="http://schemas.microsoft.com/office/drawing/2014/main" id="{F9FC8D1E-3F5B-4DF8-AAD1-DAC9FECD4856}"/>
              </a:ext>
            </a:extLst>
          </p:cNvPr>
          <p:cNvSpPr>
            <a:spLocks xmlns:a="http://schemas.openxmlformats.org/drawingml/2006/main" noGrp="1"/>
          </p:cNvSpPr>
          <p:nvPr/>
        </p:nvSpPr>
        <p:spPr>
          <a:xfrm xmlns:a="http://schemas.openxmlformats.org/drawingml/2006/main">
            <a:off x="302514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ソフトウェア開発</a:t>
            </a:r>
          </a:p>
        </p:txBody>
      </p:sp>
      <p:sp>
        <p:nvSpPr>
          <p:cNvPr id="22" name="">
            <a:extLst xmlns:a="http://schemas.openxmlformats.org/drawingml/2006/main">
              <a:ext uri="{FF2B5EF4-FFF2-40B4-BE49-F238E27FC236}">
                <a16:creationId xmlns:a16="http://schemas.microsoft.com/office/drawing/2014/main" id="{0E6C4FD2-A36D-4CA2-A10D-634ADADD6AFE}"/>
              </a:ext>
            </a:extLst>
          </p:cNvPr>
          <p:cNvSpPr>
            <a:spLocks xmlns:a="http://schemas.openxmlformats.org/drawingml/2006/main" noGrp="1"/>
          </p:cNvSpPr>
          <p:nvPr/>
        </p:nvSpPr>
        <p:spPr>
          <a:xfrm xmlns:a="http://schemas.openxmlformats.org/drawingml/2006/main">
            <a:off x="302514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23" name="">
            <a:extLst xmlns:a="http://schemas.openxmlformats.org/drawingml/2006/main">
              <a:ext uri="{FF2B5EF4-FFF2-40B4-BE49-F238E27FC236}">
                <a16:creationId xmlns:a16="http://schemas.microsoft.com/office/drawing/2014/main" id="{79790A04-9BD3-4B8D-9096-D1935BA7CE33}"/>
              </a:ext>
            </a:extLst>
          </p:cNvPr>
          <p:cNvSpPr>
            <a:spLocks xmlns:a="http://schemas.openxmlformats.org/drawingml/2006/main" noGrp="1"/>
          </p:cNvSpPr>
          <p:nvPr/>
        </p:nvSpPr>
        <p:spPr>
          <a:xfrm xmlns:a="http://schemas.openxmlformats.org/drawingml/2006/main">
            <a:off x="302514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terminal / IDE / desktop / web</a:t>
            </a:r>
          </a:p>
        </p:txBody>
      </p:sp>
      <p:sp>
        <p:nvSpPr>
          <p:cNvPr id="24" name="">
            <a:extLst xmlns:a="http://schemas.openxmlformats.org/drawingml/2006/main">
              <a:ext uri="{FF2B5EF4-FFF2-40B4-BE49-F238E27FC236}">
                <a16:creationId xmlns:a16="http://schemas.microsoft.com/office/drawing/2014/main" id="{17D28154-FFDB-4F08-9DB9-3CDD170735B0}"/>
              </a:ext>
            </a:extLst>
          </p:cNvPr>
          <p:cNvSpPr>
            <a:spLocks xmlns:a="http://schemas.openxmlformats.org/drawingml/2006/main" noGrp="1"/>
          </p:cNvSpPr>
          <p:nvPr/>
        </p:nvSpPr>
        <p:spPr>
          <a:xfrm xmlns:a="http://schemas.openxmlformats.org/drawingml/2006/main">
            <a:off x="505968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F466B053-8BCA-4A4A-AA5D-765C4026B53D}"/>
              </a:ext>
            </a:extLst>
          </p:cNvPr>
          <p:cNvSpPr>
            <a:spLocks xmlns:a="http://schemas.openxmlformats.org/drawingml/2006/main" noGrp="1"/>
          </p:cNvSpPr>
          <p:nvPr/>
        </p:nvSpPr>
        <p:spPr>
          <a:xfrm xmlns:a="http://schemas.openxmlformats.org/drawingml/2006/main">
            <a:off x="5059680" y="1714500"/>
            <a:ext cx="2072640"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4CB6749-BFC1-42E8-AA76-5CB3D930C20B}"/>
              </a:ext>
            </a:extLst>
          </p:cNvPr>
          <p:cNvSpPr>
            <a:spLocks xmlns:a="http://schemas.openxmlformats.org/drawingml/2006/main" noGrp="1"/>
          </p:cNvSpPr>
          <p:nvPr/>
        </p:nvSpPr>
        <p:spPr>
          <a:xfrm xmlns:a="http://schemas.openxmlformats.org/drawingml/2006/main">
            <a:off x="523113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2F9E63"/>
                </a:solidFill>
                <a:latin typeface="Yu Gothic UI"/>
                <a:ea typeface="Yu Gothic UI"/>
                <a:cs typeface="Yu Gothic UI"/>
              </a:defRPr>
            </a:pPr>
            <a:r>
              <a:rPr sz="1650" b="1">
                <a:solidFill>
                  <a:srgbClr val="2F9E63"/>
                </a:solidFill>
                <a:latin typeface="Yu Gothic UI"/>
                <a:ea typeface="Yu Gothic UI"/>
                <a:cs typeface="Yu Gothic UI"/>
              </a:rPr>
              <a:t>Claude Cowork</a:t>
            </a:r>
          </a:p>
        </p:txBody>
      </p:sp>
      <p:sp>
        <p:nvSpPr>
          <p:cNvPr id="27" name="">
            <a:extLst xmlns:a="http://schemas.openxmlformats.org/drawingml/2006/main">
              <a:ext uri="{FF2B5EF4-FFF2-40B4-BE49-F238E27FC236}">
                <a16:creationId xmlns:a16="http://schemas.microsoft.com/office/drawing/2014/main" id="{D7A49AF3-9556-4192-B47B-755BCFB6B00A}"/>
              </a:ext>
            </a:extLst>
          </p:cNvPr>
          <p:cNvSpPr>
            <a:spLocks xmlns:a="http://schemas.openxmlformats.org/drawingml/2006/main" noGrp="1"/>
          </p:cNvSpPr>
          <p:nvPr/>
        </p:nvSpPr>
        <p:spPr>
          <a:xfrm xmlns:a="http://schemas.openxmlformats.org/drawingml/2006/main">
            <a:off x="523113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8" name="">
            <a:extLst xmlns:a="http://schemas.openxmlformats.org/drawingml/2006/main">
              <a:ext uri="{FF2B5EF4-FFF2-40B4-BE49-F238E27FC236}">
                <a16:creationId xmlns:a16="http://schemas.microsoft.com/office/drawing/2014/main" id="{13ECE18D-1776-4304-A4F8-81C2B097B24F}"/>
              </a:ext>
            </a:extLst>
          </p:cNvPr>
          <p:cNvSpPr>
            <a:spLocks xmlns:a="http://schemas.openxmlformats.org/drawingml/2006/main" noGrp="1"/>
          </p:cNvSpPr>
          <p:nvPr/>
        </p:nvSpPr>
        <p:spPr>
          <a:xfrm xmlns:a="http://schemas.openxmlformats.org/drawingml/2006/main">
            <a:off x="523113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ナレッジワーク</a:t>
            </a:r>
          </a:p>
        </p:txBody>
      </p:sp>
      <p:sp>
        <p:nvSpPr>
          <p:cNvPr id="29" name="">
            <a:extLst xmlns:a="http://schemas.openxmlformats.org/drawingml/2006/main">
              <a:ext uri="{FF2B5EF4-FFF2-40B4-BE49-F238E27FC236}">
                <a16:creationId xmlns:a16="http://schemas.microsoft.com/office/drawing/2014/main" id="{79019C45-D067-44DB-B866-5334781EE150}"/>
              </a:ext>
            </a:extLst>
          </p:cNvPr>
          <p:cNvSpPr>
            <a:spLocks xmlns:a="http://schemas.openxmlformats.org/drawingml/2006/main" noGrp="1"/>
          </p:cNvSpPr>
          <p:nvPr/>
        </p:nvSpPr>
        <p:spPr>
          <a:xfrm xmlns:a="http://schemas.openxmlformats.org/drawingml/2006/main">
            <a:off x="523113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0" name="">
            <a:extLst xmlns:a="http://schemas.openxmlformats.org/drawingml/2006/main">
              <a:ext uri="{FF2B5EF4-FFF2-40B4-BE49-F238E27FC236}">
                <a16:creationId xmlns:a16="http://schemas.microsoft.com/office/drawing/2014/main" id="{D4A9571F-8105-4A95-B7FB-6E00EC3CBF20}"/>
              </a:ext>
            </a:extLst>
          </p:cNvPr>
          <p:cNvSpPr>
            <a:spLocks xmlns:a="http://schemas.openxmlformats.org/drawingml/2006/main" noGrp="1"/>
          </p:cNvSpPr>
          <p:nvPr/>
        </p:nvSpPr>
        <p:spPr>
          <a:xfrm xmlns:a="http://schemas.openxmlformats.org/drawingml/2006/main">
            <a:off x="523113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web・mobile beta</a:t>
            </a:r>
          </a:p>
        </p:txBody>
      </p:sp>
      <p:sp>
        <p:nvSpPr>
          <p:cNvPr id="31" name="">
            <a:extLst xmlns:a="http://schemas.openxmlformats.org/drawingml/2006/main">
              <a:ext uri="{FF2B5EF4-FFF2-40B4-BE49-F238E27FC236}">
                <a16:creationId xmlns:a16="http://schemas.microsoft.com/office/drawing/2014/main" id="{A2510AC4-0864-48B4-BD1B-D6D8C14EF8F0}"/>
              </a:ext>
            </a:extLst>
          </p:cNvPr>
          <p:cNvSpPr>
            <a:spLocks xmlns:a="http://schemas.openxmlformats.org/drawingml/2006/main" noGrp="1"/>
          </p:cNvSpPr>
          <p:nvPr/>
        </p:nvSpPr>
        <p:spPr>
          <a:xfrm xmlns:a="http://schemas.openxmlformats.org/drawingml/2006/main">
            <a:off x="726567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2" name="">
            <a:extLst xmlns:a="http://schemas.openxmlformats.org/drawingml/2006/main">
              <a:ext uri="{FF2B5EF4-FFF2-40B4-BE49-F238E27FC236}">
                <a16:creationId xmlns:a16="http://schemas.microsoft.com/office/drawing/2014/main" id="{CEC70A90-AAFC-45E0-BC05-38F5B18E2021}"/>
              </a:ext>
            </a:extLst>
          </p:cNvPr>
          <p:cNvSpPr>
            <a:spLocks xmlns:a="http://schemas.openxmlformats.org/drawingml/2006/main" noGrp="1"/>
          </p:cNvSpPr>
          <p:nvPr/>
        </p:nvSpPr>
        <p:spPr>
          <a:xfrm xmlns:a="http://schemas.openxmlformats.org/drawingml/2006/main">
            <a:off x="7265670" y="1714500"/>
            <a:ext cx="2072640"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23723E5-A8F6-4702-AFF5-9941C4160302}"/>
              </a:ext>
            </a:extLst>
          </p:cNvPr>
          <p:cNvSpPr>
            <a:spLocks xmlns:a="http://schemas.openxmlformats.org/drawingml/2006/main" noGrp="1"/>
          </p:cNvSpPr>
          <p:nvPr/>
        </p:nvSpPr>
        <p:spPr>
          <a:xfrm xmlns:a="http://schemas.openxmlformats.org/drawingml/2006/main">
            <a:off x="743712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7B61A8"/>
                </a:solidFill>
                <a:latin typeface="Yu Gothic UI"/>
                <a:ea typeface="Yu Gothic UI"/>
                <a:cs typeface="Yu Gothic UI"/>
              </a:defRPr>
            </a:pPr>
            <a:r>
              <a:rPr sz="1650" b="1">
                <a:solidFill>
                  <a:srgbClr val="7B61A8"/>
                </a:solidFill>
                <a:latin typeface="Yu Gothic UI"/>
                <a:ea typeface="Yu Gothic UI"/>
                <a:cs typeface="Yu Gothic UI"/>
              </a:rPr>
              <a:t>Kiro</a:t>
            </a:r>
          </a:p>
        </p:txBody>
      </p:sp>
      <p:sp>
        <p:nvSpPr>
          <p:cNvPr id="34" name="">
            <a:extLst xmlns:a="http://schemas.openxmlformats.org/drawingml/2006/main">
              <a:ext uri="{FF2B5EF4-FFF2-40B4-BE49-F238E27FC236}">
                <a16:creationId xmlns:a16="http://schemas.microsoft.com/office/drawing/2014/main" id="{3BB73BB4-5BCE-4913-BC1A-A4A296045ABB}"/>
              </a:ext>
            </a:extLst>
          </p:cNvPr>
          <p:cNvSpPr>
            <a:spLocks xmlns:a="http://schemas.openxmlformats.org/drawingml/2006/main" noGrp="1"/>
          </p:cNvSpPr>
          <p:nvPr/>
        </p:nvSpPr>
        <p:spPr>
          <a:xfrm xmlns:a="http://schemas.openxmlformats.org/drawingml/2006/main">
            <a:off x="743712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35" name="">
            <a:extLst xmlns:a="http://schemas.openxmlformats.org/drawingml/2006/main">
              <a:ext uri="{FF2B5EF4-FFF2-40B4-BE49-F238E27FC236}">
                <a16:creationId xmlns:a16="http://schemas.microsoft.com/office/drawing/2014/main" id="{82178FE7-2A93-4C71-942D-AAB47B51EDBB}"/>
              </a:ext>
            </a:extLst>
          </p:cNvPr>
          <p:cNvSpPr>
            <a:spLocks xmlns:a="http://schemas.openxmlformats.org/drawingml/2006/main" noGrp="1"/>
          </p:cNvSpPr>
          <p:nvPr/>
        </p:nvSpPr>
        <p:spPr>
          <a:xfrm xmlns:a="http://schemas.openxmlformats.org/drawingml/2006/main">
            <a:off x="743712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仕様駆動開発</a:t>
            </a:r>
          </a:p>
        </p:txBody>
      </p:sp>
      <p:sp>
        <p:nvSpPr>
          <p:cNvPr id="36" name="">
            <a:extLst xmlns:a="http://schemas.openxmlformats.org/drawingml/2006/main">
              <a:ext uri="{FF2B5EF4-FFF2-40B4-BE49-F238E27FC236}">
                <a16:creationId xmlns:a16="http://schemas.microsoft.com/office/drawing/2014/main" id="{F6DFB825-DB6B-420F-B10E-B13194E1E8AD}"/>
              </a:ext>
            </a:extLst>
          </p:cNvPr>
          <p:cNvSpPr>
            <a:spLocks xmlns:a="http://schemas.openxmlformats.org/drawingml/2006/main" noGrp="1"/>
          </p:cNvSpPr>
          <p:nvPr/>
        </p:nvSpPr>
        <p:spPr>
          <a:xfrm xmlns:a="http://schemas.openxmlformats.org/drawingml/2006/main">
            <a:off x="743712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7" name="">
            <a:extLst xmlns:a="http://schemas.openxmlformats.org/drawingml/2006/main">
              <a:ext uri="{FF2B5EF4-FFF2-40B4-BE49-F238E27FC236}">
                <a16:creationId xmlns:a16="http://schemas.microsoft.com/office/drawing/2014/main" id="{1227D646-582C-4801-813F-2138327AE89B}"/>
              </a:ext>
            </a:extLst>
          </p:cNvPr>
          <p:cNvSpPr>
            <a:spLocks xmlns:a="http://schemas.openxmlformats.org/drawingml/2006/main" noGrp="1"/>
          </p:cNvSpPr>
          <p:nvPr/>
        </p:nvSpPr>
        <p:spPr>
          <a:xfrm xmlns:a="http://schemas.openxmlformats.org/drawingml/2006/main">
            <a:off x="743712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web preview</a:t>
            </a:r>
          </a:p>
        </p:txBody>
      </p:sp>
      <p:sp>
        <p:nvSpPr>
          <p:cNvPr id="38" name="">
            <a:extLst xmlns:a="http://schemas.openxmlformats.org/drawingml/2006/main">
              <a:ext uri="{FF2B5EF4-FFF2-40B4-BE49-F238E27FC236}">
                <a16:creationId xmlns:a16="http://schemas.microsoft.com/office/drawing/2014/main" id="{9D3D7F62-EBB5-4082-95FE-A8ADC3792DE4}"/>
              </a:ext>
            </a:extLst>
          </p:cNvPr>
          <p:cNvSpPr>
            <a:spLocks xmlns:a="http://schemas.openxmlformats.org/drawingml/2006/main" noGrp="1"/>
          </p:cNvSpPr>
          <p:nvPr/>
        </p:nvSpPr>
        <p:spPr>
          <a:xfrm xmlns:a="http://schemas.openxmlformats.org/drawingml/2006/main">
            <a:off x="947166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D73DF14C-CCE8-4161-8F45-E9ED8BF39389}"/>
              </a:ext>
            </a:extLst>
          </p:cNvPr>
          <p:cNvSpPr>
            <a:spLocks xmlns:a="http://schemas.openxmlformats.org/drawingml/2006/main" noGrp="1"/>
          </p:cNvSpPr>
          <p:nvPr/>
        </p:nvSpPr>
        <p:spPr>
          <a:xfrm xmlns:a="http://schemas.openxmlformats.org/drawingml/2006/main">
            <a:off x="9471660" y="1714500"/>
            <a:ext cx="2072640" cy="57150"/>
          </a:xfrm>
          <a:prstGeom xmlns:a="http://schemas.openxmlformats.org/drawingml/2006/main" prst="rect">
            <a:avLst/>
          </a:prstGeom>
          <a:solidFill xmlns:a="http://schemas.openxmlformats.org/drawingml/2006/main">
            <a:srgbClr val="D9485F"/>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577305C-43D2-4ED4-B357-1C64BB4D112A}"/>
              </a:ext>
            </a:extLst>
          </p:cNvPr>
          <p:cNvSpPr>
            <a:spLocks xmlns:a="http://schemas.openxmlformats.org/drawingml/2006/main" noGrp="1"/>
          </p:cNvSpPr>
          <p:nvPr/>
        </p:nvSpPr>
        <p:spPr>
          <a:xfrm xmlns:a="http://schemas.openxmlformats.org/drawingml/2006/main">
            <a:off x="964311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D9485F"/>
                </a:solidFill>
                <a:latin typeface="Yu Gothic UI"/>
                <a:ea typeface="Yu Gothic UI"/>
                <a:cs typeface="Yu Gothic UI"/>
              </a:defRPr>
            </a:pPr>
            <a:r>
              <a:rPr sz="1650" b="1">
                <a:solidFill>
                  <a:srgbClr val="D9485F"/>
                </a:solidFill>
                <a:latin typeface="Yu Gothic UI"/>
                <a:ea typeface="Yu Gothic UI"/>
                <a:cs typeface="Yu Gothic UI"/>
              </a:rPr>
              <a:t>Antigravity</a:t>
            </a:r>
          </a:p>
        </p:txBody>
      </p:sp>
      <p:sp>
        <p:nvSpPr>
          <p:cNvPr id="41" name="">
            <a:extLst xmlns:a="http://schemas.openxmlformats.org/drawingml/2006/main">
              <a:ext uri="{FF2B5EF4-FFF2-40B4-BE49-F238E27FC236}">
                <a16:creationId xmlns:a16="http://schemas.microsoft.com/office/drawing/2014/main" id="{AAB89ECF-8765-4F34-8B05-280A182DAA9F}"/>
              </a:ext>
            </a:extLst>
          </p:cNvPr>
          <p:cNvSpPr>
            <a:spLocks xmlns:a="http://schemas.openxmlformats.org/drawingml/2006/main" noGrp="1"/>
          </p:cNvSpPr>
          <p:nvPr/>
        </p:nvSpPr>
        <p:spPr>
          <a:xfrm xmlns:a="http://schemas.openxmlformats.org/drawingml/2006/main">
            <a:off x="964311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42" name="">
            <a:extLst xmlns:a="http://schemas.openxmlformats.org/drawingml/2006/main">
              <a:ext uri="{FF2B5EF4-FFF2-40B4-BE49-F238E27FC236}">
                <a16:creationId xmlns:a16="http://schemas.microsoft.com/office/drawing/2014/main" id="{DD3692D8-26D8-4DD0-A03F-D9AC59CA3667}"/>
              </a:ext>
            </a:extLst>
          </p:cNvPr>
          <p:cNvSpPr>
            <a:spLocks xmlns:a="http://schemas.openxmlformats.org/drawingml/2006/main" noGrp="1"/>
          </p:cNvSpPr>
          <p:nvPr/>
        </p:nvSpPr>
        <p:spPr>
          <a:xfrm xmlns:a="http://schemas.openxmlformats.org/drawingml/2006/main">
            <a:off x="964311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計画 + 実装 + Browser</a:t>
            </a:r>
          </a:p>
        </p:txBody>
      </p:sp>
      <p:sp>
        <p:nvSpPr>
          <p:cNvPr id="43" name="">
            <a:extLst xmlns:a="http://schemas.openxmlformats.org/drawingml/2006/main">
              <a:ext uri="{FF2B5EF4-FFF2-40B4-BE49-F238E27FC236}">
                <a16:creationId xmlns:a16="http://schemas.microsoft.com/office/drawing/2014/main" id="{A37E59BB-EAAC-42B1-AE2E-46E8A6AA2CA0}"/>
              </a:ext>
            </a:extLst>
          </p:cNvPr>
          <p:cNvSpPr>
            <a:spLocks xmlns:a="http://schemas.openxmlformats.org/drawingml/2006/main" noGrp="1"/>
          </p:cNvSpPr>
          <p:nvPr/>
        </p:nvSpPr>
        <p:spPr>
          <a:xfrm xmlns:a="http://schemas.openxmlformats.org/drawingml/2006/main">
            <a:off x="964311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44" name="">
            <a:extLst xmlns:a="http://schemas.openxmlformats.org/drawingml/2006/main">
              <a:ext uri="{FF2B5EF4-FFF2-40B4-BE49-F238E27FC236}">
                <a16:creationId xmlns:a16="http://schemas.microsoft.com/office/drawing/2014/main" id="{CF54B964-1D6B-424C-8AA5-1C605EDFFBBF}"/>
              </a:ext>
            </a:extLst>
          </p:cNvPr>
          <p:cNvSpPr>
            <a:spLocks xmlns:a="http://schemas.openxmlformats.org/drawingml/2006/main" noGrp="1"/>
          </p:cNvSpPr>
          <p:nvPr/>
        </p:nvSpPr>
        <p:spPr>
          <a:xfrm xmlns:a="http://schemas.openxmlformats.org/drawingml/2006/main">
            <a:off x="964311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SDK</a:t>
            </a:r>
          </a:p>
        </p:txBody>
      </p:sp>
    </p:spTree>
    <p:extLst>
      <p:ext uri="{BB962C8B-B14F-4D97-AF65-F5344CB8AC3E}">
        <p14:creationId xmlns:p14="http://schemas.microsoft.com/office/powerpoint/2010/main" val="101826840"/>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01  |  WORK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何を頼みたいかで、最初に触る製品を選びます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04 / 30</a:t>
            </a:r>
          </a:p>
        </p:txBody>
      </p:sp>
      <p:sp>
        <p:nvSpPr>
          <p:cNvPr id="10" name="">
            <a:extLst xmlns:a="http://schemas.openxmlformats.org/drawingml/2006/main">
              <a:ext uri="{FF2B5EF4-FFF2-40B4-BE49-F238E27FC236}">
                <a16:creationId xmlns:a16="http://schemas.microsoft.com/office/drawing/2014/main" id="{EDAB8511-9C16-4B19-952F-0AFA1639353D}"/>
              </a:ext>
            </a:extLst>
          </p:cNvPr>
          <p:cNvSpPr>
            <a:spLocks xmlns:a="http://schemas.openxmlformats.org/drawingml/2006/main" noGrp="1"/>
          </p:cNvSpPr>
          <p:nvPr/>
        </p:nvSpPr>
        <p:spPr>
          <a:xfrm xmlns:a="http://schemas.openxmlformats.org/drawingml/2006/main">
            <a:off x="647700" y="1562100"/>
            <a:ext cx="1619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35A07EC-5BE5-49CE-AF84-D74B952E11E7}"/>
              </a:ext>
            </a:extLst>
          </p:cNvPr>
          <p:cNvSpPr>
            <a:spLocks xmlns:a="http://schemas.openxmlformats.org/drawingml/2006/main" noGrp="1"/>
          </p:cNvSpPr>
          <p:nvPr/>
        </p:nvSpPr>
        <p:spPr>
          <a:xfrm xmlns:a="http://schemas.openxmlformats.org/drawingml/2006/main">
            <a:off x="762000" y="1657350"/>
            <a:ext cx="1390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F307D635-5A93-443C-BC11-08C6C422213F}"/>
              </a:ext>
            </a:extLst>
          </p:cNvPr>
          <p:cNvSpPr>
            <a:spLocks xmlns:a="http://schemas.openxmlformats.org/drawingml/2006/main" noGrp="1"/>
          </p:cNvSpPr>
          <p:nvPr/>
        </p:nvSpPr>
        <p:spPr>
          <a:xfrm xmlns:a="http://schemas.openxmlformats.org/drawingml/2006/main">
            <a:off x="2266950" y="1562100"/>
            <a:ext cx="3143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EB573FF-D889-4DFC-90CE-8FD310EEE46A}"/>
              </a:ext>
            </a:extLst>
          </p:cNvPr>
          <p:cNvSpPr>
            <a:spLocks xmlns:a="http://schemas.openxmlformats.org/drawingml/2006/main" noGrp="1"/>
          </p:cNvSpPr>
          <p:nvPr/>
        </p:nvSpPr>
        <p:spPr>
          <a:xfrm xmlns:a="http://schemas.openxmlformats.org/drawingml/2006/main">
            <a:off x="2381250" y="165735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向いている仕事</a:t>
            </a:r>
          </a:p>
        </p:txBody>
      </p:sp>
      <p:sp>
        <p:nvSpPr>
          <p:cNvPr id="14" name="">
            <a:extLst xmlns:a="http://schemas.openxmlformats.org/drawingml/2006/main">
              <a:ext uri="{FF2B5EF4-FFF2-40B4-BE49-F238E27FC236}">
                <a16:creationId xmlns:a16="http://schemas.microsoft.com/office/drawing/2014/main" id="{62CE3C57-80A0-470A-92C3-EBD135F763FC}"/>
              </a:ext>
            </a:extLst>
          </p:cNvPr>
          <p:cNvSpPr>
            <a:spLocks xmlns:a="http://schemas.openxmlformats.org/drawingml/2006/main" noGrp="1"/>
          </p:cNvSpPr>
          <p:nvPr/>
        </p:nvSpPr>
        <p:spPr>
          <a:xfrm xmlns:a="http://schemas.openxmlformats.org/drawingml/2006/main">
            <a:off x="5410200" y="1562100"/>
            <a:ext cx="2571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6CFF013-AFDC-4BE2-AB0C-77758AD5CC3F}"/>
              </a:ext>
            </a:extLst>
          </p:cNvPr>
          <p:cNvSpPr>
            <a:spLocks xmlns:a="http://schemas.openxmlformats.org/drawingml/2006/main" noGrp="1"/>
          </p:cNvSpPr>
          <p:nvPr/>
        </p:nvSpPr>
        <p:spPr>
          <a:xfrm xmlns:a="http://schemas.openxmlformats.org/drawingml/2006/main">
            <a:off x="5524500" y="1657350"/>
            <a:ext cx="2343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主な実行面</a:t>
            </a:r>
          </a:p>
        </p:txBody>
      </p:sp>
      <p:sp>
        <p:nvSpPr>
          <p:cNvPr id="16" name="">
            <a:extLst xmlns:a="http://schemas.openxmlformats.org/drawingml/2006/main">
              <a:ext uri="{FF2B5EF4-FFF2-40B4-BE49-F238E27FC236}">
                <a16:creationId xmlns:a16="http://schemas.microsoft.com/office/drawing/2014/main" id="{D0BD025B-D5F8-49CC-ACF0-958855F2C56B}"/>
              </a:ext>
            </a:extLst>
          </p:cNvPr>
          <p:cNvSpPr>
            <a:spLocks xmlns:a="http://schemas.openxmlformats.org/drawingml/2006/main" noGrp="1"/>
          </p:cNvSpPr>
          <p:nvPr/>
        </p:nvSpPr>
        <p:spPr>
          <a:xfrm xmlns:a="http://schemas.openxmlformats.org/drawingml/2006/main">
            <a:off x="7981950" y="1562100"/>
            <a:ext cx="35623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5F69613-24CC-4DE2-B2E0-C6039BEAB83F}"/>
              </a:ext>
            </a:extLst>
          </p:cNvPr>
          <p:cNvSpPr>
            <a:spLocks xmlns:a="http://schemas.openxmlformats.org/drawingml/2006/main" noGrp="1"/>
          </p:cNvSpPr>
          <p:nvPr/>
        </p:nvSpPr>
        <p:spPr>
          <a:xfrm xmlns:a="http://schemas.openxmlformats.org/drawingml/2006/main">
            <a:off x="8096250" y="1657350"/>
            <a:ext cx="3333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最初の一歩</a:t>
            </a:r>
          </a:p>
        </p:txBody>
      </p:sp>
      <p:sp>
        <p:nvSpPr>
          <p:cNvPr id="18" name="">
            <a:extLst xmlns:a="http://schemas.openxmlformats.org/drawingml/2006/main">
              <a:ext uri="{FF2B5EF4-FFF2-40B4-BE49-F238E27FC236}">
                <a16:creationId xmlns:a16="http://schemas.microsoft.com/office/drawing/2014/main" id="{9A27F773-FA3C-4421-972F-3BAA4C55B664}"/>
              </a:ext>
            </a:extLst>
          </p:cNvPr>
          <p:cNvSpPr>
            <a:spLocks xmlns:a="http://schemas.openxmlformats.org/drawingml/2006/main" noGrp="1"/>
          </p:cNvSpPr>
          <p:nvPr/>
        </p:nvSpPr>
        <p:spPr>
          <a:xfrm xmlns:a="http://schemas.openxmlformats.org/drawingml/2006/main">
            <a:off x="647700" y="19812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9" name="">
            <a:extLst xmlns:a="http://schemas.openxmlformats.org/drawingml/2006/main">
              <a:ext uri="{FF2B5EF4-FFF2-40B4-BE49-F238E27FC236}">
                <a16:creationId xmlns:a16="http://schemas.microsoft.com/office/drawing/2014/main" id="{F4B42E9F-057E-4884-8AE6-538CE450EE3A}"/>
              </a:ext>
            </a:extLst>
          </p:cNvPr>
          <p:cNvSpPr>
            <a:spLocks xmlns:a="http://schemas.openxmlformats.org/drawingml/2006/main" noGrp="1"/>
          </p:cNvSpPr>
          <p:nvPr/>
        </p:nvSpPr>
        <p:spPr>
          <a:xfrm xmlns:a="http://schemas.openxmlformats.org/drawingml/2006/main">
            <a:off x="742950" y="20955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0" name="">
            <a:extLst xmlns:a="http://schemas.openxmlformats.org/drawingml/2006/main">
              <a:ext uri="{FF2B5EF4-FFF2-40B4-BE49-F238E27FC236}">
                <a16:creationId xmlns:a16="http://schemas.microsoft.com/office/drawing/2014/main" id="{D6103F30-19F5-4B38-A557-E07B1BA40A99}"/>
              </a:ext>
            </a:extLst>
          </p:cNvPr>
          <p:cNvSpPr>
            <a:spLocks xmlns:a="http://schemas.openxmlformats.org/drawingml/2006/main" noGrp="1"/>
          </p:cNvSpPr>
          <p:nvPr/>
        </p:nvSpPr>
        <p:spPr>
          <a:xfrm xmlns:a="http://schemas.openxmlformats.org/drawingml/2006/main">
            <a:off x="2266950" y="19812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1385B0C4-ED4A-4C43-89EF-AA21A7FFAD84}"/>
              </a:ext>
            </a:extLst>
          </p:cNvPr>
          <p:cNvSpPr>
            <a:spLocks xmlns:a="http://schemas.openxmlformats.org/drawingml/2006/main" noGrp="1"/>
          </p:cNvSpPr>
          <p:nvPr/>
        </p:nvSpPr>
        <p:spPr>
          <a:xfrm xmlns:a="http://schemas.openxmlformats.org/drawingml/2006/main">
            <a:off x="2362200" y="20955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理解・実装・修正・テスト・レビュー</a:t>
            </a:r>
          </a:p>
        </p:txBody>
      </p:sp>
      <p:sp>
        <p:nvSpPr>
          <p:cNvPr id="22" name="">
            <a:extLst xmlns:a="http://schemas.openxmlformats.org/drawingml/2006/main">
              <a:ext uri="{FF2B5EF4-FFF2-40B4-BE49-F238E27FC236}">
                <a16:creationId xmlns:a16="http://schemas.microsoft.com/office/drawing/2014/main" id="{53554948-3373-4DC4-A9F5-AD6D4DBECA83}"/>
              </a:ext>
            </a:extLst>
          </p:cNvPr>
          <p:cNvSpPr>
            <a:spLocks xmlns:a="http://schemas.openxmlformats.org/drawingml/2006/main" noGrp="1"/>
          </p:cNvSpPr>
          <p:nvPr/>
        </p:nvSpPr>
        <p:spPr>
          <a:xfrm xmlns:a="http://schemas.openxmlformats.org/drawingml/2006/main">
            <a:off x="5410200" y="19812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795510A2-4CBB-4076-83A0-0591AD0806D2}"/>
              </a:ext>
            </a:extLst>
          </p:cNvPr>
          <p:cNvSpPr>
            <a:spLocks xmlns:a="http://schemas.openxmlformats.org/drawingml/2006/main" noGrp="1"/>
          </p:cNvSpPr>
          <p:nvPr/>
        </p:nvSpPr>
        <p:spPr>
          <a:xfrm xmlns:a="http://schemas.openxmlformats.org/drawingml/2006/main">
            <a:off x="5505450" y="20955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CLI / IDE / cloud</a:t>
            </a:r>
          </a:p>
        </p:txBody>
      </p:sp>
      <p:sp>
        <p:nvSpPr>
          <p:cNvPr id="24" name="">
            <a:extLst xmlns:a="http://schemas.openxmlformats.org/drawingml/2006/main">
              <a:ext uri="{FF2B5EF4-FFF2-40B4-BE49-F238E27FC236}">
                <a16:creationId xmlns:a16="http://schemas.microsoft.com/office/drawing/2014/main" id="{F5F05810-69AB-4A27-B5A7-9D40FABB5322}"/>
              </a:ext>
            </a:extLst>
          </p:cNvPr>
          <p:cNvSpPr>
            <a:spLocks xmlns:a="http://schemas.openxmlformats.org/drawingml/2006/main" noGrp="1"/>
          </p:cNvSpPr>
          <p:nvPr/>
        </p:nvSpPr>
        <p:spPr>
          <a:xfrm xmlns:a="http://schemas.openxmlformats.org/drawingml/2006/main">
            <a:off x="7981950" y="19812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B3E3126F-CD10-4F06-B68F-F633A837432D}"/>
              </a:ext>
            </a:extLst>
          </p:cNvPr>
          <p:cNvSpPr>
            <a:spLocks xmlns:a="http://schemas.openxmlformats.org/drawingml/2006/main" noGrp="1"/>
          </p:cNvSpPr>
          <p:nvPr/>
        </p:nvSpPr>
        <p:spPr>
          <a:xfrm xmlns:a="http://schemas.openxmlformats.org/drawingml/2006/main">
            <a:off x="8077200" y="20955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小さな不具合を調査し、修正とテストまで</a:t>
            </a:r>
          </a:p>
        </p:txBody>
      </p:sp>
      <p:sp>
        <p:nvSpPr>
          <p:cNvPr id="26" name="">
            <a:extLst xmlns:a="http://schemas.openxmlformats.org/drawingml/2006/main">
              <a:ext uri="{FF2B5EF4-FFF2-40B4-BE49-F238E27FC236}">
                <a16:creationId xmlns:a16="http://schemas.microsoft.com/office/drawing/2014/main" id="{BF2D11CE-811F-48DB-BA71-8878882F2D3B}"/>
              </a:ext>
            </a:extLst>
          </p:cNvPr>
          <p:cNvSpPr>
            <a:spLocks xmlns:a="http://schemas.openxmlformats.org/drawingml/2006/main" noGrp="1"/>
          </p:cNvSpPr>
          <p:nvPr/>
        </p:nvSpPr>
        <p:spPr>
          <a:xfrm xmlns:a="http://schemas.openxmlformats.org/drawingml/2006/main">
            <a:off x="647700" y="27241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64FED0A6-D139-4648-8BCD-474B45E7C376}"/>
              </a:ext>
            </a:extLst>
          </p:cNvPr>
          <p:cNvSpPr>
            <a:spLocks xmlns:a="http://schemas.openxmlformats.org/drawingml/2006/main" noGrp="1"/>
          </p:cNvSpPr>
          <p:nvPr/>
        </p:nvSpPr>
        <p:spPr>
          <a:xfrm xmlns:a="http://schemas.openxmlformats.org/drawingml/2006/main">
            <a:off x="742950" y="28384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28" name="">
            <a:extLst xmlns:a="http://schemas.openxmlformats.org/drawingml/2006/main">
              <a:ext uri="{FF2B5EF4-FFF2-40B4-BE49-F238E27FC236}">
                <a16:creationId xmlns:a16="http://schemas.microsoft.com/office/drawing/2014/main" id="{C665E542-53F7-4FD4-A043-4FD2F3728BC5}"/>
              </a:ext>
            </a:extLst>
          </p:cNvPr>
          <p:cNvSpPr>
            <a:spLocks xmlns:a="http://schemas.openxmlformats.org/drawingml/2006/main" noGrp="1"/>
          </p:cNvSpPr>
          <p:nvPr/>
        </p:nvSpPr>
        <p:spPr>
          <a:xfrm xmlns:a="http://schemas.openxmlformats.org/drawingml/2006/main">
            <a:off x="2266950" y="27241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D877DB84-BCF2-4912-ACA2-789443D20E3F}"/>
              </a:ext>
            </a:extLst>
          </p:cNvPr>
          <p:cNvSpPr>
            <a:spLocks xmlns:a="http://schemas.openxmlformats.org/drawingml/2006/main" noGrp="1"/>
          </p:cNvSpPr>
          <p:nvPr/>
        </p:nvSpPr>
        <p:spPr>
          <a:xfrm xmlns:a="http://schemas.openxmlformats.org/drawingml/2006/main">
            <a:off x="2362200" y="28384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複数ファイル開発・Git・反復自動化</a:t>
            </a:r>
          </a:p>
        </p:txBody>
      </p:sp>
      <p:sp>
        <p:nvSpPr>
          <p:cNvPr id="30" name="">
            <a:extLst xmlns:a="http://schemas.openxmlformats.org/drawingml/2006/main">
              <a:ext uri="{FF2B5EF4-FFF2-40B4-BE49-F238E27FC236}">
                <a16:creationId xmlns:a16="http://schemas.microsoft.com/office/drawing/2014/main" id="{6F616B33-D30E-4A71-A720-D0F8E9CFF671}"/>
              </a:ext>
            </a:extLst>
          </p:cNvPr>
          <p:cNvSpPr>
            <a:spLocks xmlns:a="http://schemas.openxmlformats.org/drawingml/2006/main" noGrp="1"/>
          </p:cNvSpPr>
          <p:nvPr/>
        </p:nvSpPr>
        <p:spPr>
          <a:xfrm xmlns:a="http://schemas.openxmlformats.org/drawingml/2006/main">
            <a:off x="5410200" y="27241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17D3C9FC-B713-434F-9A2F-3E36EA628DD0}"/>
              </a:ext>
            </a:extLst>
          </p:cNvPr>
          <p:cNvSpPr>
            <a:spLocks xmlns:a="http://schemas.openxmlformats.org/drawingml/2006/main" noGrp="1"/>
          </p:cNvSpPr>
          <p:nvPr/>
        </p:nvSpPr>
        <p:spPr>
          <a:xfrm xmlns:a="http://schemas.openxmlformats.org/drawingml/2006/main">
            <a:off x="5505450" y="28384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terminal / IDE / desktop / web</a:t>
            </a:r>
          </a:p>
        </p:txBody>
      </p:sp>
      <p:sp>
        <p:nvSpPr>
          <p:cNvPr id="32" name="">
            <a:extLst xmlns:a="http://schemas.openxmlformats.org/drawingml/2006/main">
              <a:ext uri="{FF2B5EF4-FFF2-40B4-BE49-F238E27FC236}">
                <a16:creationId xmlns:a16="http://schemas.microsoft.com/office/drawing/2014/main" id="{7854A05B-5417-4703-B63C-A0A3128DADFA}"/>
              </a:ext>
            </a:extLst>
          </p:cNvPr>
          <p:cNvSpPr>
            <a:spLocks xmlns:a="http://schemas.openxmlformats.org/drawingml/2006/main" noGrp="1"/>
          </p:cNvSpPr>
          <p:nvPr/>
        </p:nvSpPr>
        <p:spPr>
          <a:xfrm xmlns:a="http://schemas.openxmlformats.org/drawingml/2006/main">
            <a:off x="7981950" y="27241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D2272D6E-27E9-4619-A395-6C727D6BF977}"/>
              </a:ext>
            </a:extLst>
          </p:cNvPr>
          <p:cNvSpPr>
            <a:spLocks xmlns:a="http://schemas.openxmlformats.org/drawingml/2006/main" noGrp="1"/>
          </p:cNvSpPr>
          <p:nvPr/>
        </p:nvSpPr>
        <p:spPr>
          <a:xfrm xmlns:a="http://schemas.openxmlformats.org/drawingml/2006/main">
            <a:off x="8077200" y="28384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未テスト機能へテストを追加して修正</a:t>
            </a:r>
          </a:p>
        </p:txBody>
      </p:sp>
      <p:sp>
        <p:nvSpPr>
          <p:cNvPr id="34" name="">
            <a:extLst xmlns:a="http://schemas.openxmlformats.org/drawingml/2006/main">
              <a:ext uri="{FF2B5EF4-FFF2-40B4-BE49-F238E27FC236}">
                <a16:creationId xmlns:a16="http://schemas.microsoft.com/office/drawing/2014/main" id="{00986867-13E3-47CA-B6FC-4EEA257B1E45}"/>
              </a:ext>
            </a:extLst>
          </p:cNvPr>
          <p:cNvSpPr>
            <a:spLocks xmlns:a="http://schemas.openxmlformats.org/drawingml/2006/main" noGrp="1"/>
          </p:cNvSpPr>
          <p:nvPr/>
        </p:nvSpPr>
        <p:spPr>
          <a:xfrm xmlns:a="http://schemas.openxmlformats.org/drawingml/2006/main">
            <a:off x="647700" y="34671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9F1A5D5F-A2E0-4A5B-859F-46893D4C1056}"/>
              </a:ext>
            </a:extLst>
          </p:cNvPr>
          <p:cNvSpPr>
            <a:spLocks xmlns:a="http://schemas.openxmlformats.org/drawingml/2006/main" noGrp="1"/>
          </p:cNvSpPr>
          <p:nvPr/>
        </p:nvSpPr>
        <p:spPr>
          <a:xfrm xmlns:a="http://schemas.openxmlformats.org/drawingml/2006/main">
            <a:off x="742950" y="35814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36" name="">
            <a:extLst xmlns:a="http://schemas.openxmlformats.org/drawingml/2006/main">
              <a:ext uri="{FF2B5EF4-FFF2-40B4-BE49-F238E27FC236}">
                <a16:creationId xmlns:a16="http://schemas.microsoft.com/office/drawing/2014/main" id="{09CA3AC3-ABC0-4E61-B729-FB2D848596A4}"/>
              </a:ext>
            </a:extLst>
          </p:cNvPr>
          <p:cNvSpPr>
            <a:spLocks xmlns:a="http://schemas.openxmlformats.org/drawingml/2006/main" noGrp="1"/>
          </p:cNvSpPr>
          <p:nvPr/>
        </p:nvSpPr>
        <p:spPr>
          <a:xfrm xmlns:a="http://schemas.openxmlformats.org/drawingml/2006/main">
            <a:off x="2266950" y="34671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246D823B-14DD-4957-8D6F-247E834C62C1}"/>
              </a:ext>
            </a:extLst>
          </p:cNvPr>
          <p:cNvSpPr>
            <a:spLocks xmlns:a="http://schemas.openxmlformats.org/drawingml/2006/main" noGrp="1"/>
          </p:cNvSpPr>
          <p:nvPr/>
        </p:nvSpPr>
        <p:spPr>
          <a:xfrm xmlns:a="http://schemas.openxmlformats.org/drawingml/2006/main">
            <a:off x="2362200" y="35814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調査・資料・表計算・ファイル整理</a:t>
            </a:r>
          </a:p>
        </p:txBody>
      </p:sp>
      <p:sp>
        <p:nvSpPr>
          <p:cNvPr id="38" name="">
            <a:extLst xmlns:a="http://schemas.openxmlformats.org/drawingml/2006/main">
              <a:ext uri="{FF2B5EF4-FFF2-40B4-BE49-F238E27FC236}">
                <a16:creationId xmlns:a16="http://schemas.microsoft.com/office/drawing/2014/main" id="{994B69F1-BCD7-4C67-8F62-7B7AE69C7D3B}"/>
              </a:ext>
            </a:extLst>
          </p:cNvPr>
          <p:cNvSpPr>
            <a:spLocks xmlns:a="http://schemas.openxmlformats.org/drawingml/2006/main" noGrp="1"/>
          </p:cNvSpPr>
          <p:nvPr/>
        </p:nvSpPr>
        <p:spPr>
          <a:xfrm xmlns:a="http://schemas.openxmlformats.org/drawingml/2006/main">
            <a:off x="5410200" y="34671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589694A1-5519-483B-977E-39D1FE597F3E}"/>
              </a:ext>
            </a:extLst>
          </p:cNvPr>
          <p:cNvSpPr>
            <a:spLocks xmlns:a="http://schemas.openxmlformats.org/drawingml/2006/main" noGrp="1"/>
          </p:cNvSpPr>
          <p:nvPr/>
        </p:nvSpPr>
        <p:spPr>
          <a:xfrm xmlns:a="http://schemas.openxmlformats.org/drawingml/2006/main">
            <a:off x="5505450" y="35814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web・mobile beta</a:t>
            </a:r>
          </a:p>
        </p:txBody>
      </p:sp>
      <p:sp>
        <p:nvSpPr>
          <p:cNvPr id="40" name="">
            <a:extLst xmlns:a="http://schemas.openxmlformats.org/drawingml/2006/main">
              <a:ext uri="{FF2B5EF4-FFF2-40B4-BE49-F238E27FC236}">
                <a16:creationId xmlns:a16="http://schemas.microsoft.com/office/drawing/2014/main" id="{BFD55377-CECA-40E0-8CD0-9AA13737113E}"/>
              </a:ext>
            </a:extLst>
          </p:cNvPr>
          <p:cNvSpPr>
            <a:spLocks xmlns:a="http://schemas.openxmlformats.org/drawingml/2006/main" noGrp="1"/>
          </p:cNvSpPr>
          <p:nvPr/>
        </p:nvSpPr>
        <p:spPr>
          <a:xfrm xmlns:a="http://schemas.openxmlformats.org/drawingml/2006/main">
            <a:off x="7981950" y="34671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413F2EFF-42BC-40EC-910A-FFA96951255F}"/>
              </a:ext>
            </a:extLst>
          </p:cNvPr>
          <p:cNvSpPr>
            <a:spLocks xmlns:a="http://schemas.openxmlformats.org/drawingml/2006/main" noGrp="1"/>
          </p:cNvSpPr>
          <p:nvPr/>
        </p:nvSpPr>
        <p:spPr>
          <a:xfrm xmlns:a="http://schemas.openxmlformats.org/drawingml/2006/main">
            <a:off x="8077200" y="35814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複数資料からレビュー可能な文書を作成</a:t>
            </a:r>
          </a:p>
        </p:txBody>
      </p:sp>
      <p:sp>
        <p:nvSpPr>
          <p:cNvPr id="42" name="">
            <a:extLst xmlns:a="http://schemas.openxmlformats.org/drawingml/2006/main">
              <a:ext uri="{FF2B5EF4-FFF2-40B4-BE49-F238E27FC236}">
                <a16:creationId xmlns:a16="http://schemas.microsoft.com/office/drawing/2014/main" id="{C34DD7E4-9B51-404F-9230-C29F19921F7F}"/>
              </a:ext>
            </a:extLst>
          </p:cNvPr>
          <p:cNvSpPr>
            <a:spLocks xmlns:a="http://schemas.openxmlformats.org/drawingml/2006/main" noGrp="1"/>
          </p:cNvSpPr>
          <p:nvPr/>
        </p:nvSpPr>
        <p:spPr>
          <a:xfrm xmlns:a="http://schemas.openxmlformats.org/drawingml/2006/main">
            <a:off x="647700" y="42100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E0316007-942B-4D61-9152-102B725780E9}"/>
              </a:ext>
            </a:extLst>
          </p:cNvPr>
          <p:cNvSpPr>
            <a:spLocks xmlns:a="http://schemas.openxmlformats.org/drawingml/2006/main" noGrp="1"/>
          </p:cNvSpPr>
          <p:nvPr/>
        </p:nvSpPr>
        <p:spPr>
          <a:xfrm xmlns:a="http://schemas.openxmlformats.org/drawingml/2006/main">
            <a:off x="742950" y="43243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44" name="">
            <a:extLst xmlns:a="http://schemas.openxmlformats.org/drawingml/2006/main">
              <a:ext uri="{FF2B5EF4-FFF2-40B4-BE49-F238E27FC236}">
                <a16:creationId xmlns:a16="http://schemas.microsoft.com/office/drawing/2014/main" id="{C5D1B2DF-7A3D-4728-9950-C3A14D049DDC}"/>
              </a:ext>
            </a:extLst>
          </p:cNvPr>
          <p:cNvSpPr>
            <a:spLocks xmlns:a="http://schemas.openxmlformats.org/drawingml/2006/main" noGrp="1"/>
          </p:cNvSpPr>
          <p:nvPr/>
        </p:nvSpPr>
        <p:spPr>
          <a:xfrm xmlns:a="http://schemas.openxmlformats.org/drawingml/2006/main">
            <a:off x="2266950" y="42100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06C8C0F5-1DD2-4E86-BC6C-20C789777B98}"/>
              </a:ext>
            </a:extLst>
          </p:cNvPr>
          <p:cNvSpPr>
            <a:spLocks xmlns:a="http://schemas.openxmlformats.org/drawingml/2006/main" noGrp="1"/>
          </p:cNvSpPr>
          <p:nvPr/>
        </p:nvSpPr>
        <p:spPr>
          <a:xfrm xmlns:a="http://schemas.openxmlformats.org/drawingml/2006/main">
            <a:off x="2362200" y="43243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要件・設計・タスクを伴う仕様駆動開発</a:t>
            </a:r>
          </a:p>
        </p:txBody>
      </p:sp>
      <p:sp>
        <p:nvSpPr>
          <p:cNvPr id="46" name="">
            <a:extLst xmlns:a="http://schemas.openxmlformats.org/drawingml/2006/main">
              <a:ext uri="{FF2B5EF4-FFF2-40B4-BE49-F238E27FC236}">
                <a16:creationId xmlns:a16="http://schemas.microsoft.com/office/drawing/2014/main" id="{25072992-7DF9-457F-8A02-6C28359A3EB6}"/>
              </a:ext>
            </a:extLst>
          </p:cNvPr>
          <p:cNvSpPr>
            <a:spLocks xmlns:a="http://schemas.openxmlformats.org/drawingml/2006/main" noGrp="1"/>
          </p:cNvSpPr>
          <p:nvPr/>
        </p:nvSpPr>
        <p:spPr>
          <a:xfrm xmlns:a="http://schemas.openxmlformats.org/drawingml/2006/main">
            <a:off x="5410200" y="42100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8FE1FAB3-4B1E-4592-80B0-C079B534F5FF}"/>
              </a:ext>
            </a:extLst>
          </p:cNvPr>
          <p:cNvSpPr>
            <a:spLocks xmlns:a="http://schemas.openxmlformats.org/drawingml/2006/main" noGrp="1"/>
          </p:cNvSpPr>
          <p:nvPr/>
        </p:nvSpPr>
        <p:spPr>
          <a:xfrm xmlns:a="http://schemas.openxmlformats.org/drawingml/2006/main">
            <a:off x="5505450" y="43243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web preview</a:t>
            </a:r>
          </a:p>
        </p:txBody>
      </p:sp>
      <p:sp>
        <p:nvSpPr>
          <p:cNvPr id="48" name="">
            <a:extLst xmlns:a="http://schemas.openxmlformats.org/drawingml/2006/main">
              <a:ext uri="{FF2B5EF4-FFF2-40B4-BE49-F238E27FC236}">
                <a16:creationId xmlns:a16="http://schemas.microsoft.com/office/drawing/2014/main" id="{C79AA1BA-1A68-4D1A-B37C-DFB7060C243A}"/>
              </a:ext>
            </a:extLst>
          </p:cNvPr>
          <p:cNvSpPr>
            <a:spLocks xmlns:a="http://schemas.openxmlformats.org/drawingml/2006/main" noGrp="1"/>
          </p:cNvSpPr>
          <p:nvPr/>
        </p:nvSpPr>
        <p:spPr>
          <a:xfrm xmlns:a="http://schemas.openxmlformats.org/drawingml/2006/main">
            <a:off x="7981950" y="42100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D77366B2-FB34-4052-A64B-80AFFED26DF8}"/>
              </a:ext>
            </a:extLst>
          </p:cNvPr>
          <p:cNvSpPr>
            <a:spLocks xmlns:a="http://schemas.openxmlformats.org/drawingml/2006/main" noGrp="1"/>
          </p:cNvSpPr>
          <p:nvPr/>
        </p:nvSpPr>
        <p:spPr>
          <a:xfrm xmlns:a="http://schemas.openxmlformats.org/drawingml/2006/main">
            <a:off x="8077200" y="43243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新機能をrequirements / design / tasksへ</a:t>
            </a:r>
          </a:p>
        </p:txBody>
      </p:sp>
      <p:sp>
        <p:nvSpPr>
          <p:cNvPr id="50" name="">
            <a:extLst xmlns:a="http://schemas.openxmlformats.org/drawingml/2006/main">
              <a:ext uri="{FF2B5EF4-FFF2-40B4-BE49-F238E27FC236}">
                <a16:creationId xmlns:a16="http://schemas.microsoft.com/office/drawing/2014/main" id="{D0C100A1-499E-4FC0-92D5-CBEE8BE2EE90}"/>
              </a:ext>
            </a:extLst>
          </p:cNvPr>
          <p:cNvSpPr>
            <a:spLocks xmlns:a="http://schemas.openxmlformats.org/drawingml/2006/main" noGrp="1"/>
          </p:cNvSpPr>
          <p:nvPr/>
        </p:nvSpPr>
        <p:spPr>
          <a:xfrm xmlns:a="http://schemas.openxmlformats.org/drawingml/2006/main">
            <a:off x="647700" y="49530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DF5EFD39-E14B-418F-90C5-4FC9A9C9650C}"/>
              </a:ext>
            </a:extLst>
          </p:cNvPr>
          <p:cNvSpPr>
            <a:spLocks xmlns:a="http://schemas.openxmlformats.org/drawingml/2006/main" noGrp="1"/>
          </p:cNvSpPr>
          <p:nvPr/>
        </p:nvSpPr>
        <p:spPr>
          <a:xfrm xmlns:a="http://schemas.openxmlformats.org/drawingml/2006/main">
            <a:off x="742950" y="50673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52" name="">
            <a:extLst xmlns:a="http://schemas.openxmlformats.org/drawingml/2006/main">
              <a:ext uri="{FF2B5EF4-FFF2-40B4-BE49-F238E27FC236}">
                <a16:creationId xmlns:a16="http://schemas.microsoft.com/office/drawing/2014/main" id="{5107E813-0B28-4920-B701-D51DCD497C69}"/>
              </a:ext>
            </a:extLst>
          </p:cNvPr>
          <p:cNvSpPr>
            <a:spLocks xmlns:a="http://schemas.openxmlformats.org/drawingml/2006/main" noGrp="1"/>
          </p:cNvSpPr>
          <p:nvPr/>
        </p:nvSpPr>
        <p:spPr>
          <a:xfrm xmlns:a="http://schemas.openxmlformats.org/drawingml/2006/main">
            <a:off x="2266950" y="49530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B2E65BBB-139E-446C-B582-00C43227DEF9}"/>
              </a:ext>
            </a:extLst>
          </p:cNvPr>
          <p:cNvSpPr>
            <a:spLocks xmlns:a="http://schemas.openxmlformats.org/drawingml/2006/main" noGrp="1"/>
          </p:cNvSpPr>
          <p:nvPr/>
        </p:nvSpPr>
        <p:spPr>
          <a:xfrm xmlns:a="http://schemas.openxmlformats.org/drawingml/2006/main">
            <a:off x="2362200" y="50673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計画・実装・Browser検証を伴うWeb開発</a:t>
            </a:r>
          </a:p>
        </p:txBody>
      </p:sp>
      <p:sp>
        <p:nvSpPr>
          <p:cNvPr id="54" name="">
            <a:extLst xmlns:a="http://schemas.openxmlformats.org/drawingml/2006/main">
              <a:ext uri="{FF2B5EF4-FFF2-40B4-BE49-F238E27FC236}">
                <a16:creationId xmlns:a16="http://schemas.microsoft.com/office/drawing/2014/main" id="{816DBF2C-CC98-41E8-AA43-59AED86DFF5C}"/>
              </a:ext>
            </a:extLst>
          </p:cNvPr>
          <p:cNvSpPr>
            <a:spLocks xmlns:a="http://schemas.openxmlformats.org/drawingml/2006/main" noGrp="1"/>
          </p:cNvSpPr>
          <p:nvPr/>
        </p:nvSpPr>
        <p:spPr>
          <a:xfrm xmlns:a="http://schemas.openxmlformats.org/drawingml/2006/main">
            <a:off x="5410200" y="49530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EE2368C0-5850-4CFA-B70A-ADA1B511F096}"/>
              </a:ext>
            </a:extLst>
          </p:cNvPr>
          <p:cNvSpPr>
            <a:spLocks xmlns:a="http://schemas.openxmlformats.org/drawingml/2006/main" noGrp="1"/>
          </p:cNvSpPr>
          <p:nvPr/>
        </p:nvSpPr>
        <p:spPr>
          <a:xfrm xmlns:a="http://schemas.openxmlformats.org/drawingml/2006/main">
            <a:off x="5505450" y="50673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SDK</a:t>
            </a:r>
          </a:p>
        </p:txBody>
      </p:sp>
      <p:sp>
        <p:nvSpPr>
          <p:cNvPr id="56" name="">
            <a:extLst xmlns:a="http://schemas.openxmlformats.org/drawingml/2006/main">
              <a:ext uri="{FF2B5EF4-FFF2-40B4-BE49-F238E27FC236}">
                <a16:creationId xmlns:a16="http://schemas.microsoft.com/office/drawing/2014/main" id="{5240DAA0-156A-4EC6-9AE8-5BCF787781FF}"/>
              </a:ext>
            </a:extLst>
          </p:cNvPr>
          <p:cNvSpPr>
            <a:spLocks xmlns:a="http://schemas.openxmlformats.org/drawingml/2006/main" noGrp="1"/>
          </p:cNvSpPr>
          <p:nvPr/>
        </p:nvSpPr>
        <p:spPr>
          <a:xfrm xmlns:a="http://schemas.openxmlformats.org/drawingml/2006/main">
            <a:off x="7981950" y="49530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06010AD8-F782-431E-871D-4E5FF0FF847A}"/>
              </a:ext>
            </a:extLst>
          </p:cNvPr>
          <p:cNvSpPr>
            <a:spLocks xmlns:a="http://schemas.openxmlformats.org/drawingml/2006/main" noGrp="1"/>
          </p:cNvSpPr>
          <p:nvPr/>
        </p:nvSpPr>
        <p:spPr>
          <a:xfrm xmlns:a="http://schemas.openxmlformats.org/drawingml/2006/main">
            <a:off x="8077200" y="50673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1ページサイトを作りdesktop/mobile確認</a:t>
            </a:r>
          </a:p>
        </p:txBody>
      </p:sp>
    </p:spTree>
    <p:extLst>
      <p:ext uri="{BB962C8B-B14F-4D97-AF65-F5344CB8AC3E}">
        <p14:creationId xmlns:p14="http://schemas.microsoft.com/office/powerpoint/2010/main" val="10182684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02  |  CAPABILITIES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指示・能力・接続・証拠を、製品ごとの仕組みで組み合わせます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05 / 30</a:t>
            </a:r>
          </a:p>
        </p:txBody>
      </p:sp>
      <p:sp>
        <p:nvSpPr>
          <p:cNvPr id="10" name="">
            <a:extLst xmlns:a="http://schemas.openxmlformats.org/drawingml/2006/main">
              <a:ext uri="{FF2B5EF4-FFF2-40B4-BE49-F238E27FC236}">
                <a16:creationId xmlns:a16="http://schemas.microsoft.com/office/drawing/2014/main" id="{1A01FC7E-3DDF-40D4-8709-2F9D66CE8153}"/>
              </a:ext>
            </a:extLst>
          </p:cNvPr>
          <p:cNvSpPr>
            <a:spLocks xmlns:a="http://schemas.openxmlformats.org/drawingml/2006/main" noGrp="1"/>
          </p:cNvSpPr>
          <p:nvPr/>
        </p:nvSpPr>
        <p:spPr>
          <a:xfrm xmlns:a="http://schemas.openxmlformats.org/drawingml/2006/main">
            <a:off x="647700" y="1562100"/>
            <a:ext cx="1428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B90ADC3-8F5E-44A8-A93B-4723C170944F}"/>
              </a:ext>
            </a:extLst>
          </p:cNvPr>
          <p:cNvSpPr>
            <a:spLocks xmlns:a="http://schemas.openxmlformats.org/drawingml/2006/main" noGrp="1"/>
          </p:cNvSpPr>
          <p:nvPr/>
        </p:nvSpPr>
        <p:spPr>
          <a:xfrm xmlns:a="http://schemas.openxmlformats.org/drawingml/2006/main">
            <a:off x="762000" y="1657350"/>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C490FF98-ED39-4A61-A255-ED606C887EE1}"/>
              </a:ext>
            </a:extLst>
          </p:cNvPr>
          <p:cNvSpPr>
            <a:spLocks xmlns:a="http://schemas.openxmlformats.org/drawingml/2006/main" noGrp="1"/>
          </p:cNvSpPr>
          <p:nvPr/>
        </p:nvSpPr>
        <p:spPr>
          <a:xfrm xmlns:a="http://schemas.openxmlformats.org/drawingml/2006/main">
            <a:off x="207645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00DE1E9-724D-4656-9A45-760215A1E8EC}"/>
              </a:ext>
            </a:extLst>
          </p:cNvPr>
          <p:cNvSpPr>
            <a:spLocks xmlns:a="http://schemas.openxmlformats.org/drawingml/2006/main" noGrp="1"/>
          </p:cNvSpPr>
          <p:nvPr/>
        </p:nvSpPr>
        <p:spPr>
          <a:xfrm xmlns:a="http://schemas.openxmlformats.org/drawingml/2006/main">
            <a:off x="219075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持続する指示</a:t>
            </a:r>
          </a:p>
        </p:txBody>
      </p:sp>
      <p:sp>
        <p:nvSpPr>
          <p:cNvPr id="14" name="">
            <a:extLst xmlns:a="http://schemas.openxmlformats.org/drawingml/2006/main">
              <a:ext uri="{FF2B5EF4-FFF2-40B4-BE49-F238E27FC236}">
                <a16:creationId xmlns:a16="http://schemas.microsoft.com/office/drawing/2014/main" id="{8E0B0CD1-FB48-4B9E-B465-DDF061A5D275}"/>
              </a:ext>
            </a:extLst>
          </p:cNvPr>
          <p:cNvSpPr>
            <a:spLocks xmlns:a="http://schemas.openxmlformats.org/drawingml/2006/main" noGrp="1"/>
          </p:cNvSpPr>
          <p:nvPr/>
        </p:nvSpPr>
        <p:spPr>
          <a:xfrm xmlns:a="http://schemas.openxmlformats.org/drawingml/2006/main">
            <a:off x="445770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2C5A9E4-30EB-47E8-B6AA-8F7FBE7A18A7}"/>
              </a:ext>
            </a:extLst>
          </p:cNvPr>
          <p:cNvSpPr>
            <a:spLocks xmlns:a="http://schemas.openxmlformats.org/drawingml/2006/main" noGrp="1"/>
          </p:cNvSpPr>
          <p:nvPr/>
        </p:nvSpPr>
        <p:spPr>
          <a:xfrm xmlns:a="http://schemas.openxmlformats.org/drawingml/2006/main">
            <a:off x="457200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再利用能力</a:t>
            </a:r>
          </a:p>
        </p:txBody>
      </p:sp>
      <p:sp>
        <p:nvSpPr>
          <p:cNvPr id="16" name="">
            <a:extLst xmlns:a="http://schemas.openxmlformats.org/drawingml/2006/main">
              <a:ext uri="{FF2B5EF4-FFF2-40B4-BE49-F238E27FC236}">
                <a16:creationId xmlns:a16="http://schemas.microsoft.com/office/drawing/2014/main" id="{512FE84A-DA4E-47B2-B629-F23BEED916AB}"/>
              </a:ext>
            </a:extLst>
          </p:cNvPr>
          <p:cNvSpPr>
            <a:spLocks xmlns:a="http://schemas.openxmlformats.org/drawingml/2006/main" noGrp="1"/>
          </p:cNvSpPr>
          <p:nvPr/>
        </p:nvSpPr>
        <p:spPr>
          <a:xfrm xmlns:a="http://schemas.openxmlformats.org/drawingml/2006/main">
            <a:off x="6838950" y="1562100"/>
            <a:ext cx="2000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27595E5-8215-43D9-9AC6-6AFDD2E622B0}"/>
              </a:ext>
            </a:extLst>
          </p:cNvPr>
          <p:cNvSpPr>
            <a:spLocks xmlns:a="http://schemas.openxmlformats.org/drawingml/2006/main" noGrp="1"/>
          </p:cNvSpPr>
          <p:nvPr/>
        </p:nvSpPr>
        <p:spPr>
          <a:xfrm xmlns:a="http://schemas.openxmlformats.org/drawingml/2006/main">
            <a:off x="6953250" y="1657350"/>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外部接続</a:t>
            </a:r>
          </a:p>
        </p:txBody>
      </p:sp>
      <p:sp>
        <p:nvSpPr>
          <p:cNvPr id="18" name="">
            <a:extLst xmlns:a="http://schemas.openxmlformats.org/drawingml/2006/main">
              <a:ext uri="{FF2B5EF4-FFF2-40B4-BE49-F238E27FC236}">
                <a16:creationId xmlns:a16="http://schemas.microsoft.com/office/drawing/2014/main" id="{F2972863-FC2D-4DD0-AA2B-DD55C43652DE}"/>
              </a:ext>
            </a:extLst>
          </p:cNvPr>
          <p:cNvSpPr>
            <a:spLocks xmlns:a="http://schemas.openxmlformats.org/drawingml/2006/main" noGrp="1"/>
          </p:cNvSpPr>
          <p:nvPr/>
        </p:nvSpPr>
        <p:spPr>
          <a:xfrm xmlns:a="http://schemas.openxmlformats.org/drawingml/2006/main">
            <a:off x="8839200" y="1562100"/>
            <a:ext cx="27051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DBBA1F0-3E01-493D-B8D3-7C1D217C3B04}"/>
              </a:ext>
            </a:extLst>
          </p:cNvPr>
          <p:cNvSpPr>
            <a:spLocks xmlns:a="http://schemas.openxmlformats.org/drawingml/2006/main" noGrp="1"/>
          </p:cNvSpPr>
          <p:nvPr/>
        </p:nvSpPr>
        <p:spPr>
          <a:xfrm xmlns:a="http://schemas.openxmlformats.org/drawingml/2006/main">
            <a:off x="8953500" y="16573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計画・証拠</a:t>
            </a:r>
          </a:p>
        </p:txBody>
      </p:sp>
      <p:sp>
        <p:nvSpPr>
          <p:cNvPr id="20" name="">
            <a:extLst xmlns:a="http://schemas.openxmlformats.org/drawingml/2006/main">
              <a:ext uri="{FF2B5EF4-FFF2-40B4-BE49-F238E27FC236}">
                <a16:creationId xmlns:a16="http://schemas.microsoft.com/office/drawing/2014/main" id="{24A55267-D7ED-40DA-8ABB-544D1A5F6DB8}"/>
              </a:ext>
            </a:extLst>
          </p:cNvPr>
          <p:cNvSpPr>
            <a:spLocks xmlns:a="http://schemas.openxmlformats.org/drawingml/2006/main" noGrp="1"/>
          </p:cNvSpPr>
          <p:nvPr/>
        </p:nvSpPr>
        <p:spPr>
          <a:xfrm xmlns:a="http://schemas.openxmlformats.org/drawingml/2006/main">
            <a:off x="647700" y="19812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3120C0DE-C81C-4B92-8D3B-3A7E9DA1ADCE}"/>
              </a:ext>
            </a:extLst>
          </p:cNvPr>
          <p:cNvSpPr>
            <a:spLocks xmlns:a="http://schemas.openxmlformats.org/drawingml/2006/main" noGrp="1"/>
          </p:cNvSpPr>
          <p:nvPr/>
        </p:nvSpPr>
        <p:spPr>
          <a:xfrm xmlns:a="http://schemas.openxmlformats.org/drawingml/2006/main">
            <a:off x="742950" y="20955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2" name="">
            <a:extLst xmlns:a="http://schemas.openxmlformats.org/drawingml/2006/main">
              <a:ext uri="{FF2B5EF4-FFF2-40B4-BE49-F238E27FC236}">
                <a16:creationId xmlns:a16="http://schemas.microsoft.com/office/drawing/2014/main" id="{E14EEF55-EBFB-4682-AEB5-9FB3130900CD}"/>
              </a:ext>
            </a:extLst>
          </p:cNvPr>
          <p:cNvSpPr>
            <a:spLocks xmlns:a="http://schemas.openxmlformats.org/drawingml/2006/main" noGrp="1"/>
          </p:cNvSpPr>
          <p:nvPr/>
        </p:nvSpPr>
        <p:spPr>
          <a:xfrm xmlns:a="http://schemas.openxmlformats.org/drawingml/2006/main">
            <a:off x="207645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62B04284-EFC7-4B91-8A47-8C3DDA1F1521}"/>
              </a:ext>
            </a:extLst>
          </p:cNvPr>
          <p:cNvSpPr>
            <a:spLocks xmlns:a="http://schemas.openxmlformats.org/drawingml/2006/main" noGrp="1"/>
          </p:cNvSpPr>
          <p:nvPr/>
        </p:nvSpPr>
        <p:spPr>
          <a:xfrm xmlns:a="http://schemas.openxmlformats.org/drawingml/2006/main">
            <a:off x="217170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AGENTS.md / Rules</a:t>
            </a:r>
          </a:p>
        </p:txBody>
      </p:sp>
      <p:sp>
        <p:nvSpPr>
          <p:cNvPr id="24" name="">
            <a:extLst xmlns:a="http://schemas.openxmlformats.org/drawingml/2006/main">
              <a:ext uri="{FF2B5EF4-FFF2-40B4-BE49-F238E27FC236}">
                <a16:creationId xmlns:a16="http://schemas.microsoft.com/office/drawing/2014/main" id="{25E7CC0D-207A-4777-AA6C-D0FFE24283E0}"/>
              </a:ext>
            </a:extLst>
          </p:cNvPr>
          <p:cNvSpPr>
            <a:spLocks xmlns:a="http://schemas.openxmlformats.org/drawingml/2006/main" noGrp="1"/>
          </p:cNvSpPr>
          <p:nvPr/>
        </p:nvSpPr>
        <p:spPr>
          <a:xfrm xmlns:a="http://schemas.openxmlformats.org/drawingml/2006/main">
            <a:off x="445770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CB3FF684-4C13-47EE-A1E5-6B5712A1182F}"/>
              </a:ext>
            </a:extLst>
          </p:cNvPr>
          <p:cNvSpPr>
            <a:spLocks xmlns:a="http://schemas.openxmlformats.org/drawingml/2006/main" noGrp="1"/>
          </p:cNvSpPr>
          <p:nvPr/>
        </p:nvSpPr>
        <p:spPr>
          <a:xfrm xmlns:a="http://schemas.openxmlformats.org/drawingml/2006/main">
            <a:off x="455295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26" name="">
            <a:extLst xmlns:a="http://schemas.openxmlformats.org/drawingml/2006/main">
              <a:ext uri="{FF2B5EF4-FFF2-40B4-BE49-F238E27FC236}">
                <a16:creationId xmlns:a16="http://schemas.microsoft.com/office/drawing/2014/main" id="{6A726EA6-6F18-4017-BBA6-201606374A32}"/>
              </a:ext>
            </a:extLst>
          </p:cNvPr>
          <p:cNvSpPr>
            <a:spLocks xmlns:a="http://schemas.openxmlformats.org/drawingml/2006/main" noGrp="1"/>
          </p:cNvSpPr>
          <p:nvPr/>
        </p:nvSpPr>
        <p:spPr>
          <a:xfrm xmlns:a="http://schemas.openxmlformats.org/drawingml/2006/main">
            <a:off x="6838950" y="19812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DF63C774-102D-42BB-8E7A-46518F0BBF55}"/>
              </a:ext>
            </a:extLst>
          </p:cNvPr>
          <p:cNvSpPr>
            <a:spLocks xmlns:a="http://schemas.openxmlformats.org/drawingml/2006/main" noGrp="1"/>
          </p:cNvSpPr>
          <p:nvPr/>
        </p:nvSpPr>
        <p:spPr>
          <a:xfrm xmlns:a="http://schemas.openxmlformats.org/drawingml/2006/main">
            <a:off x="6934200" y="20955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Connectors</a:t>
            </a:r>
          </a:p>
        </p:txBody>
      </p:sp>
      <p:sp>
        <p:nvSpPr>
          <p:cNvPr id="28" name="">
            <a:extLst xmlns:a="http://schemas.openxmlformats.org/drawingml/2006/main">
              <a:ext uri="{FF2B5EF4-FFF2-40B4-BE49-F238E27FC236}">
                <a16:creationId xmlns:a16="http://schemas.microsoft.com/office/drawing/2014/main" id="{C7C086F7-3E18-4A56-A857-A6B75E477760}"/>
              </a:ext>
            </a:extLst>
          </p:cNvPr>
          <p:cNvSpPr>
            <a:spLocks xmlns:a="http://schemas.openxmlformats.org/drawingml/2006/main" noGrp="1"/>
          </p:cNvSpPr>
          <p:nvPr/>
        </p:nvSpPr>
        <p:spPr>
          <a:xfrm xmlns:a="http://schemas.openxmlformats.org/drawingml/2006/main">
            <a:off x="8839200" y="19812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554FB43A-1C7B-4D2F-80C8-8B3644730A8E}"/>
              </a:ext>
            </a:extLst>
          </p:cNvPr>
          <p:cNvSpPr>
            <a:spLocks xmlns:a="http://schemas.openxmlformats.org/drawingml/2006/main" noGrp="1"/>
          </p:cNvSpPr>
          <p:nvPr/>
        </p:nvSpPr>
        <p:spPr>
          <a:xfrm xmlns:a="http://schemas.openxmlformats.org/drawingml/2006/main">
            <a:off x="8934450" y="20955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 diff / files / PR</a:t>
            </a:r>
          </a:p>
        </p:txBody>
      </p:sp>
      <p:sp>
        <p:nvSpPr>
          <p:cNvPr id="30" name="">
            <a:extLst xmlns:a="http://schemas.openxmlformats.org/drawingml/2006/main">
              <a:ext uri="{FF2B5EF4-FFF2-40B4-BE49-F238E27FC236}">
                <a16:creationId xmlns:a16="http://schemas.microsoft.com/office/drawing/2014/main" id="{38E04829-6908-429B-9B92-287966C00E87}"/>
              </a:ext>
            </a:extLst>
          </p:cNvPr>
          <p:cNvSpPr>
            <a:spLocks xmlns:a="http://schemas.openxmlformats.org/drawingml/2006/main" noGrp="1"/>
          </p:cNvSpPr>
          <p:nvPr/>
        </p:nvSpPr>
        <p:spPr>
          <a:xfrm xmlns:a="http://schemas.openxmlformats.org/drawingml/2006/main">
            <a:off x="647700" y="27241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65709255-073A-4398-970C-39C5D505AECE}"/>
              </a:ext>
            </a:extLst>
          </p:cNvPr>
          <p:cNvSpPr>
            <a:spLocks xmlns:a="http://schemas.openxmlformats.org/drawingml/2006/main" noGrp="1"/>
          </p:cNvSpPr>
          <p:nvPr/>
        </p:nvSpPr>
        <p:spPr>
          <a:xfrm xmlns:a="http://schemas.openxmlformats.org/drawingml/2006/main">
            <a:off x="742950" y="28384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32" name="">
            <a:extLst xmlns:a="http://schemas.openxmlformats.org/drawingml/2006/main">
              <a:ext uri="{FF2B5EF4-FFF2-40B4-BE49-F238E27FC236}">
                <a16:creationId xmlns:a16="http://schemas.microsoft.com/office/drawing/2014/main" id="{E695A4F6-3AAD-473C-9E60-54E1DCA1BEE3}"/>
              </a:ext>
            </a:extLst>
          </p:cNvPr>
          <p:cNvSpPr>
            <a:spLocks xmlns:a="http://schemas.openxmlformats.org/drawingml/2006/main" noGrp="1"/>
          </p:cNvSpPr>
          <p:nvPr/>
        </p:nvSpPr>
        <p:spPr>
          <a:xfrm xmlns:a="http://schemas.openxmlformats.org/drawingml/2006/main">
            <a:off x="207645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5B9584F3-9501-496E-BA7D-939D4B46E0F8}"/>
              </a:ext>
            </a:extLst>
          </p:cNvPr>
          <p:cNvSpPr>
            <a:spLocks xmlns:a="http://schemas.openxmlformats.org/drawingml/2006/main" noGrp="1"/>
          </p:cNvSpPr>
          <p:nvPr/>
        </p:nvSpPr>
        <p:spPr>
          <a:xfrm xmlns:a="http://schemas.openxmlformats.org/drawingml/2006/main">
            <a:off x="217170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CLAUDE.md / memory / rules</a:t>
            </a:r>
          </a:p>
        </p:txBody>
      </p:sp>
      <p:sp>
        <p:nvSpPr>
          <p:cNvPr id="34" name="">
            <a:extLst xmlns:a="http://schemas.openxmlformats.org/drawingml/2006/main">
              <a:ext uri="{FF2B5EF4-FFF2-40B4-BE49-F238E27FC236}">
                <a16:creationId xmlns:a16="http://schemas.microsoft.com/office/drawing/2014/main" id="{12835984-D6FB-4036-85D8-AABBC43985C2}"/>
              </a:ext>
            </a:extLst>
          </p:cNvPr>
          <p:cNvSpPr>
            <a:spLocks xmlns:a="http://schemas.openxmlformats.org/drawingml/2006/main" noGrp="1"/>
          </p:cNvSpPr>
          <p:nvPr/>
        </p:nvSpPr>
        <p:spPr>
          <a:xfrm xmlns:a="http://schemas.openxmlformats.org/drawingml/2006/main">
            <a:off x="445770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EF08F726-101C-42D7-A24A-07CB4DC595AF}"/>
              </a:ext>
            </a:extLst>
          </p:cNvPr>
          <p:cNvSpPr>
            <a:spLocks xmlns:a="http://schemas.openxmlformats.org/drawingml/2006/main" noGrp="1"/>
          </p:cNvSpPr>
          <p:nvPr/>
        </p:nvSpPr>
        <p:spPr>
          <a:xfrm xmlns:a="http://schemas.openxmlformats.org/drawingml/2006/main">
            <a:off x="455295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36" name="">
            <a:extLst xmlns:a="http://schemas.openxmlformats.org/drawingml/2006/main">
              <a:ext uri="{FF2B5EF4-FFF2-40B4-BE49-F238E27FC236}">
                <a16:creationId xmlns:a16="http://schemas.microsoft.com/office/drawing/2014/main" id="{F411ED06-15E8-4A1A-BA94-4A2D64EF2F64}"/>
              </a:ext>
            </a:extLst>
          </p:cNvPr>
          <p:cNvSpPr>
            <a:spLocks xmlns:a="http://schemas.openxmlformats.org/drawingml/2006/main" noGrp="1"/>
          </p:cNvSpPr>
          <p:nvPr/>
        </p:nvSpPr>
        <p:spPr>
          <a:xfrm xmlns:a="http://schemas.openxmlformats.org/drawingml/2006/main">
            <a:off x="6838950" y="27241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D007482C-D53D-44F5-A6A4-6A59E3547C81}"/>
              </a:ext>
            </a:extLst>
          </p:cNvPr>
          <p:cNvSpPr>
            <a:spLocks xmlns:a="http://schemas.openxmlformats.org/drawingml/2006/main" noGrp="1"/>
          </p:cNvSpPr>
          <p:nvPr/>
        </p:nvSpPr>
        <p:spPr>
          <a:xfrm xmlns:a="http://schemas.openxmlformats.org/drawingml/2006/main">
            <a:off x="6934200" y="28384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a:t>
            </a:r>
          </a:p>
        </p:txBody>
      </p:sp>
      <p:sp>
        <p:nvSpPr>
          <p:cNvPr id="38" name="">
            <a:extLst xmlns:a="http://schemas.openxmlformats.org/drawingml/2006/main">
              <a:ext uri="{FF2B5EF4-FFF2-40B4-BE49-F238E27FC236}">
                <a16:creationId xmlns:a16="http://schemas.microsoft.com/office/drawing/2014/main" id="{B18E2376-74C5-4E91-B75D-76FF48E7444C}"/>
              </a:ext>
            </a:extLst>
          </p:cNvPr>
          <p:cNvSpPr>
            <a:spLocks xmlns:a="http://schemas.openxmlformats.org/drawingml/2006/main" noGrp="1"/>
          </p:cNvSpPr>
          <p:nvPr/>
        </p:nvSpPr>
        <p:spPr>
          <a:xfrm xmlns:a="http://schemas.openxmlformats.org/drawingml/2006/main">
            <a:off x="8839200" y="27241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FD29B388-071A-41CF-BA48-02D82B815058}"/>
              </a:ext>
            </a:extLst>
          </p:cNvPr>
          <p:cNvSpPr>
            <a:spLocks xmlns:a="http://schemas.openxmlformats.org/drawingml/2006/main" noGrp="1"/>
          </p:cNvSpPr>
          <p:nvPr/>
        </p:nvSpPr>
        <p:spPr>
          <a:xfrm xmlns:a="http://schemas.openxmlformats.org/drawingml/2006/main">
            <a:off x="8934450" y="28384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review / diff / PR</a:t>
            </a:r>
          </a:p>
        </p:txBody>
      </p:sp>
      <p:sp>
        <p:nvSpPr>
          <p:cNvPr id="40" name="">
            <a:extLst xmlns:a="http://schemas.openxmlformats.org/drawingml/2006/main">
              <a:ext uri="{FF2B5EF4-FFF2-40B4-BE49-F238E27FC236}">
                <a16:creationId xmlns:a16="http://schemas.microsoft.com/office/drawing/2014/main" id="{C876A524-408A-4475-878F-A7080D941574}"/>
              </a:ext>
            </a:extLst>
          </p:cNvPr>
          <p:cNvSpPr>
            <a:spLocks xmlns:a="http://schemas.openxmlformats.org/drawingml/2006/main" noGrp="1"/>
          </p:cNvSpPr>
          <p:nvPr/>
        </p:nvSpPr>
        <p:spPr>
          <a:xfrm xmlns:a="http://schemas.openxmlformats.org/drawingml/2006/main">
            <a:off x="647700" y="34671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1DCB2143-B230-47F1-965A-4568E38F5DBD}"/>
              </a:ext>
            </a:extLst>
          </p:cNvPr>
          <p:cNvSpPr>
            <a:spLocks xmlns:a="http://schemas.openxmlformats.org/drawingml/2006/main" noGrp="1"/>
          </p:cNvSpPr>
          <p:nvPr/>
        </p:nvSpPr>
        <p:spPr>
          <a:xfrm xmlns:a="http://schemas.openxmlformats.org/drawingml/2006/main">
            <a:off x="742950" y="35814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42" name="">
            <a:extLst xmlns:a="http://schemas.openxmlformats.org/drawingml/2006/main">
              <a:ext uri="{FF2B5EF4-FFF2-40B4-BE49-F238E27FC236}">
                <a16:creationId xmlns:a16="http://schemas.microsoft.com/office/drawing/2014/main" id="{3EAC4AA3-6878-46C7-9881-EC4E6697817D}"/>
              </a:ext>
            </a:extLst>
          </p:cNvPr>
          <p:cNvSpPr>
            <a:spLocks xmlns:a="http://schemas.openxmlformats.org/drawingml/2006/main" noGrp="1"/>
          </p:cNvSpPr>
          <p:nvPr/>
        </p:nvSpPr>
        <p:spPr>
          <a:xfrm xmlns:a="http://schemas.openxmlformats.org/drawingml/2006/main">
            <a:off x="207645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B139FF39-0141-482F-92F8-0C3A6C5C5B0C}"/>
              </a:ext>
            </a:extLst>
          </p:cNvPr>
          <p:cNvSpPr>
            <a:spLocks xmlns:a="http://schemas.openxmlformats.org/drawingml/2006/main" noGrp="1"/>
          </p:cNvSpPr>
          <p:nvPr/>
        </p:nvSpPr>
        <p:spPr>
          <a:xfrm xmlns:a="http://schemas.openxmlformats.org/drawingml/2006/main">
            <a:off x="217170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Projects instructions / memory</a:t>
            </a:r>
          </a:p>
        </p:txBody>
      </p:sp>
      <p:sp>
        <p:nvSpPr>
          <p:cNvPr id="44" name="">
            <a:extLst xmlns:a="http://schemas.openxmlformats.org/drawingml/2006/main">
              <a:ext uri="{FF2B5EF4-FFF2-40B4-BE49-F238E27FC236}">
                <a16:creationId xmlns:a16="http://schemas.microsoft.com/office/drawing/2014/main" id="{5032E186-8120-4C0A-8C21-C770B3A43FCE}"/>
              </a:ext>
            </a:extLst>
          </p:cNvPr>
          <p:cNvSpPr>
            <a:spLocks xmlns:a="http://schemas.openxmlformats.org/drawingml/2006/main" noGrp="1"/>
          </p:cNvSpPr>
          <p:nvPr/>
        </p:nvSpPr>
        <p:spPr>
          <a:xfrm xmlns:a="http://schemas.openxmlformats.org/drawingml/2006/main">
            <a:off x="445770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BC2220A7-D338-4A99-96D8-D79998BB2FBC}"/>
              </a:ext>
            </a:extLst>
          </p:cNvPr>
          <p:cNvSpPr>
            <a:spLocks xmlns:a="http://schemas.openxmlformats.org/drawingml/2006/main" noGrp="1"/>
          </p:cNvSpPr>
          <p:nvPr/>
        </p:nvSpPr>
        <p:spPr>
          <a:xfrm xmlns:a="http://schemas.openxmlformats.org/drawingml/2006/main">
            <a:off x="455295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sub-agents</a:t>
            </a:r>
          </a:p>
        </p:txBody>
      </p:sp>
      <p:sp>
        <p:nvSpPr>
          <p:cNvPr id="46" name="">
            <a:extLst xmlns:a="http://schemas.openxmlformats.org/drawingml/2006/main">
              <a:ext uri="{FF2B5EF4-FFF2-40B4-BE49-F238E27FC236}">
                <a16:creationId xmlns:a16="http://schemas.microsoft.com/office/drawing/2014/main" id="{5E74B3E8-02E6-4083-BEA0-7F1586DB843B}"/>
              </a:ext>
            </a:extLst>
          </p:cNvPr>
          <p:cNvSpPr>
            <a:spLocks xmlns:a="http://schemas.openxmlformats.org/drawingml/2006/main" noGrp="1"/>
          </p:cNvSpPr>
          <p:nvPr/>
        </p:nvSpPr>
        <p:spPr>
          <a:xfrm xmlns:a="http://schemas.openxmlformats.org/drawingml/2006/main">
            <a:off x="6838950" y="34671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D2E5598A-9F03-4DA1-9BD7-636734A468E2}"/>
              </a:ext>
            </a:extLst>
          </p:cNvPr>
          <p:cNvSpPr>
            <a:spLocks xmlns:a="http://schemas.openxmlformats.org/drawingml/2006/main" noGrp="1"/>
          </p:cNvSpPr>
          <p:nvPr/>
        </p:nvSpPr>
        <p:spPr>
          <a:xfrm xmlns:a="http://schemas.openxmlformats.org/drawingml/2006/main">
            <a:off x="6934200" y="35814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Connectors / local MCP</a:t>
            </a:r>
          </a:p>
        </p:txBody>
      </p:sp>
      <p:sp>
        <p:nvSpPr>
          <p:cNvPr id="48" name="">
            <a:extLst xmlns:a="http://schemas.openxmlformats.org/drawingml/2006/main">
              <a:ext uri="{FF2B5EF4-FFF2-40B4-BE49-F238E27FC236}">
                <a16:creationId xmlns:a16="http://schemas.microsoft.com/office/drawing/2014/main" id="{C79D95CE-EE55-43A4-9D7E-4A2CCA87EA55}"/>
              </a:ext>
            </a:extLst>
          </p:cNvPr>
          <p:cNvSpPr>
            <a:spLocks xmlns:a="http://schemas.openxmlformats.org/drawingml/2006/main" noGrp="1"/>
          </p:cNvSpPr>
          <p:nvPr/>
        </p:nvSpPr>
        <p:spPr>
          <a:xfrm xmlns:a="http://schemas.openxmlformats.org/drawingml/2006/main">
            <a:off x="8839200" y="34671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FBD50103-7F77-4E54-A61B-C0F19F8B7938}"/>
              </a:ext>
            </a:extLst>
          </p:cNvPr>
          <p:cNvSpPr>
            <a:spLocks xmlns:a="http://schemas.openxmlformats.org/drawingml/2006/main" noGrp="1"/>
          </p:cNvSpPr>
          <p:nvPr/>
        </p:nvSpPr>
        <p:spPr>
          <a:xfrm xmlns:a="http://schemas.openxmlformats.org/drawingml/2006/main">
            <a:off x="8934450" y="35814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docs / sheets / slides / artifacts</a:t>
            </a:r>
          </a:p>
        </p:txBody>
      </p:sp>
      <p:sp>
        <p:nvSpPr>
          <p:cNvPr id="50" name="">
            <a:extLst xmlns:a="http://schemas.openxmlformats.org/drawingml/2006/main">
              <a:ext uri="{FF2B5EF4-FFF2-40B4-BE49-F238E27FC236}">
                <a16:creationId xmlns:a16="http://schemas.microsoft.com/office/drawing/2014/main" id="{2D0069C3-2984-480F-B5D0-56CE38F3D7C0}"/>
              </a:ext>
            </a:extLst>
          </p:cNvPr>
          <p:cNvSpPr>
            <a:spLocks xmlns:a="http://schemas.openxmlformats.org/drawingml/2006/main" noGrp="1"/>
          </p:cNvSpPr>
          <p:nvPr/>
        </p:nvSpPr>
        <p:spPr>
          <a:xfrm xmlns:a="http://schemas.openxmlformats.org/drawingml/2006/main">
            <a:off x="647700" y="42100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99D5F1AC-E2E8-4C4C-9EF7-937284AEFFD5}"/>
              </a:ext>
            </a:extLst>
          </p:cNvPr>
          <p:cNvSpPr>
            <a:spLocks xmlns:a="http://schemas.openxmlformats.org/drawingml/2006/main" noGrp="1"/>
          </p:cNvSpPr>
          <p:nvPr/>
        </p:nvSpPr>
        <p:spPr>
          <a:xfrm xmlns:a="http://schemas.openxmlformats.org/drawingml/2006/main">
            <a:off x="742950" y="43243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52" name="">
            <a:extLst xmlns:a="http://schemas.openxmlformats.org/drawingml/2006/main">
              <a:ext uri="{FF2B5EF4-FFF2-40B4-BE49-F238E27FC236}">
                <a16:creationId xmlns:a16="http://schemas.microsoft.com/office/drawing/2014/main" id="{4A3AF0AB-21C5-470E-B2B2-6F0E4BFB554D}"/>
              </a:ext>
            </a:extLst>
          </p:cNvPr>
          <p:cNvSpPr>
            <a:spLocks xmlns:a="http://schemas.openxmlformats.org/drawingml/2006/main" noGrp="1"/>
          </p:cNvSpPr>
          <p:nvPr/>
        </p:nvSpPr>
        <p:spPr>
          <a:xfrm xmlns:a="http://schemas.openxmlformats.org/drawingml/2006/main">
            <a:off x="207645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29655DE4-F6C9-4C6C-BBFA-73C59A2F0D5C}"/>
              </a:ext>
            </a:extLst>
          </p:cNvPr>
          <p:cNvSpPr>
            <a:spLocks xmlns:a="http://schemas.openxmlformats.org/drawingml/2006/main" noGrp="1"/>
          </p:cNvSpPr>
          <p:nvPr/>
        </p:nvSpPr>
        <p:spPr>
          <a:xfrm xmlns:a="http://schemas.openxmlformats.org/drawingml/2006/main">
            <a:off x="217170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Steering / AGENTS.md</a:t>
            </a:r>
          </a:p>
        </p:txBody>
      </p:sp>
      <p:sp>
        <p:nvSpPr>
          <p:cNvPr id="54" name="">
            <a:extLst xmlns:a="http://schemas.openxmlformats.org/drawingml/2006/main">
              <a:ext uri="{FF2B5EF4-FFF2-40B4-BE49-F238E27FC236}">
                <a16:creationId xmlns:a16="http://schemas.microsoft.com/office/drawing/2014/main" id="{FDBF1CEB-8215-4E9D-93F9-8F7C91D7482B}"/>
              </a:ext>
            </a:extLst>
          </p:cNvPr>
          <p:cNvSpPr>
            <a:spLocks xmlns:a="http://schemas.openxmlformats.org/drawingml/2006/main" noGrp="1"/>
          </p:cNvSpPr>
          <p:nvPr/>
        </p:nvSpPr>
        <p:spPr>
          <a:xfrm xmlns:a="http://schemas.openxmlformats.org/drawingml/2006/main">
            <a:off x="445770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15ED0D52-7669-4C7F-9B44-82A3738D1123}"/>
              </a:ext>
            </a:extLst>
          </p:cNvPr>
          <p:cNvSpPr>
            <a:spLocks xmlns:a="http://schemas.openxmlformats.org/drawingml/2006/main" noGrp="1"/>
          </p:cNvSpPr>
          <p:nvPr/>
        </p:nvSpPr>
        <p:spPr>
          <a:xfrm xmlns:a="http://schemas.openxmlformats.org/drawingml/2006/main">
            <a:off x="455295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Powers / Hooks</a:t>
            </a:r>
          </a:p>
        </p:txBody>
      </p:sp>
      <p:sp>
        <p:nvSpPr>
          <p:cNvPr id="56" name="">
            <a:extLst xmlns:a="http://schemas.openxmlformats.org/drawingml/2006/main">
              <a:ext uri="{FF2B5EF4-FFF2-40B4-BE49-F238E27FC236}">
                <a16:creationId xmlns:a16="http://schemas.microsoft.com/office/drawing/2014/main" id="{2523008A-7EE9-42DF-B66C-D6A21BC383EA}"/>
              </a:ext>
            </a:extLst>
          </p:cNvPr>
          <p:cNvSpPr>
            <a:spLocks xmlns:a="http://schemas.openxmlformats.org/drawingml/2006/main" noGrp="1"/>
          </p:cNvSpPr>
          <p:nvPr/>
        </p:nvSpPr>
        <p:spPr>
          <a:xfrm xmlns:a="http://schemas.openxmlformats.org/drawingml/2006/main">
            <a:off x="6838950" y="42100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E2F8CBB1-AFB5-4F3A-87E8-9550CBB91794}"/>
              </a:ext>
            </a:extLst>
          </p:cNvPr>
          <p:cNvSpPr>
            <a:spLocks xmlns:a="http://schemas.openxmlformats.org/drawingml/2006/main" noGrp="1"/>
          </p:cNvSpPr>
          <p:nvPr/>
        </p:nvSpPr>
        <p:spPr>
          <a:xfrm xmlns:a="http://schemas.openxmlformats.org/drawingml/2006/main">
            <a:off x="6934200" y="43243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Powers内MCP</a:t>
            </a:r>
          </a:p>
        </p:txBody>
      </p:sp>
      <p:sp>
        <p:nvSpPr>
          <p:cNvPr id="58" name="">
            <a:extLst xmlns:a="http://schemas.openxmlformats.org/drawingml/2006/main">
              <a:ext uri="{FF2B5EF4-FFF2-40B4-BE49-F238E27FC236}">
                <a16:creationId xmlns:a16="http://schemas.microsoft.com/office/drawing/2014/main" id="{356E41AB-F2E2-496B-BCB7-B096363DBA8C}"/>
              </a:ext>
            </a:extLst>
          </p:cNvPr>
          <p:cNvSpPr>
            <a:spLocks xmlns:a="http://schemas.openxmlformats.org/drawingml/2006/main" noGrp="1"/>
          </p:cNvSpPr>
          <p:nvPr/>
        </p:nvSpPr>
        <p:spPr>
          <a:xfrm xmlns:a="http://schemas.openxmlformats.org/drawingml/2006/main">
            <a:off x="8839200" y="42100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9" name="">
            <a:extLst xmlns:a="http://schemas.openxmlformats.org/drawingml/2006/main">
              <a:ext uri="{FF2B5EF4-FFF2-40B4-BE49-F238E27FC236}">
                <a16:creationId xmlns:a16="http://schemas.microsoft.com/office/drawing/2014/main" id="{E248AA99-2C74-4292-835F-18F11A0002E5}"/>
              </a:ext>
            </a:extLst>
          </p:cNvPr>
          <p:cNvSpPr>
            <a:spLocks xmlns:a="http://schemas.openxmlformats.org/drawingml/2006/main" noGrp="1"/>
          </p:cNvSpPr>
          <p:nvPr/>
        </p:nvSpPr>
        <p:spPr>
          <a:xfrm xmlns:a="http://schemas.openxmlformats.org/drawingml/2006/main">
            <a:off x="8934450" y="43243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Specs / tasks / checkpoints</a:t>
            </a:r>
          </a:p>
        </p:txBody>
      </p:sp>
      <p:sp>
        <p:nvSpPr>
          <p:cNvPr id="60" name="">
            <a:extLst xmlns:a="http://schemas.openxmlformats.org/drawingml/2006/main">
              <a:ext uri="{FF2B5EF4-FFF2-40B4-BE49-F238E27FC236}">
                <a16:creationId xmlns:a16="http://schemas.microsoft.com/office/drawing/2014/main" id="{D8162A04-3B75-44B8-90EE-D72BBF8BD2A0}"/>
              </a:ext>
            </a:extLst>
          </p:cNvPr>
          <p:cNvSpPr>
            <a:spLocks xmlns:a="http://schemas.openxmlformats.org/drawingml/2006/main" noGrp="1"/>
          </p:cNvSpPr>
          <p:nvPr/>
        </p:nvSpPr>
        <p:spPr>
          <a:xfrm xmlns:a="http://schemas.openxmlformats.org/drawingml/2006/main">
            <a:off x="647700" y="49530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1" name="">
            <a:extLst xmlns:a="http://schemas.openxmlformats.org/drawingml/2006/main">
              <a:ext uri="{FF2B5EF4-FFF2-40B4-BE49-F238E27FC236}">
                <a16:creationId xmlns:a16="http://schemas.microsoft.com/office/drawing/2014/main" id="{EC1DB66C-B5F2-4C56-A8E1-9DDD12645C26}"/>
              </a:ext>
            </a:extLst>
          </p:cNvPr>
          <p:cNvSpPr>
            <a:spLocks xmlns:a="http://schemas.openxmlformats.org/drawingml/2006/main" noGrp="1"/>
          </p:cNvSpPr>
          <p:nvPr/>
        </p:nvSpPr>
        <p:spPr>
          <a:xfrm xmlns:a="http://schemas.openxmlformats.org/drawingml/2006/main">
            <a:off x="742950" y="50673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62" name="">
            <a:extLst xmlns:a="http://schemas.openxmlformats.org/drawingml/2006/main">
              <a:ext uri="{FF2B5EF4-FFF2-40B4-BE49-F238E27FC236}">
                <a16:creationId xmlns:a16="http://schemas.microsoft.com/office/drawing/2014/main" id="{DD4C2D0A-2EEF-4A5A-BF12-FE1043FEB600}"/>
              </a:ext>
            </a:extLst>
          </p:cNvPr>
          <p:cNvSpPr>
            <a:spLocks xmlns:a="http://schemas.openxmlformats.org/drawingml/2006/main" noGrp="1"/>
          </p:cNvSpPr>
          <p:nvPr/>
        </p:nvSpPr>
        <p:spPr>
          <a:xfrm xmlns:a="http://schemas.openxmlformats.org/drawingml/2006/main">
            <a:off x="207645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3" name="">
            <a:extLst xmlns:a="http://schemas.openxmlformats.org/drawingml/2006/main">
              <a:ext uri="{FF2B5EF4-FFF2-40B4-BE49-F238E27FC236}">
                <a16:creationId xmlns:a16="http://schemas.microsoft.com/office/drawing/2014/main" id="{B6BAC600-9D28-43C8-A900-DE717BE36451}"/>
              </a:ext>
            </a:extLst>
          </p:cNvPr>
          <p:cNvSpPr>
            <a:spLocks xmlns:a="http://schemas.openxmlformats.org/drawingml/2006/main" noGrp="1"/>
          </p:cNvSpPr>
          <p:nvPr/>
        </p:nvSpPr>
        <p:spPr>
          <a:xfrm xmlns:a="http://schemas.openxmlformats.org/drawingml/2006/main">
            <a:off x="217170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Rules / GEMINI.md</a:t>
            </a:r>
          </a:p>
        </p:txBody>
      </p:sp>
      <p:sp>
        <p:nvSpPr>
          <p:cNvPr id="64" name="">
            <a:extLst xmlns:a="http://schemas.openxmlformats.org/drawingml/2006/main">
              <a:ext uri="{FF2B5EF4-FFF2-40B4-BE49-F238E27FC236}">
                <a16:creationId xmlns:a16="http://schemas.microsoft.com/office/drawing/2014/main" id="{D21339C5-E521-484A-8C4A-A71D667897F6}"/>
              </a:ext>
            </a:extLst>
          </p:cNvPr>
          <p:cNvSpPr>
            <a:spLocks xmlns:a="http://schemas.openxmlformats.org/drawingml/2006/main" noGrp="1"/>
          </p:cNvSpPr>
          <p:nvPr/>
        </p:nvSpPr>
        <p:spPr>
          <a:xfrm xmlns:a="http://schemas.openxmlformats.org/drawingml/2006/main">
            <a:off x="445770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5" name="">
            <a:extLst xmlns:a="http://schemas.openxmlformats.org/drawingml/2006/main">
              <a:ext uri="{FF2B5EF4-FFF2-40B4-BE49-F238E27FC236}">
                <a16:creationId xmlns:a16="http://schemas.microsoft.com/office/drawing/2014/main" id="{E8BE86D3-B266-4243-ABB5-9C70C2A3DBDA}"/>
              </a:ext>
            </a:extLst>
          </p:cNvPr>
          <p:cNvSpPr>
            <a:spLocks xmlns:a="http://schemas.openxmlformats.org/drawingml/2006/main" noGrp="1"/>
          </p:cNvSpPr>
          <p:nvPr/>
        </p:nvSpPr>
        <p:spPr>
          <a:xfrm xmlns:a="http://schemas.openxmlformats.org/drawingml/2006/main">
            <a:off x="455295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Workflows / Plugins</a:t>
            </a:r>
          </a:p>
        </p:txBody>
      </p:sp>
      <p:sp>
        <p:nvSpPr>
          <p:cNvPr id="66" name="">
            <a:extLst xmlns:a="http://schemas.openxmlformats.org/drawingml/2006/main">
              <a:ext uri="{FF2B5EF4-FFF2-40B4-BE49-F238E27FC236}">
                <a16:creationId xmlns:a16="http://schemas.microsoft.com/office/drawing/2014/main" id="{B4155613-D758-4668-AD33-06922603CD84}"/>
              </a:ext>
            </a:extLst>
          </p:cNvPr>
          <p:cNvSpPr>
            <a:spLocks xmlns:a="http://schemas.openxmlformats.org/drawingml/2006/main" noGrp="1"/>
          </p:cNvSpPr>
          <p:nvPr/>
        </p:nvSpPr>
        <p:spPr>
          <a:xfrm xmlns:a="http://schemas.openxmlformats.org/drawingml/2006/main">
            <a:off x="6838950" y="49530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7" name="">
            <a:extLst xmlns:a="http://schemas.openxmlformats.org/drawingml/2006/main">
              <a:ext uri="{FF2B5EF4-FFF2-40B4-BE49-F238E27FC236}">
                <a16:creationId xmlns:a16="http://schemas.microsoft.com/office/drawing/2014/main" id="{FDD472DA-A26B-4BD1-B5EF-CEC12E4952C5}"/>
              </a:ext>
            </a:extLst>
          </p:cNvPr>
          <p:cNvSpPr>
            <a:spLocks xmlns:a="http://schemas.openxmlformats.org/drawingml/2006/main" noGrp="1"/>
          </p:cNvSpPr>
          <p:nvPr/>
        </p:nvSpPr>
        <p:spPr>
          <a:xfrm xmlns:a="http://schemas.openxmlformats.org/drawingml/2006/main">
            <a:off x="6934200" y="50673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Store</a:t>
            </a:r>
          </a:p>
        </p:txBody>
      </p:sp>
      <p:sp>
        <p:nvSpPr>
          <p:cNvPr id="68" name="">
            <a:extLst xmlns:a="http://schemas.openxmlformats.org/drawingml/2006/main">
              <a:ext uri="{FF2B5EF4-FFF2-40B4-BE49-F238E27FC236}">
                <a16:creationId xmlns:a16="http://schemas.microsoft.com/office/drawing/2014/main" id="{E110B60D-7CF1-4866-919B-7466A53B32C0}"/>
              </a:ext>
            </a:extLst>
          </p:cNvPr>
          <p:cNvSpPr>
            <a:spLocks xmlns:a="http://schemas.openxmlformats.org/drawingml/2006/main" noGrp="1"/>
          </p:cNvSpPr>
          <p:nvPr/>
        </p:nvSpPr>
        <p:spPr>
          <a:xfrm xmlns:a="http://schemas.openxmlformats.org/drawingml/2006/main">
            <a:off x="8839200" y="49530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9" name="">
            <a:extLst xmlns:a="http://schemas.openxmlformats.org/drawingml/2006/main">
              <a:ext uri="{FF2B5EF4-FFF2-40B4-BE49-F238E27FC236}">
                <a16:creationId xmlns:a16="http://schemas.microsoft.com/office/drawing/2014/main" id="{2FE09DD6-4B8E-48DA-A959-394C6B25B0D1}"/>
              </a:ext>
            </a:extLst>
          </p:cNvPr>
          <p:cNvSpPr>
            <a:spLocks xmlns:a="http://schemas.openxmlformats.org/drawingml/2006/main" noGrp="1"/>
          </p:cNvSpPr>
          <p:nvPr/>
        </p:nvSpPr>
        <p:spPr>
          <a:xfrm xmlns:a="http://schemas.openxmlformats.org/drawingml/2006/main">
            <a:off x="8934450" y="50673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Artifacts / plan / diff / recording</a:t>
            </a:r>
          </a:p>
        </p:txBody>
      </p:sp>
    </p:spTree>
    <p:extLst>
      <p:ext uri="{BB962C8B-B14F-4D97-AF65-F5344CB8AC3E}">
        <p14:creationId xmlns:p14="http://schemas.microsoft.com/office/powerpoint/2010/main" val="101826840"/>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TERMS  |  DO NOT MIX</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SteeringとPowersはKiroの正式機能名です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06 / 30</a:t>
            </a:r>
          </a:p>
        </p:txBody>
      </p:sp>
      <p:sp>
        <p:nvSpPr>
          <p:cNvPr id="10" name="">
            <a:extLst xmlns:a="http://schemas.openxmlformats.org/drawingml/2006/main">
              <a:ext uri="{FF2B5EF4-FFF2-40B4-BE49-F238E27FC236}">
                <a16:creationId xmlns:a16="http://schemas.microsoft.com/office/drawing/2014/main" id="{28DEBABA-2DB4-43E4-9265-E9D4C9DB70C8}"/>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95152E78-95FA-4C21-AC35-C3297E682E3B}"/>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7B61A8"/>
                </a:solidFill>
                <a:latin typeface="Yu Gothic UI"/>
                <a:ea typeface="Yu Gothic UI"/>
                <a:cs typeface="Yu Gothic UI"/>
              </a:defRPr>
            </a:pPr>
            <a:r>
              <a:rPr sz="1875" b="1">
                <a:solidFill>
                  <a:srgbClr val="7B61A8"/>
                </a:solidFill>
                <a:latin typeface="Yu Gothic UI"/>
                <a:ea typeface="Yu Gothic UI"/>
                <a:cs typeface="Yu Gothic UI"/>
              </a:rPr>
              <a:t>KIRO</a:t>
            </a:r>
          </a:p>
        </p:txBody>
      </p:sp>
      <p:sp>
        <p:nvSpPr>
          <p:cNvPr id="12" name="">
            <a:extLst xmlns:a="http://schemas.openxmlformats.org/drawingml/2006/main">
              <a:ext uri="{FF2B5EF4-FFF2-40B4-BE49-F238E27FC236}">
                <a16:creationId xmlns:a16="http://schemas.microsoft.com/office/drawing/2014/main" id="{A671F82E-06C2-456C-997F-8D499FC9E161}"/>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56B7411-F94B-498D-83DF-E6D4DF280C72}"/>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STEERING</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Markdownで知識・規約・技術選定を持続。</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always / fileMatch / manual / autoで読込み。</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POWER.md + MCP設定 + 任意のSteering / Hooks。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必要な専門能力だけを動的に読み込む。</a:t>
            </a:r>
          </a:p>
        </p:txBody>
      </p:sp>
      <p:sp>
        <p:nvSpPr>
          <p:cNvPr id="14" name="">
            <a:extLst xmlns:a="http://schemas.openxmlformats.org/drawingml/2006/main">
              <a:ext uri="{FF2B5EF4-FFF2-40B4-BE49-F238E27FC236}">
                <a16:creationId xmlns:a16="http://schemas.microsoft.com/office/drawing/2014/main" id="{0E7E6974-0C82-43D7-B1F7-C02AEC468EDB}"/>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3000DF9-8877-4C98-B9C3-41D2FA71326E}"/>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ANTIGRAVITY</a:t>
            </a:r>
          </a:p>
        </p:txBody>
      </p:sp>
      <p:sp>
        <p:nvSpPr>
          <p:cNvPr id="16" name="">
            <a:extLst xmlns:a="http://schemas.openxmlformats.org/drawingml/2006/main">
              <a:ext uri="{FF2B5EF4-FFF2-40B4-BE49-F238E27FC236}">
                <a16:creationId xmlns:a16="http://schemas.microsoft.com/office/drawing/2014/main" id="{A0DDC24E-72E1-4E89-B3EC-9F0690F1F7CC}"/>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4531ABA-D12D-4EE7-821A-9359A3CD1AD9}"/>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RULES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持続するプロジェクト指示。</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WORKFLOWS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Slash Commandで呼ぶ反復手順。</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SKILLS / MCP / ARTIFACTS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再利用能力、外部接続、計画・差分・録画。</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KiroのSteering / Powersという機能名は付けない。</a:t>
            </a:r>
          </a:p>
        </p:txBody>
      </p:sp>
    </p:spTree>
    <p:extLst>
      <p:ext uri="{BB962C8B-B14F-4D97-AF65-F5344CB8AC3E}">
        <p14:creationId xmlns:p14="http://schemas.microsoft.com/office/powerpoint/2010/main" val="101826840"/>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RUN OF SHOW  |  30 MINUTES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本編は7プロンプトに固定し、追加改善はQ&amp;Aへ分けます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07 / 30</a:t>
            </a:r>
          </a:p>
        </p:txBody>
      </p:sp>
      <p:sp>
        <p:nvSpPr>
          <p:cNvPr id="10" name="">
            <a:extLst xmlns:a="http://schemas.openxmlformats.org/drawingml/2006/main">
              <a:ext uri="{FF2B5EF4-FFF2-40B4-BE49-F238E27FC236}">
                <a16:creationId xmlns:a16="http://schemas.microsoft.com/office/drawing/2014/main" id="{F883BF4B-09BF-4860-8B69-31581D15F910}"/>
              </a:ext>
            </a:extLst>
          </p:cNvPr>
          <p:cNvSpPr>
            <a:spLocks xmlns:a="http://schemas.openxmlformats.org/drawingml/2006/main" noGrp="1"/>
          </p:cNvSpPr>
          <p:nvPr/>
        </p:nvSpPr>
        <p:spPr>
          <a:xfrm xmlns:a="http://schemas.openxmlformats.org/drawingml/2006/main">
            <a:off x="647700" y="16002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00:00–03:00</a:t>
            </a:r>
          </a:p>
        </p:txBody>
      </p:sp>
      <p:sp>
        <p:nvSpPr>
          <p:cNvPr id="11" name="">
            <a:extLst xmlns:a="http://schemas.openxmlformats.org/drawingml/2006/main">
              <a:ext uri="{FF2B5EF4-FFF2-40B4-BE49-F238E27FC236}">
                <a16:creationId xmlns:a16="http://schemas.microsoft.com/office/drawing/2014/main" id="{61F8C6AC-9D2B-4785-B39E-84C773D578B3}"/>
              </a:ext>
            </a:extLst>
          </p:cNvPr>
          <p:cNvSpPr>
            <a:spLocks xmlns:a="http://schemas.openxmlformats.org/drawingml/2006/main" noGrp="1"/>
          </p:cNvSpPr>
          <p:nvPr/>
        </p:nvSpPr>
        <p:spPr>
          <a:xfrm xmlns:a="http://schemas.openxmlformats.org/drawingml/2006/main">
            <a:off x="2705100" y="16478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5製品とゴール</a:t>
            </a:r>
          </a:p>
        </p:txBody>
      </p:sp>
      <p:sp>
        <p:nvSpPr>
          <p:cNvPr id="12" name="">
            <a:extLst xmlns:a="http://schemas.openxmlformats.org/drawingml/2006/main">
              <a:ext uri="{FF2B5EF4-FFF2-40B4-BE49-F238E27FC236}">
                <a16:creationId xmlns:a16="http://schemas.microsoft.com/office/drawing/2014/main" id="{BBBDA8F4-B98B-4F83-BE6D-EFD131EA7660}"/>
              </a:ext>
            </a:extLst>
          </p:cNvPr>
          <p:cNvSpPr>
            <a:spLocks xmlns:a="http://schemas.openxmlformats.org/drawingml/2006/main" noGrp="1"/>
          </p:cNvSpPr>
          <p:nvPr/>
        </p:nvSpPr>
        <p:spPr>
          <a:xfrm xmlns:a="http://schemas.openxmlformats.org/drawingml/2006/main">
            <a:off x="5334000" y="16573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何を見せるデモかを固定</a:t>
            </a:r>
          </a:p>
        </p:txBody>
      </p:sp>
      <p:sp>
        <p:nvSpPr>
          <p:cNvPr id="13" name="">
            <a:extLst xmlns:a="http://schemas.openxmlformats.org/drawingml/2006/main">
              <a:ext uri="{FF2B5EF4-FFF2-40B4-BE49-F238E27FC236}">
                <a16:creationId xmlns:a16="http://schemas.microsoft.com/office/drawing/2014/main" id="{1E7973E8-ECA8-499C-A969-9D245996E519}"/>
              </a:ext>
            </a:extLst>
          </p:cNvPr>
          <p:cNvSpPr>
            <a:spLocks xmlns:a="http://schemas.openxmlformats.org/drawingml/2006/main" noGrp="1"/>
          </p:cNvSpPr>
          <p:nvPr/>
        </p:nvSpPr>
        <p:spPr>
          <a:xfrm xmlns:a="http://schemas.openxmlformats.org/drawingml/2006/main">
            <a:off x="647700" y="21907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03:00–05:00</a:t>
            </a:r>
          </a:p>
        </p:txBody>
      </p:sp>
      <p:sp>
        <p:nvSpPr>
          <p:cNvPr id="14" name="">
            <a:extLst xmlns:a="http://schemas.openxmlformats.org/drawingml/2006/main">
              <a:ext uri="{FF2B5EF4-FFF2-40B4-BE49-F238E27FC236}">
                <a16:creationId xmlns:a16="http://schemas.microsoft.com/office/drawing/2014/main" id="{118AB07A-4FB1-46EF-989F-A9CF24CFD042}"/>
              </a:ext>
            </a:extLst>
          </p:cNvPr>
          <p:cNvSpPr>
            <a:spLocks xmlns:a="http://schemas.openxmlformats.org/drawingml/2006/main" noGrp="1"/>
          </p:cNvSpPr>
          <p:nvPr/>
        </p:nvSpPr>
        <p:spPr>
          <a:xfrm xmlns:a="http://schemas.openxmlformats.org/drawingml/2006/main">
            <a:off x="2705100" y="22383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/grill-me</a:t>
            </a:r>
          </a:p>
        </p:txBody>
      </p:sp>
      <p:sp>
        <p:nvSpPr>
          <p:cNvPr id="15" name="">
            <a:extLst xmlns:a="http://schemas.openxmlformats.org/drawingml/2006/main">
              <a:ext uri="{FF2B5EF4-FFF2-40B4-BE49-F238E27FC236}">
                <a16:creationId xmlns:a16="http://schemas.microsoft.com/office/drawing/2014/main" id="{A43E8955-3F8B-4823-9394-775022A33205}"/>
              </a:ext>
            </a:extLst>
          </p:cNvPr>
          <p:cNvSpPr>
            <a:spLocks xmlns:a="http://schemas.openxmlformats.org/drawingml/2006/main" noGrp="1"/>
          </p:cNvSpPr>
          <p:nvPr/>
        </p:nvSpPr>
        <p:spPr>
          <a:xfrm xmlns:a="http://schemas.openxmlformats.org/drawingml/2006/main">
            <a:off x="5334000" y="22479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最大2問で要件を固める</a:t>
            </a:r>
          </a:p>
        </p:txBody>
      </p:sp>
      <p:sp>
        <p:nvSpPr>
          <p:cNvPr id="16" name="">
            <a:extLst xmlns:a="http://schemas.openxmlformats.org/drawingml/2006/main">
              <a:ext uri="{FF2B5EF4-FFF2-40B4-BE49-F238E27FC236}">
                <a16:creationId xmlns:a16="http://schemas.microsoft.com/office/drawing/2014/main" id="{0BFF6476-F37A-4BE2-BC68-6BAC98A21101}"/>
              </a:ext>
            </a:extLst>
          </p:cNvPr>
          <p:cNvSpPr>
            <a:spLocks xmlns:a="http://schemas.openxmlformats.org/drawingml/2006/main" noGrp="1"/>
          </p:cNvSpPr>
          <p:nvPr/>
        </p:nvSpPr>
        <p:spPr>
          <a:xfrm xmlns:a="http://schemas.openxmlformats.org/drawingml/2006/main">
            <a:off x="647700" y="27813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05:00–09:00</a:t>
            </a:r>
          </a:p>
        </p:txBody>
      </p:sp>
      <p:sp>
        <p:nvSpPr>
          <p:cNvPr id="17" name="">
            <a:extLst xmlns:a="http://schemas.openxmlformats.org/drawingml/2006/main">
              <a:ext uri="{FF2B5EF4-FFF2-40B4-BE49-F238E27FC236}">
                <a16:creationId xmlns:a16="http://schemas.microsoft.com/office/drawing/2014/main" id="{533207A7-9439-4AB0-99FC-2DEFEBD14ED9}"/>
              </a:ext>
            </a:extLst>
          </p:cNvPr>
          <p:cNvSpPr>
            <a:spLocks xmlns:a="http://schemas.openxmlformats.org/drawingml/2006/main" noGrp="1"/>
          </p:cNvSpPr>
          <p:nvPr/>
        </p:nvSpPr>
        <p:spPr>
          <a:xfrm xmlns:a="http://schemas.openxmlformats.org/drawingml/2006/main">
            <a:off x="2705100" y="28289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/find-skills + install</a:t>
            </a:r>
          </a:p>
        </p:txBody>
      </p:sp>
      <p:sp>
        <p:nvSpPr>
          <p:cNvPr id="18" name="">
            <a:extLst xmlns:a="http://schemas.openxmlformats.org/drawingml/2006/main">
              <a:ext uri="{FF2B5EF4-FFF2-40B4-BE49-F238E27FC236}">
                <a16:creationId xmlns:a16="http://schemas.microsoft.com/office/drawing/2014/main" id="{141E14F9-88BA-4A3F-B156-7572A363019A}"/>
              </a:ext>
            </a:extLst>
          </p:cNvPr>
          <p:cNvSpPr>
            <a:spLocks xmlns:a="http://schemas.openxmlformats.org/drawingml/2006/main" noGrp="1"/>
          </p:cNvSpPr>
          <p:nvPr/>
        </p:nvSpPr>
        <p:spPr>
          <a:xfrm xmlns:a="http://schemas.openxmlformats.org/drawingml/2006/main">
            <a:off x="5334000" y="28384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探す → 評価 → 専用環境へ導入</a:t>
            </a:r>
          </a:p>
        </p:txBody>
      </p:sp>
      <p:sp>
        <p:nvSpPr>
          <p:cNvPr id="19" name="">
            <a:extLst xmlns:a="http://schemas.openxmlformats.org/drawingml/2006/main">
              <a:ext uri="{FF2B5EF4-FFF2-40B4-BE49-F238E27FC236}">
                <a16:creationId xmlns:a16="http://schemas.microsoft.com/office/drawing/2014/main" id="{A06A81BF-0E14-40CF-9764-35E4964D25E8}"/>
              </a:ext>
            </a:extLst>
          </p:cNvPr>
          <p:cNvSpPr>
            <a:spLocks xmlns:a="http://schemas.openxmlformats.org/drawingml/2006/main" noGrp="1"/>
          </p:cNvSpPr>
          <p:nvPr/>
        </p:nvSpPr>
        <p:spPr>
          <a:xfrm xmlns:a="http://schemas.openxmlformats.org/drawingml/2006/main">
            <a:off x="647700" y="33718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09:00–15:00</a:t>
            </a:r>
          </a:p>
        </p:txBody>
      </p:sp>
      <p:sp>
        <p:nvSpPr>
          <p:cNvPr id="20" name="">
            <a:extLst xmlns:a="http://schemas.openxmlformats.org/drawingml/2006/main">
              <a:ext uri="{FF2B5EF4-FFF2-40B4-BE49-F238E27FC236}">
                <a16:creationId xmlns:a16="http://schemas.microsoft.com/office/drawing/2014/main" id="{74885815-3120-41B5-97F6-0652AE94D506}"/>
              </a:ext>
            </a:extLst>
          </p:cNvPr>
          <p:cNvSpPr>
            <a:spLocks xmlns:a="http://schemas.openxmlformats.org/drawingml/2006/main" noGrp="1"/>
          </p:cNvSpPr>
          <p:nvPr/>
        </p:nvSpPr>
        <p:spPr>
          <a:xfrm xmlns:a="http://schemas.openxmlformats.org/drawingml/2006/main">
            <a:off x="2705100" y="34194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Build</a:t>
            </a:r>
          </a:p>
        </p:txBody>
      </p:sp>
      <p:sp>
        <p:nvSpPr>
          <p:cNvPr id="21" name="">
            <a:extLst xmlns:a="http://schemas.openxmlformats.org/drawingml/2006/main">
              <a:ext uri="{FF2B5EF4-FFF2-40B4-BE49-F238E27FC236}">
                <a16:creationId xmlns:a16="http://schemas.microsoft.com/office/drawing/2014/main" id="{9DC6AF71-3246-4B58-99BD-F85257C20D94}"/>
              </a:ext>
            </a:extLst>
          </p:cNvPr>
          <p:cNvSpPr>
            <a:spLocks xmlns:a="http://schemas.openxmlformats.org/drawingml/2006/main" noGrp="1"/>
          </p:cNvSpPr>
          <p:nvPr/>
        </p:nvSpPr>
        <p:spPr>
          <a:xfrm xmlns:a="http://schemas.openxmlformats.org/drawingml/2006/main">
            <a:off x="5334000" y="34290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初版5カードを作る</a:t>
            </a:r>
          </a:p>
        </p:txBody>
      </p:sp>
      <p:sp>
        <p:nvSpPr>
          <p:cNvPr id="22" name="">
            <a:extLst xmlns:a="http://schemas.openxmlformats.org/drawingml/2006/main">
              <a:ext uri="{FF2B5EF4-FFF2-40B4-BE49-F238E27FC236}">
                <a16:creationId xmlns:a16="http://schemas.microsoft.com/office/drawing/2014/main" id="{0341E257-D5FC-4EEE-8CA1-9FE73BE65155}"/>
              </a:ext>
            </a:extLst>
          </p:cNvPr>
          <p:cNvSpPr>
            <a:spLocks xmlns:a="http://schemas.openxmlformats.org/drawingml/2006/main" noGrp="1"/>
          </p:cNvSpPr>
          <p:nvPr/>
        </p:nvSpPr>
        <p:spPr>
          <a:xfrm xmlns:a="http://schemas.openxmlformats.org/drawingml/2006/main">
            <a:off x="647700" y="39624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15:00–21:00</a:t>
            </a:r>
          </a:p>
        </p:txBody>
      </p:sp>
      <p:sp>
        <p:nvSpPr>
          <p:cNvPr id="23" name="">
            <a:extLst xmlns:a="http://schemas.openxmlformats.org/drawingml/2006/main">
              <a:ext uri="{FF2B5EF4-FFF2-40B4-BE49-F238E27FC236}">
                <a16:creationId xmlns:a16="http://schemas.microsoft.com/office/drawing/2014/main" id="{BED6D72D-C35A-446F-AFE5-6EADC73A285F}"/>
              </a:ext>
            </a:extLst>
          </p:cNvPr>
          <p:cNvSpPr>
            <a:spLocks xmlns:a="http://schemas.openxmlformats.org/drawingml/2006/main" noGrp="1"/>
          </p:cNvSpPr>
          <p:nvPr/>
        </p:nvSpPr>
        <p:spPr>
          <a:xfrm xmlns:a="http://schemas.openxmlformats.org/drawingml/2006/main">
            <a:off x="2705100" y="40100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/frontend-design</a:t>
            </a:r>
          </a:p>
        </p:txBody>
      </p:sp>
      <p:sp>
        <p:nvSpPr>
          <p:cNvPr id="24" name="">
            <a:extLst xmlns:a="http://schemas.openxmlformats.org/drawingml/2006/main">
              <a:ext uri="{FF2B5EF4-FFF2-40B4-BE49-F238E27FC236}">
                <a16:creationId xmlns:a16="http://schemas.microsoft.com/office/drawing/2014/main" id="{3AFB611D-D4A2-4083-9F2B-558B06BAFE3E}"/>
              </a:ext>
            </a:extLst>
          </p:cNvPr>
          <p:cNvSpPr>
            <a:spLocks xmlns:a="http://schemas.openxmlformats.org/drawingml/2006/main" noGrp="1"/>
          </p:cNvSpPr>
          <p:nvPr/>
        </p:nvSpPr>
        <p:spPr>
          <a:xfrm xmlns:a="http://schemas.openxmlformats.org/drawingml/2006/main">
            <a:off x="5334000" y="40195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絞り込み・比較・品質改善</a:t>
            </a:r>
          </a:p>
        </p:txBody>
      </p:sp>
      <p:sp>
        <p:nvSpPr>
          <p:cNvPr id="25" name="">
            <a:extLst xmlns:a="http://schemas.openxmlformats.org/drawingml/2006/main">
              <a:ext uri="{FF2B5EF4-FFF2-40B4-BE49-F238E27FC236}">
                <a16:creationId xmlns:a16="http://schemas.microsoft.com/office/drawing/2014/main" id="{BB1D207F-E8F1-4115-A8BE-F0A938F54F76}"/>
              </a:ext>
            </a:extLst>
          </p:cNvPr>
          <p:cNvSpPr>
            <a:spLocks xmlns:a="http://schemas.openxmlformats.org/drawingml/2006/main" noGrp="1"/>
          </p:cNvSpPr>
          <p:nvPr/>
        </p:nvSpPr>
        <p:spPr>
          <a:xfrm xmlns:a="http://schemas.openxmlformats.org/drawingml/2006/main">
            <a:off x="647700" y="45529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21:00–23:00</a:t>
            </a:r>
          </a:p>
        </p:txBody>
      </p:sp>
      <p:sp>
        <p:nvSpPr>
          <p:cNvPr id="26" name="">
            <a:extLst xmlns:a="http://schemas.openxmlformats.org/drawingml/2006/main">
              <a:ext uri="{FF2B5EF4-FFF2-40B4-BE49-F238E27FC236}">
                <a16:creationId xmlns:a16="http://schemas.microsoft.com/office/drawing/2014/main" id="{AF30EFC4-3A46-47D7-BF88-A521ADC490B6}"/>
              </a:ext>
            </a:extLst>
          </p:cNvPr>
          <p:cNvSpPr>
            <a:spLocks xmlns:a="http://schemas.openxmlformats.org/drawingml/2006/main" noGrp="1"/>
          </p:cNvSpPr>
          <p:nvPr/>
        </p:nvSpPr>
        <p:spPr>
          <a:xfrm xmlns:a="http://schemas.openxmlformats.org/drawingml/2006/main">
            <a:off x="2705100" y="46005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a:t>
            </a:r>
          </a:p>
        </p:txBody>
      </p:sp>
      <p:sp>
        <p:nvSpPr>
          <p:cNvPr id="27" name="">
            <a:extLst xmlns:a="http://schemas.openxmlformats.org/drawingml/2006/main">
              <a:ext uri="{FF2B5EF4-FFF2-40B4-BE49-F238E27FC236}">
                <a16:creationId xmlns:a16="http://schemas.microsoft.com/office/drawing/2014/main" id="{250F0DF8-FA8E-4106-AC1D-64FB7C17945C}"/>
              </a:ext>
            </a:extLst>
          </p:cNvPr>
          <p:cNvSpPr>
            <a:spLocks xmlns:a="http://schemas.openxmlformats.org/drawingml/2006/main" noGrp="1"/>
          </p:cNvSpPr>
          <p:nvPr/>
        </p:nvSpPr>
        <p:spPr>
          <a:xfrm xmlns:a="http://schemas.openxmlformats.org/drawingml/2006/main">
            <a:off x="5334000" y="46101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公開先を読み取り確認</a:t>
            </a:r>
          </a:p>
        </p:txBody>
      </p:sp>
      <p:sp>
        <p:nvSpPr>
          <p:cNvPr id="28" name="">
            <a:extLst xmlns:a="http://schemas.openxmlformats.org/drawingml/2006/main">
              <a:ext uri="{FF2B5EF4-FFF2-40B4-BE49-F238E27FC236}">
                <a16:creationId xmlns:a16="http://schemas.microsoft.com/office/drawing/2014/main" id="{30DCCE88-A39E-4815-8C11-D09B07A40509}"/>
              </a:ext>
            </a:extLst>
          </p:cNvPr>
          <p:cNvSpPr>
            <a:spLocks xmlns:a="http://schemas.openxmlformats.org/drawingml/2006/main" noGrp="1"/>
          </p:cNvSpPr>
          <p:nvPr/>
        </p:nvSpPr>
        <p:spPr>
          <a:xfrm xmlns:a="http://schemas.openxmlformats.org/drawingml/2006/main">
            <a:off x="647700" y="51435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23:00–30:00</a:t>
            </a:r>
          </a:p>
        </p:txBody>
      </p:sp>
      <p:sp>
        <p:nvSpPr>
          <p:cNvPr id="29" name="">
            <a:extLst xmlns:a="http://schemas.openxmlformats.org/drawingml/2006/main">
              <a:ext uri="{FF2B5EF4-FFF2-40B4-BE49-F238E27FC236}">
                <a16:creationId xmlns:a16="http://schemas.microsoft.com/office/drawing/2014/main" id="{37051828-0968-4922-8C47-937C2E3686A6}"/>
              </a:ext>
            </a:extLst>
          </p:cNvPr>
          <p:cNvSpPr>
            <a:spLocks xmlns:a="http://schemas.openxmlformats.org/drawingml/2006/main" noGrp="1"/>
          </p:cNvSpPr>
          <p:nvPr/>
        </p:nvSpPr>
        <p:spPr>
          <a:xfrm xmlns:a="http://schemas.openxmlformats.org/drawingml/2006/main">
            <a:off x="2705100" y="51911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Publish + Proof</a:t>
            </a:r>
          </a:p>
        </p:txBody>
      </p:sp>
      <p:sp>
        <p:nvSpPr>
          <p:cNvPr id="30" name="">
            <a:extLst xmlns:a="http://schemas.openxmlformats.org/drawingml/2006/main">
              <a:ext uri="{FF2B5EF4-FFF2-40B4-BE49-F238E27FC236}">
                <a16:creationId xmlns:a16="http://schemas.microsoft.com/office/drawing/2014/main" id="{EDBD195A-3F9C-47C4-A7AA-8F070332EC44}"/>
              </a:ext>
            </a:extLst>
          </p:cNvPr>
          <p:cNvSpPr>
            <a:spLocks xmlns:a="http://schemas.openxmlformats.org/drawingml/2006/main" noGrp="1"/>
          </p:cNvSpPr>
          <p:nvPr/>
        </p:nvSpPr>
        <p:spPr>
          <a:xfrm xmlns:a="http://schemas.openxmlformats.org/drawingml/2006/main">
            <a:off x="5334000" y="52006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人の承認後にHTTPS公開</a:t>
            </a:r>
          </a:p>
        </p:txBody>
      </p:sp>
    </p:spTree>
    <p:extLst>
      <p:ext uri="{BB962C8B-B14F-4D97-AF65-F5344CB8AC3E}">
        <p14:creationId xmlns:p14="http://schemas.microsoft.com/office/powerpoint/2010/main" val="101826840"/>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PRE-FLIGHT  |  FAIL CLOSED</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本番環境と認証を触らない境界を、開始前に固定します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08 / 30</a:t>
            </a:r>
          </a:p>
        </p:txBody>
      </p:sp>
      <p:sp>
        <p:nvSpPr>
          <p:cNvPr id="10" name="">
            <a:extLst xmlns:a="http://schemas.openxmlformats.org/drawingml/2006/main">
              <a:ext uri="{FF2B5EF4-FFF2-40B4-BE49-F238E27FC236}">
                <a16:creationId xmlns:a16="http://schemas.microsoft.com/office/drawing/2014/main" id="{C82F6BA6-A26E-4B3F-95E0-5C4C90BDA271}"/>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CBA4CDBF-89C7-4FBE-8DE5-48E27C5A9187}"/>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開始前チェック</a:t>
            </a:r>
          </a:p>
        </p:txBody>
      </p:sp>
      <p:sp>
        <p:nvSpPr>
          <p:cNvPr id="12" name="">
            <a:extLst xmlns:a="http://schemas.openxmlformats.org/drawingml/2006/main">
              <a:ext uri="{FF2B5EF4-FFF2-40B4-BE49-F238E27FC236}">
                <a16:creationId xmlns:a16="http://schemas.microsoft.com/office/drawing/2014/main" id="{C4BCBB35-6670-4B76-BE51-AEDAF12B9BAB}"/>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9316BF-061B-4B6D-B00E-09F4266861C1}"/>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01  Antigravityへサインイン済み</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02  専用repoだけを開いている</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03  remote = kanta13jp1/mighty-link-antigravity-live-demo</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04  branch = main / status = clean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05  /grill-me と /find-skills が表示</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06  frontend-design は未導入</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07  SITE_BRIEF.md = SYNTHETIC_DATA_ONLY</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08  PowerPointを編集表示で開く</a:t>
            </a:r>
          </a:p>
        </p:txBody>
      </p:sp>
      <p:sp>
        <p:nvSpPr>
          <p:cNvPr id="14" name="">
            <a:extLst xmlns:a="http://schemas.openxmlformats.org/drawingml/2006/main">
              <a:ext uri="{FF2B5EF4-FFF2-40B4-BE49-F238E27FC236}">
                <a16:creationId xmlns:a16="http://schemas.microsoft.com/office/drawing/2014/main" id="{4BD0603C-C6B5-4C27-A84C-12D713495EAF}"/>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EB91ABF-2A0F-48CA-94CB-FDAF2DE377C9}"/>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固定する公開先</a:t>
            </a:r>
          </a:p>
        </p:txBody>
      </p:sp>
      <p:sp>
        <p:nvSpPr>
          <p:cNvPr id="16" name="">
            <a:extLst xmlns:a="http://schemas.openxmlformats.org/drawingml/2006/main">
              <a:ext uri="{FF2B5EF4-FFF2-40B4-BE49-F238E27FC236}">
                <a16:creationId xmlns:a16="http://schemas.microsoft.com/office/drawing/2014/main" id="{F6B1466D-8365-4C05-8E6E-A511D26148DA}"/>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8B2E72C-D2B9-4736-A091-2F0F936F600C}"/>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REPOSITORY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kanta13jp1/mighty-link-antigravity-live-demo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PAGES URL</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https://kanta13jp1.github.io/</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本番 mightylink-app.com は触らない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認証情報・顧客情報は使わない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公開は正確な『公開して』の後だけ</a:t>
            </a:r>
          </a:p>
        </p:txBody>
      </p:sp>
    </p:spTree>
    <p:extLst>
      <p:ext uri="{BB962C8B-B14F-4D97-AF65-F5344CB8AC3E}">
        <p14:creationId xmlns:p14="http://schemas.microsoft.com/office/powerpoint/2010/main" val="10182684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0  |  /GRILL-ME</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実装前に、目的・除外・停止条件・成功条件を言葉にします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09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a2581bfca99d4f9e"/>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A6C3410-A771-4893-8403-24BEBBCB4478}"/>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1AD9E2B-1BD4-4AB8-AAA0-830ADD7590C9}"/>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/grill-me</a:t>
            </a:r>
          </a:p>
        </p:txBody>
      </p:sp>
      <p:sp>
        <p:nvSpPr>
          <p:cNvPr id="20" name="">
            <a:extLst xmlns:a="http://schemas.openxmlformats.org/drawingml/2006/main">
              <a:ext uri="{FF2B5EF4-FFF2-40B4-BE49-F238E27FC236}">
                <a16:creationId xmlns:a16="http://schemas.microsoft.com/office/drawing/2014/main" id="{EF2DF94C-C602-4317-BC70-81A81F2D2AB9}"/>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DF5DC98B-3ADE-4F05-98D6-10C3ABB3C2B5}"/>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0A3452F5-08E7-405E-A07B-E93A667A58AC}"/>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881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0 / /grill-meで実装前の判断を固める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/grill-me</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30分のライブデモで「AI Agent Learning Hub」という1ページWebサイトを作ります。実装前に、矛盾や不足がないか厳しく確認してください。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確定済みの前提:</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観客は非エンジニアと開発者の混在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サイトはCodex、Claude Code、Claude Cowork、Kiro、Antigravityの5製品を短時間で比較できる研修用成果物</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ゴールは、観客がAIエージェントによる要件整理、制作、改善、検証、公開の流れを理解すること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- 5製品の公式機能を比較するが、ライブ操作はAntigravityだけを使う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公開可能な製品説明とローカル画像だけを使い、個人情報、顧客情報、認証情報は使わない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ログイン、フォーム送信、外部API、分析タグ、永続保存は作らない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専用GitHub Pagesリポジトリだけへ公開する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- 30分以内にSkill導入、初版作成、改善、公開確認まで見せる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結果を大きく変える質問だけを最大2問、1問ずつ質問してください。各質問には推奨回答と、その理由を1行で添えて、私の回答を待ってください。私が「推奨案で進めてください」と答えた場合は、その推奨回答を採用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回答後に「決定事項／見送ること／停止条件／成功条件」を4区分で要約してください。この段階ではファイル変更、コマンド実行、外部通信を行わないでください。</a:t>
            </a:r>
          </a:p>
        </p:txBody>
      </p:sp>
      <p:sp>
        <p:nvSpPr>
          <p:cNvPr id="23" name="">
            <a:extLst xmlns:a="http://schemas.openxmlformats.org/drawingml/2006/main">
              <a:ext uri="{FF2B5EF4-FFF2-40B4-BE49-F238E27FC236}">
                <a16:creationId xmlns:a16="http://schemas.microsoft.com/office/drawing/2014/main" id="{F1EBB838-E117-4BAB-A725-78E5E931CFC4}"/>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docs/demo/antigravity_workshop/PROMPT_00_GRILL_ME.txt</a:t>
            </a:r>
          </a:p>
        </p:txBody>
      </p:sp>
    </p:spTree>
    <p:extLst>
      <p:ext uri="{BB962C8B-B14F-4D97-AF65-F5344CB8AC3E}">
        <p14:creationId xmlns:p14="http://schemas.microsoft.com/office/powerpoint/2010/main" val="107929079"/>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/GRILL-ME  |  WHY</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Skillは、会話のたびに再利用できる仕事の型です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10 / 30</a:t>
            </a:r>
          </a:p>
        </p:txBody>
      </p:sp>
      <p:sp>
        <p:nvSpPr>
          <p:cNvPr id="10" name="">
            <a:extLst xmlns:a="http://schemas.openxmlformats.org/drawingml/2006/main">
              <a:ext uri="{FF2B5EF4-FFF2-40B4-BE49-F238E27FC236}">
                <a16:creationId xmlns:a16="http://schemas.microsoft.com/office/drawing/2014/main" id="{60E38DF8-D91B-4ADF-8055-90227A84CF87}"/>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F8A5B6DE-01FA-4A0B-940B-31656600D4B5}"/>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/grill-me の役割</a:t>
            </a:r>
          </a:p>
        </p:txBody>
      </p:sp>
      <p:sp>
        <p:nvSpPr>
          <p:cNvPr id="12" name="">
            <a:extLst xmlns:a="http://schemas.openxmlformats.org/drawingml/2006/main">
              <a:ext uri="{FF2B5EF4-FFF2-40B4-BE49-F238E27FC236}">
                <a16:creationId xmlns:a16="http://schemas.microsoft.com/office/drawing/2014/main" id="{190F1458-3F61-46B0-879C-3BEBDA2987CD}"/>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370E8F0-3924-43C9-93B8-6ABF0BAF3934}"/>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曖昧な依頼を実装前に質問する。</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結果を変える判断だけを残す。</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今回の制限</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・質問は最大2問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・1問ずつ + 推奨案 + 理由</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・回答を待ってから次へ</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・ファイル変更 / コマンド / 外部通信なし</a:t>
            </a:r>
          </a:p>
        </p:txBody>
      </p:sp>
      <p:sp>
        <p:nvSpPr>
          <p:cNvPr id="14" name="">
            <a:extLst xmlns:a="http://schemas.openxmlformats.org/drawingml/2006/main">
              <a:ext uri="{FF2B5EF4-FFF2-40B4-BE49-F238E27FC236}">
                <a16:creationId xmlns:a16="http://schemas.microsoft.com/office/drawing/2014/main" id="{5EB4677E-6651-4178-8C95-49E1478440D6}"/>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8D3AEE7-9FAD-40BA-8176-2179E01A172C}"/>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期待する出力</a:t>
            </a:r>
          </a:p>
        </p:txBody>
      </p:sp>
      <p:sp>
        <p:nvSpPr>
          <p:cNvPr id="16" name="">
            <a:extLst xmlns:a="http://schemas.openxmlformats.org/drawingml/2006/main">
              <a:ext uri="{FF2B5EF4-FFF2-40B4-BE49-F238E27FC236}">
                <a16:creationId xmlns:a16="http://schemas.microsoft.com/office/drawing/2014/main" id="{90F04198-EFF6-495B-9DDB-8BB81353D9EB}"/>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4075169-BF64-4B1E-9DB5-B2108F76BD1C}"/>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DECISIONS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読み手 / 1画面の仕事 / 必須機能</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OUT OF SCOPE</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ログイン / 送信 / 外部API / 永続保存</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STOP CONDITIONS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専用repo以外 / 秘密情報 / 90秒停止</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SUCCESS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5カード / 5・4・1・5 / 最大2比較 / 2 viewport / HTTPS</a:t>
            </a:r>
          </a:p>
        </p:txBody>
      </p:sp>
    </p:spTree>
    <p:extLst>
      <p:ext uri="{BB962C8B-B14F-4D97-AF65-F5344CB8AC3E}">
        <p14:creationId xmlns:p14="http://schemas.microsoft.com/office/powerpoint/2010/main" val="101826840"/>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1  |  /FIND-SKILLS</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実装を始める前に、信頼できる専門能力を探します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11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08341d82ebdb4acf"/>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F9AAD89-F13F-45B2-989E-26CAF66CCA0E}"/>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F82991-23E7-4ED1-877C-12CF0DF43625}"/>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/find-skills</a:t>
            </a:r>
          </a:p>
        </p:txBody>
      </p:sp>
      <p:sp>
        <p:nvSpPr>
          <p:cNvPr id="20" name="">
            <a:extLst xmlns:a="http://schemas.openxmlformats.org/drawingml/2006/main">
              <a:ext uri="{FF2B5EF4-FFF2-40B4-BE49-F238E27FC236}">
                <a16:creationId xmlns:a16="http://schemas.microsoft.com/office/drawing/2014/main" id="{C990AB04-61C2-4E49-8A6F-71CB5EF20F9A}"/>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7B12C8D0-9F14-471C-A67B-3255EB86B6DC}"/>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9A916328-CD48-4525-918A-7B419757DDC6}"/>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523"/>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1 / /find-skillsで専門能力を探す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/find-skills</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5製品を比較するAI Agent Learning Hubの、情報設計、Webデザイン、レスポンシブ品質、アクセシビリティを改善できるAgent Skillを探してください。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最初にskills.shの上位候補を確認し、次にSkills CLIで`npx skills find "frontend design"`を実行してください。候補は3件までに絞り、次を表で比較してください。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Skill名と用途</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公開元とGitHub stars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セキュリティ監査の結果</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インストールコマンド</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skills.shのURL</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公開元の信頼性、利用実績、監査結果を確認して推奨を1件選び、このデモで何を改善させるかを2行で説明してください。まだSkillのインストール、ファイル変更、外部サービスへの書き込みは行わないでください。</a:t>
            </a:r>
          </a:p>
        </p:txBody>
      </p:sp>
      <p:sp>
        <p:nvSpPr>
          <p:cNvPr id="23" name="">
            <a:extLst xmlns:a="http://schemas.openxmlformats.org/drawingml/2006/main">
              <a:ext uri="{FF2B5EF4-FFF2-40B4-BE49-F238E27FC236}">
                <a16:creationId xmlns:a16="http://schemas.microsoft.com/office/drawing/2014/main" id="{432FF5D8-817A-4BB2-BBAF-16A9990C9CB2}"/>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docs/demo/antigravity_workshop/PROMPT_01_FIND_SKILLS.txt</a:t>
            </a:r>
          </a:p>
        </p:txBody>
      </p:sp>
    </p:spTree>
    <p:extLst>
      <p:ext uri="{BB962C8B-B14F-4D97-AF65-F5344CB8AC3E}">
        <p14:creationId xmlns:p14="http://schemas.microsoft.com/office/powerpoint/2010/main" val="107929079"/>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/FIND-SKILLS  |  EVIDENCE</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見つけるだけで終わらず、公開元・利用実績・監査・中身を確かめます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12 / 30</a:t>
            </a:r>
          </a:p>
        </p:txBody>
      </p:sp>
      <p:sp>
        <p:nvSpPr>
          <p:cNvPr id="10" name="">
            <a:extLst xmlns:a="http://schemas.openxmlformats.org/drawingml/2006/main">
              <a:ext uri="{FF2B5EF4-FFF2-40B4-BE49-F238E27FC236}">
                <a16:creationId xmlns:a16="http://schemas.microsoft.com/office/drawing/2014/main" id="{B8487C9D-C6B8-40E7-91E7-BBA4AA1DB35F}"/>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688BAEF-C4A6-4002-BA34-B932EA6941D0}"/>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推奨: frontend-design</a:t>
            </a:r>
          </a:p>
        </p:txBody>
      </p:sp>
      <p:sp>
        <p:nvSpPr>
          <p:cNvPr id="12" name="">
            <a:extLst xmlns:a="http://schemas.openxmlformats.org/drawingml/2006/main">
              <a:ext uri="{FF2B5EF4-FFF2-40B4-BE49-F238E27FC236}">
                <a16:creationId xmlns:a16="http://schemas.microsoft.com/office/drawing/2014/main" id="{4AB57B36-E394-4773-8774-BD85E465D41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4026F8F-0CCA-4F13-B522-5DB6F14B41B5}"/>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anthropics/skills@frontend-design</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検索時点: 約75万インストール</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公開元: Anthropic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GitHub実績: 公式repositoryで確認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監査: CLI / skills.sh表示を確認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導入: project-local + --copy</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用途</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情報設計 / タイポグラフィ / 配色 / 余白 / responsive / accessibility</a:t>
            </a:r>
          </a:p>
        </p:txBody>
      </p:sp>
      <p:sp>
        <p:nvSpPr>
          <p:cNvPr id="14" name="">
            <a:extLst xmlns:a="http://schemas.openxmlformats.org/drawingml/2006/main">
              <a:ext uri="{FF2B5EF4-FFF2-40B4-BE49-F238E27FC236}">
                <a16:creationId xmlns:a16="http://schemas.microsoft.com/office/drawing/2014/main" id="{1DAAF861-69F6-4585-A9CA-BD5CC00ADA28}"/>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C97C46-2F34-48CA-85F9-B669413177F2}"/>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Skillの3段階</a:t>
            </a:r>
          </a:p>
        </p:txBody>
      </p:sp>
      <p:sp>
        <p:nvSpPr>
          <p:cNvPr id="16" name="">
            <a:extLst xmlns:a="http://schemas.openxmlformats.org/drawingml/2006/main">
              <a:ext uri="{FF2B5EF4-FFF2-40B4-BE49-F238E27FC236}">
                <a16:creationId xmlns:a16="http://schemas.microsoft.com/office/drawing/2014/main" id="{21B5A056-D317-4C8B-860C-670171744A35}"/>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C949E8A-BCC4-4494-8721-6A5AC6183457}"/>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1  DISCOVERY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名前と説明だけで候補を見つける</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2  ACTIVATION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必要なSkillのSKILL.mdを読む</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3  EXECUTION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必要な手順・資料・scriptsだけを使う</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Skillはエージェントと同等の権限で動き得る。導入前レビューが必要。</a:t>
            </a:r>
          </a:p>
        </p:txBody>
      </p:sp>
    </p:spTree>
    <p:extLst>
      <p:ext uri="{BB962C8B-B14F-4D97-AF65-F5344CB8AC3E}">
        <p14:creationId xmlns:p14="http://schemas.microsoft.com/office/powerpoint/2010/main" val="101826840"/>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2  |  INSTALL SKILL</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推奨Skillを専用リポジトリだけへ導入します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13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fb8d23e0f2484fcd"/>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ED4E91F-68DB-4BBA-A0C9-ADB74A93651B}"/>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6B3BEE7-EAEE-47B9-97EB-4E1EDA065F0F}"/>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INSTALL</a:t>
            </a:r>
          </a:p>
        </p:txBody>
      </p:sp>
      <p:sp>
        <p:nvSpPr>
          <p:cNvPr id="20" name="">
            <a:extLst xmlns:a="http://schemas.openxmlformats.org/drawingml/2006/main">
              <a:ext uri="{FF2B5EF4-FFF2-40B4-BE49-F238E27FC236}">
                <a16:creationId xmlns:a16="http://schemas.microsoft.com/office/drawing/2014/main" id="{7A104F2F-CBB5-437D-8F56-4390E799A38F}"/>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EE703B86-25EF-4CE3-9910-E7A820EEA9E9}"/>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590E9AF7-6A63-47BE-A273-E6AA8FC1C3FF}"/>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207"/>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2 / frontend-design Skillを専用環境へ導入する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推奨された`anthropics/skills@frontend-design`を、この専用リポジトリだけへインストールしてください。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最初に`git remote -v`、現在branch、`git status --short`、`npx skills list --json`を確認してください。remoteが`kanta13jp1/mighty-link-antigravity-live-demo`、branchが`main`でない場合、または`frontend-design`が既に存在する場合は、何も変更せず停止してください。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条件が一致した場合だけ、次を実行してください。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`npx skills add anthropics/skills@frontend-design --agent antigravity --copy -y`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インストール後に`npx skills list --json`と`.agents/skills/frontend-design/SKILL.md`を読み、次を報告してください。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インストール先がこのリポジトリ内であること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公開元が`anthropics/skills`であること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Skillの目的と、このデモで適用する3つの観点</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監査結果または確認できなかった項目</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この段階ではindex.html、styles.css、app.js、GitHub設定を変更せず、commitとpushも実行しないでください。</a:t>
            </a:r>
          </a:p>
        </p:txBody>
      </p:sp>
      <p:sp>
        <p:nvSpPr>
          <p:cNvPr id="23" name="">
            <a:extLst xmlns:a="http://schemas.openxmlformats.org/drawingml/2006/main">
              <a:ext uri="{FF2B5EF4-FFF2-40B4-BE49-F238E27FC236}">
                <a16:creationId xmlns:a16="http://schemas.microsoft.com/office/drawing/2014/main" id="{BC648CF2-3EBF-4443-BAED-9A2E1B48BDF5}"/>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docs/demo/antigravity_workshop/PROMPT_02_INSTALL_SKILL.txt</a:t>
            </a:r>
          </a:p>
        </p:txBody>
      </p:sp>
    </p:spTree>
    <p:extLst>
      <p:ext uri="{BB962C8B-B14F-4D97-AF65-F5344CB8AC3E}">
        <p14:creationId xmlns:p14="http://schemas.microsoft.com/office/powerpoint/2010/main" val="10792907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FRONTEND-DESIGN  |  DETAIL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Skillが変えるのは装飾ではなく、設計判断の質です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14 / 30</a:t>
            </a:r>
          </a:p>
        </p:txBody>
      </p:sp>
      <p:sp>
        <p:nvSpPr>
          <p:cNvPr id="10" name="">
            <a:extLst xmlns:a="http://schemas.openxmlformats.org/drawingml/2006/main">
              <a:ext uri="{FF2B5EF4-FFF2-40B4-BE49-F238E27FC236}">
                <a16:creationId xmlns:a16="http://schemas.microsoft.com/office/drawing/2014/main" id="{93ED2E71-AC58-4202-B241-FF6E8FFBBA19}"/>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31D5829-967C-4185-B240-67CCBF41663E}"/>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このデモで任せる</a:t>
            </a:r>
          </a:p>
        </p:txBody>
      </p:sp>
      <p:sp>
        <p:nvSpPr>
          <p:cNvPr id="12" name="">
            <a:extLst xmlns:a="http://schemas.openxmlformats.org/drawingml/2006/main">
              <a:ext uri="{FF2B5EF4-FFF2-40B4-BE49-F238E27FC236}">
                <a16:creationId xmlns:a16="http://schemas.microsoft.com/office/drawing/2014/main" id="{CFBBBFBF-7DAA-4ABB-A28C-652186EB47B2}"/>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A3859CC-5FEA-44CB-AB0C-C2BDE3236A68}"/>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INFORMATION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5製品を短時間で読み比べる優先順位</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VISUAL DIRECTION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明るい業務向け配色、文字、余白、密度</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INTERACTION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絞り込み、最大2製品比較、状態表示</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QUALITY</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desktop / mobile / keyboard / aria-live</a:t>
            </a:r>
          </a:p>
        </p:txBody>
      </p:sp>
      <p:sp>
        <p:nvSpPr>
          <p:cNvPr id="14" name="">
            <a:extLst xmlns:a="http://schemas.openxmlformats.org/drawingml/2006/main">
              <a:ext uri="{FF2B5EF4-FFF2-40B4-BE49-F238E27FC236}">
                <a16:creationId xmlns:a16="http://schemas.microsoft.com/office/drawing/2014/main" id="{8801F41D-87DE-4881-958E-FB2EA145C556}"/>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0F1B091-56F1-4D18-82D9-ED9C2991C33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任せない / 削除できる</a:t>
            </a:r>
          </a:p>
        </p:txBody>
      </p:sp>
      <p:sp>
        <p:nvSpPr>
          <p:cNvPr id="16" name="">
            <a:extLst xmlns:a="http://schemas.openxmlformats.org/drawingml/2006/main">
              <a:ext uri="{FF2B5EF4-FFF2-40B4-BE49-F238E27FC236}">
                <a16:creationId xmlns:a16="http://schemas.microsoft.com/office/drawing/2014/main" id="{4B74B997-63B4-423C-9A3F-6BC4CCBA5760}"/>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940C4B6-DA86-46EB-B342-981E225EA929}"/>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製品機能の事実確認はSITE_BRIEF.mdが正本</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AUTHORITY</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公開権限、認証、Git操作の承認</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DATA</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外部送信、顧客情報、永続保存</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SCOPE</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.agents/skills/frontend-design/ にだけ導入</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リハーサル後はCLIで削除</a:t>
            </a:r>
          </a:p>
        </p:txBody>
      </p:sp>
    </p:spTree>
    <p:extLst>
      <p:ext uri="{BB962C8B-B14F-4D97-AF65-F5344CB8AC3E}">
        <p14:creationId xmlns:p14="http://schemas.microsoft.com/office/powerpoint/2010/main" val="10182684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3  |  BUILD</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まずJavaScriptなしの初版を作り、ブラウザで確認します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15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ea08f25cc0c341fa"/>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7891AC32-C92A-4DB2-9F84-CE4D7747F9EB}"/>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D4C1890-D0C2-44DF-BB39-3067E260E360}"/>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BUILD</a:t>
            </a:r>
          </a:p>
        </p:txBody>
      </p:sp>
      <p:sp>
        <p:nvSpPr>
          <p:cNvPr id="20" name="">
            <a:extLst xmlns:a="http://schemas.openxmlformats.org/drawingml/2006/main">
              <a:ext uri="{FF2B5EF4-FFF2-40B4-BE49-F238E27FC236}">
                <a16:creationId xmlns:a16="http://schemas.microsoft.com/office/drawing/2014/main" id="{978EF4B8-3DC4-4463-A4DF-24B25F947EE0}"/>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0E81C14E-D1ED-4515-9FDC-DFE07ACA8FC5}"/>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DA47639D-FC44-4509-BACC-36A8ED6C39A1}"/>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3 / AIエージェント学習サイトの初版を作る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@SITE_BRIEF.md を読み、リポジトリ直下にindex.htmlとstyles.cssを作成してください。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サイト名は「AI Agent Learning Hub」です。Codex、Claude Code、Claude Cowork、Kiro、Antigravityの5カードを表示し、各カードに「向いている仕事／主な機能／最初に試すこと」を記載してください。assets/workshop-hero.pngをヒーロー画像として使用し、研修用サンプルであることと、2026年8月9日時点の公式情報に基づく概要であることを表示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初版ではJavaScript、絞り込み、製品選択、比較サマリーを追加しません。外部ライブラリ、外部画像、外部フォント、実在する顧客・社員・連絡先は使用しないでください。index.htmlとstyles.css以外は変更せず、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作成後にブラウザで開き、1440x900と390x844でヒーロー画像、5製品、文字切れ、横スクロールを確認してください。最後に「変更ファイル／ブラウザ確認／次の改善候補」を3行で報告してください。</a:t>
            </a:r>
          </a:p>
        </p:txBody>
      </p:sp>
      <p:sp>
        <p:nvSpPr>
          <p:cNvPr id="23" name="">
            <a:extLst xmlns:a="http://schemas.openxmlformats.org/drawingml/2006/main">
              <a:ext uri="{FF2B5EF4-FFF2-40B4-BE49-F238E27FC236}">
                <a16:creationId xmlns:a16="http://schemas.microsoft.com/office/drawing/2014/main" id="{39E6580E-4B0F-47D8-BAB1-9EF19F7BCD67}"/>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docs/demo/antigravity_workshop/PROMPT_03_BUILD.txt</a:t>
            </a:r>
          </a:p>
        </p:txBody>
      </p:sp>
    </p:spTree>
    <p:extLst>
      <p:ext uri="{BB962C8B-B14F-4D97-AF65-F5344CB8AC3E}">
        <p14:creationId xmlns:p14="http://schemas.microsoft.com/office/powerpoint/2010/main" val="107929079"/>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INITIAL BUILD  |  PROOF</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最初の成果は小さく作り、次の改善が見える状態にします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16 / 30</a:t>
            </a:r>
          </a:p>
        </p:txBody>
      </p:sp>
      <p:sp>
        <p:nvSpPr>
          <p:cNvPr id="10" name="">
            <a:extLst xmlns:a="http://schemas.openxmlformats.org/drawingml/2006/main">
              <a:ext uri="{FF2B5EF4-FFF2-40B4-BE49-F238E27FC236}">
                <a16:creationId xmlns:a16="http://schemas.microsoft.com/office/drawing/2014/main" id="{737F17A5-10C8-44CE-850F-67CC8EC34B33}"/>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9BAFFE5-4364-4C5D-A0D7-C8C0B8E11141}"/>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初版でできること</a:t>
            </a:r>
          </a:p>
        </p:txBody>
      </p:sp>
      <p:sp>
        <p:nvSpPr>
          <p:cNvPr id="12" name="">
            <a:extLst xmlns:a="http://schemas.openxmlformats.org/drawingml/2006/main">
              <a:ext uri="{FF2B5EF4-FFF2-40B4-BE49-F238E27FC236}">
                <a16:creationId xmlns:a16="http://schemas.microsoft.com/office/drawing/2014/main" id="{7AEDD877-8FC8-4688-BFC6-EBD22B5809A8}"/>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773C5DB-1499-4679-9B29-B6C11D21E583}"/>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5製品カードを表示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向いている仕事 / 主な機能 / 最初の一歩</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ローカルhero画像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研修用 / 公式情報の基準日を表示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外部依存・送信・保存なし</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まだないもの</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 / 選択 / 比較サマリー / JavaScript</a:t>
            </a:r>
          </a:p>
        </p:txBody>
      </p:sp>
      <p:sp>
        <p:nvSpPr>
          <p:cNvPr id="14" name="">
            <a:extLst xmlns:a="http://schemas.openxmlformats.org/drawingml/2006/main">
              <a:ext uri="{FF2B5EF4-FFF2-40B4-BE49-F238E27FC236}">
                <a16:creationId xmlns:a16="http://schemas.microsoft.com/office/drawing/2014/main" id="{C4DD8F5F-B0C4-4E62-8B7D-D0259EE12BCF}"/>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8E73D6F-7729-4120-AA75-4C75FFD12681}"/>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Browser evidence</a:t>
            </a:r>
          </a:p>
        </p:txBody>
      </p:sp>
      <p:sp>
        <p:nvSpPr>
          <p:cNvPr id="16" name="">
            <a:extLst xmlns:a="http://schemas.openxmlformats.org/drawingml/2006/main">
              <a:ext uri="{FF2B5EF4-FFF2-40B4-BE49-F238E27FC236}">
                <a16:creationId xmlns:a16="http://schemas.microsoft.com/office/drawing/2014/main" id="{2A3900D2-5AB6-4E27-8E88-1A6A0C0DA9BF}"/>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1FE106B-5D55-41EA-9976-A3DB93290C81}"/>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DESKTOP  1440 × 900</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hero / 5製品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MOBILE  390 × 844</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1列 / navigation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STOP</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90秒以上進まなければoutput/の完成済み初版へ切り替える</a:t>
            </a:r>
          </a:p>
        </p:txBody>
      </p:sp>
    </p:spTree>
    <p:extLst>
      <p:ext uri="{BB962C8B-B14F-4D97-AF65-F5344CB8AC3E}">
        <p14:creationId xmlns:p14="http://schemas.microsoft.com/office/powerpoint/2010/main" val="10182684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4  |  /FRONTEND-DESIGN</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Skillを明示的に呼び、機能と見た目を同時に改善します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17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8d87cd8355c94c30"/>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8947D43-0C5D-48B9-8B59-1FD4296E6F09}"/>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189FBC-7948-462C-BA92-98B782B20CC3}"/>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/frontend-design</a:t>
            </a:r>
          </a:p>
        </p:txBody>
      </p:sp>
      <p:sp>
        <p:nvSpPr>
          <p:cNvPr id="20" name="">
            <a:extLst xmlns:a="http://schemas.openxmlformats.org/drawingml/2006/main">
              <a:ext uri="{FF2B5EF4-FFF2-40B4-BE49-F238E27FC236}">
                <a16:creationId xmlns:a16="http://schemas.microsoft.com/office/drawing/2014/main" id="{28F7A96C-E1E1-4A85-A663-7374200B83B1}"/>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CC7F35F7-CAB9-468A-8C7E-D32859FAA905}"/>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3962BB49-0900-4549-B013-5D67E558494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1132"/>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4 / /frontend-designで機能と見た目を改善する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インストールしたfrontend-design Skillを使い、初版のAI Agent Learning Hubを改善してください。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変更すること: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情報の優先順位、文字、余白、配色を整え、研修投影でも読みやすくする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「すべて／開発／ナレッジワーク／計画・自動化」の絞り込みを追加する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各製品に比較ボタンを追加し、最大2製品を選べるようにする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選択件数、製品名、向いている仕事をaria-liveの比較サマリーへ表示する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app.jsでaria-pressed、キーボード操作、上限2件の案内に対応する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#00A5E3、#EF7E00、緑、白、濃い文字色を使う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維持すること: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- 5製品と説明、SteeringとPowersを、Kiro固有の正式機能として扱う用語境界</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ローカル画像、外部依存なし、送信なし、永続保存なし、commit/pushなし</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スコープを固定すること: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製品を5件から増やさない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料金、クォータ、ランキング、診断、検索、export、テーマ切替、動画、Nano Banana、Visual Feedback模擬を追加しない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SITE_BRIEF.mdにない説明を推測しない。変更はindex.html、styles.css、app.jsだけ</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開始前に変更予定3ファイルと追加機能を報告し、範囲外が必要なら停止する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検証すること: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製品5件、フィルター5・4・1・5、2製品の件数・名称・仕事、3件目の上限案内</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- 1440x900と390x844で横スクロール、文字切れ、重なりが0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最後に「Skillが変えた判断／追加機能／ブラウザ検証」を3行で報告してください。</a:t>
            </a:r>
          </a:p>
        </p:txBody>
      </p:sp>
      <p:sp>
        <p:nvSpPr>
          <p:cNvPr id="23" name="">
            <a:extLst xmlns:a="http://schemas.openxmlformats.org/drawingml/2006/main">
              <a:ext uri="{FF2B5EF4-FFF2-40B4-BE49-F238E27FC236}">
                <a16:creationId xmlns:a16="http://schemas.microsoft.com/office/drawing/2014/main" id="{458F7849-42A5-4BD7-B0B8-2A50290567B6}"/>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docs/demo/antigravity_workshop/PROMPT_04_APPLY_SKILL.txt</a:t>
            </a:r>
          </a:p>
        </p:txBody>
      </p:sp>
    </p:spTree>
    <p:extLst>
      <p:ext uri="{BB962C8B-B14F-4D97-AF65-F5344CB8AC3E}">
        <p14:creationId xmlns:p14="http://schemas.microsoft.com/office/powerpoint/2010/main" val="107929079"/>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SKILL RESULT  |  BEFORE / AFTER</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Skill適用後は、見た目だけでなく操作と検証可能性が増えます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18 / 30</a:t>
            </a:r>
          </a:p>
        </p:txBody>
      </p:sp>
      <p:sp>
        <p:nvSpPr>
          <p:cNvPr id="10" name="">
            <a:extLst xmlns:a="http://schemas.openxmlformats.org/drawingml/2006/main">
              <a:ext uri="{FF2B5EF4-FFF2-40B4-BE49-F238E27FC236}">
                <a16:creationId xmlns:a16="http://schemas.microsoft.com/office/drawing/2014/main" id="{1E95A280-816F-40A6-9725-947D68B4B83B}"/>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2AAED039-A9C5-41FB-B5E8-4BA1725E4C09}"/>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BEFORE</a:t>
            </a:r>
          </a:p>
        </p:txBody>
      </p:sp>
      <p:sp>
        <p:nvSpPr>
          <p:cNvPr id="12" name="">
            <a:extLst xmlns:a="http://schemas.openxmlformats.org/drawingml/2006/main">
              <a:ext uri="{FF2B5EF4-FFF2-40B4-BE49-F238E27FC236}">
                <a16:creationId xmlns:a16="http://schemas.microsoft.com/office/drawing/2014/main" id="{753A8048-0CC5-43A3-A9AD-CD8CCB5752AB}"/>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384035D-DFFF-4641-AAFE-9EB3E703D092}"/>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HTML + CSS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5 cards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static content</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2 viewport visual check</a:t>
            </a:r>
          </a:p>
          <a:p xmlns:a="http://schemas.openxmlformats.org/drawingml/2006/main">
            <a:r>
              <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価値</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短時間で情報を並べる初版</a:t>
            </a:r>
          </a:p>
        </p:txBody>
      </p:sp>
      <p:sp>
        <p:nvSpPr>
          <p:cNvPr id="14" name="">
            <a:extLst xmlns:a="http://schemas.openxmlformats.org/drawingml/2006/main">
              <a:ext uri="{FF2B5EF4-FFF2-40B4-BE49-F238E27FC236}">
                <a16:creationId xmlns:a16="http://schemas.microsoft.com/office/drawing/2014/main" id="{3258044B-5571-4F0B-A1DF-95174B837019}"/>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C0BBA82-7DB9-4CDC-8E1F-CE9B0896949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AFTER</a:t>
            </a:r>
          </a:p>
        </p:txBody>
      </p:sp>
      <p:sp>
        <p:nvSpPr>
          <p:cNvPr id="16" name="">
            <a:extLst xmlns:a="http://schemas.openxmlformats.org/drawingml/2006/main">
              <a:ext uri="{FF2B5EF4-FFF2-40B4-BE49-F238E27FC236}">
                <a16:creationId xmlns:a16="http://schemas.microsoft.com/office/drawing/2014/main" id="{5926BFCF-6F7C-41D5-900C-31A52889C3F6}"/>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F8B0FF6-8E1B-4582-B498-BB0B4AE06635}"/>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HTML + CSS + JavaScript</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filters = 5 / 4 / 1 / 5</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compare = maximum 2</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aria-pressed / aria-live / keyboard</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no storage / no network</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2 viewport: overlap 0 / clipping 0</a:t>
            </a:r>
          </a:p>
          <a:p xmlns:a="http://schemas.openxmlformats.org/drawingml/2006/main">
            <a:r>
              <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価値</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目的に沿って選び、比較し、状態を理解できる</a:t>
            </a:r>
          </a:p>
        </p:txBody>
      </p:sp>
    </p:spTree>
    <p:extLst>
      <p:ext uri="{BB962C8B-B14F-4D97-AF65-F5344CB8AC3E}">
        <p14:creationId xmlns:p14="http://schemas.microsoft.com/office/powerpoint/2010/main" val="101826840"/>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5  |  MCP</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MCPは接続できることより、権限を限定して使うことが重要です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19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c046a76e9604e59"/>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4B880DB-B431-47F8-BF53-56B1475AAF1C}"/>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613762A-A3B1-4754-AE18-51BFFC6A23C9}"/>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MCP / READ ONLY</a:t>
            </a:r>
          </a:p>
        </p:txBody>
      </p:sp>
      <p:sp>
        <p:nvSpPr>
          <p:cNvPr id="20" name="">
            <a:extLst xmlns:a="http://schemas.openxmlformats.org/drawingml/2006/main">
              <a:ext uri="{FF2B5EF4-FFF2-40B4-BE49-F238E27FC236}">
                <a16:creationId xmlns:a16="http://schemas.microsoft.com/office/drawing/2014/main" id="{4F3D6ADF-065A-4446-8A64-D6A067A38967}"/>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58476C46-35A8-41AC-81E9-E2518A97B238}"/>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34B62432-69C8-49D6-9912-EAEA59879C3E}"/>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5 / MCPで公開先を読み取り確認する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IDEのMCP Servers画面でGitHub MCPの接続状態だけを確認してください。Antigravity CLIを使う場合は`/mcp`を開いてください。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GitHub MCPが接続済みの場合、読み取り専用で次を確認してください。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リポジトリ: kanta13jp1/mighty-link-antigravity-live-demo</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default branchがmain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最新commitのSHAと件名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GitHub Pagesの公開URLまたは直近deployment状態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Issue作成、設定変更、認証追加、ファイル変更、commit、pushは行わないでください。GitHub MCPが未接続または情報を取得できない場合は、接続や認証を会場で開始せず「MCP確認は省略、gitと公開URL確認へ継続」と1行で報告してください。</a:t>
            </a:r>
          </a:p>
        </p:txBody>
      </p:sp>
      <p:sp>
        <p:nvSpPr>
          <p:cNvPr id="23" name="">
            <a:extLst xmlns:a="http://schemas.openxmlformats.org/drawingml/2006/main">
              <a:ext uri="{FF2B5EF4-FFF2-40B4-BE49-F238E27FC236}">
                <a16:creationId xmlns:a16="http://schemas.microsoft.com/office/drawing/2014/main" id="{2DCA809E-FE1E-4FD7-B728-9176067B0FB6}"/>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docs/demo/antigravity_workshop/PROMPT_05_MCP_CHECK.txt</a:t>
            </a:r>
          </a:p>
        </p:txBody>
      </p:sp>
    </p:spTree>
    <p:extLst>
      <p:ext uri="{BB962C8B-B14F-4D97-AF65-F5344CB8AC3E}">
        <p14:creationId xmlns:p14="http://schemas.microsoft.com/office/powerpoint/2010/main" val="10792907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MCP  |  PERMISSIONS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MCPはAIと外部ツール・データをつなぐ標準です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20 / 30</a:t>
            </a:r>
          </a:p>
        </p:txBody>
      </p:sp>
      <p:sp>
        <p:nvSpPr>
          <p:cNvPr id="10" name="">
            <a:extLst xmlns:a="http://schemas.openxmlformats.org/drawingml/2006/main">
              <a:ext uri="{FF2B5EF4-FFF2-40B4-BE49-F238E27FC236}">
                <a16:creationId xmlns:a16="http://schemas.microsoft.com/office/drawing/2014/main" id="{F013258E-A5E6-4994-BBD9-53A7ECF33164}"/>
              </a:ext>
            </a:extLst>
          </p:cNvPr>
          <p:cNvSpPr>
            <a:spLocks xmlns:a="http://schemas.openxmlformats.org/drawingml/2006/main" noGrp="1"/>
          </p:cNvSpPr>
          <p:nvPr/>
        </p:nvSpPr>
        <p:spPr>
          <a:xfrm xmlns:a="http://schemas.openxmlformats.org/drawingml/2006/main">
            <a:off x="647700"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A4A0E082-5778-423B-8F85-0BB04ABBE533}"/>
              </a:ext>
            </a:extLst>
          </p:cNvPr>
          <p:cNvSpPr>
            <a:spLocks xmlns:a="http://schemas.openxmlformats.org/drawingml/2006/main" noGrp="1"/>
          </p:cNvSpPr>
          <p:nvPr/>
        </p:nvSpPr>
        <p:spPr>
          <a:xfrm xmlns:a="http://schemas.openxmlformats.org/drawingml/2006/main">
            <a:off x="647700"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9E6C56-D19E-48FF-A95C-8860507D1EC1}"/>
              </a:ext>
            </a:extLst>
          </p:cNvPr>
          <p:cNvSpPr>
            <a:spLocks xmlns:a="http://schemas.openxmlformats.org/drawingml/2006/main" noGrp="1"/>
          </p:cNvSpPr>
          <p:nvPr/>
        </p:nvSpPr>
        <p:spPr>
          <a:xfrm xmlns:a="http://schemas.openxmlformats.org/drawingml/2006/main">
            <a:off x="819150"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35A2B0EF-9E1E-4C91-ADEA-A9044D06372A}"/>
              </a:ext>
            </a:extLst>
          </p:cNvPr>
          <p:cNvSpPr>
            <a:spLocks xmlns:a="http://schemas.openxmlformats.org/drawingml/2006/main" noGrp="1"/>
          </p:cNvSpPr>
          <p:nvPr/>
        </p:nvSpPr>
        <p:spPr>
          <a:xfrm xmlns:a="http://schemas.openxmlformats.org/drawingml/2006/main">
            <a:off x="819150"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p:txBody>
      </p:sp>
      <p:sp>
        <p:nvSpPr>
          <p:cNvPr id="14" name="">
            <a:extLst xmlns:a="http://schemas.openxmlformats.org/drawingml/2006/main">
              <a:ext uri="{FF2B5EF4-FFF2-40B4-BE49-F238E27FC236}">
                <a16:creationId xmlns:a16="http://schemas.microsoft.com/office/drawing/2014/main" id="{FEF12890-FB10-4237-9C85-7F9E92975E5D}"/>
              </a:ext>
            </a:extLst>
          </p:cNvPr>
          <p:cNvSpPr>
            <a:spLocks xmlns:a="http://schemas.openxmlformats.org/drawingml/2006/main" noGrp="1"/>
          </p:cNvSpPr>
          <p:nvPr/>
        </p:nvSpPr>
        <p:spPr>
          <a:xfrm xmlns:a="http://schemas.openxmlformats.org/drawingml/2006/main">
            <a:off x="819150"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目的と現在の文脈</a:t>
            </a:r>
          </a:p>
        </p:txBody>
      </p:sp>
      <p:sp>
        <p:nvSpPr>
          <p:cNvPr id="15" name="">
            <a:extLst xmlns:a="http://schemas.openxmlformats.org/drawingml/2006/main">
              <a:ext uri="{FF2B5EF4-FFF2-40B4-BE49-F238E27FC236}">
                <a16:creationId xmlns:a16="http://schemas.microsoft.com/office/drawing/2014/main" id="{721A4857-3EBA-4627-BD82-A0BAA30E097B}"/>
              </a:ext>
            </a:extLst>
          </p:cNvPr>
          <p:cNvSpPr>
            <a:spLocks xmlns:a="http://schemas.openxmlformats.org/drawingml/2006/main" noGrp="1"/>
          </p:cNvSpPr>
          <p:nvPr/>
        </p:nvSpPr>
        <p:spPr>
          <a:xfrm xmlns:a="http://schemas.openxmlformats.org/drawingml/2006/main">
            <a:off x="3405188"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A70968AB-1F88-4A61-99FB-1E45B3977904}"/>
              </a:ext>
            </a:extLst>
          </p:cNvPr>
          <p:cNvSpPr>
            <a:spLocks xmlns:a="http://schemas.openxmlformats.org/drawingml/2006/main" noGrp="1"/>
          </p:cNvSpPr>
          <p:nvPr/>
        </p:nvSpPr>
        <p:spPr>
          <a:xfrm xmlns:a="http://schemas.openxmlformats.org/drawingml/2006/main">
            <a:off x="3405188" y="2190750"/>
            <a:ext cx="2624138"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C3C385E-34AC-42CC-8F91-DB2485BE9AF1}"/>
              </a:ext>
            </a:extLst>
          </p:cNvPr>
          <p:cNvSpPr>
            <a:spLocks xmlns:a="http://schemas.openxmlformats.org/drawingml/2006/main" noGrp="1"/>
          </p:cNvSpPr>
          <p:nvPr/>
        </p:nvSpPr>
        <p:spPr>
          <a:xfrm xmlns:a="http://schemas.openxmlformats.org/drawingml/2006/main">
            <a:off x="3576638"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348CFCF6-B911-467B-91D0-73453A82517D}"/>
              </a:ext>
            </a:extLst>
          </p:cNvPr>
          <p:cNvSpPr>
            <a:spLocks xmlns:a="http://schemas.openxmlformats.org/drawingml/2006/main" noGrp="1"/>
          </p:cNvSpPr>
          <p:nvPr/>
        </p:nvSpPr>
        <p:spPr>
          <a:xfrm xmlns:a="http://schemas.openxmlformats.org/drawingml/2006/main">
            <a:off x="3576638"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client</a:t>
            </a:r>
          </a:p>
        </p:txBody>
      </p:sp>
      <p:sp>
        <p:nvSpPr>
          <p:cNvPr id="19" name="">
            <a:extLst xmlns:a="http://schemas.openxmlformats.org/drawingml/2006/main">
              <a:ext uri="{FF2B5EF4-FFF2-40B4-BE49-F238E27FC236}">
                <a16:creationId xmlns:a16="http://schemas.microsoft.com/office/drawing/2014/main" id="{6EB5E8B5-5B33-47E1-BDCF-43E41D557069}"/>
              </a:ext>
            </a:extLst>
          </p:cNvPr>
          <p:cNvSpPr>
            <a:spLocks xmlns:a="http://schemas.openxmlformats.org/drawingml/2006/main" noGrp="1"/>
          </p:cNvSpPr>
          <p:nvPr/>
        </p:nvSpPr>
        <p:spPr>
          <a:xfrm xmlns:a="http://schemas.openxmlformats.org/drawingml/2006/main">
            <a:off x="3576638"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利用可能なToolを提示</a:t>
            </a:r>
          </a:p>
        </p:txBody>
      </p:sp>
      <p:sp>
        <p:nvSpPr>
          <p:cNvPr id="20" name="">
            <a:extLst xmlns:a="http://schemas.openxmlformats.org/drawingml/2006/main">
              <a:ext uri="{FF2B5EF4-FFF2-40B4-BE49-F238E27FC236}">
                <a16:creationId xmlns:a16="http://schemas.microsoft.com/office/drawing/2014/main" id="{E39169B2-2D02-43A9-B9ED-276CF86C68A3}"/>
              </a:ext>
            </a:extLst>
          </p:cNvPr>
          <p:cNvSpPr>
            <a:spLocks xmlns:a="http://schemas.openxmlformats.org/drawingml/2006/main" noGrp="1"/>
          </p:cNvSpPr>
          <p:nvPr/>
        </p:nvSpPr>
        <p:spPr>
          <a:xfrm xmlns:a="http://schemas.openxmlformats.org/drawingml/2006/main">
            <a:off x="6162675"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9BF4C702-B73C-4EE5-BD38-E757F1615D31}"/>
              </a:ext>
            </a:extLst>
          </p:cNvPr>
          <p:cNvSpPr>
            <a:spLocks xmlns:a="http://schemas.openxmlformats.org/drawingml/2006/main" noGrp="1"/>
          </p:cNvSpPr>
          <p:nvPr/>
        </p:nvSpPr>
        <p:spPr>
          <a:xfrm xmlns:a="http://schemas.openxmlformats.org/drawingml/2006/main">
            <a:off x="6162675" y="2190750"/>
            <a:ext cx="2624138"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7407764-B431-4FD4-B744-EA71B83BBA97}"/>
              </a:ext>
            </a:extLst>
          </p:cNvPr>
          <p:cNvSpPr>
            <a:spLocks xmlns:a="http://schemas.openxmlformats.org/drawingml/2006/main" noGrp="1"/>
          </p:cNvSpPr>
          <p:nvPr/>
        </p:nvSpPr>
        <p:spPr>
          <a:xfrm xmlns:a="http://schemas.openxmlformats.org/drawingml/2006/main">
            <a:off x="6334125"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FD9781F7-0E95-455A-B0B8-6512BB678C07}"/>
              </a:ext>
            </a:extLst>
          </p:cNvPr>
          <p:cNvSpPr>
            <a:spLocks xmlns:a="http://schemas.openxmlformats.org/drawingml/2006/main" noGrp="1"/>
          </p:cNvSpPr>
          <p:nvPr/>
        </p:nvSpPr>
        <p:spPr>
          <a:xfrm xmlns:a="http://schemas.openxmlformats.org/drawingml/2006/main">
            <a:off x="6334125"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server</a:t>
            </a:r>
          </a:p>
        </p:txBody>
      </p:sp>
      <p:sp>
        <p:nvSpPr>
          <p:cNvPr id="24" name="">
            <a:extLst xmlns:a="http://schemas.openxmlformats.org/drawingml/2006/main">
              <a:ext uri="{FF2B5EF4-FFF2-40B4-BE49-F238E27FC236}">
                <a16:creationId xmlns:a16="http://schemas.microsoft.com/office/drawing/2014/main" id="{0CB52958-46A4-450D-A89B-F817426FDDE6}"/>
              </a:ext>
            </a:extLst>
          </p:cNvPr>
          <p:cNvSpPr>
            <a:spLocks xmlns:a="http://schemas.openxmlformats.org/drawingml/2006/main" noGrp="1"/>
          </p:cNvSpPr>
          <p:nvPr/>
        </p:nvSpPr>
        <p:spPr>
          <a:xfrm xmlns:a="http://schemas.openxmlformats.org/drawingml/2006/main">
            <a:off x="6334125"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GitHubなどへ接続</a:t>
            </a:r>
          </a:p>
        </p:txBody>
      </p:sp>
      <p:sp>
        <p:nvSpPr>
          <p:cNvPr id="25" name="">
            <a:extLst xmlns:a="http://schemas.openxmlformats.org/drawingml/2006/main">
              <a:ext uri="{FF2B5EF4-FFF2-40B4-BE49-F238E27FC236}">
                <a16:creationId xmlns:a16="http://schemas.microsoft.com/office/drawing/2014/main" id="{99F60639-8D76-4D26-82D1-32A3461F76C5}"/>
              </a:ext>
            </a:extLst>
          </p:cNvPr>
          <p:cNvSpPr>
            <a:spLocks xmlns:a="http://schemas.openxmlformats.org/drawingml/2006/main" noGrp="1"/>
          </p:cNvSpPr>
          <p:nvPr/>
        </p:nvSpPr>
        <p:spPr>
          <a:xfrm xmlns:a="http://schemas.openxmlformats.org/drawingml/2006/main">
            <a:off x="8920163"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2A079497-B982-4A23-A6DB-1772BACB47A0}"/>
              </a:ext>
            </a:extLst>
          </p:cNvPr>
          <p:cNvSpPr>
            <a:spLocks xmlns:a="http://schemas.openxmlformats.org/drawingml/2006/main" noGrp="1"/>
          </p:cNvSpPr>
          <p:nvPr/>
        </p:nvSpPr>
        <p:spPr>
          <a:xfrm xmlns:a="http://schemas.openxmlformats.org/drawingml/2006/main">
            <a:off x="8920163"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30FD66A-E22C-40C0-A860-D4372404B8DF}"/>
              </a:ext>
            </a:extLst>
          </p:cNvPr>
          <p:cNvSpPr>
            <a:spLocks xmlns:a="http://schemas.openxmlformats.org/drawingml/2006/main" noGrp="1"/>
          </p:cNvSpPr>
          <p:nvPr/>
        </p:nvSpPr>
        <p:spPr>
          <a:xfrm xmlns:a="http://schemas.openxmlformats.org/drawingml/2006/main">
            <a:off x="9091613"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87D756A6-77F9-4A86-9920-C39BE31E9A8B}"/>
              </a:ext>
            </a:extLst>
          </p:cNvPr>
          <p:cNvSpPr>
            <a:spLocks xmlns:a="http://schemas.openxmlformats.org/drawingml/2006/main" noGrp="1"/>
          </p:cNvSpPr>
          <p:nvPr/>
        </p:nvSpPr>
        <p:spPr>
          <a:xfrm xmlns:a="http://schemas.openxmlformats.org/drawingml/2006/main">
            <a:off x="9091613"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Tool</a:t>
            </a:r>
          </a:p>
        </p:txBody>
      </p:sp>
      <p:sp>
        <p:nvSpPr>
          <p:cNvPr id="29" name="">
            <a:extLst xmlns:a="http://schemas.openxmlformats.org/drawingml/2006/main">
              <a:ext uri="{FF2B5EF4-FFF2-40B4-BE49-F238E27FC236}">
                <a16:creationId xmlns:a16="http://schemas.microsoft.com/office/drawing/2014/main" id="{18AA8B43-CD4F-4B9E-9EA8-7D3C4F660304}"/>
              </a:ext>
            </a:extLst>
          </p:cNvPr>
          <p:cNvSpPr>
            <a:spLocks xmlns:a="http://schemas.openxmlformats.org/drawingml/2006/main" noGrp="1"/>
          </p:cNvSpPr>
          <p:nvPr/>
        </p:nvSpPr>
        <p:spPr>
          <a:xfrm xmlns:a="http://schemas.openxmlformats.org/drawingml/2006/main">
            <a:off x="9091613"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read / writeの操作</a:t>
            </a:r>
          </a:p>
        </p:txBody>
      </p:sp>
      <p:sp>
        <p:nvSpPr>
          <p:cNvPr id="30" name="">
            <a:extLst xmlns:a="http://schemas.openxmlformats.org/drawingml/2006/main">
              <a:ext uri="{FF2B5EF4-FFF2-40B4-BE49-F238E27FC236}">
                <a16:creationId xmlns:a16="http://schemas.microsoft.com/office/drawing/2014/main" id="{3A1B0804-2D58-4B39-959A-C107B117E698}"/>
              </a:ext>
            </a:extLst>
          </p:cNvPr>
          <p:cNvSpPr>
            <a:spLocks xmlns:a="http://schemas.openxmlformats.org/drawingml/2006/main" noGrp="1"/>
          </p:cNvSpPr>
          <p:nvPr/>
        </p:nvSpPr>
        <p:spPr>
          <a:xfrm xmlns:a="http://schemas.openxmlformats.org/drawingml/2006/main">
            <a:off x="1809750" y="4191000"/>
            <a:ext cx="8572500" cy="1047750"/>
          </a:xfrm>
          <a:prstGeom xmlns:a="http://schemas.openxmlformats.org/drawingml/2006/main" prst="roundRect">
            <a:avLst>
              <a:gd name="adj" fmla="val 7273"/>
            </a:avLst>
          </a:prstGeom>
          <a:solidFill xmlns:a="http://schemas.openxmlformats.org/drawingml/2006/main">
            <a:srgbClr val="071A2B"/>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778ADE2-5AAE-40C4-B448-D949867C716E}"/>
              </a:ext>
            </a:extLst>
          </p:cNvPr>
          <p:cNvSpPr>
            <a:spLocks xmlns:a="http://schemas.openxmlformats.org/drawingml/2006/main" noGrp="1"/>
          </p:cNvSpPr>
          <p:nvPr/>
        </p:nvSpPr>
        <p:spPr>
          <a:xfrm xmlns:a="http://schemas.openxmlformats.org/drawingml/2006/main">
            <a:off x="2190750" y="44386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FFFFFF"/>
                </a:solidFill>
                <a:latin typeface="Yu Gothic UI"/>
                <a:ea typeface="Yu Gothic UI"/>
                <a:cs typeface="Yu Gothic UI"/>
              </a:defRPr>
            </a:pPr>
            <a:r>
              <a:rPr sz="2025" b="1">
                <a:solidFill>
                  <a:srgbClr val="FFFFFF"/>
                </a:solidFill>
                <a:latin typeface="Yu Gothic UI"/>
                <a:ea typeface="Yu Gothic UI"/>
                <a:cs typeface="Yu Gothic UI"/>
              </a:rPr>
              <a:t>接続済み ≠ 実行してよい</a:t>
            </a:r>
          </a:p>
        </p:txBody>
      </p:sp>
      <p:sp>
        <p:nvSpPr>
          <p:cNvPr id="32" name="">
            <a:extLst xmlns:a="http://schemas.openxmlformats.org/drawingml/2006/main">
              <a:ext uri="{FF2B5EF4-FFF2-40B4-BE49-F238E27FC236}">
                <a16:creationId xmlns:a16="http://schemas.microsoft.com/office/drawing/2014/main" id="{925EC64C-25D2-4933-8450-39EE32ECA1AE}"/>
              </a:ext>
            </a:extLst>
          </p:cNvPr>
          <p:cNvSpPr>
            <a:spLocks xmlns:a="http://schemas.openxmlformats.org/drawingml/2006/main" noGrp="1"/>
          </p:cNvSpPr>
          <p:nvPr/>
        </p:nvSpPr>
        <p:spPr>
          <a:xfrm xmlns:a="http://schemas.openxmlformats.org/drawingml/2006/main">
            <a:off x="2190750" y="4876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a:solidFill>
                  <a:srgbClr val="B9D6E4"/>
                </a:solidFill>
                <a:latin typeface="Yu Gothic UI"/>
                <a:ea typeface="Yu Gothic UI"/>
                <a:cs typeface="Yu Gothic UI"/>
              </a:defRPr>
            </a:pPr>
            <a:r>
              <a:rPr sz="1125">
                <a:solidFill>
                  <a:srgbClr val="B9D6E4"/>
                </a:solidFill>
                <a:latin typeface="Yu Gothic UI"/>
                <a:ea typeface="Yu Gothic UI"/>
                <a:cs typeface="Yu Gothic UI"/>
              </a:rPr>
              <a:t>今回はGitHubのbranch / commit / Pages状態を読み取り確認。書き込みToolは使わない。</a:t>
            </a:r>
          </a:p>
        </p:txBody>
      </p:sp>
    </p:spTree>
    <p:extLst>
      <p:ext uri="{BB962C8B-B14F-4D97-AF65-F5344CB8AC3E}">
        <p14:creationId xmlns:p14="http://schemas.microsoft.com/office/powerpoint/2010/main" val="10182684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6  |  PUBLISH</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公開は自動で始めず、差分確認と人の明示承認を必須にします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21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f5462d0b29ca4dbc"/>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0BDF4799-364E-4612-90A1-75E596EE3496}"/>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066DA54-1434-4C90-89EE-D8CD476B2D64}"/>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PUBLISH</a:t>
            </a:r>
          </a:p>
        </p:txBody>
      </p:sp>
      <p:sp>
        <p:nvSpPr>
          <p:cNvPr id="20" name="">
            <a:extLst xmlns:a="http://schemas.openxmlformats.org/drawingml/2006/main">
              <a:ext uri="{FF2B5EF4-FFF2-40B4-BE49-F238E27FC236}">
                <a16:creationId xmlns:a16="http://schemas.microsoft.com/office/drawing/2014/main" id="{C816E35B-06EE-4D0F-B1D8-A708FE825118}"/>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1FC3F528-95DE-4598-98AC-5F43E6E6F731}"/>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3574BCC0-C1A1-45F0-BF3B-F57EA3F2635B}"/>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844"/>
          </a:bodyPr>
          <a:lstStyle xmlns:a="http://schemas.openxmlformats.org/drawingml/2006/main"/>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Prompt 6 / GitHub Pagesへ公開する</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完成したAI Agent Learning Hubを専用公開先へGitHub Pagesで公開する準備をしてください。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リポジトリ: https://github.com/kanta13jp1/mighty-link-antigravity-live-demo</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ブランチ: main</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公開URL: https://kanta13jp1.github.io/mighty-link-antigravity-live-demo/</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git status、git diff --stat、git remote -v、現在branchを確認し、remoteまたはbranchが一致しなければ何も変更せず停止してください。.env、認証情報、トークン、個人情報、顧客情報が追跡対象にないことと、SITE_BRIEF.mdにSYNTHETIC_DATA_ONLYがあることを確認してください。`.agents/skills/`は公開対象へadd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公開予定ファイルをindex.html、styles.css、app.js、assets/workshop-hero.pngに限定します。Q&amp;A用のPrompt 8を実行済みの場合だけassets/agent-workflow-hero.pngも許可します。これ以外の変更、製品数5件からの増加、料金・クォータ追加があれば公開せず停止してください。commit messageと公開URLを報告したら必ず停止して「公開してもよいですか？」と質問してください。私が正確に「公開して」と答えるまでgit add、commit、push、GitHub設定変更を実行しないでください。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「公開して」の後だけ指定したサイトファイルをaddし、`Publish AI agent learning hub demo`でcommitしてmainへpushしてください。Pages完了を最大3分待ち、HTTPS、タイトル、5製品、フィルター件数5・4・1・5、2製品比較を公開URLで確認し、「commit／公開URL／確認／未解決」を4行で報告してください。</a:t>
            </a:r>
          </a:p>
        </p:txBody>
      </p:sp>
      <p:sp>
        <p:nvSpPr>
          <p:cNvPr id="23" name="">
            <a:extLst xmlns:a="http://schemas.openxmlformats.org/drawingml/2006/main">
              <a:ext uri="{FF2B5EF4-FFF2-40B4-BE49-F238E27FC236}">
                <a16:creationId xmlns:a16="http://schemas.microsoft.com/office/drawing/2014/main" id="{D0A0E157-FB75-456E-867F-678A86AC8698}"/>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docs/demo/antigravity_workshop/PROMPT_06_PUBLISH.txt</a:t>
            </a:r>
          </a:p>
        </p:txBody>
      </p:sp>
    </p:spTree>
    <p:extLst>
      <p:ext uri="{BB962C8B-B14F-4D97-AF65-F5344CB8AC3E}">
        <p14:creationId xmlns:p14="http://schemas.microsoft.com/office/powerpoint/2010/main" val="107929079"/>
      </p:ext>
    </p:extLst>
  </p:cSld>
</p:sld>
</file>

<file path=ppt/slides/slide2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PUBLIC PROOF  |  SUCCESS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『公開して』の後だけ、4つの証拠を揃えます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22 / 30</a:t>
            </a:r>
          </a:p>
        </p:txBody>
      </p:sp>
      <p:sp>
        <p:nvSpPr>
          <p:cNvPr id="10" name="">
            <a:extLst xmlns:a="http://schemas.openxmlformats.org/drawingml/2006/main">
              <a:ext uri="{FF2B5EF4-FFF2-40B4-BE49-F238E27FC236}">
                <a16:creationId xmlns:a16="http://schemas.microsoft.com/office/drawing/2014/main" id="{D7A39667-E05C-4C58-B0A5-0976230700E2}"/>
              </a:ext>
            </a:extLst>
          </p:cNvPr>
          <p:cNvSpPr>
            <a:spLocks xmlns:a="http://schemas.openxmlformats.org/drawingml/2006/main" noGrp="1"/>
          </p:cNvSpPr>
          <p:nvPr/>
        </p:nvSpPr>
        <p:spPr>
          <a:xfrm xmlns:a="http://schemas.openxmlformats.org/drawingml/2006/main">
            <a:off x="647700"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B179299E-7DB0-4683-BDF4-2F37C05B4889}"/>
              </a:ext>
            </a:extLst>
          </p:cNvPr>
          <p:cNvSpPr>
            <a:spLocks xmlns:a="http://schemas.openxmlformats.org/drawingml/2006/main" noGrp="1"/>
          </p:cNvSpPr>
          <p:nvPr/>
        </p:nvSpPr>
        <p:spPr>
          <a:xfrm xmlns:a="http://schemas.openxmlformats.org/drawingml/2006/main">
            <a:off x="647700" y="1771650"/>
            <a:ext cx="2595563"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97AED2F-80B0-4084-B61D-EA8299BA8FB3}"/>
              </a:ext>
            </a:extLst>
          </p:cNvPr>
          <p:cNvSpPr>
            <a:spLocks xmlns:a="http://schemas.openxmlformats.org/drawingml/2006/main" noGrp="1"/>
          </p:cNvSpPr>
          <p:nvPr/>
        </p:nvSpPr>
        <p:spPr>
          <a:xfrm xmlns:a="http://schemas.openxmlformats.org/drawingml/2006/main">
            <a:off x="857250"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00A5E3"/>
                </a:solidFill>
                <a:latin typeface="Yu Gothic UI"/>
                <a:ea typeface="Yu Gothic UI"/>
                <a:cs typeface="Yu Gothic UI"/>
              </a:defRPr>
            </a:pPr>
            <a:r>
              <a:rPr sz="1575" b="1">
                <a:solidFill>
                  <a:srgbClr val="00A5E3"/>
                </a:solidFill>
                <a:latin typeface="Yu Gothic UI"/>
                <a:ea typeface="Yu Gothic UI"/>
                <a:cs typeface="Yu Gothic UI"/>
              </a:rPr>
              <a:t>DECISION</a:t>
            </a:r>
          </a:p>
        </p:txBody>
      </p:sp>
      <p:sp>
        <p:nvSpPr>
          <p:cNvPr id="13" name="">
            <a:extLst xmlns:a="http://schemas.openxmlformats.org/drawingml/2006/main">
              <a:ext uri="{FF2B5EF4-FFF2-40B4-BE49-F238E27FC236}">
                <a16:creationId xmlns:a16="http://schemas.microsoft.com/office/drawing/2014/main" id="{F2314644-503F-4BCC-8E44-CE93C400880C}"/>
              </a:ext>
            </a:extLst>
          </p:cNvPr>
          <p:cNvSpPr>
            <a:spLocks xmlns:a="http://schemas.openxmlformats.org/drawingml/2006/main" noGrp="1"/>
          </p:cNvSpPr>
          <p:nvPr/>
        </p:nvSpPr>
        <p:spPr>
          <a:xfrm xmlns:a="http://schemas.openxmlformats.org/drawingml/2006/main">
            <a:off x="857250"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remote / branch / diff</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秘密情報なし</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人の承認</a:t>
            </a:r>
          </a:p>
        </p:txBody>
      </p:sp>
      <p:sp>
        <p:nvSpPr>
          <p:cNvPr id="14" name="">
            <a:extLst xmlns:a="http://schemas.openxmlformats.org/drawingml/2006/main">
              <a:ext uri="{FF2B5EF4-FFF2-40B4-BE49-F238E27FC236}">
                <a16:creationId xmlns:a16="http://schemas.microsoft.com/office/drawing/2014/main" id="{1012E9E0-93FD-4FED-BD26-3D479398E154}"/>
              </a:ext>
            </a:extLst>
          </p:cNvPr>
          <p:cNvSpPr>
            <a:spLocks xmlns:a="http://schemas.openxmlformats.org/drawingml/2006/main" noGrp="1"/>
          </p:cNvSpPr>
          <p:nvPr/>
        </p:nvSpPr>
        <p:spPr>
          <a:xfrm xmlns:a="http://schemas.openxmlformats.org/drawingml/2006/main">
            <a:off x="857250" y="4686300"/>
            <a:ext cx="609600" cy="323850"/>
          </a:xfrm>
          <a:prstGeom xmlns:a="http://schemas.openxmlformats.org/drawingml/2006/main" prst="roundRect">
            <a:avLst>
              <a:gd name="adj" fmla="val 23529"/>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4E5A7CE7-ACA5-408C-9ADE-3C187DFF69CB}"/>
              </a:ext>
            </a:extLst>
          </p:cNvPr>
          <p:cNvSpPr>
            <a:spLocks xmlns:a="http://schemas.openxmlformats.org/drawingml/2006/main" noGrp="1"/>
          </p:cNvSpPr>
          <p:nvPr/>
        </p:nvSpPr>
        <p:spPr>
          <a:xfrm xmlns:a="http://schemas.openxmlformats.org/drawingml/2006/main">
            <a:off x="3414713"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31725FAE-27D9-4830-83DC-5221040B7D26}"/>
              </a:ext>
            </a:extLst>
          </p:cNvPr>
          <p:cNvSpPr>
            <a:spLocks xmlns:a="http://schemas.openxmlformats.org/drawingml/2006/main" noGrp="1"/>
          </p:cNvSpPr>
          <p:nvPr/>
        </p:nvSpPr>
        <p:spPr>
          <a:xfrm xmlns:a="http://schemas.openxmlformats.org/drawingml/2006/main">
            <a:off x="3414713" y="1771650"/>
            <a:ext cx="2595563"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586904A-71D4-4E7E-81F4-C356B4413310}"/>
              </a:ext>
            </a:extLst>
          </p:cNvPr>
          <p:cNvSpPr>
            <a:spLocks xmlns:a="http://schemas.openxmlformats.org/drawingml/2006/main" noGrp="1"/>
          </p:cNvSpPr>
          <p:nvPr/>
        </p:nvSpPr>
        <p:spPr>
          <a:xfrm xmlns:a="http://schemas.openxmlformats.org/drawingml/2006/main">
            <a:off x="3624263"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EF7E00"/>
                </a:solidFill>
                <a:latin typeface="Yu Gothic UI"/>
                <a:ea typeface="Yu Gothic UI"/>
                <a:cs typeface="Yu Gothic UI"/>
              </a:defRPr>
            </a:pPr>
            <a:r>
              <a:rPr sz="1575" b="1">
                <a:solidFill>
                  <a:srgbClr val="EF7E00"/>
                </a:solidFill>
                <a:latin typeface="Yu Gothic UI"/>
                <a:ea typeface="Yu Gothic UI"/>
                <a:cs typeface="Yu Gothic UI"/>
              </a:rPr>
              <a:t>COMMIT</a:t>
            </a:r>
          </a:p>
        </p:txBody>
      </p:sp>
      <p:sp>
        <p:nvSpPr>
          <p:cNvPr id="18" name="">
            <a:extLst xmlns:a="http://schemas.openxmlformats.org/drawingml/2006/main">
              <a:ext uri="{FF2B5EF4-FFF2-40B4-BE49-F238E27FC236}">
                <a16:creationId xmlns:a16="http://schemas.microsoft.com/office/drawing/2014/main" id="{3C35EADA-4EC3-45EA-AED7-BD674E7CFD08}"/>
              </a:ext>
            </a:extLst>
          </p:cNvPr>
          <p:cNvSpPr>
            <a:spLocks xmlns:a="http://schemas.openxmlformats.org/drawingml/2006/main" noGrp="1"/>
          </p:cNvSpPr>
          <p:nvPr/>
        </p:nvSpPr>
        <p:spPr>
          <a:xfrm xmlns:a="http://schemas.openxmlformats.org/drawingml/2006/main">
            <a:off x="3624263"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指定4ファイルだけ</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message固定</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mainへpush</a:t>
            </a:r>
          </a:p>
        </p:txBody>
      </p:sp>
      <p:sp>
        <p:nvSpPr>
          <p:cNvPr id="19" name="">
            <a:extLst xmlns:a="http://schemas.openxmlformats.org/drawingml/2006/main">
              <a:ext uri="{FF2B5EF4-FFF2-40B4-BE49-F238E27FC236}">
                <a16:creationId xmlns:a16="http://schemas.microsoft.com/office/drawing/2014/main" id="{EC7CD636-4570-4D7C-846F-FFF91D41E8C2}"/>
              </a:ext>
            </a:extLst>
          </p:cNvPr>
          <p:cNvSpPr>
            <a:spLocks xmlns:a="http://schemas.openxmlformats.org/drawingml/2006/main" noGrp="1"/>
          </p:cNvSpPr>
          <p:nvPr/>
        </p:nvSpPr>
        <p:spPr>
          <a:xfrm xmlns:a="http://schemas.openxmlformats.org/drawingml/2006/main">
            <a:off x="3624263" y="4686300"/>
            <a:ext cx="609600" cy="323850"/>
          </a:xfrm>
          <a:prstGeom xmlns:a="http://schemas.openxmlformats.org/drawingml/2006/main" prst="roundRect">
            <a:avLst>
              <a:gd name="adj" fmla="val 23529"/>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740DFE1A-9159-444E-8643-C63F410CBB63}"/>
              </a:ext>
            </a:extLst>
          </p:cNvPr>
          <p:cNvSpPr>
            <a:spLocks xmlns:a="http://schemas.openxmlformats.org/drawingml/2006/main" noGrp="1"/>
          </p:cNvSpPr>
          <p:nvPr/>
        </p:nvSpPr>
        <p:spPr>
          <a:xfrm xmlns:a="http://schemas.openxmlformats.org/drawingml/2006/main">
            <a:off x="6181725"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0A23553C-54C3-4036-9078-E4EC2999CDEE}"/>
              </a:ext>
            </a:extLst>
          </p:cNvPr>
          <p:cNvSpPr>
            <a:spLocks xmlns:a="http://schemas.openxmlformats.org/drawingml/2006/main" noGrp="1"/>
          </p:cNvSpPr>
          <p:nvPr/>
        </p:nvSpPr>
        <p:spPr>
          <a:xfrm xmlns:a="http://schemas.openxmlformats.org/drawingml/2006/main">
            <a:off x="6181725" y="1771650"/>
            <a:ext cx="2595563"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F3E3D45-3581-4719-A03F-6FECF6C06167}"/>
              </a:ext>
            </a:extLst>
          </p:cNvPr>
          <p:cNvSpPr>
            <a:spLocks xmlns:a="http://schemas.openxmlformats.org/drawingml/2006/main" noGrp="1"/>
          </p:cNvSpPr>
          <p:nvPr/>
        </p:nvSpPr>
        <p:spPr>
          <a:xfrm xmlns:a="http://schemas.openxmlformats.org/drawingml/2006/main">
            <a:off x="6391275"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2F9E63"/>
                </a:solidFill>
                <a:latin typeface="Yu Gothic UI"/>
                <a:ea typeface="Yu Gothic UI"/>
                <a:cs typeface="Yu Gothic UI"/>
              </a:defRPr>
            </a:pPr>
            <a:r>
              <a:rPr sz="1575" b="1">
                <a:solidFill>
                  <a:srgbClr val="2F9E63"/>
                </a:solidFill>
                <a:latin typeface="Yu Gothic UI"/>
                <a:ea typeface="Yu Gothic UI"/>
                <a:cs typeface="Yu Gothic UI"/>
              </a:rPr>
              <a:t>HTTPS</a:t>
            </a:r>
          </a:p>
        </p:txBody>
      </p:sp>
      <p:sp>
        <p:nvSpPr>
          <p:cNvPr id="23" name="">
            <a:extLst xmlns:a="http://schemas.openxmlformats.org/drawingml/2006/main">
              <a:ext uri="{FF2B5EF4-FFF2-40B4-BE49-F238E27FC236}">
                <a16:creationId xmlns:a16="http://schemas.microsoft.com/office/drawing/2014/main" id="{16F0CA1A-CACB-4F3B-ADDE-8ED1BE490AC5}"/>
              </a:ext>
            </a:extLst>
          </p:cNvPr>
          <p:cNvSpPr>
            <a:spLocks xmlns:a="http://schemas.openxmlformats.org/drawingml/2006/main" noGrp="1"/>
          </p:cNvSpPr>
          <p:nvPr/>
        </p:nvSpPr>
        <p:spPr>
          <a:xfrm xmlns:a="http://schemas.openxmlformats.org/drawingml/2006/main">
            <a:off x="6391275"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Pages deployment</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200 response</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公開title</a:t>
            </a:r>
          </a:p>
        </p:txBody>
      </p:sp>
      <p:sp>
        <p:nvSpPr>
          <p:cNvPr id="24" name="">
            <a:extLst xmlns:a="http://schemas.openxmlformats.org/drawingml/2006/main">
              <a:ext uri="{FF2B5EF4-FFF2-40B4-BE49-F238E27FC236}">
                <a16:creationId xmlns:a16="http://schemas.microsoft.com/office/drawing/2014/main" id="{62525F1C-3D7C-474F-BCC1-55C1B7829DA2}"/>
              </a:ext>
            </a:extLst>
          </p:cNvPr>
          <p:cNvSpPr>
            <a:spLocks xmlns:a="http://schemas.openxmlformats.org/drawingml/2006/main" noGrp="1"/>
          </p:cNvSpPr>
          <p:nvPr/>
        </p:nvSpPr>
        <p:spPr>
          <a:xfrm xmlns:a="http://schemas.openxmlformats.org/drawingml/2006/main">
            <a:off x="6391275" y="4686300"/>
            <a:ext cx="609600" cy="323850"/>
          </a:xfrm>
          <a:prstGeom xmlns:a="http://schemas.openxmlformats.org/drawingml/2006/main" prst="roundRect">
            <a:avLst>
              <a:gd name="adj" fmla="val 23529"/>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9DE14A81-75E3-489C-90E2-14810E35CBB2}"/>
              </a:ext>
            </a:extLst>
          </p:cNvPr>
          <p:cNvSpPr>
            <a:spLocks xmlns:a="http://schemas.openxmlformats.org/drawingml/2006/main" noGrp="1"/>
          </p:cNvSpPr>
          <p:nvPr/>
        </p:nvSpPr>
        <p:spPr>
          <a:xfrm xmlns:a="http://schemas.openxmlformats.org/drawingml/2006/main">
            <a:off x="8948738"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6101F68B-50B4-4C10-B0E4-26B88B6EA60E}"/>
              </a:ext>
            </a:extLst>
          </p:cNvPr>
          <p:cNvSpPr>
            <a:spLocks xmlns:a="http://schemas.openxmlformats.org/drawingml/2006/main" noGrp="1"/>
          </p:cNvSpPr>
          <p:nvPr/>
        </p:nvSpPr>
        <p:spPr>
          <a:xfrm xmlns:a="http://schemas.openxmlformats.org/drawingml/2006/main">
            <a:off x="8948738" y="1771650"/>
            <a:ext cx="2595563"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35EAB72-34DB-4F6A-94F0-84F240AD8D29}"/>
              </a:ext>
            </a:extLst>
          </p:cNvPr>
          <p:cNvSpPr>
            <a:spLocks xmlns:a="http://schemas.openxmlformats.org/drawingml/2006/main" noGrp="1"/>
          </p:cNvSpPr>
          <p:nvPr/>
        </p:nvSpPr>
        <p:spPr>
          <a:xfrm xmlns:a="http://schemas.openxmlformats.org/drawingml/2006/main">
            <a:off x="9158288"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7B61A8"/>
                </a:solidFill>
                <a:latin typeface="Yu Gothic UI"/>
                <a:ea typeface="Yu Gothic UI"/>
                <a:cs typeface="Yu Gothic UI"/>
              </a:defRPr>
            </a:pPr>
            <a:r>
              <a:rPr sz="1575" b="1">
                <a:solidFill>
                  <a:srgbClr val="7B61A8"/>
                </a:solidFill>
                <a:latin typeface="Yu Gothic UI"/>
                <a:ea typeface="Yu Gothic UI"/>
                <a:cs typeface="Yu Gothic UI"/>
              </a:rPr>
              <a:t>FUNCTION</a:t>
            </a:r>
          </a:p>
        </p:txBody>
      </p:sp>
      <p:sp>
        <p:nvSpPr>
          <p:cNvPr id="28" name="">
            <a:extLst xmlns:a="http://schemas.openxmlformats.org/drawingml/2006/main">
              <a:ext uri="{FF2B5EF4-FFF2-40B4-BE49-F238E27FC236}">
                <a16:creationId xmlns:a16="http://schemas.microsoft.com/office/drawing/2014/main" id="{3BBBDB37-9B3C-4B0A-B169-87C91AB64442}"/>
              </a:ext>
            </a:extLst>
          </p:cNvPr>
          <p:cNvSpPr>
            <a:spLocks xmlns:a="http://schemas.openxmlformats.org/drawingml/2006/main" noGrp="1"/>
          </p:cNvSpPr>
          <p:nvPr/>
        </p:nvSpPr>
        <p:spPr>
          <a:xfrm xmlns:a="http://schemas.openxmlformats.org/drawingml/2006/main">
            <a:off x="9158288"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5 products</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filters 5・4・1・5</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maximum 2 compare</a:t>
            </a:r>
          </a:p>
        </p:txBody>
      </p:sp>
      <p:sp>
        <p:nvSpPr>
          <p:cNvPr id="29" name="">
            <a:extLst xmlns:a="http://schemas.openxmlformats.org/drawingml/2006/main">
              <a:ext uri="{FF2B5EF4-FFF2-40B4-BE49-F238E27FC236}">
                <a16:creationId xmlns:a16="http://schemas.microsoft.com/office/drawing/2014/main" id="{AAC2BD67-BF71-4286-AF92-126A47BD29E9}"/>
              </a:ext>
            </a:extLst>
          </p:cNvPr>
          <p:cNvSpPr>
            <a:spLocks xmlns:a="http://schemas.openxmlformats.org/drawingml/2006/main" noGrp="1"/>
          </p:cNvSpPr>
          <p:nvPr/>
        </p:nvSpPr>
        <p:spPr>
          <a:xfrm xmlns:a="http://schemas.openxmlformats.org/drawingml/2006/main">
            <a:off x="9158288" y="4686300"/>
            <a:ext cx="609600" cy="323850"/>
          </a:xfrm>
          <a:prstGeom xmlns:a="http://schemas.openxmlformats.org/drawingml/2006/main" prst="roundRect">
            <a:avLst>
              <a:gd name="adj" fmla="val 23529"/>
            </a:avLst>
          </a:prstGeom>
          <a:solidFill xmlns:a="http://schemas.openxmlformats.org/drawingml/2006/main">
            <a:srgbClr val="7B61A8"/>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04</a:t>
            </a:r>
          </a:p>
        </p:txBody>
      </p:sp>
    </p:spTree>
    <p:extLst>
      <p:ext uri="{BB962C8B-B14F-4D97-AF65-F5344CB8AC3E}">
        <p14:creationId xmlns:p14="http://schemas.microsoft.com/office/powerpoint/2010/main" val="101826840"/>
      </p:ext>
    </p:extLst>
  </p:cSld>
</p:sld>
</file>

<file path=ppt/slides/slide2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ACTUAL RESULT</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公開と改善は成功。追加改善だけで約78分かかりました</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23 / 30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95a4b8f255547a3"/>
          <a:srcRect xmlns:a="http://schemas.openxmlformats.org/drawingml/2006/main" l="0" t="3333" r="0" b="3333"/>
          <a:stretch xmlns:a="http://schemas.openxmlformats.org/drawingml/2006/main">
            <a:fillRect l="0" t="0" r="0" b="0"/>
          </a:stretch>
        </p:blipFill>
        <p:spPr>
          <a:xfrm xmlns:a="http://schemas.openxmlformats.org/drawingml/2006/main">
            <a:off x="647700" y="1657350"/>
            <a:ext cx="6858000" cy="4000500"/>
          </a:xfrm>
          <a:prstGeom xmlns:a="http://schemas.openxmlformats.org/drawingml/2006/main" prst="roundRect">
            <a:avLst>
              <a:gd name="adj" fmla="val 1905"/>
            </a:avLst>
          </a:prstGeom>
        </p:spPr>
      </p:pic>
      <p:sp>
        <p:nvSpPr>
          <p:cNvPr id="11" name="">
            <a:extLst xmlns:a="http://schemas.openxmlformats.org/drawingml/2006/main">
              <a:ext uri="{FF2B5EF4-FFF2-40B4-BE49-F238E27FC236}">
                <a16:creationId xmlns:a16="http://schemas.microsoft.com/office/drawing/2014/main" id="{E2FF1BC6-D6CF-4DBE-B4E4-5659BB6740A6}"/>
              </a:ext>
            </a:extLst>
          </p:cNvPr>
          <p:cNvSpPr>
            <a:spLocks xmlns:a="http://schemas.openxmlformats.org/drawingml/2006/main" noGrp="1"/>
          </p:cNvSpPr>
          <p:nvPr/>
        </p:nvSpPr>
        <p:spPr>
          <a:xfrm xmlns:a="http://schemas.openxmlformats.org/drawingml/2006/main">
            <a:off x="7772400" y="1657350"/>
            <a:ext cx="3771900" cy="4000500"/>
          </a:xfrm>
          <a:prstGeom xmlns:a="http://schemas.openxmlformats.org/drawingml/2006/main" prst="roundRect">
            <a:avLst>
              <a:gd name="adj" fmla="val 2020"/>
            </a:avLst>
          </a:prstGeom>
          <a:solidFill xmlns:a="http://schemas.openxmlformats.org/drawingml/2006/main">
            <a:srgbClr val="071A2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E911E0-4DE4-490D-897D-C1253F328137}"/>
              </a:ext>
            </a:extLst>
          </p:cNvPr>
          <p:cNvSpPr>
            <a:spLocks xmlns:a="http://schemas.openxmlformats.org/drawingml/2006/main" noGrp="1"/>
          </p:cNvSpPr>
          <p:nvPr/>
        </p:nvSpPr>
        <p:spPr>
          <a:xfrm xmlns:a="http://schemas.openxmlformats.org/drawingml/2006/main">
            <a:off x="80581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00A5E3"/>
                </a:solidFill>
                <a:latin typeface="Yu Gothic UI"/>
                <a:ea typeface="Yu Gothic UI"/>
                <a:cs typeface="Yu Gothic UI"/>
              </a:defRPr>
            </a:pPr>
            <a:r>
              <a:rPr sz="1050" b="1">
                <a:solidFill>
                  <a:srgbClr val="00A5E3"/>
                </a:solidFill>
                <a:latin typeface="Yu Gothic UI"/>
                <a:ea typeface="Yu Gothic UI"/>
                <a:cs typeface="Yu Gothic UI"/>
              </a:rPr>
              <a:t>ACTUAL</a:t>
            </a:r>
          </a:p>
        </p:txBody>
      </p:sp>
      <p:sp>
        <p:nvSpPr>
          <p:cNvPr id="13" name="">
            <a:extLst xmlns:a="http://schemas.openxmlformats.org/drawingml/2006/main">
              <a:ext uri="{FF2B5EF4-FFF2-40B4-BE49-F238E27FC236}">
                <a16:creationId xmlns:a16="http://schemas.microsoft.com/office/drawing/2014/main" id="{0366B7D4-1FF6-4154-B78F-D638CA1FADD9}"/>
              </a:ext>
            </a:extLst>
          </p:cNvPr>
          <p:cNvSpPr>
            <a:spLocks xmlns:a="http://schemas.openxmlformats.org/drawingml/2006/main" noGrp="1"/>
          </p:cNvSpPr>
          <p:nvPr/>
        </p:nvSpPr>
        <p:spPr>
          <a:xfrm xmlns:a="http://schemas.openxmlformats.org/drawingml/2006/main">
            <a:off x="8058150" y="2324100"/>
            <a:ext cx="3143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05cfa7c → 347ce89</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11 commits</a:t>
            </a:r>
          </a:p>
          <a:p xmlns:a="http://schemas.openxmlformats.org/drawingml/2006/main">
            <a:pPr>
              <a:lnSpc>
                <a:spcPct val="108000"/>
              </a:lnSpc>
              <a:buNone/>
              <a:defRPr sz="1950" b="1">
                <a:solidFill>
                  <a:srgbClr val="FFFFFF"/>
                </a:solidFill>
                <a:latin typeface="Yu Gothic UI"/>
                <a:ea typeface="Yu Gothic UI"/>
                <a:cs typeface="Yu Gothic UI"/>
              </a:defRPr>
            </a:pPr>
            <a:r>
              <a:rPr sz="1950" b="1">
                <a:solidFill>
                  <a:srgbClr val="FFFFFF"/>
                </a:solidFill>
                <a:latin typeface="Yu Gothic UI"/>
                <a:ea typeface="Yu Gothic UI"/>
                <a:cs typeface="Yu Gothic UI"/>
              </a:rPr>
              <a:t>約78分</a:t>
            </a:r>
          </a:p>
        </p:txBody>
      </p:sp>
      <p:sp>
        <p:nvSpPr>
          <p:cNvPr id="14" name="">
            <a:extLst xmlns:a="http://schemas.openxmlformats.org/drawingml/2006/main">
              <a:ext uri="{FF2B5EF4-FFF2-40B4-BE49-F238E27FC236}">
                <a16:creationId xmlns:a16="http://schemas.microsoft.com/office/drawing/2014/main" id="{08AFFA03-95BA-4978-81AC-726067909881}"/>
              </a:ext>
            </a:extLst>
          </p:cNvPr>
          <p:cNvSpPr>
            <a:spLocks xmlns:a="http://schemas.openxmlformats.org/drawingml/2006/main" noGrp="1"/>
          </p:cNvSpPr>
          <p:nvPr/>
        </p:nvSpPr>
        <p:spPr>
          <a:xfrm xmlns:a="http://schemas.openxmlformats.org/drawingml/2006/main">
            <a:off x="8058150" y="3695700"/>
            <a:ext cx="314325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公開URL: HTTPS 200</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製品: 5 → 9</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追加: 動画 / Visual Feedback模擬 / Nano Banana模擬 / 検索 / 診断 / export</a:t>
            </a:r>
          </a:p>
          <a:p xmlns:a="http://schemas.openxmlformats.org/drawingml/2006/main">
            <a:pPr>
              <a:lnSpc>
                <a:spcPct val="116000"/>
              </a:lnSpc>
              <a:buNone/>
              <a:defRPr sz="1163">
                <a:solidFill>
                  <a:srgbClr val="D8EAF1"/>
                </a:solidFill>
                <a:latin typeface="Yu Gothic UI"/>
                <a:ea typeface="Yu Gothic UI"/>
                <a:cs typeface="Yu Gothic UI"/>
              </a:defRPr>
            </a:pPr>
            <a:r>
              <a:rPr sz="1163">
                <a:solidFill>
                  <a:srgbClr val="D8EAF1"/>
                </a:solidFill>
                <a:latin typeface="Yu Gothic UI"/>
                <a:ea typeface="Yu Gothic UI"/>
                <a:cs typeface="Yu Gothic UI"/>
              </a:rPr>
              <a:t>横scroll: desktop 0 / mobile 0</a:t>
            </a:r>
          </a:p>
        </p:txBody>
      </p:sp>
    </p:spTree>
    <p:extLst>
      <p:ext uri="{BB962C8B-B14F-4D97-AF65-F5344CB8AC3E}">
        <p14:creationId xmlns:p14="http://schemas.microsoft.com/office/powerpoint/2010/main" val="101826840"/>
      </p:ext>
    </p:extLst>
  </p:cSld>
</p:sld>
</file>

<file path=ppt/slides/slide2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LEARNINGS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成果は大きい。だから本番は、事実と範囲を先に固定します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24 / 30</a:t>
            </a:r>
          </a:p>
        </p:txBody>
      </p:sp>
      <p:sp>
        <p:nvSpPr>
          <p:cNvPr id="10" name="">
            <a:extLst xmlns:a="http://schemas.openxmlformats.org/drawingml/2006/main">
              <a:ext uri="{FF2B5EF4-FFF2-40B4-BE49-F238E27FC236}">
                <a16:creationId xmlns:a16="http://schemas.microsoft.com/office/drawing/2014/main" id="{0B52B245-E66A-40D0-B651-5DB03010204D}"/>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49DC6CB3-6855-4F30-9E61-3642FDF2B73A}"/>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できたこと</a:t>
            </a:r>
          </a:p>
        </p:txBody>
      </p:sp>
      <p:sp>
        <p:nvSpPr>
          <p:cNvPr id="12" name="">
            <a:extLst xmlns:a="http://schemas.openxmlformats.org/drawingml/2006/main">
              <a:ext uri="{FF2B5EF4-FFF2-40B4-BE49-F238E27FC236}">
                <a16:creationId xmlns:a16="http://schemas.microsoft.com/office/drawing/2014/main" id="{F82AF2A5-7CBD-4342-8F7C-655E0F0A8367}"/>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9E1F433-4E99-4BC3-97C9-6AAE66B4916B}"/>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329"/>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PUBLIC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 Pagesへ公開し、継続改善</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OFFICIAL VIDEO</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指定動画へ修正し、サイト内modalを追加</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INTERACTION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検索・比較・診断・テーマ・pin comment</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DESIGN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/frontend-designで暗色studio UIへ刷新</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RESPONSIVE</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1440 × 900 / 390 × 844で横scroll 0</a:t>
            </a:r>
          </a:p>
        </p:txBody>
      </p:sp>
      <p:sp>
        <p:nvSpPr>
          <p:cNvPr id="14" name="">
            <a:extLst xmlns:a="http://schemas.openxmlformats.org/drawingml/2006/main">
              <a:ext uri="{FF2B5EF4-FFF2-40B4-BE49-F238E27FC236}">
                <a16:creationId xmlns:a16="http://schemas.microsoft.com/office/drawing/2014/main" id="{65AD6AF5-DF7A-4E2B-A387-91E90D26D4A3}"/>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FF970BD-81C8-423E-B4ED-4359A5F9505A}"/>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本番で直すこと</a:t>
            </a:r>
          </a:p>
        </p:txBody>
      </p:sp>
      <p:sp>
        <p:nvSpPr>
          <p:cNvPr id="16" name="">
            <a:extLst xmlns:a="http://schemas.openxmlformats.org/drawingml/2006/main">
              <a:ext uri="{FF2B5EF4-FFF2-40B4-BE49-F238E27FC236}">
                <a16:creationId xmlns:a16="http://schemas.microsoft.com/office/drawing/2014/main" id="{491A1359-680B-4C62-AC07-E7A3DFE210C5}"/>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D5627CE-A9AC-4B91-A548-167821531D19}"/>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277"/>
          </a:bodyPr>
          <a:lstStyle xmlns:a="http://schemas.openxmlformats.org/drawingml/2006/main"/>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SCOPE</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5 → 9製品、料金・quotaまで拡張</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SOURCE</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最初の動画が意図と違い、差し替えが必要</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TRUTH</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CSS theme simulatorをNano Bananaと表現</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サイト内模擬FeedbackとArtifact feedbackが混在</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LAYOUT</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固定比較summaryが下部を隠す</a:t>
            </a:r>
          </a:p>
          <a:p xmlns:a="http://schemas.openxmlformats.org/drawingml/2006/main">
            <a:r>
              <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DECISION</a:t>
            </a:r>
          </a:p>
          <a:p xmlns:a="http://schemas.openxmlformats.org/drawingml/2006/main">
            <a:pPr>
              <a:lnSpc>
                <a:spcPct val="112000"/>
              </a:lnSpc>
              <a:buNone/>
              <a:defRPr sz="1238" b="0">
                <a:solidFill>
                  <a:srgbClr val="E8F4F7"/>
                </a:solidFill>
                <a:latin typeface="Yu Gothic UI"/>
                <a:ea typeface="Yu Gothic UI"/>
                <a:cs typeface="Yu Gothic UI"/>
              </a:defRPr>
            </a:pPr>
            <a:r>
              <a:rPr sz="1238" b="0">
                <a:solidFill>
                  <a:srgbClr val="E8F4F7"/>
                </a:solidFill>
                <a:latin typeface="Yu Gothic UI"/>
                <a:ea typeface="Yu Gothic UI"/>
                <a:cs typeface="Yu Gothic UI"/>
              </a:rPr>
              <a:t>Prompt 7–9はQ&amp;A専用。本編は7 promptsで停止。</a:t>
            </a:r>
          </a:p>
        </p:txBody>
      </p:sp>
    </p:spTree>
    <p:extLst>
      <p:ext uri="{BB962C8B-B14F-4D97-AF65-F5344CB8AC3E}">
        <p14:creationId xmlns:p14="http://schemas.microsoft.com/office/powerpoint/2010/main" val="101826840"/>
      </p:ext>
    </p:extLst>
  </p:cSld>
</p:sld>
</file>

<file path=ppt/slides/slide2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7  |  OFFICIAL VIDEO</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公式性を照合してから、指定動画だけを追加します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25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1016cd628c7242fa"/>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5EFB991-4A39-4D96-AA42-4B262FB4ABBD}"/>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8012A65-EE46-4777-8E28-B7A35561BEA6}"/>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VIDEO</a:t>
            </a:r>
          </a:p>
        </p:txBody>
      </p:sp>
      <p:sp>
        <p:nvSpPr>
          <p:cNvPr id="20" name="">
            <a:extLst xmlns:a="http://schemas.openxmlformats.org/drawingml/2006/main">
              <a:ext uri="{FF2B5EF4-FFF2-40B4-BE49-F238E27FC236}">
                <a16:creationId xmlns:a16="http://schemas.microsoft.com/office/drawing/2014/main" id="{EE3E533D-140B-44E8-982A-9759E529A802}"/>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4D34DF98-7506-452F-9930-FADE687C1A3A}"/>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1AFE720B-1D30-4AC8-B483-2A30D89CE2F7}"/>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935"/>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7 / Q&amp;A用: 公式動画を出典確認して追加する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AI Agent Learning HubのAntigravityカード付近に、次の動画をサイト内で再生できる導線を追加してください。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URL: https://www.youtube.com/watch?v=SVCBA-pBgt0</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動画ID: SVCBA-pBgt0</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実装前にYouTube oEmbedまたは動画ページで、titleが「Welcome to Google Antigravity」、author_nameが「Google Antigravity」、author_urlが`https://www.youtube.com/@googleantigravity`であることを確認してください。1項目でも確認できなければ「公式」と表示せず、ファイルを変更しないで停止してください。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確認できた場合だけ、privacy-enhanced modeの`https://www.youtube-nocookie.com/embed/SVCBA-pBgt0`を使い、Antigravityカードの近くに「Google Antigravity公式紹介動画」として追加してください。モーダルを使う場合は、閉じるボタン、Escape、背景クリック、focus復帰、YouTubeで開くリンクに対応してください。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5製品を増やさず、料金、クォータ、他製品の動画、外部フォント、診断、検索、エクスポート、テーマ切替を追加しないでください。commitとpushは実行しないでください。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1440x900と390x844で、動画導線、モーダル、キーボード操作、横スクロール、既存の絞り込みと2製品比較を確認し、「出典確認／変更ファイル／ブラウザ確認」を3行で報告してください。</a:t>
            </a:r>
          </a:p>
        </p:txBody>
      </p:sp>
      <p:sp>
        <p:nvSpPr>
          <p:cNvPr id="23" name="">
            <a:extLst xmlns:a="http://schemas.openxmlformats.org/drawingml/2006/main">
              <a:ext uri="{FF2B5EF4-FFF2-40B4-BE49-F238E27FC236}">
                <a16:creationId xmlns:a16="http://schemas.microsoft.com/office/drawing/2014/main" id="{0BBA7F4C-AC00-4B61-82A3-B6D222F200BC}"/>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docs/demo/antigravity_workshop/PROMPT_07_OFFICIAL_VIDEO.txt</a:t>
            </a:r>
          </a:p>
        </p:txBody>
      </p:sp>
    </p:spTree>
    <p:extLst>
      <p:ext uri="{BB962C8B-B14F-4D97-AF65-F5344CB8AC3E}">
        <p14:creationId xmlns:p14="http://schemas.microsoft.com/office/powerpoint/2010/main" val="107929079"/>
      </p:ext>
    </p:extLst>
  </p:cSld>
</p:sld>
</file>

<file path=ppt/slides/slide2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8  |  NANO BANANA</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Nano Bananaは模擬UIではなく、実画像を1枚作って見せます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26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3e3617e2c6e24e7e"/>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59900FE-AE3E-4980-A7B6-3D2C7D977670}"/>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B311BF-CEBE-4A1C-B765-D4732D88F1DE}"/>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Q&amp;A / IMAGE</a:t>
            </a:r>
          </a:p>
        </p:txBody>
      </p:sp>
      <p:sp>
        <p:nvSpPr>
          <p:cNvPr id="20" name="">
            <a:extLst xmlns:a="http://schemas.openxmlformats.org/drawingml/2006/main">
              <a:ext uri="{FF2B5EF4-FFF2-40B4-BE49-F238E27FC236}">
                <a16:creationId xmlns:a16="http://schemas.microsoft.com/office/drawing/2014/main" id="{481027E3-7719-4C38-905A-03BD44E62834}"/>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3A0F839A-A1B5-41D8-9D35-1FAC4995BD93}"/>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8872A271-82DF-437A-A42D-B3DA3F9D2B3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99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8 / Q&amp;A用: Nano Bananaで実画像を作って差し替える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Antigravityのgenerative image toolを使い、AI Agent Learning Hubのヒーロー用画像を1枚だけ生成してください。Antigravity公式Modelsページで、画像生成ToolがNano Banana 2を使用することを確認してから実行してください。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画像要件:</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- 1600x900の横長ラスター画像</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日本の社内研修で、非エンジニアと開発者がAIエージェントの画面を一緒に確認している実写調</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画面内に読める文字、製品ロゴ、人物名、顧客情報を入れない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既存の明るい業務向け配色と本文の可読性を損なわない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assets/agent-workflow-hero.pngへ保存し、適切な日本語altを付ける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重要: CSSの色切替やプリセットボタンを「Nano Banana」と呼ばないでください。Nano Bananaシミュレーター、テーマ切替、別製品、料金、クォータを追加しないでください。画像生成Toolが使えない場合は既存画像を維持し、模擬実装をせず「SKIPPED」と報告して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/browserで1440x900と390x844を確認し、「使用したTool／生成画像／ブラウザ確認」を3行で報告してください。</a:t>
            </a:r>
          </a:p>
        </p:txBody>
      </p:sp>
      <p:sp>
        <p:nvSpPr>
          <p:cNvPr id="23" name="">
            <a:extLst xmlns:a="http://schemas.openxmlformats.org/drawingml/2006/main">
              <a:ext uri="{FF2B5EF4-FFF2-40B4-BE49-F238E27FC236}">
                <a16:creationId xmlns:a16="http://schemas.microsoft.com/office/drawing/2014/main" id="{F279D999-F929-4517-A102-67F4BED6624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docs/demo/antigravity_workshop/PROMPT_08_NANO_BANANA.txt</a:t>
            </a:r>
          </a:p>
        </p:txBody>
      </p:sp>
    </p:spTree>
    <p:extLst>
      <p:ext uri="{BB962C8B-B14F-4D97-AF65-F5344CB8AC3E}">
        <p14:creationId xmlns:p14="http://schemas.microsoft.com/office/powerpoint/2010/main" val="107929079"/>
      </p:ext>
    </p:extLst>
  </p:cSld>
</p:sld>
</file>

<file path=ppt/slides/slide2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Q&amp;A PROMPT 9  |  VISUAL FEEDBACK</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Screenshot Artifactの位置へコメントし、重なりだけを直します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27 / 30</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594df343c0874213"/>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3CC8793-F090-4E6F-94A7-D24DEE0E5B3C}"/>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0FCCD31-37A6-4F37-994D-73EA7574273C}"/>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ARTIFACT COMMENT</a:t>
            </a:r>
          </a:p>
        </p:txBody>
      </p:sp>
      <p:sp>
        <p:nvSpPr>
          <p:cNvPr id="20" name="">
            <a:extLst xmlns:a="http://schemas.openxmlformats.org/drawingml/2006/main">
              <a:ext uri="{FF2B5EF4-FFF2-40B4-BE49-F238E27FC236}">
                <a16:creationId xmlns:a16="http://schemas.microsoft.com/office/drawing/2014/main" id="{6C4A49B4-82F6-4492-B2C3-A445703B7DFD}"/>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5235424D-30BA-4726-A721-672F2174BCE9}"/>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09940CEB-4BEA-4423-9D8D-E0F05117D59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9 / Q&amp;A用: Screenshot Artifactへ位置指定コメントを残す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/browser</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ローカルのAI Agent Learning Hubを1440x900で開き、ページ上部からVisual Feedback用のScreenshot Artifactを1枚作成してください。ファイルはまだ変更せず、Screenshot Artifactが表示されたら停止してください。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Artifactが表示されたら、比較サマリーが他の内容へ重なる位置をクリックし、次のコメント全文を貼り付けます。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固定比較サマリーが下のセクションを隠しています。デスクトップでは右下の非遮蔽パネル、モバイルでは通常フローへ変更し、1440x900と390x844で重なり0・横スクロール0を確認してください。ほかの機能、5製品、文言、公式動画、画像は変更しないでください。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修正後は新しいScreenshot Artifactを作り、変更ファイル、重なり検証、維持した範囲を3行で報告してください。</a:t>
            </a:r>
          </a:p>
        </p:txBody>
      </p:sp>
      <p:sp>
        <p:nvSpPr>
          <p:cNvPr id="23" name="">
            <a:extLst xmlns:a="http://schemas.openxmlformats.org/drawingml/2006/main">
              <a:ext uri="{FF2B5EF4-FFF2-40B4-BE49-F238E27FC236}">
                <a16:creationId xmlns:a16="http://schemas.microsoft.com/office/drawing/2014/main" id="{10F52D64-F1E3-4C3D-8F37-7EC0ACD84F9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docs/demo/antigravity_workshop/PROMPT_09_VISUAL_FEEDBACK_COMMENT.txt</a:t>
            </a:r>
          </a:p>
        </p:txBody>
      </p:sp>
    </p:spTree>
    <p:extLst>
      <p:ext uri="{BB962C8B-B14F-4D97-AF65-F5344CB8AC3E}">
        <p14:creationId xmlns:p14="http://schemas.microsoft.com/office/powerpoint/2010/main" val="107929079"/>
      </p:ext>
    </p:extLst>
  </p:cSld>
</p:sld>
</file>

<file path=ppt/slides/slide2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RESET  |  AFTER REHEARSAL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Skillを削除し、履歴を残すgit revertで準備状態へ戻します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28 / 30</a:t>
            </a:r>
          </a:p>
        </p:txBody>
      </p:sp>
      <p:sp>
        <p:nvSpPr>
          <p:cNvPr id="10" name="">
            <a:extLst xmlns:a="http://schemas.openxmlformats.org/drawingml/2006/main">
              <a:ext uri="{FF2B5EF4-FFF2-40B4-BE49-F238E27FC236}">
                <a16:creationId xmlns:a16="http://schemas.microsoft.com/office/drawing/2014/main" id="{C83F8F72-FFE6-44DA-86A2-AA4310B2E136}"/>
              </a:ext>
            </a:extLst>
          </p:cNvPr>
          <p:cNvSpPr>
            <a:spLocks xmlns:a="http://schemas.openxmlformats.org/drawingml/2006/main" noGrp="1"/>
          </p:cNvSpPr>
          <p:nvPr/>
        </p:nvSpPr>
        <p:spPr>
          <a:xfrm xmlns:a="http://schemas.openxmlformats.org/drawingml/2006/main">
            <a:off x="647700" y="1657350"/>
            <a:ext cx="66675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4832036-AFD9-4287-92EC-088E9FFE7A2A}"/>
              </a:ext>
            </a:extLst>
          </p:cNvPr>
          <p:cNvSpPr>
            <a:spLocks xmlns:a="http://schemas.openxmlformats.org/drawingml/2006/main" noGrp="1"/>
          </p:cNvSpPr>
          <p:nvPr/>
        </p:nvSpPr>
        <p:spPr>
          <a:xfrm xmlns:a="http://schemas.openxmlformats.org/drawingml/2006/main">
            <a:off x="895350" y="1885950"/>
            <a:ext cx="23812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RUN AFTER REHEARSAL</a:t>
            </a:r>
          </a:p>
        </p:txBody>
      </p:sp>
      <p:sp>
        <p:nvSpPr>
          <p:cNvPr id="12" name="">
            <a:extLst xmlns:a="http://schemas.openxmlformats.org/drawingml/2006/main">
              <a:ext uri="{FF2B5EF4-FFF2-40B4-BE49-F238E27FC236}">
                <a16:creationId xmlns:a16="http://schemas.microsoft.com/office/drawing/2014/main" id="{43AE5664-C1B9-4BB1-AB9B-88971547CE99}"/>
              </a:ext>
            </a:extLst>
          </p:cNvPr>
          <p:cNvSpPr>
            <a:spLocks xmlns:a="http://schemas.openxmlformats.org/drawingml/2006/main" noGrp="1"/>
          </p:cNvSpPr>
          <p:nvPr/>
        </p:nvSpPr>
        <p:spPr>
          <a:xfrm xmlns:a="http://schemas.openxmlformats.org/drawingml/2006/main">
            <a:off x="933450" y="2381250"/>
            <a:ext cx="60960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remove frontend-design --agent antigravity -y</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$root = (Resolve-Path .agents/skills).Path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$skill = Join-Path $root 'frontend-design'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if (Test-Path $skill)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$resolved = (Resolve-Path $skill).Path</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if ((Split-Path $resolved -Parent) -ne $root) { throw 'stop' }</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  Remove-Item -LiteralPath $resolved -Recurse -Force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Remove-Item .\skills-lock.json -Force -ErrorAction SilentlyContinue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npx skills list --json</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revert --no-commit 4fc2ec4..347ce89</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commit -m "Restore Antigravity rehearsal baseline"</a:t>
            </a:r>
          </a:p>
          <a:p xmlns:a="http://schemas.openxmlformats.org/drawingml/2006/main">
            <a:pPr>
              <a:lnSpc>
                <a:spcPct val="100000"/>
              </a:lnSpc>
              <a:buNone/>
              <a:defRPr sz="840">
                <a:solidFill>
                  <a:srgbClr val="EDF6FA"/>
                </a:solidFill>
                <a:latin typeface="Cascadia Mono"/>
                <a:ea typeface="Cascadia Mono"/>
                <a:cs typeface="Cascadia Mono"/>
              </a:defRPr>
            </a:pPr>
            <a:r>
              <a:rPr sz="840">
                <a:solidFill>
                  <a:srgbClr val="EDF6FA"/>
                </a:solidFill>
                <a:latin typeface="Cascadia Mono"/>
                <a:ea typeface="Cascadia Mono"/>
                <a:cs typeface="Cascadia Mono"/>
              </a:rPr>
              <a:t>git push origin main</a:t>
            </a:r>
          </a:p>
        </p:txBody>
      </p:sp>
      <p:sp>
        <p:nvSpPr>
          <p:cNvPr id="13" name="">
            <a:extLst xmlns:a="http://schemas.openxmlformats.org/drawingml/2006/main">
              <a:ext uri="{FF2B5EF4-FFF2-40B4-BE49-F238E27FC236}">
                <a16:creationId xmlns:a16="http://schemas.microsoft.com/office/drawing/2014/main" id="{7A6CBB36-7E6B-46AC-A110-2C496FC77A2C}"/>
              </a:ext>
            </a:extLst>
          </p:cNvPr>
          <p:cNvSpPr>
            <a:spLocks xmlns:a="http://schemas.openxmlformats.org/drawingml/2006/main" noGrp="1"/>
          </p:cNvSpPr>
          <p:nvPr/>
        </p:nvSpPr>
        <p:spPr>
          <a:xfrm xmlns:a="http://schemas.openxmlformats.org/drawingml/2006/main">
            <a:off x="7620000" y="1657350"/>
            <a:ext cx="3924300" cy="4000500"/>
          </a:xfrm>
          <a:prstGeom xmlns:a="http://schemas.openxmlformats.org/drawingml/2006/main" prst="roundRect">
            <a:avLst>
              <a:gd name="adj" fmla="val 1942"/>
            </a:avLst>
          </a:prstGeom>
          <a:solidFill xmlns:a="http://schemas.openxmlformats.org/drawingml/2006/main">
            <a:srgbClr val="FFFFFF"/>
          </a:solidFill>
          <a:ln xmlns:a="http://schemas.openxmlformats.org/drawingml/2006/main" w="11430">
            <a:solidFill>
              <a:srgbClr val="C9D8E1"/>
            </a:solidFill>
            <a:prstDash val="solid"/>
          </a:ln>
        </p:spPr>
      </p:sp>
      <p:sp>
        <p:nvSpPr>
          <p:cNvPr id="14" name="">
            <a:extLst xmlns:a="http://schemas.openxmlformats.org/drawingml/2006/main">
              <a:ext uri="{FF2B5EF4-FFF2-40B4-BE49-F238E27FC236}">
                <a16:creationId xmlns:a16="http://schemas.microsoft.com/office/drawing/2014/main" id="{43735B7F-2E85-4146-A3A3-142956A03D3A}"/>
              </a:ext>
            </a:extLst>
          </p:cNvPr>
          <p:cNvSpPr>
            <a:spLocks xmlns:a="http://schemas.openxmlformats.org/drawingml/2006/main" noGrp="1"/>
          </p:cNvSpPr>
          <p:nvPr/>
        </p:nvSpPr>
        <p:spPr>
          <a:xfrm xmlns:a="http://schemas.openxmlformats.org/drawingml/2006/main">
            <a:off x="7905750" y="19621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復元後の4証拠</a:t>
            </a:r>
          </a:p>
        </p:txBody>
      </p:sp>
      <p:sp>
        <p:nvSpPr>
          <p:cNvPr id="15" name="">
            <a:extLst xmlns:a="http://schemas.openxmlformats.org/drawingml/2006/main">
              <a:ext uri="{FF2B5EF4-FFF2-40B4-BE49-F238E27FC236}">
                <a16:creationId xmlns:a16="http://schemas.microsoft.com/office/drawing/2014/main" id="{49FDF9CE-562A-4125-81F2-BFD48683E343}"/>
              </a:ext>
            </a:extLst>
          </p:cNvPr>
          <p:cNvSpPr>
            <a:spLocks xmlns:a="http://schemas.openxmlformats.org/drawingml/2006/main" noGrp="1"/>
          </p:cNvSpPr>
          <p:nvPr/>
        </p:nvSpPr>
        <p:spPr>
          <a:xfrm xmlns:a="http://schemas.openxmlformats.org/drawingml/2006/main">
            <a:off x="7905750" y="2705100"/>
            <a:ext cx="33528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1  frontend-designがない</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2  /grill-me と /find-skillsは残る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3  11 commitsを1件のrevert commitで戻す</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4  公開URLが準備ページへ戻る</a:t>
            </a:r>
          </a:p>
          <a:p xmlns:a="http://schemas.openxmlformats.org/drawingml/2006/main">
            <a:r>
              <a:t/>
            </a:r>
          </a:p>
          <a:p xmlns:a="http://schemas.openxmlformats.org/drawingml/2006/main">
            <a:pPr>
              <a:defRPr sz="1238" b="1">
                <a:solidFill>
                  <a:srgbClr val="17242B"/>
                </a:solidFill>
                <a:latin typeface="Yu Gothic UI"/>
                <a:ea typeface="Yu Gothic UI"/>
                <a:cs typeface="Yu Gothic UI"/>
              </a:defRPr>
            </a:pPr>
            <a:r>
              <a:rPr sz="1238" b="1">
                <a:solidFill>
                  <a:srgbClr val="17242B"/>
                </a:solidFill>
                <a:latin typeface="Yu Gothic UI"/>
                <a:ea typeface="Yu Gothic UI"/>
                <a:cs typeface="Yu Gothic UI"/>
              </a:rPr>
              <a:t>5  git status --short が空</a:t>
            </a:r>
          </a:p>
        </p:txBody>
      </p:sp>
      <p:sp>
        <p:nvSpPr>
          <p:cNvPr id="16" name="">
            <a:extLst xmlns:a="http://schemas.openxmlformats.org/drawingml/2006/main">
              <a:ext uri="{FF2B5EF4-FFF2-40B4-BE49-F238E27FC236}">
                <a16:creationId xmlns:a16="http://schemas.microsoft.com/office/drawing/2014/main" id="{89BFE3DE-5580-4FB5-BB5E-8200B786500B}"/>
              </a:ext>
            </a:extLst>
          </p:cNvPr>
          <p:cNvSpPr>
            <a:spLocks xmlns:a="http://schemas.openxmlformats.org/drawingml/2006/main" noGrp="1"/>
          </p:cNvSpPr>
          <p:nvPr/>
        </p:nvSpPr>
        <p:spPr>
          <a:xfrm xmlns:a="http://schemas.openxmlformats.org/drawingml/2006/main">
            <a:off x="7905750" y="5219700"/>
            <a:ext cx="3352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b="1">
                <a:solidFill>
                  <a:srgbClr val="EF7E00"/>
                </a:solidFill>
                <a:latin typeface="Yu Gothic UI"/>
                <a:ea typeface="Yu Gothic UI"/>
                <a:cs typeface="Yu Gothic UI"/>
              </a:defRPr>
            </a:pPr>
            <a:r>
              <a:rPr sz="975" b="1">
                <a:solidFill>
                  <a:srgbClr val="EF7E00"/>
                </a:solidFill>
                <a:latin typeface="Yu Gothic UI"/>
                <a:ea typeface="Yu Gothic UI"/>
                <a:cs typeface="Yu Gothic UI"/>
              </a:rPr>
              <a:t>reset --hard / force push は使わない</a:t>
            </a:r>
          </a:p>
        </p:txBody>
      </p:sp>
    </p:spTree>
    <p:extLst>
      <p:ext uri="{BB962C8B-B14F-4D97-AF65-F5344CB8AC3E}">
        <p14:creationId xmlns:p14="http://schemas.microsoft.com/office/powerpoint/2010/main" val="101826840"/>
      </p:ext>
    </p:extLst>
  </p:cSld>
</p:sld>
</file>

<file path=ppt/slides/slide2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90-SECOND RECOVERY  |  FAILBACK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止まったら理由を短く伝え、完成済み成果物で流れを続けます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29 / 30</a:t>
            </a:r>
          </a:p>
        </p:txBody>
      </p:sp>
      <p:sp>
        <p:nvSpPr>
          <p:cNvPr id="10" name="">
            <a:extLst xmlns:a="http://schemas.openxmlformats.org/drawingml/2006/main">
              <a:ext uri="{FF2B5EF4-FFF2-40B4-BE49-F238E27FC236}">
                <a16:creationId xmlns:a16="http://schemas.microsoft.com/office/drawing/2014/main" id="{243F7D93-F33E-4CF4-AFD4-81431B69266B}"/>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E5045C81-7BE2-4CBF-ABFB-DD549312BE7E}"/>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90 sec</a:t>
            </a:r>
          </a:p>
        </p:txBody>
      </p:sp>
      <p:sp>
        <p:nvSpPr>
          <p:cNvPr id="12" name="">
            <a:extLst xmlns:a="http://schemas.openxmlformats.org/drawingml/2006/main">
              <a:ext uri="{FF2B5EF4-FFF2-40B4-BE49-F238E27FC236}">
                <a16:creationId xmlns:a16="http://schemas.microsoft.com/office/drawing/2014/main" id="{6DEC07EE-6719-44F8-99F0-356C72A009F7}"/>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9FBBF56-4151-4A59-A020-428BEE2AEDDF}"/>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11"/>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SKILL SEARCH</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既知候補frontend-designを説明</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INSTALL</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事前のlist / SKILL.md画面へ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BUILD / BROWSER</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output/の完成済み成果物へ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MCP</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『読み取り確認は省略』</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PAGES / Q&amp;A</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実リハーサルURLとcommit evidenceへ</a:t>
            </a:r>
          </a:p>
        </p:txBody>
      </p:sp>
      <p:sp>
        <p:nvSpPr>
          <p:cNvPr id="14" name="">
            <a:extLst xmlns:a="http://schemas.openxmlformats.org/drawingml/2006/main">
              <a:ext uri="{FF2B5EF4-FFF2-40B4-BE49-F238E27FC236}">
                <a16:creationId xmlns:a16="http://schemas.microsoft.com/office/drawing/2014/main" id="{CC8B6A0A-9DDC-4AA3-A2DD-8ED165920410}"/>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B03D713-B3EE-4EEC-B21E-0D3CD150E2C7}"/>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会場でやらないこと</a:t>
            </a:r>
          </a:p>
        </p:txBody>
      </p:sp>
      <p:sp>
        <p:nvSpPr>
          <p:cNvPr id="16" name="">
            <a:extLst xmlns:a="http://schemas.openxmlformats.org/drawingml/2006/main">
              <a:ext uri="{FF2B5EF4-FFF2-40B4-BE49-F238E27FC236}">
                <a16:creationId xmlns:a16="http://schemas.microsoft.com/office/drawing/2014/main" id="{8F0DAC8E-B3BB-4070-8C31-EBCFC886C851}"/>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5229937-5A97-4874-95CD-937E83955DF2}"/>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global Skill install</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MCPの新規認証</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本番repo / 本番URL変更</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secretの入力・表示</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force push / reset --hard</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その場の大幅な要件変更</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観客へ伝える</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『安全な境界を守ることも、AIエージェント運用の一部です』</a:t>
            </a:r>
          </a:p>
        </p:txBody>
      </p:sp>
    </p:spTree>
    <p:extLst>
      <p:ext uri="{BB962C8B-B14F-4D97-AF65-F5344CB8AC3E}">
        <p14:creationId xmlns:p14="http://schemas.microsoft.com/office/powerpoint/2010/main" val="101826840"/>
      </p:ext>
    </p:extLst>
  </p:cSld>
</p:sld>
</file>

<file path=ppt/slides/slide3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TAKEAWAY  |  Q&amp;A</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AIエージェントは、目的・能力・接続・証拠・承認で使いこなします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30 / 30</a:t>
            </a:r>
          </a:p>
        </p:txBody>
      </p:sp>
      <p:sp>
        <p:nvSpPr>
          <p:cNvPr id="10" name="">
            <a:extLst xmlns:a="http://schemas.openxmlformats.org/drawingml/2006/main">
              <a:ext uri="{FF2B5EF4-FFF2-40B4-BE49-F238E27FC236}">
                <a16:creationId xmlns:a16="http://schemas.microsoft.com/office/drawing/2014/main" id="{521B90F4-375F-4831-A3BA-6436AA5EA7B3}"/>
              </a:ext>
            </a:extLst>
          </p:cNvPr>
          <p:cNvSpPr>
            <a:spLocks xmlns:a="http://schemas.openxmlformats.org/drawingml/2006/main" noGrp="1"/>
          </p:cNvSpPr>
          <p:nvPr/>
        </p:nvSpPr>
        <p:spPr>
          <a:xfrm xmlns:a="http://schemas.openxmlformats.org/drawingml/2006/main">
            <a:off x="6477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932FCFA9-DBC0-42EA-8F95-5401FE426DC2}"/>
              </a:ext>
            </a:extLst>
          </p:cNvPr>
          <p:cNvSpPr>
            <a:spLocks xmlns:a="http://schemas.openxmlformats.org/drawingml/2006/main" noGrp="1"/>
          </p:cNvSpPr>
          <p:nvPr/>
        </p:nvSpPr>
        <p:spPr>
          <a:xfrm xmlns:a="http://schemas.openxmlformats.org/drawingml/2006/main">
            <a:off x="647700"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E9A72C-9D14-4797-B0FA-9EBA828D07CB}"/>
              </a:ext>
            </a:extLst>
          </p:cNvPr>
          <p:cNvSpPr>
            <a:spLocks xmlns:a="http://schemas.openxmlformats.org/drawingml/2006/main" noGrp="1"/>
          </p:cNvSpPr>
          <p:nvPr/>
        </p:nvSpPr>
        <p:spPr>
          <a:xfrm xmlns:a="http://schemas.openxmlformats.org/drawingml/2006/main">
            <a:off x="8191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A6FAFD57-0C02-415F-8354-117022A5C93A}"/>
              </a:ext>
            </a:extLst>
          </p:cNvPr>
          <p:cNvSpPr>
            <a:spLocks xmlns:a="http://schemas.openxmlformats.org/drawingml/2006/main" noGrp="1"/>
          </p:cNvSpPr>
          <p:nvPr/>
        </p:nvSpPr>
        <p:spPr>
          <a:xfrm xmlns:a="http://schemas.openxmlformats.org/drawingml/2006/main">
            <a:off x="8191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Purpose</a:t>
            </a:r>
          </a:p>
        </p:txBody>
      </p:sp>
      <p:sp>
        <p:nvSpPr>
          <p:cNvPr id="14" name="">
            <a:extLst xmlns:a="http://schemas.openxmlformats.org/drawingml/2006/main">
              <a:ext uri="{FF2B5EF4-FFF2-40B4-BE49-F238E27FC236}">
                <a16:creationId xmlns:a16="http://schemas.microsoft.com/office/drawing/2014/main" id="{A89FCB76-69E7-4EE5-AD1F-A9814C7767F7}"/>
              </a:ext>
            </a:extLst>
          </p:cNvPr>
          <p:cNvSpPr>
            <a:spLocks xmlns:a="http://schemas.openxmlformats.org/drawingml/2006/main" noGrp="1"/>
          </p:cNvSpPr>
          <p:nvPr/>
        </p:nvSpPr>
        <p:spPr>
          <a:xfrm xmlns:a="http://schemas.openxmlformats.org/drawingml/2006/main">
            <a:off x="8191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人が目的と境界を決める</a:t>
            </a:r>
          </a:p>
        </p:txBody>
      </p:sp>
      <p:sp>
        <p:nvSpPr>
          <p:cNvPr id="15" name="">
            <a:extLst xmlns:a="http://schemas.openxmlformats.org/drawingml/2006/main">
              <a:ext uri="{FF2B5EF4-FFF2-40B4-BE49-F238E27FC236}">
                <a16:creationId xmlns:a16="http://schemas.microsoft.com/office/drawing/2014/main" id="{239D1D8D-2403-41CC-8566-9A34BBA71A73}"/>
              </a:ext>
            </a:extLst>
          </p:cNvPr>
          <p:cNvSpPr>
            <a:spLocks xmlns:a="http://schemas.openxmlformats.org/drawingml/2006/main" noGrp="1"/>
          </p:cNvSpPr>
          <p:nvPr/>
        </p:nvSpPr>
        <p:spPr>
          <a:xfrm xmlns:a="http://schemas.openxmlformats.org/drawingml/2006/main">
            <a:off x="24860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E972CE06-FA91-4FDB-B290-BF57DF0B3996}"/>
              </a:ext>
            </a:extLst>
          </p:cNvPr>
          <p:cNvSpPr>
            <a:spLocks xmlns:a="http://schemas.openxmlformats.org/drawingml/2006/main" noGrp="1"/>
          </p:cNvSpPr>
          <p:nvPr/>
        </p:nvSpPr>
        <p:spPr>
          <a:xfrm xmlns:a="http://schemas.openxmlformats.org/drawingml/2006/main">
            <a:off x="2486025"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4FB1BD2-E763-4C2C-91E7-5241030CA021}"/>
              </a:ext>
            </a:extLst>
          </p:cNvPr>
          <p:cNvSpPr>
            <a:spLocks xmlns:a="http://schemas.openxmlformats.org/drawingml/2006/main" noGrp="1"/>
          </p:cNvSpPr>
          <p:nvPr/>
        </p:nvSpPr>
        <p:spPr>
          <a:xfrm xmlns:a="http://schemas.openxmlformats.org/drawingml/2006/main">
            <a:off x="26574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A3E8E288-4E6F-4E18-BCF0-E6B6814909F6}"/>
              </a:ext>
            </a:extLst>
          </p:cNvPr>
          <p:cNvSpPr>
            <a:spLocks xmlns:a="http://schemas.openxmlformats.org/drawingml/2006/main" noGrp="1"/>
          </p:cNvSpPr>
          <p:nvPr/>
        </p:nvSpPr>
        <p:spPr>
          <a:xfrm xmlns:a="http://schemas.openxmlformats.org/drawingml/2006/main">
            <a:off x="26574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Instructions</a:t>
            </a:r>
          </a:p>
        </p:txBody>
      </p:sp>
      <p:sp>
        <p:nvSpPr>
          <p:cNvPr id="19" name="">
            <a:extLst xmlns:a="http://schemas.openxmlformats.org/drawingml/2006/main">
              <a:ext uri="{FF2B5EF4-FFF2-40B4-BE49-F238E27FC236}">
                <a16:creationId xmlns:a16="http://schemas.microsoft.com/office/drawing/2014/main" id="{FBF67180-65AB-4091-8841-737EAB76420B}"/>
              </a:ext>
            </a:extLst>
          </p:cNvPr>
          <p:cNvSpPr>
            <a:spLocks xmlns:a="http://schemas.openxmlformats.org/drawingml/2006/main" noGrp="1"/>
          </p:cNvSpPr>
          <p:nvPr/>
        </p:nvSpPr>
        <p:spPr>
          <a:xfrm xmlns:a="http://schemas.openxmlformats.org/drawingml/2006/main">
            <a:off x="26574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Rules / Steering / AGENTS.md</a:t>
            </a:r>
          </a:p>
        </p:txBody>
      </p:sp>
      <p:sp>
        <p:nvSpPr>
          <p:cNvPr id="20" name="">
            <a:extLst xmlns:a="http://schemas.openxmlformats.org/drawingml/2006/main">
              <a:ext uri="{FF2B5EF4-FFF2-40B4-BE49-F238E27FC236}">
                <a16:creationId xmlns:a16="http://schemas.microsoft.com/office/drawing/2014/main" id="{06E3236B-5D79-400C-A9A5-858B118DDA05}"/>
              </a:ext>
            </a:extLst>
          </p:cNvPr>
          <p:cNvSpPr>
            <a:spLocks xmlns:a="http://schemas.openxmlformats.org/drawingml/2006/main" noGrp="1"/>
          </p:cNvSpPr>
          <p:nvPr/>
        </p:nvSpPr>
        <p:spPr>
          <a:xfrm xmlns:a="http://schemas.openxmlformats.org/drawingml/2006/main">
            <a:off x="432435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78B01B97-F8BF-493C-BE8D-F212018B97AC}"/>
              </a:ext>
            </a:extLst>
          </p:cNvPr>
          <p:cNvSpPr>
            <a:spLocks xmlns:a="http://schemas.openxmlformats.org/drawingml/2006/main" noGrp="1"/>
          </p:cNvSpPr>
          <p:nvPr/>
        </p:nvSpPr>
        <p:spPr>
          <a:xfrm xmlns:a="http://schemas.openxmlformats.org/drawingml/2006/main">
            <a:off x="4324350"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68C4E81-3F61-48D9-9053-465B8F4B8345}"/>
              </a:ext>
            </a:extLst>
          </p:cNvPr>
          <p:cNvSpPr>
            <a:spLocks xmlns:a="http://schemas.openxmlformats.org/drawingml/2006/main" noGrp="1"/>
          </p:cNvSpPr>
          <p:nvPr/>
        </p:nvSpPr>
        <p:spPr>
          <a:xfrm xmlns:a="http://schemas.openxmlformats.org/drawingml/2006/main">
            <a:off x="449580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113338E8-3FD2-4825-BFED-90860A4A0C55}"/>
              </a:ext>
            </a:extLst>
          </p:cNvPr>
          <p:cNvSpPr>
            <a:spLocks xmlns:a="http://schemas.openxmlformats.org/drawingml/2006/main" noGrp="1"/>
          </p:cNvSpPr>
          <p:nvPr/>
        </p:nvSpPr>
        <p:spPr>
          <a:xfrm xmlns:a="http://schemas.openxmlformats.org/drawingml/2006/main">
            <a:off x="449580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Skills</a:t>
            </a:r>
          </a:p>
        </p:txBody>
      </p:sp>
      <p:sp>
        <p:nvSpPr>
          <p:cNvPr id="24" name="">
            <a:extLst xmlns:a="http://schemas.openxmlformats.org/drawingml/2006/main">
              <a:ext uri="{FF2B5EF4-FFF2-40B4-BE49-F238E27FC236}">
                <a16:creationId xmlns:a16="http://schemas.microsoft.com/office/drawing/2014/main" id="{FCE711CB-6A41-4728-9300-DFB70CA97B04}"/>
              </a:ext>
            </a:extLst>
          </p:cNvPr>
          <p:cNvSpPr>
            <a:spLocks xmlns:a="http://schemas.openxmlformats.org/drawingml/2006/main" noGrp="1"/>
          </p:cNvSpPr>
          <p:nvPr/>
        </p:nvSpPr>
        <p:spPr>
          <a:xfrm xmlns:a="http://schemas.openxmlformats.org/drawingml/2006/main">
            <a:off x="449580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専門能力を必要時に追加</a:t>
            </a:r>
          </a:p>
        </p:txBody>
      </p:sp>
      <p:sp>
        <p:nvSpPr>
          <p:cNvPr id="25" name="">
            <a:extLst xmlns:a="http://schemas.openxmlformats.org/drawingml/2006/main">
              <a:ext uri="{FF2B5EF4-FFF2-40B4-BE49-F238E27FC236}">
                <a16:creationId xmlns:a16="http://schemas.microsoft.com/office/drawing/2014/main" id="{892FA6AD-5FC7-4BEA-861D-646D33902A92}"/>
              </a:ext>
            </a:extLst>
          </p:cNvPr>
          <p:cNvSpPr>
            <a:spLocks xmlns:a="http://schemas.openxmlformats.org/drawingml/2006/main" noGrp="1"/>
          </p:cNvSpPr>
          <p:nvPr/>
        </p:nvSpPr>
        <p:spPr>
          <a:xfrm xmlns:a="http://schemas.openxmlformats.org/drawingml/2006/main">
            <a:off x="616267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444D360A-6819-47D2-82D2-CEF92B54423F}"/>
              </a:ext>
            </a:extLst>
          </p:cNvPr>
          <p:cNvSpPr>
            <a:spLocks xmlns:a="http://schemas.openxmlformats.org/drawingml/2006/main" noGrp="1"/>
          </p:cNvSpPr>
          <p:nvPr/>
        </p:nvSpPr>
        <p:spPr>
          <a:xfrm xmlns:a="http://schemas.openxmlformats.org/drawingml/2006/main">
            <a:off x="6162675"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FBDE3E2-C814-47C8-B0B7-EA52A17A0969}"/>
              </a:ext>
            </a:extLst>
          </p:cNvPr>
          <p:cNvSpPr>
            <a:spLocks xmlns:a="http://schemas.openxmlformats.org/drawingml/2006/main" noGrp="1"/>
          </p:cNvSpPr>
          <p:nvPr/>
        </p:nvSpPr>
        <p:spPr>
          <a:xfrm xmlns:a="http://schemas.openxmlformats.org/drawingml/2006/main">
            <a:off x="633412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8A49C077-7E6E-42A3-8899-9A2DB7A3D0A7}"/>
              </a:ext>
            </a:extLst>
          </p:cNvPr>
          <p:cNvSpPr>
            <a:spLocks xmlns:a="http://schemas.openxmlformats.org/drawingml/2006/main" noGrp="1"/>
          </p:cNvSpPr>
          <p:nvPr/>
        </p:nvSpPr>
        <p:spPr>
          <a:xfrm xmlns:a="http://schemas.openxmlformats.org/drawingml/2006/main">
            <a:off x="633412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a:t>
            </a:r>
          </a:p>
        </p:txBody>
      </p:sp>
      <p:sp>
        <p:nvSpPr>
          <p:cNvPr id="29" name="">
            <a:extLst xmlns:a="http://schemas.openxmlformats.org/drawingml/2006/main">
              <a:ext uri="{FF2B5EF4-FFF2-40B4-BE49-F238E27FC236}">
                <a16:creationId xmlns:a16="http://schemas.microsoft.com/office/drawing/2014/main" id="{296F6D1E-4E04-4137-93DA-79741FA17A96}"/>
              </a:ext>
            </a:extLst>
          </p:cNvPr>
          <p:cNvSpPr>
            <a:spLocks xmlns:a="http://schemas.openxmlformats.org/drawingml/2006/main" noGrp="1"/>
          </p:cNvSpPr>
          <p:nvPr/>
        </p:nvSpPr>
        <p:spPr>
          <a:xfrm xmlns:a="http://schemas.openxmlformats.org/drawingml/2006/main">
            <a:off x="633412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外部Toolへ権限を限定して接続</a:t>
            </a:r>
          </a:p>
        </p:txBody>
      </p:sp>
      <p:sp>
        <p:nvSpPr>
          <p:cNvPr id="30" name="">
            <a:extLst xmlns:a="http://schemas.openxmlformats.org/drawingml/2006/main">
              <a:ext uri="{FF2B5EF4-FFF2-40B4-BE49-F238E27FC236}">
                <a16:creationId xmlns:a16="http://schemas.microsoft.com/office/drawing/2014/main" id="{9C9D8AFF-B67C-4D69-B7E7-5A61A404E71A}"/>
              </a:ext>
            </a:extLst>
          </p:cNvPr>
          <p:cNvSpPr>
            <a:spLocks xmlns:a="http://schemas.openxmlformats.org/drawingml/2006/main" noGrp="1"/>
          </p:cNvSpPr>
          <p:nvPr/>
        </p:nvSpPr>
        <p:spPr>
          <a:xfrm xmlns:a="http://schemas.openxmlformats.org/drawingml/2006/main">
            <a:off x="80010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FAFF2082-4585-4578-A0EC-C0CBB7B81565}"/>
              </a:ext>
            </a:extLst>
          </p:cNvPr>
          <p:cNvSpPr>
            <a:spLocks xmlns:a="http://schemas.openxmlformats.org/drawingml/2006/main" noGrp="1"/>
          </p:cNvSpPr>
          <p:nvPr/>
        </p:nvSpPr>
        <p:spPr>
          <a:xfrm xmlns:a="http://schemas.openxmlformats.org/drawingml/2006/main">
            <a:off x="8001000"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BBF14D4-E6DC-4E0E-99F7-703082EEBF01}"/>
              </a:ext>
            </a:extLst>
          </p:cNvPr>
          <p:cNvSpPr>
            <a:spLocks xmlns:a="http://schemas.openxmlformats.org/drawingml/2006/main" noGrp="1"/>
          </p:cNvSpPr>
          <p:nvPr/>
        </p:nvSpPr>
        <p:spPr>
          <a:xfrm xmlns:a="http://schemas.openxmlformats.org/drawingml/2006/main">
            <a:off x="81724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10445489-5626-460C-84C7-0A37AC0F1559}"/>
              </a:ext>
            </a:extLst>
          </p:cNvPr>
          <p:cNvSpPr>
            <a:spLocks xmlns:a="http://schemas.openxmlformats.org/drawingml/2006/main" noGrp="1"/>
          </p:cNvSpPr>
          <p:nvPr/>
        </p:nvSpPr>
        <p:spPr>
          <a:xfrm xmlns:a="http://schemas.openxmlformats.org/drawingml/2006/main">
            <a:off x="81724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Artifacts</a:t>
            </a:r>
          </a:p>
        </p:txBody>
      </p:sp>
      <p:sp>
        <p:nvSpPr>
          <p:cNvPr id="34" name="">
            <a:extLst xmlns:a="http://schemas.openxmlformats.org/drawingml/2006/main">
              <a:ext uri="{FF2B5EF4-FFF2-40B4-BE49-F238E27FC236}">
                <a16:creationId xmlns:a16="http://schemas.microsoft.com/office/drawing/2014/main" id="{686A7328-F6DD-4024-8739-53F6E8D7DC62}"/>
              </a:ext>
            </a:extLst>
          </p:cNvPr>
          <p:cNvSpPr>
            <a:spLocks xmlns:a="http://schemas.openxmlformats.org/drawingml/2006/main" noGrp="1"/>
          </p:cNvSpPr>
          <p:nvPr/>
        </p:nvSpPr>
        <p:spPr>
          <a:xfrm xmlns:a="http://schemas.openxmlformats.org/drawingml/2006/main">
            <a:off x="81724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計画・差分・録画を確認</a:t>
            </a:r>
          </a:p>
        </p:txBody>
      </p:sp>
      <p:sp>
        <p:nvSpPr>
          <p:cNvPr id="35" name="">
            <a:extLst xmlns:a="http://schemas.openxmlformats.org/drawingml/2006/main">
              <a:ext uri="{FF2B5EF4-FFF2-40B4-BE49-F238E27FC236}">
                <a16:creationId xmlns:a16="http://schemas.microsoft.com/office/drawing/2014/main" id="{3C601D32-6337-4686-817C-29CD1720CA67}"/>
              </a:ext>
            </a:extLst>
          </p:cNvPr>
          <p:cNvSpPr>
            <a:spLocks xmlns:a="http://schemas.openxmlformats.org/drawingml/2006/main" noGrp="1"/>
          </p:cNvSpPr>
          <p:nvPr/>
        </p:nvSpPr>
        <p:spPr>
          <a:xfrm xmlns:a="http://schemas.openxmlformats.org/drawingml/2006/main">
            <a:off x="98393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6ED5785C-845E-496A-8B33-B9C1BE502089}"/>
              </a:ext>
            </a:extLst>
          </p:cNvPr>
          <p:cNvSpPr>
            <a:spLocks xmlns:a="http://schemas.openxmlformats.org/drawingml/2006/main" noGrp="1"/>
          </p:cNvSpPr>
          <p:nvPr/>
        </p:nvSpPr>
        <p:spPr>
          <a:xfrm xmlns:a="http://schemas.openxmlformats.org/drawingml/2006/main">
            <a:off x="9839325"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1B3C6297-A237-4305-8F46-356ABADA16D0}"/>
              </a:ext>
            </a:extLst>
          </p:cNvPr>
          <p:cNvSpPr>
            <a:spLocks xmlns:a="http://schemas.openxmlformats.org/drawingml/2006/main" noGrp="1"/>
          </p:cNvSpPr>
          <p:nvPr/>
        </p:nvSpPr>
        <p:spPr>
          <a:xfrm xmlns:a="http://schemas.openxmlformats.org/drawingml/2006/main">
            <a:off x="100107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9F2CB9D6-0CD8-4F5B-BE8F-6EB26E10D142}"/>
              </a:ext>
            </a:extLst>
          </p:cNvPr>
          <p:cNvSpPr>
            <a:spLocks xmlns:a="http://schemas.openxmlformats.org/drawingml/2006/main" noGrp="1"/>
          </p:cNvSpPr>
          <p:nvPr/>
        </p:nvSpPr>
        <p:spPr>
          <a:xfrm xmlns:a="http://schemas.openxmlformats.org/drawingml/2006/main">
            <a:off x="100107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Approval</a:t>
            </a:r>
          </a:p>
        </p:txBody>
      </p:sp>
      <p:sp>
        <p:nvSpPr>
          <p:cNvPr id="39" name="">
            <a:extLst xmlns:a="http://schemas.openxmlformats.org/drawingml/2006/main">
              <a:ext uri="{FF2B5EF4-FFF2-40B4-BE49-F238E27FC236}">
                <a16:creationId xmlns:a16="http://schemas.microsoft.com/office/drawing/2014/main" id="{B8DD75ED-D38E-4373-AFA8-09B945DC4069}"/>
              </a:ext>
            </a:extLst>
          </p:cNvPr>
          <p:cNvSpPr>
            <a:spLocks xmlns:a="http://schemas.openxmlformats.org/drawingml/2006/main" noGrp="1"/>
          </p:cNvSpPr>
          <p:nvPr/>
        </p:nvSpPr>
        <p:spPr>
          <a:xfrm xmlns:a="http://schemas.openxmlformats.org/drawingml/2006/main">
            <a:off x="100107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公開など重要操作は人が承認</a:t>
            </a:r>
          </a:p>
        </p:txBody>
      </p:sp>
      <p:sp>
        <p:nvSpPr>
          <p:cNvPr id="40" name="">
            <a:extLst xmlns:a="http://schemas.openxmlformats.org/drawingml/2006/main">
              <a:ext uri="{FF2B5EF4-FFF2-40B4-BE49-F238E27FC236}">
                <a16:creationId xmlns:a16="http://schemas.microsoft.com/office/drawing/2014/main" id="{E1BF1992-711C-4A47-A2B1-BE6742307077}"/>
              </a:ext>
            </a:extLst>
          </p:cNvPr>
          <p:cNvSpPr>
            <a:spLocks xmlns:a="http://schemas.openxmlformats.org/drawingml/2006/main" noGrp="1"/>
          </p:cNvSpPr>
          <p:nvPr/>
        </p:nvSpPr>
        <p:spPr>
          <a:xfrm xmlns:a="http://schemas.openxmlformats.org/drawingml/2006/main">
            <a:off x="1809750" y="4114800"/>
            <a:ext cx="8572500" cy="1162050"/>
          </a:xfrm>
          <a:prstGeom xmlns:a="http://schemas.openxmlformats.org/drawingml/2006/main" prst="roundRect">
            <a:avLst>
              <a:gd name="adj" fmla="val 6557"/>
            </a:avLst>
          </a:prstGeom>
          <a:solidFill xmlns:a="http://schemas.openxmlformats.org/drawingml/2006/main">
            <a:srgbClr val="071A2B"/>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CE1EF643-8340-4894-993B-6E1FF32E6D92}"/>
              </a:ext>
            </a:extLst>
          </p:cNvPr>
          <p:cNvSpPr>
            <a:spLocks xmlns:a="http://schemas.openxmlformats.org/drawingml/2006/main" noGrp="1"/>
          </p:cNvSpPr>
          <p:nvPr/>
        </p:nvSpPr>
        <p:spPr>
          <a:xfrm xmlns:a="http://schemas.openxmlformats.org/drawingml/2006/main">
            <a:off x="2190750" y="440055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725" b="1">
                <a:solidFill>
                  <a:srgbClr val="FFFFFF"/>
                </a:solidFill>
                <a:latin typeface="Yu Gothic UI"/>
                <a:ea typeface="Yu Gothic UI"/>
                <a:cs typeface="Yu Gothic UI"/>
              </a:defRPr>
            </a:pPr>
            <a:r>
              <a:rPr sz="1725" b="1">
                <a:solidFill>
                  <a:srgbClr val="FFFFFF"/>
                </a:solidFill>
                <a:latin typeface="Yu Gothic UI"/>
                <a:ea typeface="Yu Gothic UI"/>
                <a:cs typeface="Yu Gothic UI"/>
              </a:rPr>
              <a:t>小さく始める → 範囲を守る → 証拠を見る → 具体的に直す → 安全に共有する</a:t>
            </a:r>
          </a:p>
        </p:txBody>
      </p:sp>
      <p:sp>
        <p:nvSpPr>
          <p:cNvPr id="42" name="">
            <a:extLst xmlns:a="http://schemas.openxmlformats.org/drawingml/2006/main">
              <a:ext uri="{FF2B5EF4-FFF2-40B4-BE49-F238E27FC236}">
                <a16:creationId xmlns:a16="http://schemas.microsoft.com/office/drawing/2014/main" id="{C18F8986-1300-4C86-B166-DA65A48B2377}"/>
              </a:ext>
            </a:extLst>
          </p:cNvPr>
          <p:cNvSpPr>
            <a:spLocks xmlns:a="http://schemas.openxmlformats.org/drawingml/2006/main" noGrp="1"/>
          </p:cNvSpPr>
          <p:nvPr/>
        </p:nvSpPr>
        <p:spPr>
          <a:xfrm xmlns:a="http://schemas.openxmlformats.org/drawingml/2006/main">
            <a:off x="2190750" y="4895850"/>
            <a:ext cx="781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a:solidFill>
                  <a:srgbClr val="B9D6E4"/>
                </a:solidFill>
                <a:latin typeface="Yu Gothic UI"/>
                <a:ea typeface="Yu Gothic UI"/>
                <a:cs typeface="Yu Gothic UI"/>
              </a:defRPr>
            </a:pPr>
            <a:r>
              <a:rPr sz="1050">
                <a:solidFill>
                  <a:srgbClr val="B9D6E4"/>
                </a:solidFill>
                <a:latin typeface="Yu Gothic UI"/>
                <a:ea typeface="Yu Gothic UI"/>
                <a:cs typeface="Yu Gothic UI"/>
              </a:rPr>
              <a:t>Q&amp;Aでは公式動画 / Nano Banana実画像 / Visual Feedbackを選んで実演します</a:t>
            </a:r>
          </a:p>
        </p:txBody>
      </p:sp>
    </p:spTree>
    <p:extLst>
      <p:ext uri="{BB962C8B-B14F-4D97-AF65-F5344CB8AC3E}">
        <p14:creationId xmlns:p14="http://schemas.microsoft.com/office/powerpoint/2010/main" val="1018268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2026-08-09T14:35:27.5160000Z</dcterms:created>
  <dcterms:modified xsi:type="dcterms:W3CDTF">2026-08-09T14:35:27.5160000Z</dcterms:modified>
</coreProperties>
</file>