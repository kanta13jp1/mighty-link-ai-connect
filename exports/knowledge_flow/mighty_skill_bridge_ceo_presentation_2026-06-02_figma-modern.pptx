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 w="12700"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320040"/>
            <a:ext cx="457200" cy="3657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38912"/>
            <a:ext cx="731520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38BDF8"/>
                </a:solidFill>
                <a:latin typeface="Consolas"/>
              </a:rPr>
              <a:t>01  /  DECISION MEETING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694944"/>
            <a:ext cx="10789920" cy="5943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Plus Jakarta Sans"/>
              </a:rPr>
              <a:t>本日決めたいこと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46520"/>
            <a:ext cx="73152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Consolas"/>
              </a:rPr>
              <a:t>01 / 08   |   NotebookLM CLI outline · ID: 75521ea6...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46520"/>
            <a:ext cx="34747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Plus Jakarta Sans"/>
              </a:rPr>
              <a:t>Mighty Skill-Bridge  ·  CEO Decision Deck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371600"/>
            <a:ext cx="1069848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500" b="0">
                <a:solidFill>
                  <a:srgbClr val="94A3B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783080"/>
            <a:ext cx="3429000" cy="137160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68680" y="1947672"/>
            <a:ext cx="320040" cy="3657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2039112"/>
            <a:ext cx="309981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400" b="1">
                <a:solidFill>
                  <a:srgbClr val="38BDF8"/>
                </a:solidFill>
                <a:latin typeface="Plus Jakarta Sans"/>
              </a:rPr>
              <a:t>1 軸選択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478024"/>
            <a:ext cx="306324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Yu Gothic"/>
              </a:rPr>
              <a:t>サービス方向性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743200"/>
            <a:ext cx="306324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79976" y="1783080"/>
            <a:ext cx="3429000" cy="137160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62856" y="1947672"/>
            <a:ext cx="320040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4568" y="2039112"/>
            <a:ext cx="309981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400" b="1">
                <a:solidFill>
                  <a:srgbClr val="10B981"/>
                </a:solidFill>
                <a:latin typeface="Plus Jakarta Sans"/>
              </a:rPr>
              <a:t>4 候補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2856" y="2478024"/>
            <a:ext cx="306324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Yu Gothic"/>
              </a:rPr>
              <a:t>公式化する連携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62856" y="2743200"/>
            <a:ext cx="306324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74152" y="1783080"/>
            <a:ext cx="3429000" cy="137160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57031" y="1947672"/>
            <a:ext cx="320040" cy="3657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2039112"/>
            <a:ext cx="309981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400" b="1">
                <a:solidFill>
                  <a:srgbClr val="F59E0B"/>
                </a:solidFill>
                <a:latin typeface="Plus Jakarta Sans"/>
              </a:rPr>
              <a:t>即時同期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2478024"/>
            <a:ext cx="306324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Yu Gothic"/>
              </a:rPr>
              <a:t>打合せ後の反映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2743200"/>
            <a:ext cx="306324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3337560"/>
            <a:ext cx="10817352" cy="169164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68680" y="3493008"/>
            <a:ext cx="1188720" cy="292608"/>
          </a:xfrm>
          <a:prstGeom prst="roundRect">
            <a:avLst/>
          </a:prstGeom>
          <a:solidFill>
            <a:srgbClr val="0C2C48"/>
          </a:solidFill>
          <a:ln w="12700">
            <a:solidFill>
              <a:srgbClr val="0C2C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3529584"/>
            <a:ext cx="11887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会議の進め方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3858768"/>
            <a:ext cx="10424160" cy="10515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公開URLで動くデモと、Google Workspace同期の到達点を確認する。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NotebookLMが生成した論点を材料に、社長への質問を短く整理する。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未決事項は未決のまま残し、6/2後にWBSへ差し替える受け皿を用意する。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5800" y="5257800"/>
            <a:ext cx="10817352" cy="105156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8680" y="5422392"/>
            <a:ext cx="1097280" cy="292608"/>
          </a:xfrm>
          <a:prstGeom prst="roundRect">
            <a:avLst/>
          </a:prstGeom>
          <a:solidFill>
            <a:srgbClr val="0C2C48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5458968"/>
            <a:ext cx="109728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見せる証跡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20" y="5367528"/>
            <a:ext cx="9235440" cy="8229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CEO slide outline: exports/knowledge_flow/notebooklm_ceo_slide_outline.md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 w="12700"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320040"/>
            <a:ext cx="457200" cy="3657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38912"/>
            <a:ext cx="731520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38BDF8"/>
                </a:solidFill>
                <a:latin typeface="Consolas"/>
              </a:rPr>
              <a:t>02  /  PROTOTYPE &amp; GUARD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694944"/>
            <a:ext cx="10789920" cy="5943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Plus Jakarta Sans"/>
              </a:rPr>
              <a:t>現在の到達点と公開デモ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46520"/>
            <a:ext cx="73152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Consolas"/>
              </a:rPr>
              <a:t>02 / 08   |   NotebookLM CLI outline · ID: 75521ea6...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46520"/>
            <a:ext cx="34747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Plus Jakarta Sans"/>
              </a:rPr>
              <a:t>Mighty Skill-Bridge  ·  CEO Decision Deck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371600"/>
            <a:ext cx="1069848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500" b="0">
                <a:solidFill>
                  <a:srgbClr val="94A3B8"/>
                </a:solidFill>
                <a:latin typeface="Yu Gothic"/>
              </a:rPr>
              <a:t>社長に見せる公開URLは、UIデグレを防ぐ自動ガードを通して常時維持しています。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783080"/>
            <a:ext cx="3429000" cy="137160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68680" y="1947672"/>
            <a:ext cx="320040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2039112"/>
            <a:ext cx="309981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400" b="1">
                <a:solidFill>
                  <a:srgbClr val="10B981"/>
                </a:solidFill>
                <a:latin typeface="Plus Jakarta Sans"/>
              </a:rPr>
              <a:t>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478024"/>
            <a:ext cx="306324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Yu Gothic"/>
              </a:rPr>
              <a:t>Public Demo Guard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743200"/>
            <a:ext cx="306324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  <a:latin typeface="Yu Gothic"/>
              </a:rPr>
              <a:t>公開URLの健全性とE2E導線を検証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79976" y="1783080"/>
            <a:ext cx="3429000" cy="137160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62856" y="1947672"/>
            <a:ext cx="320040" cy="3657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4568" y="2039112"/>
            <a:ext cx="309981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400" b="1">
                <a:solidFill>
                  <a:srgbClr val="38BDF8"/>
                </a:solidFill>
                <a:latin typeface="Plus Jakarta Sans"/>
              </a:rPr>
              <a:t>LIVE / MOCK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2856" y="2478024"/>
            <a:ext cx="306324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Yu Gothic"/>
              </a:rPr>
              <a:t>AI Fallback Mode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62856" y="2743200"/>
            <a:ext cx="306324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  <a:latin typeface="Yu Gothic"/>
              </a:rPr>
              <a:t>Gemini quota中も停止しない二重構造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74152" y="1783080"/>
            <a:ext cx="3429000" cy="137160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57031" y="1947672"/>
            <a:ext cx="320040" cy="3657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2039112"/>
            <a:ext cx="309981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400" b="1">
                <a:solidFill>
                  <a:srgbClr val="F59E0B"/>
                </a:solidFill>
                <a:latin typeface="Plus Jakarta Sans"/>
              </a:rPr>
              <a:t>418 Tasks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2478024"/>
            <a:ext cx="306324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Yu Gothic"/>
              </a:rPr>
              <a:t>WBS Sync Target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2743200"/>
            <a:ext cx="306324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  <a:latin typeface="Yu Gothic"/>
              </a:rPr>
              <a:t>Sheets / Calendarへ完全双方向同期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3337560"/>
            <a:ext cx="10817352" cy="169164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68680" y="3493008"/>
            <a:ext cx="1371600" cy="292608"/>
          </a:xfrm>
          <a:prstGeom prst="roundRect">
            <a:avLst/>
          </a:prstGeom>
          <a:solidFill>
            <a:srgbClr val="062C21"/>
          </a:solidFill>
          <a:ln w="12700">
            <a:solidFill>
              <a:srgbClr val="062C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3529584"/>
            <a:ext cx="137160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10B981"/>
                </a:solidFill>
                <a:latin typeface="Plus Jakarta Sans"/>
              </a:rPr>
              <a:t>主要到達ポイント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3858768"/>
            <a:ext cx="10424160" cy="10515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経歴書・案件票から4軸フィット診断へ進むUI体験を維持。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Gemini制限中もdeterministic fallbackとCodexで自律開発を継続。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公開URLは社長共有済みのため、コミット・push前後のPublic Demo Guardを必須化。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5800" y="5257800"/>
            <a:ext cx="10817352" cy="105156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8680" y="5422392"/>
            <a:ext cx="1097280" cy="292608"/>
          </a:xfrm>
          <a:prstGeom prst="roundRect">
            <a:avLst/>
          </a:prstGeom>
          <a:solidFill>
            <a:srgbClr val="0C2C48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5458968"/>
            <a:ext cx="109728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見せる証跡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20" y="5367528"/>
            <a:ext cx="9235440" cy="8229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Public URL: https://kanta13jp1.github.io/mighty-link-ai-connect/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Guard script: scripts/verify_public_demo.py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 w="12700"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320040"/>
            <a:ext cx="457200" cy="3657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38912"/>
            <a:ext cx="731520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38BDF8"/>
                </a:solidFill>
                <a:latin typeface="Consolas"/>
              </a:rPr>
              <a:t>03  /  WORKSPACE OPERATING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694944"/>
            <a:ext cx="10789920" cy="5943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Plus Jakarta Sans"/>
              </a:rPr>
              <a:t>Google Workspaceで進捗が回る基盤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46520"/>
            <a:ext cx="73152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Consolas"/>
              </a:rPr>
              <a:t>03 / 08   |   NotebookLM CLI outline · ID: 75521ea6...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46520"/>
            <a:ext cx="34747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Plus Jakarta Sans"/>
              </a:rPr>
              <a:t>Mighty Skill-Bridge  ·  CEO Decision Deck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783080"/>
            <a:ext cx="1965960" cy="132588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1920240"/>
            <a:ext cx="50292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258568"/>
            <a:ext cx="1691639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Plus Jakarta Sans"/>
              </a:rPr>
              <a:t>Codex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532888"/>
            <a:ext cx="1691639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79192" y="2286000"/>
            <a:ext cx="3200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600" b="1">
                <a:solidFill>
                  <a:srgbClr val="38BDF8"/>
                </a:solidFill>
                <a:latin typeface="Consolas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98648" y="1783080"/>
            <a:ext cx="1965960" cy="132588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035808" y="1920240"/>
            <a:ext cx="50292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35808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6366F1"/>
                </a:solidFill>
                <a:latin typeface="Plus Jakarta Sans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35808" y="2258568"/>
            <a:ext cx="1691639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Plus Jakarta Sans"/>
              </a:rPr>
              <a:t>WBS.tsv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35808" y="2532888"/>
            <a:ext cx="1691639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Yu Gothic"/>
              </a:rPr>
              <a:t>日程と状態の主台帳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92040" y="2286000"/>
            <a:ext cx="3200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600" b="1">
                <a:solidFill>
                  <a:srgbClr val="38BDF8"/>
                </a:solidFill>
                <a:latin typeface="Consolas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11496" y="1783080"/>
            <a:ext cx="1965960" cy="132588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248656" y="1920240"/>
            <a:ext cx="50292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48656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10B981"/>
                </a:solidFill>
                <a:latin typeface="Plus Jakarta Sans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48656" y="2258568"/>
            <a:ext cx="1691639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Plus Jakarta Sans"/>
              </a:rPr>
              <a:t>Sheets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48656" y="2532888"/>
            <a:ext cx="1691639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Yu Gothic"/>
              </a:rPr>
              <a:t>CATS型WBS / Summary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04888" y="2286000"/>
            <a:ext cx="3200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600" b="1">
                <a:solidFill>
                  <a:srgbClr val="38BDF8"/>
                </a:solidFill>
                <a:latin typeface="Consolas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24344" y="1783080"/>
            <a:ext cx="1965960" cy="132588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461504" y="1920240"/>
            <a:ext cx="50292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61504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F59E0B"/>
                </a:solidFill>
                <a:latin typeface="Plus Jakarta Sans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61504" y="2258568"/>
            <a:ext cx="1691639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Plus Jakarta Sans"/>
              </a:rPr>
              <a:t>Calendar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61504" y="2532888"/>
            <a:ext cx="1691639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Yu Gothic"/>
              </a:rPr>
              <a:t>開発予定を自動同期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17736" y="2286000"/>
            <a:ext cx="3200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600" b="1">
                <a:solidFill>
                  <a:srgbClr val="38BDF8"/>
                </a:solidFill>
                <a:latin typeface="Consolas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537192" y="1783080"/>
            <a:ext cx="1965960" cy="132588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674352" y="1920240"/>
            <a:ext cx="50292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74352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F43F5E"/>
                </a:solidFill>
                <a:latin typeface="Plus Jakarta Sans"/>
              </a:rPr>
              <a:t>05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4352" y="2258568"/>
            <a:ext cx="1691639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Plus Jakarta Sans"/>
              </a:rPr>
              <a:t>Docs / Drive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74352" y="2532888"/>
            <a:ext cx="1691639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Yu Gothic"/>
              </a:rPr>
              <a:t>NotebookLM連携資料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85800" y="3337560"/>
            <a:ext cx="10817352" cy="169164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68680" y="3493008"/>
            <a:ext cx="1188720" cy="292608"/>
          </a:xfrm>
          <a:prstGeom prst="roundRect">
            <a:avLst/>
          </a:prstGeom>
          <a:solidFill>
            <a:srgbClr val="0C2C48"/>
          </a:solidFill>
          <a:ln w="12700">
            <a:solidFill>
              <a:srgbClr val="0C2C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8680" y="3529584"/>
            <a:ext cx="11887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運用ポリシー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" y="3858768"/>
            <a:ext cx="10424160" cy="10515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OAuth実行アカウントは k-umezawa@ml-mightylink.com に固定。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WBSはGoogle Sheetsへ、主要予定はGoogle Calendarへ自動同期・整理。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docs/配下はGoogle Docs化し、NotebookLM sourceとして再利用・知識化。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85800" y="5257800"/>
            <a:ext cx="10817352" cy="105156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68680" y="5422392"/>
            <a:ext cx="1097280" cy="292608"/>
          </a:xfrm>
          <a:prstGeom prst="roundRect">
            <a:avLst/>
          </a:prstGeom>
          <a:solidFill>
            <a:srgbClr val="0C2C48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58968"/>
            <a:ext cx="109728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見せる証跡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03120" y="5367528"/>
            <a:ext cx="9235440" cy="8229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Workspace account: k-umezawa@ml-mightylink.com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NotebookLM sources ready: 165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 w="12700"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320040"/>
            <a:ext cx="457200" cy="3657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38912"/>
            <a:ext cx="731520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38BDF8"/>
                </a:solidFill>
                <a:latin typeface="Consolas"/>
              </a:rPr>
              <a:t>04  /  KNOWLEDGE ECOSYSTEM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694944"/>
            <a:ext cx="10789920" cy="5943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Plus Jakarta Sans"/>
              </a:rPr>
              <a:t>開発ナレッジ連携の実績とデモ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46520"/>
            <a:ext cx="73152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Consolas"/>
              </a:rPr>
              <a:t>04 / 08   |   NotebookLM CLI outline · ID: 75521ea6...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46520"/>
            <a:ext cx="34747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Plus Jakarta Sans"/>
              </a:rPr>
              <a:t>Mighty Skill-Bridge  ·  CEO Decision Deck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783080"/>
            <a:ext cx="2560320" cy="210312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50392" y="1938528"/>
            <a:ext cx="1280160" cy="292608"/>
          </a:xfrm>
          <a:prstGeom prst="roundRect">
            <a:avLst/>
          </a:prstGeom>
          <a:solidFill>
            <a:srgbClr val="0C2C48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1975104"/>
            <a:ext cx="128016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公式同期完了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2359152"/>
            <a:ext cx="21945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F8FAFC"/>
                </a:solidFill>
                <a:latin typeface="Plus Jakarta Sans"/>
              </a:rPr>
              <a:t>NotebookLM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2724912"/>
            <a:ext cx="2194560" cy="10058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  <a:latin typeface="Yu Gothic"/>
              </a:rPr>
              <a:t>22 Sources Ready
Agent Brief / CEO Outline 取得済み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38144" y="1783080"/>
            <a:ext cx="2560320" cy="210312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02736" y="1938528"/>
            <a:ext cx="1280160" cy="292608"/>
          </a:xfrm>
          <a:prstGeom prst="roundRect">
            <a:avLst/>
          </a:prstGeom>
          <a:solidFill>
            <a:srgbClr val="35260A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02736" y="1975104"/>
            <a:ext cx="128016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F59E0B"/>
                </a:solidFill>
                <a:latin typeface="Plus Jakarta Sans"/>
              </a:rPr>
              <a:t>権限確認待ち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2736" y="2359152"/>
            <a:ext cx="21945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F8FAFC"/>
                </a:solidFill>
                <a:latin typeface="Plus Jakarta Sans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2736" y="2724912"/>
            <a:ext cx="2194560" cy="10058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0488" y="1783080"/>
            <a:ext cx="2560320" cy="210312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55079" y="1938528"/>
            <a:ext cx="1280160" cy="292608"/>
          </a:xfrm>
          <a:prstGeom prst="roundRect">
            <a:avLst/>
          </a:prstGeom>
          <a:solidFill>
            <a:srgbClr val="062C21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79" y="1975104"/>
            <a:ext cx="128016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10B981"/>
                </a:solidFill>
                <a:latin typeface="Plus Jakarta Sans"/>
              </a:rPr>
              <a:t>MCP実行済み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79" y="2359152"/>
            <a:ext cx="21945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F8FAFC"/>
                </a:solidFill>
                <a:latin typeface="Plus Jakarta Sans"/>
              </a:rPr>
              <a:t>Notion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79" y="2724912"/>
            <a:ext cx="2194560" cy="10058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  <a:latin typeface="Yu Gothic"/>
              </a:rPr>
              <a:t>証跡ページ作成済み
意思決定DB候補を管理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42832" y="1783080"/>
            <a:ext cx="2560320" cy="210312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107424" y="1938528"/>
            <a:ext cx="128016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07424" y="1975104"/>
            <a:ext cx="128016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94A3B8"/>
                </a:solidFill>
                <a:latin typeface="Plus Jakarta Sans"/>
              </a:rPr>
              <a:t>ローカル完了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07424" y="2359152"/>
            <a:ext cx="21945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F8FAFC"/>
                </a:solidFill>
                <a:latin typeface="Plus Jakarta Sans"/>
              </a:rPr>
              <a:t>Obsidian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07424" y="2724912"/>
            <a:ext cx="2194560" cy="10058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  <a:latin typeface="Yu Gothic"/>
              </a:rPr>
              <a:t>ローカルVault生成済み
ADR / Prompt / Meeting導線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5800" y="4069080"/>
            <a:ext cx="10817352" cy="100584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4160520"/>
            <a:ext cx="10424160" cy="8229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250">
                <a:solidFill>
                  <a:srgbClr val="94A3B8"/>
                </a:solidFill>
                <a:latin typeface="Yu Gothic"/>
              </a:rPr>
              <a:t>•  NotebookLMはプレゼン草案作成に使い、AIエージェントの開発入力としても活用。</a:t>
            </a:r>
          </a:p>
          <a:p>
            <a:pPr>
              <a:spcAft>
                <a:spcPts val="600"/>
              </a:spcAft>
            </a:pPr>
            <a:r>
              <a:rPr sz="1250">
                <a:solidFill>
                  <a:srgbClr val="94A3B8"/>
                </a:solidFill>
                <a:latin typeface="Yu Gothic"/>
              </a:rPr>
              <a:t>•  Slackは投稿先と共有範囲の社長確認後に実送信へ進める。</a:t>
            </a:r>
          </a:p>
          <a:p>
            <a:pPr>
              <a:spcAft>
                <a:spcPts val="600"/>
              </a:spcAft>
            </a:pPr>
            <a:r>
              <a:rPr sz="1250">
                <a:solidFill>
                  <a:srgbClr val="94A3B8"/>
                </a:solidFill>
                <a:latin typeface="Yu Gothic"/>
              </a:rPr>
              <a:t>•  Notionは議事録・意思決定・バックログ公式台帳、Obsidianはローカル思考メモとして棲み分け。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" y="5257800"/>
            <a:ext cx="10817352" cy="105156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68680" y="5422392"/>
            <a:ext cx="1097280" cy="292608"/>
          </a:xfrm>
          <a:prstGeom prst="roundRect">
            <a:avLst/>
          </a:prstGeom>
          <a:solidFill>
            <a:srgbClr val="0C2C48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5458968"/>
            <a:ext cx="109728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見せる証跡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03120" y="5367528"/>
            <a:ext cx="9235440" cy="8229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Notion evidence: https://www.notion.so/3671d736b9db818aaa33da0a5f1a3951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Slack draft: exports/knowledge_flow/slack_ceo_update.md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 w="12700"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320040"/>
            <a:ext cx="457200" cy="3657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38912"/>
            <a:ext cx="731520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38BDF8"/>
                </a:solidFill>
                <a:latin typeface="Consolas"/>
              </a:rPr>
              <a:t>05  /  AUTOMATED DECK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694944"/>
            <a:ext cx="10789920" cy="5943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Plus Jakarta Sans"/>
              </a:rPr>
              <a:t>NotebookLMからPPTXへ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46520"/>
            <a:ext cx="73152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Consolas"/>
              </a:rPr>
              <a:t>05 / 08   |   NotebookLM CLI outline · ID: 75521ea6...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46520"/>
            <a:ext cx="34747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Plus Jakarta Sans"/>
              </a:rPr>
              <a:t>Mighty Skill-Bridge  ·  CEO Decision Deck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783080"/>
            <a:ext cx="2468880" cy="132588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1920240"/>
            <a:ext cx="50292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258568"/>
            <a:ext cx="219456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Plus Jakarta Sans"/>
              </a:rPr>
              <a:t>docs/ + WBS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532888"/>
            <a:ext cx="219456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9544" y="2286000"/>
            <a:ext cx="3200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600" b="1">
                <a:solidFill>
                  <a:srgbClr val="38BDF8"/>
                </a:solidFill>
                <a:latin typeface="Consolas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56432" y="1783080"/>
            <a:ext cx="2468880" cy="132588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593591" y="1920240"/>
            <a:ext cx="50292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93591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6366F1"/>
                </a:solidFill>
                <a:latin typeface="Plus Jakarta Sans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93591" y="2258568"/>
            <a:ext cx="219456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Plus Jakarta Sans"/>
              </a:rPr>
              <a:t>Google Docs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93591" y="2532888"/>
            <a:ext cx="219456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Yu Gothic"/>
              </a:rPr>
              <a:t>Workspace所有22件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0175" y="2286000"/>
            <a:ext cx="3200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600" b="1">
                <a:solidFill>
                  <a:srgbClr val="38BDF8"/>
                </a:solidFill>
                <a:latin typeface="Consolas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27064" y="1783080"/>
            <a:ext cx="2468880" cy="132588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364224" y="1920240"/>
            <a:ext cx="50292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64224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10B981"/>
                </a:solidFill>
                <a:latin typeface="Plus Jakarta Sans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4224" y="2258568"/>
            <a:ext cx="219456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Plus Jakarta Sans"/>
              </a:rPr>
              <a:t>NotebookLM CLI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4224" y="2532888"/>
            <a:ext cx="219456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50808" y="2286000"/>
            <a:ext cx="3200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600" b="1">
                <a:solidFill>
                  <a:srgbClr val="38BDF8"/>
                </a:solidFill>
                <a:latin typeface="Consolas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97696" y="1783080"/>
            <a:ext cx="2468880" cy="132588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134856" y="1920240"/>
            <a:ext cx="50292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34856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F59E0B"/>
                </a:solidFill>
                <a:latin typeface="Plus Jakarta Sans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34856" y="2258568"/>
            <a:ext cx="219456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Plus Jakarta Sans"/>
              </a:rPr>
              <a:t>PowerPoint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34856" y="2532888"/>
            <a:ext cx="219456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Yu Gothic"/>
              </a:rPr>
              <a:t>社長説明用PPTX生成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" y="3337560"/>
            <a:ext cx="10817352" cy="169164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68680" y="3493008"/>
            <a:ext cx="1645920" cy="292608"/>
          </a:xfrm>
          <a:prstGeom prst="roundRect">
            <a:avLst/>
          </a:prstGeom>
          <a:solidFill>
            <a:srgbClr val="0C2C48"/>
          </a:solidFill>
          <a:ln w="12700">
            <a:solidFill>
              <a:srgbClr val="0C2C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3529584"/>
            <a:ext cx="1645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自動化パイプラインの特長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" y="3858768"/>
            <a:ext cx="10424160" cy="10515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NotebookLM CLIで取得したCEO Slide Outlineを、説明用PPTXのストーリー骨子に直接反映。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Figma Design Tokensに準拠したカラー・タイポグラフィ・カード構造でPPTXを自動生成。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編集可能なPowerPointファイルとして保存し、Google Driveへのアップロード対象化。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85800" y="5257800"/>
            <a:ext cx="10817352" cy="105156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68680" y="5422392"/>
            <a:ext cx="1097280" cy="292608"/>
          </a:xfrm>
          <a:prstGeom prst="roundRect">
            <a:avLst/>
          </a:prstGeom>
          <a:solidFill>
            <a:srgbClr val="0C2C48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5458968"/>
            <a:ext cx="109728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見せる証跡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03120" y="5367528"/>
            <a:ext cx="9235440" cy="8229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NotebookLM notebook: 75521ea6-6b9b-47b2-9508-50050d8ab2d5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Outline: exports/knowledge_flow/notebooklm_ceo_slide_outline.md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 w="12700"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320040"/>
            <a:ext cx="457200" cy="3657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38912"/>
            <a:ext cx="731520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38BDF8"/>
                </a:solidFill>
                <a:latin typeface="Consolas"/>
              </a:rPr>
              <a:t>06  /  STRATEGIC OPTIONS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694944"/>
            <a:ext cx="10789920" cy="5943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Plus Jakarta Sans"/>
              </a:rPr>
              <a:t>サービス方向性の選択肢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46520"/>
            <a:ext cx="73152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Consolas"/>
              </a:rPr>
              <a:t>06 / 08   |   NotebookLM CLI outline · ID: 75521ea6...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46520"/>
            <a:ext cx="34747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Plus Jakarta Sans"/>
              </a:rPr>
              <a:t>Mighty Skill-Bridge  ·  CEO Decision Deck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783080"/>
            <a:ext cx="3429000" cy="2286000"/>
          </a:xfrm>
          <a:prstGeom prst="roundRect">
            <a:avLst/>
          </a:prstGeom>
          <a:solidFill>
            <a:srgbClr val="151E2E"/>
          </a:solidFill>
          <a:ln w="2286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971800" y="1920240"/>
            <a:ext cx="960120" cy="292608"/>
          </a:xfrm>
          <a:prstGeom prst="roundRect">
            <a:avLst/>
          </a:prstGeom>
          <a:solidFill>
            <a:srgbClr val="0C2C4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71800" y="1956816"/>
            <a:ext cx="9601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★ 推薦初手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1965960"/>
            <a:ext cx="214884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500" b="1">
                <a:solidFill>
                  <a:srgbClr val="38BDF8"/>
                </a:solidFill>
                <a:latin typeface="Plus Jakarta Sans"/>
              </a:rPr>
              <a:t>A. AIフィット診断支援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2377440"/>
            <a:ext cx="77724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Plus Jakarta Sans"/>
              </a:rPr>
              <a:t>想定対象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359152"/>
            <a:ext cx="22860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>
                <a:solidFill>
                  <a:srgbClr val="F8FAFC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" y="2788920"/>
            <a:ext cx="77724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Plus Jakarta Sans"/>
              </a:rPr>
              <a:t>提供価値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2770632"/>
            <a:ext cx="228600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  <a:latin typeface="Yu Gothic"/>
              </a:rPr>
              <a:t>採用・SES・案件配属の工数を劇的に削減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" y="3291840"/>
            <a:ext cx="77724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Plus Jakarta Sans"/>
              </a:rPr>
              <a:t>最初の行動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3273552"/>
            <a:ext cx="228600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1">
                <a:solidFill>
                  <a:srgbClr val="10B981"/>
                </a:solidFill>
                <a:latin typeface="Yu Gothic"/>
              </a:rPr>
              <a:t>デモの診断体験とマッチング精度を磨く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79976" y="1783080"/>
            <a:ext cx="3429000" cy="228600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81144" y="1965960"/>
            <a:ext cx="214884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500" b="1">
                <a:solidFill>
                  <a:srgbClr val="38BDF8"/>
                </a:solidFill>
                <a:latin typeface="Plus Jakarta Sans"/>
              </a:rPr>
              <a:t>B. Workspace連携型PM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1144" y="2377440"/>
            <a:ext cx="77724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Plus Jakarta Sans"/>
              </a:rPr>
              <a:t>想定対象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40096" y="2359152"/>
            <a:ext cx="22860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>
                <a:solidFill>
                  <a:srgbClr val="F8FAFC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81144" y="2788920"/>
            <a:ext cx="77724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Plus Jakarta Sans"/>
              </a:rPr>
              <a:t>提供価値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40096" y="2770632"/>
            <a:ext cx="228600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  <a:latin typeface="Yu Gothic"/>
              </a:rPr>
              <a:t>進捗・報告・予定同期をワンストップ自動化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81144" y="3291840"/>
            <a:ext cx="77724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Plus Jakarta Sans"/>
              </a:rPr>
              <a:t>最初の行動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40096" y="3273552"/>
            <a:ext cx="228600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1">
                <a:solidFill>
                  <a:srgbClr val="10B981"/>
                </a:solidFill>
                <a:latin typeface="Yu Gothic"/>
              </a:rPr>
              <a:t>WBS/Calendar同期基盤をパッケージ化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74152" y="1783080"/>
            <a:ext cx="3429000" cy="228600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75320" y="1965960"/>
            <a:ext cx="214884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500" b="1">
                <a:solidFill>
                  <a:srgbClr val="38BDF8"/>
                </a:solidFill>
                <a:latin typeface="Plus Jakarta Sans"/>
              </a:rPr>
              <a:t>C. AI PoC高速構築支援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20" y="2377440"/>
            <a:ext cx="77724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Plus Jakarta Sans"/>
              </a:rPr>
              <a:t>想定対象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34272" y="2359152"/>
            <a:ext cx="22860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>
                <a:solidFill>
                  <a:srgbClr val="F8FAFC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2788920"/>
            <a:ext cx="77724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Plus Jakarta Sans"/>
              </a:rPr>
              <a:t>提供価値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34272" y="2770632"/>
            <a:ext cx="228600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  <a:latin typeface="Yu Gothic"/>
              </a:rPr>
              <a:t>検証回数と提案速度を2倍にする受託型支援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20" y="3291840"/>
            <a:ext cx="77724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Plus Jakarta Sans"/>
              </a:rPr>
              <a:t>最初の行動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34272" y="3273552"/>
            <a:ext cx="228600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1">
                <a:solidFill>
                  <a:srgbClr val="10B981"/>
                </a:solidFill>
                <a:latin typeface="Yu Gothic"/>
              </a:rPr>
              <a:t>NotebookLM/Docs連携テンプレートを型化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85800" y="4251960"/>
            <a:ext cx="10817352" cy="86868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4343400"/>
            <a:ext cx="10424160" cy="685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6/2では最初の適用業務と最初に見せる相手を1つ決定する。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正式企画は決め打ちせず、社長判断後にWBSとロードマップへ即時反映する。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85800" y="5257800"/>
            <a:ext cx="10817352" cy="105156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68680" y="5422392"/>
            <a:ext cx="1097280" cy="292608"/>
          </a:xfrm>
          <a:prstGeom prst="roundRect">
            <a:avLst/>
          </a:prstGeom>
          <a:solidFill>
            <a:srgbClr val="0C2C48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5458968"/>
            <a:ext cx="109728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03120" y="5367528"/>
            <a:ext cx="9235440" cy="8229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Decision pack: docs/CEO_PRESENTATION_DECISION_PACK_2026-06-02.md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 w="12700"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320040"/>
            <a:ext cx="457200" cy="3657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38912"/>
            <a:ext cx="731520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38BDF8"/>
                </a:solidFill>
                <a:latin typeface="Consolas"/>
              </a:rPr>
              <a:t>07  /  GOVERNANCE &amp; GUARDRAILS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694944"/>
            <a:ext cx="10789920" cy="5943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Plus Jakarta Sans"/>
              </a:rPr>
              <a:t>運用・リスク論点と未完了項目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46520"/>
            <a:ext cx="73152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Consolas"/>
              </a:rPr>
              <a:t>07 / 08   |   NotebookLM CLI outline · ID: 75521ea6...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46520"/>
            <a:ext cx="34747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Plus Jakarta Sans"/>
              </a:rPr>
              <a:t>Mighty Skill-Bridge  ·  CEO Decision Deck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691640"/>
            <a:ext cx="10817352" cy="411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64592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1">
                <a:solidFill>
                  <a:srgbClr val="38BDF8"/>
                </a:solidFill>
                <a:latin typeface="Plus Jakarta Sans"/>
              </a:rPr>
              <a:t>管理論点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783080"/>
            <a:ext cx="384048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1">
                <a:solidFill>
                  <a:srgbClr val="94A3B8"/>
                </a:solidFill>
                <a:latin typeface="Plus Jakarta Sans"/>
              </a:rPr>
              <a:t>現状ステータス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783080"/>
            <a:ext cx="438912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1">
                <a:solidFill>
                  <a:srgbClr val="10B981"/>
                </a:solidFill>
                <a:latin typeface="Plus Jakarta Sans"/>
              </a:rPr>
              <a:t>ガードレール / 次の扱い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194560"/>
            <a:ext cx="10817352" cy="566928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68680" y="2322576"/>
            <a:ext cx="146304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146304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10B981"/>
                </a:solidFill>
                <a:latin typeface="Plus Jakarta Sans"/>
              </a:rPr>
              <a:t>公開URL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2340864"/>
            <a:ext cx="3840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2340864"/>
            <a:ext cx="438912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F8FAFC"/>
                </a:solidFill>
                <a:latin typeface="Yu Gothic"/>
              </a:rPr>
              <a:t>Public Demo Guardをpush前後で必須実行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2852928"/>
            <a:ext cx="10817352" cy="566928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68680" y="2980944"/>
            <a:ext cx="146304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017520"/>
            <a:ext cx="146304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F59E0B"/>
                </a:solidFill>
                <a:latin typeface="Plus Jakarta Sans"/>
              </a:rPr>
              <a:t>Slack連携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2999232"/>
            <a:ext cx="3840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Yu Gothic"/>
              </a:rPr>
              <a:t>投稿先と共有範囲の承認が必要。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2999232"/>
            <a:ext cx="438912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F8FAFC"/>
                </a:solidFill>
                <a:latin typeface="Yu Gothic"/>
              </a:rPr>
              <a:t>承認後に公式コネクタで送信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3511296"/>
            <a:ext cx="10817352" cy="566928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8680" y="3639312"/>
            <a:ext cx="146304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3675888"/>
            <a:ext cx="146304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GitHub Project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3657600"/>
            <a:ext cx="3840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Yu Gothic"/>
              </a:rPr>
              <a:t>Project #1へWBS対象限定同期済み。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3657600"/>
            <a:ext cx="438912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F8FAFC"/>
                </a:solidFill>
                <a:latin typeface="Yu Gothic"/>
              </a:rPr>
              <a:t>完了・更新タスクだけを継続同期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4169664"/>
            <a:ext cx="10817352" cy="566928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68680" y="4297680"/>
            <a:ext cx="146304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4334256"/>
            <a:ext cx="146304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F43F5E"/>
                </a:solidFill>
                <a:latin typeface="Plus Jakarta Sans"/>
              </a:rPr>
              <a:t>外部投入情報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4315968"/>
            <a:ext cx="3840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0" y="4315968"/>
            <a:ext cx="438912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F8FAFC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5800" y="5257800"/>
            <a:ext cx="10817352" cy="105156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68680" y="5422392"/>
            <a:ext cx="1097280" cy="292608"/>
          </a:xfrm>
          <a:prstGeom prst="roundRect">
            <a:avLst/>
          </a:prstGeom>
          <a:solidFill>
            <a:srgbClr val="0C2C48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5458968"/>
            <a:ext cx="109728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見せる証跡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20" y="5367528"/>
            <a:ext cx="9235440" cy="8229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GitHub Project: Project #1 operational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WBS sync: scripts/sync_wbs_to_github.py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Slack: destination approval required before posting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 w="12700"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320040"/>
            <a:ext cx="457200" cy="3657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38912"/>
            <a:ext cx="731520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38BDF8"/>
                </a:solidFill>
                <a:latin typeface="Consolas"/>
              </a:rPr>
              <a:t>08  /  EXECUTION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694944"/>
            <a:ext cx="10789920" cy="5943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Plus Jakarta Sans"/>
              </a:rPr>
              <a:t>次アクションとWBSへの即時反映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46520"/>
            <a:ext cx="73152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Consolas"/>
              </a:rPr>
              <a:t>08 / 08   |   NotebookLM CLI outline · ID: 75521ea6...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46520"/>
            <a:ext cx="34747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Plus Jakarta Sans"/>
              </a:rPr>
              <a:t>Mighty Skill-Bridge  ·  CEO Decision Deck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783080"/>
            <a:ext cx="1965960" cy="132588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1920240"/>
            <a:ext cx="50292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258568"/>
            <a:ext cx="1691639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Plus Jakarta Sans"/>
              </a:rPr>
              <a:t>PPTX生成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532888"/>
            <a:ext cx="1691639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79192" y="2286000"/>
            <a:ext cx="3200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600" b="1">
                <a:solidFill>
                  <a:srgbClr val="38BDF8"/>
                </a:solidFill>
                <a:latin typeface="Consolas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98648" y="1783080"/>
            <a:ext cx="1965960" cy="132588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035808" y="1920240"/>
            <a:ext cx="50292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35808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6366F1"/>
                </a:solidFill>
                <a:latin typeface="Plus Jakarta Sans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35808" y="2258568"/>
            <a:ext cx="1691639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Plus Jakarta Sans"/>
              </a:rPr>
              <a:t>権限確認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35808" y="2532888"/>
            <a:ext cx="1691639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92040" y="2286000"/>
            <a:ext cx="3200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600" b="1">
                <a:solidFill>
                  <a:srgbClr val="38BDF8"/>
                </a:solidFill>
                <a:latin typeface="Consolas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11496" y="1783080"/>
            <a:ext cx="1965960" cy="132588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248656" y="1920240"/>
            <a:ext cx="50292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48656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10B981"/>
                </a:solidFill>
                <a:latin typeface="Plus Jakarta Sans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48656" y="2258568"/>
            <a:ext cx="1691639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Plus Jakarta Sans"/>
              </a:rPr>
              <a:t>判断材料レビュー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48656" y="2532888"/>
            <a:ext cx="1691639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04888" y="2286000"/>
            <a:ext cx="3200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600" b="1">
                <a:solidFill>
                  <a:srgbClr val="38BDF8"/>
                </a:solidFill>
                <a:latin typeface="Consolas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24344" y="1783080"/>
            <a:ext cx="1965960" cy="132588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461504" y="1920240"/>
            <a:ext cx="50292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61504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F59E0B"/>
                </a:solidFill>
                <a:latin typeface="Plus Jakarta Sans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61504" y="2258568"/>
            <a:ext cx="1691639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Plus Jakarta Sans"/>
              </a:rPr>
              <a:t>最終リハーサル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61504" y="2532888"/>
            <a:ext cx="1691639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Yu Gothic"/>
              </a:rPr>
              <a:t>公開URL / WBS / 資料の確認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17736" y="2286000"/>
            <a:ext cx="3200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600" b="1">
                <a:solidFill>
                  <a:srgbClr val="38BDF8"/>
                </a:solidFill>
                <a:latin typeface="Consolas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537192" y="1783080"/>
            <a:ext cx="1965960" cy="132588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674352" y="1920240"/>
            <a:ext cx="50292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74352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F43F5E"/>
                </a:solidFill>
                <a:latin typeface="Plus Jakarta Sans"/>
              </a:rPr>
              <a:t>05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4352" y="2258568"/>
            <a:ext cx="1691639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Plus Jakarta Sans"/>
              </a:rPr>
              <a:t>社長判断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74352" y="2532888"/>
            <a:ext cx="1691639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85800" y="3337560"/>
            <a:ext cx="10817352" cy="169164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68680" y="3493008"/>
            <a:ext cx="1188720" cy="292608"/>
          </a:xfrm>
          <a:prstGeom prst="roundRect">
            <a:avLst/>
          </a:prstGeom>
          <a:solidFill>
            <a:srgbClr val="0C2C48"/>
          </a:solidFill>
          <a:ln w="12700">
            <a:solidFill>
              <a:srgbClr val="0C2C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8680" y="3529584"/>
            <a:ext cx="11887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アクション方針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" y="3858768"/>
            <a:ext cx="10424160" cy="10515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社長に決めてもらうこと: 最初の業務課題、最初の利用者、公式化する連携、公開範囲。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決定直後にやること: WBS・Calendar・Issues・Docsへ反映し、次回レビュー日を固定。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保留にすること: サービス名、課金、外部共有範囲、Slack/Notionの正式運用範囲。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85800" y="5257800"/>
            <a:ext cx="10817352" cy="105156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68680" y="5422392"/>
            <a:ext cx="1097280" cy="292608"/>
          </a:xfrm>
          <a:prstGeom prst="roundRect">
            <a:avLst/>
          </a:prstGeom>
          <a:solidFill>
            <a:srgbClr val="0C2C48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58968"/>
            <a:ext cx="109728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見せる証跡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03120" y="5367528"/>
            <a:ext cx="9235440" cy="8229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WBS: data/WBS.tsv / docs/WBS.md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Calendar sync: scripts/sync_wbs_to_calendar.py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Issue/Project sync: scripts/sync_wbs_to_github.py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