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6/2 CEO Decision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本日決めたいこと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01 / 08   NotebookLM CLI outline / notebook 4934c12b-b270-4739-97a1-b04b5b84eaaf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106984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5B6978"/>
                </a:solidFill>
                <a:latin typeface="Yu Gothic"/>
              </a:rPr>
              <a:t>企画を決め打ちする場ではなく、次の開発の向きと優先順位を決める場です。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3246120" cy="1298448"/>
          </a:xfrm>
          <a:prstGeom prst="rect">
            <a:avLst/>
          </a:prstGeom>
          <a:solidFill>
            <a:srgbClr val="E6F2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95144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788920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サービス方向性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08152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A/B/Cのどれを最初に育てるか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48840"/>
            <a:ext cx="3246120" cy="1298448"/>
          </a:xfrm>
          <a:prstGeom prst="rect">
            <a:avLst/>
          </a:prstGeom>
          <a:solidFill>
            <a:srgbClr val="E2F6EE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295144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4候補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788920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公式化する連携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08152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NotebookLM / Slack / Notion / Obsidian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148840"/>
            <a:ext cx="3246120" cy="1298448"/>
          </a:xfrm>
          <a:prstGeom prst="rect">
            <a:avLst/>
          </a:prstGeom>
          <a:solidFill>
            <a:srgbClr val="FFF4DA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295144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即時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788920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打合せ後の反映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308152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WBS / Calendar / Issues / 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977639"/>
            <a:ext cx="10287000" cy="8412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公開URLで動くデモと、Google Workspace同期の到達点を確認する。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NotebookLMが生成した論点を材料に、社長への質問を短く整理する。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未決事項は未決のまま残し、6/2後にWBSへ差し替える受け皿を用意する。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230368"/>
            <a:ext cx="11137392" cy="1078992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CEO slide outline: exports/knowledge_flow/notebooklm_ceo_slide_outline.md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PPTX: exports/knowledge_flow/mighty_skill_bridge_ceo_presentation_2026-06-02.pptx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Prototype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現在の到達点と公開デモ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02 / 08   NotebookLM CLI outline / notebook 4934c12b-b270-4739-97a1-b04b5b84eaaf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700" b="0">
                <a:solidFill>
                  <a:srgbClr val="5B6978"/>
                </a:solidFill>
                <a:latin typeface="Yu Gothic"/>
              </a:rPr>
              <a:t>社長に見せる公開URLは、UIデグレを防ぐガードを通して維持します。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3246120" cy="1298448"/>
          </a:xfrm>
          <a:prstGeom prst="rect">
            <a:avLst/>
          </a:prstGeom>
          <a:solidFill>
            <a:srgbClr val="E2F6EE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84832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57860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Public Demo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871216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公開URLのREADME fallbackを検知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938528"/>
            <a:ext cx="3246120" cy="1298448"/>
          </a:xfrm>
          <a:prstGeom prst="rect">
            <a:avLst/>
          </a:prstGeom>
          <a:solidFill>
            <a:srgbClr val="E6F2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084832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LIVE/MOCK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57860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AI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871216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Gemini quota中も停止しない構成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38528"/>
            <a:ext cx="3246120" cy="1298448"/>
          </a:xfrm>
          <a:prstGeom prst="rect">
            <a:avLst/>
          </a:prstGeom>
          <a:solidFill>
            <a:srgbClr val="FFF4DA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084832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385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57860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WBS 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871216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Sheets / Calendarへ同期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794760"/>
            <a:ext cx="10241280" cy="8961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経歴書・案件票から4軸フィット診断へ進むUIを維持。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Gemini制限中はdeterministic fallbackとCodexで開発を継続。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公開URLは社長共有済みのため、push前後のPublic Demo Guardを必須化。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230368"/>
            <a:ext cx="11137392" cy="1078992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Public URL: https://kanta13jp1.github.io/mighty-link-ai-connect/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Guard script: scripts/verify_public_demo.py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Quota-safe flow: docs/CODEX_CONTINUATION_NOTES.md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Google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Google Workspaceで進捗が回る基盤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03 / 08   NotebookLM CLI outline / notebook 4934c12b-b270-4739-97a1-b04b5b84eaaf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2103120" cy="91440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Codex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実装・文書・WBS更新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0944" y="2011680"/>
            <a:ext cx="2103120" cy="9144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217627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WBS.tsv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248716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日程と状態の主ソース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011680"/>
            <a:ext cx="2103120" cy="914400"/>
          </a:xfrm>
          <a:prstGeom prst="roundRect">
            <a:avLst/>
          </a:prstGeom>
          <a:solidFill>
            <a:srgbClr val="E2F6EE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4" y="217627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Google Sheets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248716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CATS型WBS /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43216" y="2011680"/>
            <a:ext cx="2103120" cy="914400"/>
          </a:xfrm>
          <a:prstGeom prst="roundRect">
            <a:avLst/>
          </a:prstGeom>
          <a:solidFill>
            <a:srgbClr val="FFF4DA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217627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48716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開発予定を同期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74352" y="2011680"/>
            <a:ext cx="2103120" cy="91440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0656" y="217627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Docs / 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8944" y="248716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NotebookLM投入資料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2267712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744" y="2267712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67712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267712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730752"/>
            <a:ext cx="9966960" cy="8412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OAuth実行アカウントは k-umezawa@ml-mightylink.com に固定。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WBSはGoogle Sheetsへ、主要予定はCalendarへ同期。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docs配下はGoogle Docs化し、NotebookLM sourceとして再利用。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5230368"/>
            <a:ext cx="11137392" cy="1078992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Workspace account: k-umezawa@ml-mightylink.com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NotebookLM sources ready: 160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Spreadsheet ID: 1L99HCBHr4IsVUWqnUuG6OgoUmxEQUdfaYQim1n6etB8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Knowledge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開発ナレッジ連携の実績とデモ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04 / 08   NotebookLM CLI outline / notebook 4934c12b-b270-4739-97a1-b04b5b84eaaf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74519"/>
            <a:ext cx="2450592" cy="2487168"/>
          </a:xfrm>
          <a:prstGeom prst="rect">
            <a:avLst/>
          </a:prstGeom>
          <a:solidFill>
            <a:srgbClr val="E6F2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84831"/>
            <a:ext cx="12344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35124"/>
            <a:ext cx="1088136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20116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19222D"/>
                </a:solidFill>
                <a:latin typeface="Yu Gothic"/>
              </a:rPr>
              <a:t>NotebookLM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993392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Yu Gothic"/>
              </a:rPr>
              <a:t>22 source ready
Agent Brief / CEO outline取得済み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9584" y="1874519"/>
            <a:ext cx="2450592" cy="2487168"/>
          </a:xfrm>
          <a:prstGeom prst="rect">
            <a:avLst/>
          </a:prstGeom>
          <a:solidFill>
            <a:srgbClr val="FFF4DA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30752" y="2084831"/>
            <a:ext cx="12344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2135124"/>
            <a:ext cx="1088136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権限確認待ち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578608"/>
            <a:ext cx="20116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19222D"/>
                </a:solidFill>
                <a:latin typeface="Yu Gothic"/>
              </a:rPr>
              <a:t>Slack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063240"/>
            <a:ext cx="1993392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Yu Gothic"/>
              </a:rPr>
              <a:t>投稿案生成済み
CLI/MCP送信ツールは未露出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5936" y="1874519"/>
            <a:ext cx="2450592" cy="2487168"/>
          </a:xfrm>
          <a:prstGeom prst="rect">
            <a:avLst/>
          </a:prstGeom>
          <a:solidFill>
            <a:srgbClr val="E2F6EE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7104" y="2084831"/>
            <a:ext cx="12344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2135124"/>
            <a:ext cx="1088136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MCP実行済み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578608"/>
            <a:ext cx="20116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19222D"/>
                </a:solidFill>
                <a:latin typeface="Yu Gothic"/>
              </a:rPr>
              <a:t>Notion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063240"/>
            <a:ext cx="1993392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Yu Gothic"/>
              </a:rPr>
              <a:t>証跡ページ作成
意思決定DB候補を管理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2288" y="1874519"/>
            <a:ext cx="2450592" cy="2487168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63456" y="2084831"/>
            <a:ext cx="12344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6608" y="2135124"/>
            <a:ext cx="1088136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完了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578608"/>
            <a:ext cx="20116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19222D"/>
                </a:solidFill>
                <a:latin typeface="Yu Gothic"/>
              </a:rPr>
              <a:t>Obsidian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3063240"/>
            <a:ext cx="1993392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Yu Gothic"/>
              </a:rPr>
              <a:t>ローカルvault生成
ADR / Prompt / Meeting導線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572000"/>
            <a:ext cx="10332720" cy="60350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9222D"/>
                </a:solidFill>
                <a:latin typeface="Yu Gothic"/>
              </a:defRPr>
            </a:pPr>
            <a:r>
              <a:t>NotebookLMはプレゼンの草案作成に使い、AIエージェントの開発入力にもする。</a:t>
            </a:r>
          </a:p>
          <a:p>
            <a:pPr>
              <a:spcAft>
                <a:spcPts val="800"/>
              </a:spcAft>
              <a:defRPr sz="1400">
                <a:solidFill>
                  <a:srgbClr val="19222D"/>
                </a:solidFill>
                <a:latin typeface="Yu Gothic"/>
              </a:defRPr>
            </a:pPr>
            <a:r>
              <a:t>Slackは投稿先と共有範囲の社長確認後に実送信へ進める。</a:t>
            </a:r>
          </a:p>
          <a:p>
            <a:pPr>
              <a:spcAft>
                <a:spcPts val="800"/>
              </a:spcAft>
              <a:defRPr sz="1400">
                <a:solidFill>
                  <a:srgbClr val="19222D"/>
                </a:solidFill>
                <a:latin typeface="Yu Gothic"/>
              </a:defRPr>
            </a:pPr>
            <a:r>
              <a:t>Notionは議事録・意思決定・バックログの公式台帳候補、Obsidianはローカル思考メモ候補。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5413248"/>
            <a:ext cx="11137392" cy="1078992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577840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541264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Notion evidence page: https://www.notion.so/3671d736b9db818aaa33da0a5f1a3951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Slack draft: exports/knowledge_flow/slack_ceo_update.md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Obsidian vault: exports/knowledge_flow/obsidian_vault/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NotebookLM to 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NotebookLMからPPTXへ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05 / 08   NotebookLM CLI outline / notebook 4934c12b-b270-4739-97a1-b04b5b84eaaf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103120" cy="9144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03911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docs/ + WBS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公式手順・WBSを同期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2139696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874519"/>
            <a:ext cx="2103120" cy="91440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8184" y="203911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Google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35000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Workspace所有で22件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2139696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74519"/>
            <a:ext cx="2103120" cy="914400"/>
          </a:xfrm>
          <a:prstGeom prst="roundRect">
            <a:avLst/>
          </a:prstGeom>
          <a:solidFill>
            <a:srgbClr val="E2F6EE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03911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NotebookLM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5000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要約・QA・8枚構成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139696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874519"/>
            <a:ext cx="2103120" cy="914400"/>
          </a:xfrm>
          <a:prstGeom prst="roundRect">
            <a:avLst/>
          </a:prstGeom>
          <a:solidFill>
            <a:srgbClr val="FFF4DA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03911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PowerPoint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35000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社長説明用PPTX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520440"/>
            <a:ext cx="9875520" cy="8412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NotebookLM CLIで取得したCEO Slide Outlineを、説明用PPTXのストーリー骨子に反映。</a:t>
            </a:r>
          </a:p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PPTXは編集可能なPowerPointファイルとしてexports配下に保存し、Driveにもアップロード対象化。</a:t>
            </a:r>
          </a:p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artifact-tool runtimeはこのWindowsシェルで解決できないため、PPTX組版はpython-pptxで代替。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230368"/>
            <a:ext cx="11137392" cy="1078992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NotebookLM notebook: 4934c12b-b270-4739-97a1-b04b5b84eaaf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Outline: exports/knowledge_flow/notebooklm_ceo_slide_outline.md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Generator: scripts/generate_ceo_presentation_deck.py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サービス方向性の選択肢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06 / 08   NotebookLM CLI outline / notebook 4934c12b-b270-4739-97a1-b04b5b84eaaf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1828800"/>
            <a:ext cx="3429000" cy="2331720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29718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10489A"/>
                </a:solidFill>
                <a:latin typeface="Yu Gothic"/>
              </a:rPr>
              <a:t>A. AIフィット診断支援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想定対象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459736"/>
            <a:ext cx="20116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営業 / 人材担当 / エンジニア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443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価値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6" y="2880360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採用・SES・案件配属の効率化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8444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初手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2496" y="3529584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デモの診断体験を磨く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1828800"/>
            <a:ext cx="3429000" cy="2331720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29718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10489A"/>
                </a:solidFill>
                <a:latin typeface="Yu Gothic"/>
              </a:rPr>
              <a:t>B. Workspace連携型PM支援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871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想定対象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459736"/>
            <a:ext cx="20116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経営 / PM / 現場責任者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443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価値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2880360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進捗・報告・予定同期の高速化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58444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初手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29584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WBS/Calendar同期を商品化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828800"/>
            <a:ext cx="3429000" cy="2331720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2011680"/>
            <a:ext cx="29718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10489A"/>
                </a:solidFill>
                <a:latin typeface="Yu Gothic"/>
              </a:rPr>
              <a:t>C. AI PoC高速構築支援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4871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想定対象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459736"/>
            <a:ext cx="20116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新規事業 / 企画 / 開発責任者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9443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価値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4272" y="2880360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検証回数と提案速度を増やす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58444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初手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3529584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NotebookLM/Docs連携を型化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526280"/>
            <a:ext cx="10241280" cy="4572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6/2では最初の適用業務と最初に見せる相手を決める。</a:t>
            </a:r>
          </a:p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正式企画は決め打ちせず、社長判断後にWBSとロードマップへ反映する。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5230368"/>
            <a:ext cx="11137392" cy="1078992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Decision pack: docs/CEO_PRESENTATION_DECISION_PACK_2026-06-02.md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WBS tasks: T605 / T611 / T623 / T615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Risks and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運用・リスク論点と未完了項目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07 / 08   NotebookLM CLI outline / notebook 4934c12b-b270-4739-97a1-b04b5b84eaaf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10881360" cy="420624"/>
          </a:xfrm>
          <a:prstGeom prst="rect">
            <a:avLst/>
          </a:prstGeom>
          <a:solidFill>
            <a:srgbClr val="10489A"/>
          </a:solidFill>
          <a:ln w="12700">
            <a:solidFill>
              <a:srgbClr val="104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64792"/>
            <a:ext cx="128016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Yu Gothic"/>
              </a:rPr>
              <a:t>論点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64792"/>
            <a:ext cx="41148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Yu Gothic"/>
              </a:rPr>
              <a:t>現状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1764792"/>
            <a:ext cx="41148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Yu Gothic"/>
              </a:rPr>
              <a:t>次の扱い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67128"/>
            <a:ext cx="1088136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304288"/>
            <a:ext cx="12344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1">
                <a:solidFill>
                  <a:srgbClr val="19222D"/>
                </a:solidFill>
                <a:latin typeface="Yu Gothic"/>
              </a:rPr>
              <a:t>公開URL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276856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5B6978"/>
                </a:solidFill>
                <a:latin typeface="Yu Gothic"/>
              </a:rPr>
              <a:t>社長共有済み。UIデグレは許容しない。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276856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19222D"/>
                </a:solidFill>
                <a:latin typeface="Yu Gothic"/>
              </a:rPr>
              <a:t>Public Demo Guardをpush前後で実行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25496"/>
            <a:ext cx="1088136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962656"/>
            <a:ext cx="12344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1">
                <a:solidFill>
                  <a:srgbClr val="19222D"/>
                </a:solidFill>
                <a:latin typeface="Yu Gothic"/>
              </a:rPr>
              <a:t>Slack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935224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5B6978"/>
                </a:solidFill>
                <a:latin typeface="Yu Gothic"/>
              </a:rPr>
              <a:t>投稿先と共有範囲の承認が必要。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935224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19222D"/>
                </a:solidFill>
                <a:latin typeface="Yu Gothic"/>
              </a:rPr>
              <a:t>承認後に公式コネクタで送信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83864"/>
            <a:ext cx="1088136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621024"/>
            <a:ext cx="12344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1">
                <a:solidFill>
                  <a:srgbClr val="19222D"/>
                </a:solidFill>
                <a:latin typeface="Yu Gothic"/>
              </a:rPr>
              <a:t>GitHub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593592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5B6978"/>
                </a:solidFill>
                <a:latin typeface="Yu Gothic"/>
              </a:rPr>
              <a:t>Project #1へWBS対象限定同期済み。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593592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19222D"/>
                </a:solidFill>
                <a:latin typeface="Yu Gothic"/>
              </a:rPr>
              <a:t>完了・更新タスクだけを継続同期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42232"/>
            <a:ext cx="1088136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279392"/>
            <a:ext cx="12344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1">
                <a:solidFill>
                  <a:srgbClr val="19222D"/>
                </a:solidFill>
                <a:latin typeface="Yu Gothic"/>
              </a:rPr>
              <a:t>外部投入情報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251960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5B6978"/>
                </a:solidFill>
                <a:latin typeface="Yu Gothic"/>
              </a:rPr>
              <a:t>認証情報・個人情報・未承認顧客情報は投入禁止。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251960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19222D"/>
                </a:solidFill>
                <a:latin typeface="Yu Gothic"/>
              </a:rPr>
              <a:t>docs/とWBSに安全ルールを明記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5230368"/>
            <a:ext cx="11137392" cy="1078992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GitHub Project: Project #1 operational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WBS sync: scripts/sync_wbs_to_github.py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Slack: destination approval required before posting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次アクションとWBSへの即時反映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08 / 08   NotebookLM CLI outline / notebook 4934c12b-b270-4739-97a1-b04b5b84eaaf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1828800" cy="1572768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057400"/>
            <a:ext cx="713232" cy="347472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107692"/>
            <a:ext cx="566928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5/22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523744"/>
            <a:ext cx="1371600" cy="2377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19222D"/>
                </a:solidFill>
                <a:latin typeface="Yu Gothic"/>
              </a:rPr>
              <a:t>PPTX生成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71216"/>
            <a:ext cx="144475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NotebookLM outlineをPowerPoint化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2487168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874519"/>
            <a:ext cx="1828800" cy="1572768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55263" y="2057400"/>
            <a:ext cx="713232" cy="347472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5" y="2107692"/>
            <a:ext cx="566928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5/24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2523744"/>
            <a:ext cx="1371600" cy="2377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19222D"/>
                </a:solidFill>
                <a:latin typeface="Yu Gothic"/>
              </a:rPr>
              <a:t>権限確認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71216"/>
            <a:ext cx="144475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Slack / GitHub Projectの復旧確認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2487168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85232" y="1874519"/>
            <a:ext cx="1828800" cy="1572768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22976" y="2057400"/>
            <a:ext cx="713232" cy="347472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2107692"/>
            <a:ext cx="566928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5/30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2523744"/>
            <a:ext cx="1371600" cy="2377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19222D"/>
                </a:solidFill>
                <a:latin typeface="Yu Gothic"/>
              </a:rPr>
              <a:t>判断材料レビュー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2871216"/>
            <a:ext cx="144475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社長説明資料の最終確認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2487168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52944" y="1874519"/>
            <a:ext cx="1828800" cy="1572768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90688" y="2057400"/>
            <a:ext cx="713232" cy="347472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107692"/>
            <a:ext cx="566928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6/1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523744"/>
            <a:ext cx="1371600" cy="2377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19222D"/>
                </a:solidFill>
                <a:latin typeface="Yu Gothic"/>
              </a:rPr>
              <a:t>最終リハーサル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5823" y="2871216"/>
            <a:ext cx="144475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公開URL / WBS / Calendar / 資料確認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487168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0656" y="1874519"/>
            <a:ext cx="1828800" cy="1572768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58400" y="2057400"/>
            <a:ext cx="713232" cy="347472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31552" y="2107692"/>
            <a:ext cx="566928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6/2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2523744"/>
            <a:ext cx="1371600" cy="2377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19222D"/>
                </a:solidFill>
                <a:latin typeface="Yu Gothic"/>
              </a:rPr>
              <a:t>社長判断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2871216"/>
            <a:ext cx="144475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決定事項をWBSへ即時反映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3977639"/>
            <a:ext cx="10287000" cy="74980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社長に決めてもらうこと: 最初の業務課題、最初の利用者、公式化する連携、公開範囲。</a:t>
            </a:r>
          </a:p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決定直後にやること: WBS・Calendar・Issues・Docsへ反映し、次回レビュー日を固定。</a:t>
            </a:r>
          </a:p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保留にすること: サービス名、課金、外部共有範囲、Slack/Notionの正式運用範囲。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5230368"/>
            <a:ext cx="11137392" cy="1078992"/>
          </a:xfrm>
          <a:prstGeom prst="rect">
            <a:avLst/>
          </a:prstGeom>
          <a:solidFill>
            <a:srgbClr val="F7FAFD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WBS: data/WBS.tsv / docs/WBS.md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Calendar sync: scripts/sync_wbs_to_calendar.py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Issue/Project sync: scripts/sync_wbs_to_github.py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