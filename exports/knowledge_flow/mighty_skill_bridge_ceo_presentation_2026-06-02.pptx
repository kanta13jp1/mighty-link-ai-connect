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Consolas"/>
              </a:rPr>
              <a:t>01  /  DECISION MEETING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19222D"/>
                </a:solidFill>
                <a:latin typeface="Plus Jakarta Sans"/>
              </a:rPr>
              <a:t>本日決めたいこと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788796"/>
                </a:solidFill>
                <a:latin typeface="Consolas"/>
              </a:rPr>
              <a:t>01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788796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984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3429000" cy="13716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947672"/>
            <a:ext cx="320040" cy="3657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Plus Jakarta Sans"/>
              </a:rPr>
              <a:t>1 軸選択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1783080"/>
            <a:ext cx="3429000" cy="13716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62856" y="1947672"/>
            <a:ext cx="320040" cy="36576"/>
          </a:xfrm>
          <a:prstGeom prst="rect">
            <a:avLst/>
          </a:prstGeom>
          <a:solidFill>
            <a:srgbClr val="149260"/>
          </a:solidFill>
          <a:ln w="12700">
            <a:solidFill>
              <a:srgbClr val="1492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4568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149260"/>
                </a:solidFill>
                <a:latin typeface="Plus Jakarta Sans"/>
              </a:rPr>
              <a:t>4 候補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6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783080"/>
            <a:ext cx="3429000" cy="13716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57031" y="1947672"/>
            <a:ext cx="320040" cy="36576"/>
          </a:xfrm>
          <a:prstGeom prst="rect">
            <a:avLst/>
          </a:prstGeom>
          <a:solidFill>
            <a:srgbClr val="BE7C00"/>
          </a:solidFill>
          <a:ln w="12700">
            <a:solidFill>
              <a:srgbClr val="BE7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BE7C00"/>
                </a:solidFill>
                <a:latin typeface="Plus Jakarta Sans"/>
              </a:rPr>
              <a:t>即時同期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8680" y="3493008"/>
            <a:ext cx="1188720" cy="292608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529584"/>
            <a:ext cx="11887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A73E8"/>
                </a:solidFill>
                <a:latin typeface="Plus Jakarta Sans"/>
              </a:rPr>
              <a:t>会議の進め方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5B6978"/>
                </a:solidFill>
                <a:latin typeface="Yu Gothic"/>
              </a:rPr>
              <a:t>•  公開URLで動くデモと、Google Workspace同期の到達点を確認する。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5B6978"/>
                </a:solidFill>
                <a:latin typeface="Yu Gothic"/>
              </a:rPr>
              <a:t>•  NotebookLMが生成した論点を材料に、社長への質問を短く整理する。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5B6978"/>
                </a:solidFill>
                <a:latin typeface="Yu Gothic"/>
              </a:rPr>
              <a:t>•  未決事項は未決のまま残し、6/2後にWBSへ差し替える受け皿を用意する。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A73E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5B6978"/>
                </a:solidFill>
                <a:latin typeface="Consolas"/>
              </a:rPr>
              <a:t>•  CEO slide outline: exports/knowledge_flow/notebooklm_ceo_slide_outline.md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5B6978"/>
                </a:solidFill>
                <a:latin typeface="Consolas"/>
              </a:rPr>
              <a:t>•  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Consolas"/>
              </a:rPr>
              <a:t>02  /  PROTOTYPE &amp; GUARD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19222D"/>
                </a:solidFill>
                <a:latin typeface="Plus Jakarta Sans"/>
              </a:rPr>
              <a:t>現在の到達点と公開デモ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788796"/>
                </a:solidFill>
                <a:latin typeface="Consolas"/>
              </a:rPr>
              <a:t>02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788796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984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5B6978"/>
                </a:solidFill>
                <a:latin typeface="Yu Gothic"/>
              </a:rPr>
              <a:t>社長に見せる公開URLは、UIデグレを防ぐ自動ガードを通して常時維持しています。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3429000" cy="13716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947672"/>
            <a:ext cx="320040" cy="36576"/>
          </a:xfrm>
          <a:prstGeom prst="rect">
            <a:avLst/>
          </a:prstGeom>
          <a:solidFill>
            <a:srgbClr val="149260"/>
          </a:solidFill>
          <a:ln w="12700">
            <a:solidFill>
              <a:srgbClr val="1492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149260"/>
                </a:solidFill>
                <a:latin typeface="Plus Jakarta Sans"/>
              </a:rPr>
              <a:t>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5B6978"/>
                </a:solidFill>
                <a:latin typeface="Yu Gothic"/>
              </a:rPr>
              <a:t>公開URLの健全性とE2E導線を検証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1783080"/>
            <a:ext cx="3429000" cy="13716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62856" y="1947672"/>
            <a:ext cx="320040" cy="3657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4568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Plus Jakarta Sans"/>
              </a:rPr>
              <a:t>LIVE / MOCK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6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 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5B6978"/>
                </a:solidFill>
                <a:latin typeface="Yu Gothic"/>
              </a:rPr>
              <a:t>Gemini quota中も停止しない二重構造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783080"/>
            <a:ext cx="3429000" cy="13716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57031" y="1947672"/>
            <a:ext cx="320040" cy="36576"/>
          </a:xfrm>
          <a:prstGeom prst="rect">
            <a:avLst/>
          </a:prstGeom>
          <a:solidFill>
            <a:srgbClr val="BE7C00"/>
          </a:solidFill>
          <a:ln w="12700">
            <a:solidFill>
              <a:srgbClr val="BE7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BE7C00"/>
                </a:solidFill>
                <a:latin typeface="Plus Jakarta Sans"/>
              </a:rPr>
              <a:t>385 Tasks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5B6978"/>
                </a:solidFill>
                <a:latin typeface="Yu Gothic"/>
              </a:rPr>
              <a:t>Sheets / Calendarへ完全双方向同期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8680" y="3493008"/>
            <a:ext cx="1371600" cy="292608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E2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529584"/>
            <a:ext cx="137160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49260"/>
                </a:solidFill>
                <a:latin typeface="Plus Jakarta Sans"/>
              </a:rPr>
              <a:t>主要到達ポイント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5B6978"/>
                </a:solidFill>
                <a:latin typeface="Yu Gothic"/>
              </a:rPr>
              <a:t>•  経歴書・案件票から4軸フィット診断へ進むUI体験を維持。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5B6978"/>
                </a:solidFill>
                <a:latin typeface="Yu Gothic"/>
              </a:rPr>
              <a:t>•  Gemini制限中もdeterministic fallbackとCodexで自律開発を継続。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5B6978"/>
                </a:solidFill>
                <a:latin typeface="Yu Gothic"/>
              </a:rPr>
              <a:t>•  公開URLは社長共有済みのため、コミット・push前後のPublic Demo Guardを必須化。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A73E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5B6978"/>
                </a:solidFill>
                <a:latin typeface="Consolas"/>
              </a:rPr>
              <a:t>•  Public URL: https://kanta13jp1.github.io/mighty-link-ai-connect/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5B6978"/>
                </a:solidFill>
                <a:latin typeface="Consolas"/>
              </a:rPr>
              <a:t>•  Guard script: scripts/verify_public_demo.py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5B6978"/>
                </a:solidFill>
                <a:latin typeface="Consolas"/>
              </a:rPr>
              <a:t>•  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Consolas"/>
              </a:rPr>
              <a:t>03  /  WORKSPACE OPERATING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19222D"/>
                </a:solidFill>
                <a:latin typeface="Plus Jakarta Sans"/>
              </a:rPr>
              <a:t>Google Workspaceで進捗が回る基盤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788796"/>
                </a:solidFill>
                <a:latin typeface="Consolas"/>
              </a:rPr>
              <a:t>03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788796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1965960" cy="132588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920240"/>
            <a:ext cx="50292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A73E8"/>
                </a:solidFill>
                <a:latin typeface="Plus Jakarta San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19222D"/>
                </a:solidFill>
                <a:latin typeface="Plus Jakarta Sans"/>
              </a:rPr>
              <a:t>Codex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9192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1A73E8"/>
                </a:solidFill>
                <a:latin typeface="Consola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98648" y="1783080"/>
            <a:ext cx="1965960" cy="132588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35808" y="1920240"/>
            <a:ext cx="50292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5808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489A"/>
                </a:solidFill>
                <a:latin typeface="Plus Jakarta Sa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19222D"/>
                </a:solidFill>
                <a:latin typeface="Plus Jakarta Sans"/>
              </a:rPr>
              <a:t>WBS.tsv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35808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日程と状態の主台帳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1A73E8"/>
                </a:solidFill>
                <a:latin typeface="Consola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11496" y="1783080"/>
            <a:ext cx="1965960" cy="132588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48656" y="1920240"/>
            <a:ext cx="50292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656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49260"/>
                </a:solidFill>
                <a:latin typeface="Plus Jakarta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8656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19222D"/>
                </a:solidFill>
                <a:latin typeface="Plus Jakarta Sans"/>
              </a:rPr>
              <a:t>Sheets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1A73E8"/>
                </a:solidFill>
                <a:latin typeface="Consola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24344" y="1783080"/>
            <a:ext cx="1965960" cy="132588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461504" y="1920240"/>
            <a:ext cx="50292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61504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BE7C00"/>
                </a:solidFill>
                <a:latin typeface="Plus Jakarta San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1504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19222D"/>
                </a:solidFill>
                <a:latin typeface="Plus Jakarta Sans"/>
              </a:rPr>
              <a:t>Calendar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開発予定を自動同期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7736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1A73E8"/>
                </a:solidFill>
                <a:latin typeface="Consolas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37192" y="1783080"/>
            <a:ext cx="1965960" cy="132588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674352" y="1920240"/>
            <a:ext cx="50292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74352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BC443C"/>
                </a:solidFill>
                <a:latin typeface="Plus Jakarta Sans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4352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19222D"/>
                </a:solidFill>
                <a:latin typeface="Plus Jakarta Sans"/>
              </a:rPr>
              <a:t>Docs / Drive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2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NotebookLM連携資料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68680" y="3493008"/>
            <a:ext cx="1188720" cy="292608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3529584"/>
            <a:ext cx="11887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A73E8"/>
                </a:solidFill>
                <a:latin typeface="Plus Jakarta Sans"/>
              </a:rPr>
              <a:t>運用ポリシー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5B6978"/>
                </a:solidFill>
                <a:latin typeface="Yu Gothic"/>
              </a:rPr>
              <a:t>•  OAuth実行アカウントは k-umezawa@ml-mightylink.com に固定。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5B6978"/>
                </a:solidFill>
                <a:latin typeface="Yu Gothic"/>
              </a:rPr>
              <a:t>•  WBSはGoogle Sheetsへ、主要予定はGoogle Calendarへ自動同期・整理。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5B6978"/>
                </a:solidFill>
                <a:latin typeface="Yu Gothic"/>
              </a:rPr>
              <a:t>•  docs/配下はGoogle Docs化し、NotebookLM sourceとして再利用・知識化。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A73E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5B6978"/>
                </a:solidFill>
                <a:latin typeface="Consolas"/>
              </a:rPr>
              <a:t>•  Workspace account: k-umezawa@ml-mightylink.com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5B6978"/>
                </a:solidFill>
                <a:latin typeface="Consolas"/>
              </a:rPr>
              <a:t>•  NotebookLM sources ready: 160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5B6978"/>
                </a:solidFill>
                <a:latin typeface="Consolas"/>
              </a:rPr>
              <a:t>•  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Consolas"/>
              </a:rPr>
              <a:t>04  /  KNOWLEDGE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19222D"/>
                </a:solidFill>
                <a:latin typeface="Plus Jakarta Sans"/>
              </a:rPr>
              <a:t>開発ナレッジ連携の実績とデモ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788796"/>
                </a:solidFill>
                <a:latin typeface="Consolas"/>
              </a:rPr>
              <a:t>04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788796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2560320" cy="210312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938528"/>
            <a:ext cx="1280160" cy="292608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A73E8"/>
                </a:solidFill>
                <a:latin typeface="Plus Jakarta Sans"/>
              </a:rPr>
              <a:t>公式同期完了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Plus Jakarta Sans"/>
              </a:rPr>
              <a:t>NotebookLM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5B6978"/>
                </a:solidFill>
                <a:latin typeface="Yu Gothic"/>
              </a:rPr>
              <a:t>22 Sources Ready
Agent Brief / CEO Outline 取得済み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8144" y="1783080"/>
            <a:ext cx="2560320" cy="210312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02736" y="1938528"/>
            <a:ext cx="1280160" cy="292608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2736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BE7C00"/>
                </a:solidFill>
                <a:latin typeface="Plus Jakarta Sans"/>
              </a:rPr>
              <a:t>権限確認待ち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Plus Jakarta Sans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1783080"/>
            <a:ext cx="2560320" cy="210312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79" y="1938528"/>
            <a:ext cx="1280160" cy="292608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79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49260"/>
                </a:solidFill>
                <a:latin typeface="Plus Jakarta Sans"/>
              </a:rPr>
              <a:t>MCP実行済み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79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Plus Jakarta Sans"/>
              </a:rPr>
              <a:t>Notion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79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5B6978"/>
                </a:solidFill>
                <a:latin typeface="Yu Gothic"/>
              </a:rPr>
              <a:t>証跡ページ作成済み
意思決定DB候補を管理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42832" y="1783080"/>
            <a:ext cx="2560320" cy="210312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07424" y="1938528"/>
            <a:ext cx="128016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07424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5B6978"/>
                </a:solidFill>
                <a:latin typeface="Plus Jakarta Sans"/>
              </a:rPr>
              <a:t>ローカル完了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7424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Plus Jakarta Sans"/>
              </a:rPr>
              <a:t>Obsidian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7424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5B6978"/>
                </a:solidFill>
                <a:latin typeface="Yu Gothic"/>
              </a:rPr>
              <a:t>ローカルVault生成済み
ADR / Prompt / Meeting導線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069080"/>
            <a:ext cx="10817352" cy="100584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160520"/>
            <a:ext cx="1042416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250">
                <a:solidFill>
                  <a:srgbClr val="5B6978"/>
                </a:solidFill>
                <a:latin typeface="Yu Gothic"/>
              </a:rPr>
              <a:t>•  NotebookLMはプレゼン草案作成に使い、AIエージェントの開発入力としても活用。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5B6978"/>
                </a:solidFill>
                <a:latin typeface="Yu Gothic"/>
              </a:rPr>
              <a:t>•  Slackは投稿先と共有範囲の社長確認後に実送信へ進める。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5B6978"/>
                </a:solidFill>
                <a:latin typeface="Yu Gothic"/>
              </a:rPr>
              <a:t>•  Notionは議事録・意思決定・バックログ公式台帳、Obsidianはローカル思考メモとして棲み分け。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A73E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5B6978"/>
                </a:solidFill>
                <a:latin typeface="Consolas"/>
              </a:rPr>
              <a:t>•  Notion evidence: https://www.notion.so/3671d736b9db818aaa33da0a5f1a3951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5B6978"/>
                </a:solidFill>
                <a:latin typeface="Consolas"/>
              </a:rPr>
              <a:t>•  Slack draft: exports/knowledge_flow/slack_ceo_update.md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5B6978"/>
                </a:solidFill>
                <a:latin typeface="Consolas"/>
              </a:rPr>
              <a:t>•  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Consolas"/>
              </a:rPr>
              <a:t>05  /  AUTOMATED DECK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19222D"/>
                </a:solidFill>
                <a:latin typeface="Plus Jakarta Sans"/>
              </a:rPr>
              <a:t>NotebookLMからPPTXへ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788796"/>
                </a:solidFill>
                <a:latin typeface="Consolas"/>
              </a:rPr>
              <a:t>05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788796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2468880" cy="132588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920240"/>
            <a:ext cx="50292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A73E8"/>
                </a:solidFill>
                <a:latin typeface="Plus Jakarta San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19222D"/>
                </a:solidFill>
                <a:latin typeface="Plus Jakarta Sans"/>
              </a:rPr>
              <a:t>docs/ + WBS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9544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1A73E8"/>
                </a:solidFill>
                <a:latin typeface="Consola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6432" y="1783080"/>
            <a:ext cx="2468880" cy="132588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93591" y="1920240"/>
            <a:ext cx="50292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3591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489A"/>
                </a:solidFill>
                <a:latin typeface="Plus Jakarta Sa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1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19222D"/>
                </a:solidFill>
                <a:latin typeface="Plus Jakarta Sans"/>
              </a:rPr>
              <a:t>Google Docs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1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Workspace所有22件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0175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1A73E8"/>
                </a:solidFill>
                <a:latin typeface="Consola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7064" y="1783080"/>
            <a:ext cx="2468880" cy="132588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64224" y="1920240"/>
            <a:ext cx="50292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49260"/>
                </a:solidFill>
                <a:latin typeface="Plus Jakarta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19222D"/>
                </a:solidFill>
                <a:latin typeface="Plus Jakarta Sans"/>
              </a:rPr>
              <a:t>NotebookLM CLI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50808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1A73E8"/>
                </a:solidFill>
                <a:latin typeface="Consola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97696" y="1783080"/>
            <a:ext cx="2468880" cy="132588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34856" y="1920240"/>
            <a:ext cx="50292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34856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BE7C00"/>
                </a:solidFill>
                <a:latin typeface="Plus Jakarta San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19222D"/>
                </a:solidFill>
                <a:latin typeface="Plus Jakarta Sans"/>
              </a:rPr>
              <a:t>PowerPoint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34856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社長説明用PPTX生成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68680" y="3493008"/>
            <a:ext cx="1645920" cy="292608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3529584"/>
            <a:ext cx="1645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A73E8"/>
                </a:solidFill>
                <a:latin typeface="Plus Jakarta Sans"/>
              </a:rPr>
              <a:t>自動化パイプラインの特長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5B6978"/>
                </a:solidFill>
                <a:latin typeface="Yu Gothic"/>
              </a:rPr>
              <a:t>•  NotebookLM CLIで取得したCEO Slide Outlineを、説明用PPTXのストーリー骨子に直接反映。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5B6978"/>
                </a:solidFill>
                <a:latin typeface="Yu Gothic"/>
              </a:rPr>
              <a:t>•  Figma Design Tokensに準拠したカラー・タイポグラフィ・カード構造でPPTXを自動生成。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5B6978"/>
                </a:solidFill>
                <a:latin typeface="Yu Gothic"/>
              </a:rPr>
              <a:t>•  編集可能なPowerPointファイルとして保存し、Google Driveへのアップロード対象化。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A73E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5B6978"/>
                </a:solidFill>
                <a:latin typeface="Consolas"/>
              </a:rPr>
              <a:t>•  NotebookLM notebook: 4934c12b-b270-4739-97a1-b04b5b84eaaf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5B6978"/>
                </a:solidFill>
                <a:latin typeface="Consolas"/>
              </a:rPr>
              <a:t>•  Outline: exports/knowledge_flow/notebooklm_ceo_slide_outline.md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5B6978"/>
                </a:solidFill>
                <a:latin typeface="Consolas"/>
              </a:rPr>
              <a:t>•  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Consolas"/>
              </a:rPr>
              <a:t>06  /  STRATEGIC OPTIONS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19222D"/>
                </a:solidFill>
                <a:latin typeface="Plus Jakarta Sans"/>
              </a:rPr>
              <a:t>サービス方向性の選択肢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788796"/>
                </a:solidFill>
                <a:latin typeface="Consolas"/>
              </a:rPr>
              <a:t>06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788796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3429000" cy="2286000"/>
          </a:xfrm>
          <a:prstGeom prst="roundRect">
            <a:avLst/>
          </a:prstGeom>
          <a:solidFill>
            <a:srgbClr val="F7FAFD"/>
          </a:solidFill>
          <a:ln w="2286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71800" y="1920240"/>
            <a:ext cx="960120" cy="292608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1956816"/>
            <a:ext cx="9601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A73E8"/>
                </a:solidFill>
                <a:latin typeface="Plus Jakarta Sans"/>
              </a:rPr>
              <a:t>★ 推薦初手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965960"/>
            <a:ext cx="21488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1A73E8"/>
                </a:solidFill>
                <a:latin typeface="Plus Jakarta Sans"/>
              </a:rPr>
              <a:t>A. AIフィット診断支援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3774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788796"/>
                </a:solidFill>
                <a:latin typeface="Plus Jakarta Sans"/>
              </a:rPr>
              <a:t>想定対象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359152"/>
            <a:ext cx="22860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278892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788796"/>
                </a:solidFill>
                <a:latin typeface="Plus Jakarta Sans"/>
              </a:rPr>
              <a:t>提供価値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77063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5B6978"/>
                </a:solidFill>
                <a:latin typeface="Yu Gothic"/>
              </a:rPr>
              <a:t>採用・SES・案件配属の工数を劇的に削減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2918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788796"/>
                </a:solidFill>
                <a:latin typeface="Plus Jakarta Sans"/>
              </a:rPr>
              <a:t>最初の行動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27355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49260"/>
                </a:solidFill>
                <a:latin typeface="Yu Gothic"/>
              </a:rPr>
              <a:t>デモの診断体験とマッチング精度を磨く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9976" y="1783080"/>
            <a:ext cx="3429000" cy="22860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1965960"/>
            <a:ext cx="21488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1A73E8"/>
                </a:solidFill>
                <a:latin typeface="Plus Jakarta Sans"/>
              </a:rPr>
              <a:t>B. Workspace連携型PM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23774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788796"/>
                </a:solidFill>
                <a:latin typeface="Plus Jakarta Sans"/>
              </a:rPr>
              <a:t>想定対象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0096" y="2359152"/>
            <a:ext cx="22860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144" y="278892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788796"/>
                </a:solidFill>
                <a:latin typeface="Plus Jakarta Sans"/>
              </a:rPr>
              <a:t>提供価値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0096" y="277063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5B6978"/>
                </a:solidFill>
                <a:latin typeface="Yu Gothic"/>
              </a:rPr>
              <a:t>進捗・報告・予定同期をワンストップ自動化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1144" y="32918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788796"/>
                </a:solidFill>
                <a:latin typeface="Plus Jakarta Sans"/>
              </a:rPr>
              <a:t>最初の行動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0096" y="327355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49260"/>
                </a:solidFill>
                <a:latin typeface="Yu Gothic"/>
              </a:rPr>
              <a:t>WBS/Calendar同期基盤をパッケージ化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74152" y="1783080"/>
            <a:ext cx="3429000" cy="22860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1965960"/>
            <a:ext cx="21488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1A73E8"/>
                </a:solidFill>
                <a:latin typeface="Plus Jakarta Sans"/>
              </a:rPr>
              <a:t>C. AI PoC高速構築支援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3774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788796"/>
                </a:solidFill>
                <a:latin typeface="Plus Jakarta Sans"/>
              </a:rPr>
              <a:t>想定対象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4272" y="2359152"/>
            <a:ext cx="22860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278892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788796"/>
                </a:solidFill>
                <a:latin typeface="Plus Jakarta Sans"/>
              </a:rPr>
              <a:t>提供価値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4272" y="277063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5B6978"/>
                </a:solidFill>
                <a:latin typeface="Yu Gothic"/>
              </a:rPr>
              <a:t>検証回数と提案速度を2倍にする受託型支援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32918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788796"/>
                </a:solidFill>
                <a:latin typeface="Plus Jakarta Sans"/>
              </a:rPr>
              <a:t>最初の行動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34272" y="327355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49260"/>
                </a:solidFill>
                <a:latin typeface="Yu Gothic"/>
              </a:rPr>
              <a:t>NotebookLM/Docs連携テンプレートを型化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4251960"/>
            <a:ext cx="10817352" cy="86868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343400"/>
            <a:ext cx="1042416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5B6978"/>
                </a:solidFill>
                <a:latin typeface="Yu Gothic"/>
              </a:rPr>
              <a:t>•  6/2では最初の適用業務と最初に見せる相手を1つ決定する。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5B6978"/>
                </a:solidFill>
                <a:latin typeface="Yu Gothic"/>
              </a:rPr>
              <a:t>•  正式企画は決め打ちせず、社長判断後にWBSとロードマップへ即時反映する。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A73E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5B6978"/>
                </a:solidFill>
                <a:latin typeface="Consolas"/>
              </a:rPr>
              <a:t>•  Decision pack: docs/CEO_PRESENTATION_DECISION_PACK_2026-06-02.md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5B6978"/>
                </a:solidFill>
                <a:latin typeface="Consolas"/>
              </a:rPr>
              <a:t>•  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Consolas"/>
              </a:rPr>
              <a:t>07  /  GOVERNANCE &amp;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19222D"/>
                </a:solidFill>
                <a:latin typeface="Plus Jakarta Sans"/>
              </a:rPr>
              <a:t>運用・リスク論点と未完了項目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788796"/>
                </a:solidFill>
                <a:latin typeface="Consolas"/>
              </a:rPr>
              <a:t>07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788796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91640"/>
            <a:ext cx="1081735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6459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A73E8"/>
                </a:solidFill>
                <a:latin typeface="Plus Jakarta Sans"/>
              </a:rPr>
              <a:t>管理論点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783080"/>
            <a:ext cx="38404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5B6978"/>
                </a:solidFill>
                <a:latin typeface="Plus Jakarta Sans"/>
              </a:rPr>
              <a:t>現状ステータス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783080"/>
            <a:ext cx="43891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49260"/>
                </a:solidFill>
                <a:latin typeface="Plus Jakarta Sans"/>
              </a:rPr>
              <a:t>ガードレール / 次の扱い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94560"/>
            <a:ext cx="10817352" cy="566928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2322576"/>
            <a:ext cx="146304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49260"/>
                </a:solidFill>
                <a:latin typeface="Plus Jakarta Sans"/>
              </a:rPr>
              <a:t>公開URL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340864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340864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Public Demo Guardをpush前後で必須実行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852928"/>
            <a:ext cx="10817352" cy="566928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2980944"/>
            <a:ext cx="146304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017520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BE7C00"/>
                </a:solidFill>
                <a:latin typeface="Plus Jakarta Sans"/>
              </a:rPr>
              <a:t>Slack連携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2999232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投稿先と共有範囲の承認が必要。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999232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承認後に公式コネクタで送信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511296"/>
            <a:ext cx="10817352" cy="566928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3639312"/>
            <a:ext cx="146304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675888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A73E8"/>
                </a:solidFill>
                <a:latin typeface="Plus Jakarta Sans"/>
              </a:rPr>
              <a:t>GitHub Project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657600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Project #1へWBS対象限定同期済み。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657600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完了・更新タスクだけを継続同期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169664"/>
            <a:ext cx="10817352" cy="566928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68680" y="4297680"/>
            <a:ext cx="146304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334256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BC443C"/>
                </a:solidFill>
                <a:latin typeface="Plus Jakarta Sans"/>
              </a:rPr>
              <a:t>外部投入情報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4315968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4315968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A73E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5B6978"/>
                </a:solidFill>
                <a:latin typeface="Consolas"/>
              </a:rPr>
              <a:t>•  GitHub Project: Project #1 operational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5B6978"/>
                </a:solidFill>
                <a:latin typeface="Consolas"/>
              </a:rPr>
              <a:t>•  WBS sync: scripts/sync_wbs_to_github.py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5B6978"/>
                </a:solidFill>
                <a:latin typeface="Consolas"/>
              </a:rPr>
              <a:t>•  Slack: destination approval required before posting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Consolas"/>
              </a:rPr>
              <a:t>08  /  EXECUTION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19222D"/>
                </a:solidFill>
                <a:latin typeface="Plus Jakarta Sans"/>
              </a:rPr>
              <a:t>次アクションとWBSへの即時反映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788796"/>
                </a:solidFill>
                <a:latin typeface="Consolas"/>
              </a:rPr>
              <a:t>08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788796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1965960" cy="132588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920240"/>
            <a:ext cx="50292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A73E8"/>
                </a:solidFill>
                <a:latin typeface="Plus Jakarta San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19222D"/>
                </a:solidFill>
                <a:latin typeface="Plus Jakarta Sans"/>
              </a:rPr>
              <a:t>PPTX生成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9192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1A73E8"/>
                </a:solidFill>
                <a:latin typeface="Consola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98648" y="1783080"/>
            <a:ext cx="1965960" cy="132588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35808" y="1920240"/>
            <a:ext cx="50292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5808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489A"/>
                </a:solidFill>
                <a:latin typeface="Plus Jakarta Sa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19222D"/>
                </a:solidFill>
                <a:latin typeface="Plus Jakarta Sans"/>
              </a:rPr>
              <a:t>権限確認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35808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1A73E8"/>
                </a:solidFill>
                <a:latin typeface="Consola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11496" y="1783080"/>
            <a:ext cx="1965960" cy="132588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48656" y="1920240"/>
            <a:ext cx="50292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656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49260"/>
                </a:solidFill>
                <a:latin typeface="Plus Jakarta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8656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19222D"/>
                </a:solidFill>
                <a:latin typeface="Plus Jakarta Sans"/>
              </a:rPr>
              <a:t>判断材料レビュー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1A73E8"/>
                </a:solidFill>
                <a:latin typeface="Consola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24344" y="1783080"/>
            <a:ext cx="1965960" cy="132588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461504" y="1920240"/>
            <a:ext cx="50292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61504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BE7C00"/>
                </a:solidFill>
                <a:latin typeface="Plus Jakarta San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1504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19222D"/>
                </a:solidFill>
                <a:latin typeface="Plus Jakarta Sans"/>
              </a:rPr>
              <a:t>最終リハーサル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 / WBS / 資料の確認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7736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1A73E8"/>
                </a:solidFill>
                <a:latin typeface="Consolas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37192" y="1783080"/>
            <a:ext cx="1965960" cy="132588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674352" y="1920240"/>
            <a:ext cx="50292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74352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BC443C"/>
                </a:solidFill>
                <a:latin typeface="Plus Jakarta Sans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4352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19222D"/>
                </a:solidFill>
                <a:latin typeface="Plus Jakarta Sans"/>
              </a:rPr>
              <a:t>社長判断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2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68680" y="3493008"/>
            <a:ext cx="1188720" cy="292608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3529584"/>
            <a:ext cx="11887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A73E8"/>
                </a:solidFill>
                <a:latin typeface="Plus Jakarta Sans"/>
              </a:rPr>
              <a:t>アクション方針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5B6978"/>
                </a:solidFill>
                <a:latin typeface="Yu Gothic"/>
              </a:rPr>
              <a:t>•  社長に決めてもらうこと: 最初の業務課題、最初の利用者、公式化する連携、公開範囲。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5B6978"/>
                </a:solidFill>
                <a:latin typeface="Yu Gothic"/>
              </a:rPr>
              <a:t>•  決定直後にやること: WBS・Calendar・Issues・Docsへ反映し、次回レビュー日を固定。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5B6978"/>
                </a:solidFill>
                <a:latin typeface="Yu Gothic"/>
              </a:rPr>
              <a:t>•  保留にすること: サービス名、課金、外部共有範囲、Slack/Notionの正式運用範囲。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A73E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5B6978"/>
                </a:solidFill>
                <a:latin typeface="Consolas"/>
              </a:rPr>
              <a:t>•  WBS: data/WBS.tsv / docs/WBS.md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5B6978"/>
                </a:solidFill>
                <a:latin typeface="Consolas"/>
              </a:rPr>
              <a:t>•  Calendar sync: scripts/sync_wbs_to_calendar.py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5B6978"/>
                </a:solidFill>
                <a:latin typeface="Consolas"/>
              </a:rPr>
              <a:t>•  Issue/Project sync: scripts/sync_wbs_to_github.py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