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1A73E8"/>
          </a:solidFill>
          <a:ln w="12700">
            <a:solidFill>
              <a:srgbClr val="1A73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347472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1">
                <a:solidFill>
                  <a:srgbClr val="1A73E8"/>
                </a:solidFill>
                <a:latin typeface="Yu Gothic"/>
              </a:rPr>
              <a:t>6/2 CEO Decision Meeting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21792"/>
            <a:ext cx="10789920" cy="6766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2800" b="1">
                <a:solidFill>
                  <a:srgbClr val="19222D"/>
                </a:solidFill>
                <a:latin typeface="Yu Gothic"/>
              </a:rPr>
              <a:t>本日決めたいこと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510528"/>
            <a:ext cx="841248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800" b="0">
                <a:solidFill>
                  <a:srgbClr val="5B6978"/>
                </a:solidFill>
                <a:latin typeface="Yu Gothic"/>
              </a:rPr>
              <a:t>01 / 08   NotebookLM CLI outline / notebook 4934c12b-b270-4739-97a1-b04b5b84eaaf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509760" y="6510528"/>
            <a:ext cx="210312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r"/>
            <a:r>
              <a:rPr sz="800" b="0">
                <a:solidFill>
                  <a:srgbClr val="5B6978"/>
                </a:solidFill>
                <a:latin typeface="Yu Gothic"/>
              </a:rPr>
              <a:t>Mighty Skill-Bridge / CEO meeting prep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417320"/>
            <a:ext cx="10698480" cy="41148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800" b="0">
                <a:solidFill>
                  <a:srgbClr val="5B6978"/>
                </a:solidFill>
                <a:latin typeface="Yu Gothic"/>
              </a:rPr>
              <a:t>企画を決め打ちする場ではなく、次の開発の向きと優先順位を決める場です。</a:t>
            </a:r>
          </a:p>
        </p:txBody>
      </p:sp>
      <p:sp>
        <p:nvSpPr>
          <p:cNvPr id="8" name="Rectangle 7"/>
          <p:cNvSpPr/>
          <p:nvPr/>
        </p:nvSpPr>
        <p:spPr>
          <a:xfrm>
            <a:off x="731520" y="2148840"/>
            <a:ext cx="3246120" cy="1298448"/>
          </a:xfrm>
          <a:prstGeom prst="rect">
            <a:avLst/>
          </a:prstGeom>
          <a:solidFill>
            <a:srgbClr val="E6F2FF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32688" y="2295144"/>
            <a:ext cx="2834640" cy="420624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2400" b="1">
                <a:solidFill>
                  <a:srgbClr val="10489A"/>
                </a:solidFill>
                <a:latin typeface="Yu Gothic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50976" y="2788920"/>
            <a:ext cx="2788920" cy="25603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200" b="1">
                <a:solidFill>
                  <a:srgbClr val="19222D"/>
                </a:solidFill>
                <a:latin typeface="Yu Gothic"/>
              </a:rPr>
              <a:t>サービス方向性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50976" y="3081528"/>
            <a:ext cx="2788920" cy="25603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0">
                <a:solidFill>
                  <a:srgbClr val="5B6978"/>
                </a:solidFill>
                <a:latin typeface="Yu Gothic"/>
              </a:rPr>
              <a:t>A/B/Cのどれを最初に育てるか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434840" y="2148840"/>
            <a:ext cx="3246120" cy="1298448"/>
          </a:xfrm>
          <a:prstGeom prst="rect">
            <a:avLst/>
          </a:prstGeom>
          <a:solidFill>
            <a:srgbClr val="E2F6EE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636007" y="2295144"/>
            <a:ext cx="2834640" cy="420624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2400" b="1">
                <a:solidFill>
                  <a:srgbClr val="10489A"/>
                </a:solidFill>
                <a:latin typeface="Yu Gothic"/>
              </a:rPr>
              <a:t>4候補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654296" y="2788920"/>
            <a:ext cx="2788920" cy="25603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200" b="1">
                <a:solidFill>
                  <a:srgbClr val="19222D"/>
                </a:solidFill>
                <a:latin typeface="Yu Gothic"/>
              </a:rPr>
              <a:t>公式化する連携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654296" y="3081528"/>
            <a:ext cx="2788920" cy="25603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0">
                <a:solidFill>
                  <a:srgbClr val="5B6978"/>
                </a:solidFill>
                <a:latin typeface="Yu Gothic"/>
              </a:rPr>
              <a:t>NotebookLM / Slack / Notion / Obsidian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138160" y="2148840"/>
            <a:ext cx="3246120" cy="1298448"/>
          </a:xfrm>
          <a:prstGeom prst="rect">
            <a:avLst/>
          </a:prstGeom>
          <a:solidFill>
            <a:srgbClr val="FFF4DA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339328" y="2295144"/>
            <a:ext cx="2834640" cy="420624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2400" b="1">
                <a:solidFill>
                  <a:srgbClr val="10489A"/>
                </a:solidFill>
                <a:latin typeface="Yu Gothic"/>
              </a:rPr>
              <a:t>即時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357616" y="2788920"/>
            <a:ext cx="2788920" cy="25603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200" b="1">
                <a:solidFill>
                  <a:srgbClr val="19222D"/>
                </a:solidFill>
                <a:latin typeface="Yu Gothic"/>
              </a:rPr>
              <a:t>打合せ後の反映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357616" y="3081528"/>
            <a:ext cx="2788920" cy="25603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0">
                <a:solidFill>
                  <a:srgbClr val="5B6978"/>
                </a:solidFill>
                <a:latin typeface="Yu Gothic"/>
              </a:rPr>
              <a:t>WBS / Calendar / Issues / Docs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41248" y="3977639"/>
            <a:ext cx="10287000" cy="841248"/>
          </a:xfrm>
          <a:prstGeom prst="rect">
            <a:avLst/>
          </a:prstGeom>
          <a:noFill/>
        </p:spPr>
        <p:txBody>
          <a:bodyPr wrap="square" lIns="73152" rIns="73152" tIns="27432" bIns="27432">
            <a:spAutoFit/>
          </a:bodyPr>
          <a:lstStyle/>
          <a:p>
            <a:pPr>
              <a:spcAft>
                <a:spcPts val="800"/>
              </a:spcAft>
              <a:defRPr sz="1600">
                <a:solidFill>
                  <a:srgbClr val="19222D"/>
                </a:solidFill>
                <a:latin typeface="Yu Gothic"/>
              </a:defRPr>
            </a:pPr>
            <a:r>
              <a:t>公開URLで動くデモと、Google Workspace同期の到達点を確認する。</a:t>
            </a:r>
          </a:p>
          <a:p>
            <a:pPr>
              <a:spcAft>
                <a:spcPts val="800"/>
              </a:spcAft>
              <a:defRPr sz="1600">
                <a:solidFill>
                  <a:srgbClr val="19222D"/>
                </a:solidFill>
                <a:latin typeface="Yu Gothic"/>
              </a:defRPr>
            </a:pPr>
            <a:r>
              <a:t>NotebookLMが生成した論点を材料に、社長への質問を短く整理する。</a:t>
            </a:r>
          </a:p>
          <a:p>
            <a:pPr>
              <a:spcAft>
                <a:spcPts val="800"/>
              </a:spcAft>
              <a:defRPr sz="1600">
                <a:solidFill>
                  <a:srgbClr val="19222D"/>
                </a:solidFill>
                <a:latin typeface="Yu Gothic"/>
              </a:defRPr>
            </a:pPr>
            <a:r>
              <a:t>未決事項は未決のまま残し、6/2後にWBSへ差し替える受け皿を用意する。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30352" y="5230368"/>
            <a:ext cx="11137392" cy="1078992"/>
          </a:xfrm>
          <a:prstGeom prst="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49808" y="5394959"/>
            <a:ext cx="128016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000" b="1">
                <a:solidFill>
                  <a:srgbClr val="1A73E8"/>
                </a:solidFill>
                <a:latin typeface="Yu Gothic"/>
              </a:rPr>
              <a:t>見せる証跡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874519" y="5358383"/>
            <a:ext cx="9464040" cy="786384"/>
          </a:xfrm>
          <a:prstGeom prst="rect">
            <a:avLst/>
          </a:prstGeom>
          <a:noFill/>
        </p:spPr>
        <p:txBody>
          <a:bodyPr wrap="square" lIns="73152" rIns="73152" tIns="27432" bIns="27432">
            <a:spAutoFit/>
          </a:bodyPr>
          <a:lstStyle/>
          <a:p>
            <a:pPr>
              <a:spcAft>
                <a:spcPts val="800"/>
              </a:spcAft>
              <a:defRPr sz="1100">
                <a:solidFill>
                  <a:srgbClr val="19222D"/>
                </a:solidFill>
                <a:latin typeface="Yu Gothic"/>
              </a:defRPr>
            </a:pPr>
            <a:r>
              <a:t>CEO slide outline: exports/knowledge_flow/notebooklm_ceo_slide_outline.md</a:t>
            </a:r>
          </a:p>
          <a:p>
            <a:pPr>
              <a:spcAft>
                <a:spcPts val="800"/>
              </a:spcAft>
              <a:defRPr sz="1100">
                <a:solidFill>
                  <a:srgbClr val="19222D"/>
                </a:solidFill>
                <a:latin typeface="Yu Gothic"/>
              </a:defRPr>
            </a:pPr>
            <a:r>
              <a:t>PPTX: exports/knowledge_flow/mighty_skill_bridge_ceo_presentation_2026-06-02.pptx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1A73E8"/>
          </a:solidFill>
          <a:ln w="12700">
            <a:solidFill>
              <a:srgbClr val="1A73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347472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1">
                <a:solidFill>
                  <a:srgbClr val="1A73E8"/>
                </a:solidFill>
                <a:latin typeface="Yu Gothic"/>
              </a:rPr>
              <a:t>Prototype Status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21792"/>
            <a:ext cx="10789920" cy="6766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2800" b="1">
                <a:solidFill>
                  <a:srgbClr val="19222D"/>
                </a:solidFill>
                <a:latin typeface="Yu Gothic"/>
              </a:rPr>
              <a:t>現在の到達点と公開デモ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510528"/>
            <a:ext cx="841248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800" b="0">
                <a:solidFill>
                  <a:srgbClr val="5B6978"/>
                </a:solidFill>
                <a:latin typeface="Yu Gothic"/>
              </a:rPr>
              <a:t>02 / 08   NotebookLM CLI outline / notebook 4934c12b-b270-4739-97a1-b04b5b84eaaf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509760" y="6510528"/>
            <a:ext cx="210312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r"/>
            <a:r>
              <a:rPr sz="800" b="0">
                <a:solidFill>
                  <a:srgbClr val="5B6978"/>
                </a:solidFill>
                <a:latin typeface="Yu Gothic"/>
              </a:rPr>
              <a:t>Mighty Skill-Bridge / CEO meeting prep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389888"/>
            <a:ext cx="10698480" cy="34747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700" b="0">
                <a:solidFill>
                  <a:srgbClr val="5B6978"/>
                </a:solidFill>
                <a:latin typeface="Yu Gothic"/>
              </a:rPr>
              <a:t>社長に見せる公開URLは、UIデグレを防ぐガードを通して維持します。</a:t>
            </a:r>
          </a:p>
        </p:txBody>
      </p:sp>
      <p:sp>
        <p:nvSpPr>
          <p:cNvPr id="8" name="Rectangle 7"/>
          <p:cNvSpPr/>
          <p:nvPr/>
        </p:nvSpPr>
        <p:spPr>
          <a:xfrm>
            <a:off x="731520" y="1938528"/>
            <a:ext cx="3246120" cy="1298448"/>
          </a:xfrm>
          <a:prstGeom prst="rect">
            <a:avLst/>
          </a:prstGeom>
          <a:solidFill>
            <a:srgbClr val="E2F6EE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32688" y="2084832"/>
            <a:ext cx="2834640" cy="420624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2400" b="1">
                <a:solidFill>
                  <a:srgbClr val="10489A"/>
                </a:solidFill>
                <a:latin typeface="Yu Gothic"/>
              </a:rPr>
              <a:t>PASS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50976" y="2578608"/>
            <a:ext cx="2788920" cy="25603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200" b="1">
                <a:solidFill>
                  <a:srgbClr val="19222D"/>
                </a:solidFill>
                <a:latin typeface="Yu Gothic"/>
              </a:rPr>
              <a:t>Public Demo Guard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50976" y="2871216"/>
            <a:ext cx="2788920" cy="25603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0">
                <a:solidFill>
                  <a:srgbClr val="5B6978"/>
                </a:solidFill>
                <a:latin typeface="Yu Gothic"/>
              </a:rPr>
              <a:t>公開URLのREADME fallbackを検知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434840" y="1938528"/>
            <a:ext cx="3246120" cy="1298448"/>
          </a:xfrm>
          <a:prstGeom prst="rect">
            <a:avLst/>
          </a:prstGeom>
          <a:solidFill>
            <a:srgbClr val="E6F2FF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636007" y="2084832"/>
            <a:ext cx="2834640" cy="420624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2400" b="1">
                <a:solidFill>
                  <a:srgbClr val="10489A"/>
                </a:solidFill>
                <a:latin typeface="Yu Gothic"/>
              </a:rPr>
              <a:t>LIVE/MOCK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654296" y="2578608"/>
            <a:ext cx="2788920" cy="25603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200" b="1">
                <a:solidFill>
                  <a:srgbClr val="19222D"/>
                </a:solidFill>
                <a:latin typeface="Yu Gothic"/>
              </a:rPr>
              <a:t>AI fallback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654296" y="2871216"/>
            <a:ext cx="2788920" cy="25603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0">
                <a:solidFill>
                  <a:srgbClr val="5B6978"/>
                </a:solidFill>
                <a:latin typeface="Yu Gothic"/>
              </a:rPr>
              <a:t>Gemini quota中も停止しない構成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138160" y="1938528"/>
            <a:ext cx="3246120" cy="1298448"/>
          </a:xfrm>
          <a:prstGeom prst="rect">
            <a:avLst/>
          </a:prstGeom>
          <a:solidFill>
            <a:srgbClr val="FFF4DA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339328" y="2084832"/>
            <a:ext cx="2834640" cy="420624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2400" b="1">
                <a:solidFill>
                  <a:srgbClr val="10489A"/>
                </a:solidFill>
                <a:latin typeface="Yu Gothic"/>
              </a:rPr>
              <a:t>358 tasks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357616" y="2578608"/>
            <a:ext cx="2788920" cy="25603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200" b="1">
                <a:solidFill>
                  <a:srgbClr val="19222D"/>
                </a:solidFill>
                <a:latin typeface="Yu Gothic"/>
              </a:rPr>
              <a:t>WBS sync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357616" y="2871216"/>
            <a:ext cx="2788920" cy="25603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0">
                <a:solidFill>
                  <a:srgbClr val="5B6978"/>
                </a:solidFill>
                <a:latin typeface="Yu Gothic"/>
              </a:rPr>
              <a:t>Sheets / Calendarへ同期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41248" y="3794760"/>
            <a:ext cx="10241280" cy="896112"/>
          </a:xfrm>
          <a:prstGeom prst="rect">
            <a:avLst/>
          </a:prstGeom>
          <a:noFill/>
        </p:spPr>
        <p:txBody>
          <a:bodyPr wrap="square" lIns="73152" rIns="73152" tIns="27432" bIns="27432">
            <a:spAutoFit/>
          </a:bodyPr>
          <a:lstStyle/>
          <a:p>
            <a:pPr>
              <a:spcAft>
                <a:spcPts val="800"/>
              </a:spcAft>
              <a:defRPr sz="1600">
                <a:solidFill>
                  <a:srgbClr val="19222D"/>
                </a:solidFill>
                <a:latin typeface="Yu Gothic"/>
              </a:defRPr>
            </a:pPr>
            <a:r>
              <a:t>経歴書・案件票から4軸フィット診断へ進むUIを維持。</a:t>
            </a:r>
          </a:p>
          <a:p>
            <a:pPr>
              <a:spcAft>
                <a:spcPts val="800"/>
              </a:spcAft>
              <a:defRPr sz="1600">
                <a:solidFill>
                  <a:srgbClr val="19222D"/>
                </a:solidFill>
                <a:latin typeface="Yu Gothic"/>
              </a:defRPr>
            </a:pPr>
            <a:r>
              <a:t>Gemini制限中はdeterministic fallbackとCodexで開発を継続。</a:t>
            </a:r>
          </a:p>
          <a:p>
            <a:pPr>
              <a:spcAft>
                <a:spcPts val="800"/>
              </a:spcAft>
              <a:defRPr sz="1600">
                <a:solidFill>
                  <a:srgbClr val="19222D"/>
                </a:solidFill>
                <a:latin typeface="Yu Gothic"/>
              </a:defRPr>
            </a:pPr>
            <a:r>
              <a:t>公開URLは社長共有済みのため、push前後のPublic Demo Guardを必須化。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30352" y="5230368"/>
            <a:ext cx="11137392" cy="1078992"/>
          </a:xfrm>
          <a:prstGeom prst="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49808" y="5394959"/>
            <a:ext cx="128016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000" b="1">
                <a:solidFill>
                  <a:srgbClr val="1A73E8"/>
                </a:solidFill>
                <a:latin typeface="Yu Gothic"/>
              </a:rPr>
              <a:t>見せる証跡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874519" y="5358383"/>
            <a:ext cx="9464040" cy="786384"/>
          </a:xfrm>
          <a:prstGeom prst="rect">
            <a:avLst/>
          </a:prstGeom>
          <a:noFill/>
        </p:spPr>
        <p:txBody>
          <a:bodyPr wrap="square" lIns="73152" rIns="73152" tIns="27432" bIns="27432">
            <a:spAutoFit/>
          </a:bodyPr>
          <a:lstStyle/>
          <a:p>
            <a:pPr>
              <a:spcAft>
                <a:spcPts val="800"/>
              </a:spcAft>
              <a:defRPr sz="1100">
                <a:solidFill>
                  <a:srgbClr val="19222D"/>
                </a:solidFill>
                <a:latin typeface="Yu Gothic"/>
              </a:defRPr>
            </a:pPr>
            <a:r>
              <a:t>Public URL: https://kanta13jp1.github.io/mighty-link-ai-connect/</a:t>
            </a:r>
          </a:p>
          <a:p>
            <a:pPr>
              <a:spcAft>
                <a:spcPts val="800"/>
              </a:spcAft>
              <a:defRPr sz="1100">
                <a:solidFill>
                  <a:srgbClr val="19222D"/>
                </a:solidFill>
                <a:latin typeface="Yu Gothic"/>
              </a:defRPr>
            </a:pPr>
            <a:r>
              <a:t>Guard script: scripts/verify_public_demo.py</a:t>
            </a:r>
          </a:p>
          <a:p>
            <a:pPr>
              <a:spcAft>
                <a:spcPts val="800"/>
              </a:spcAft>
              <a:defRPr sz="1100">
                <a:solidFill>
                  <a:srgbClr val="19222D"/>
                </a:solidFill>
                <a:latin typeface="Yu Gothic"/>
              </a:defRPr>
            </a:pPr>
            <a:r>
              <a:t>Quota-safe flow: docs/CODEX_CONTINUATION_NOTES.md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1A73E8"/>
          </a:solidFill>
          <a:ln w="12700">
            <a:solidFill>
              <a:srgbClr val="1A73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347472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1">
                <a:solidFill>
                  <a:srgbClr val="1A73E8"/>
                </a:solidFill>
                <a:latin typeface="Yu Gothic"/>
              </a:rPr>
              <a:t>Google Workspace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21792"/>
            <a:ext cx="10789920" cy="6766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2800" b="1">
                <a:solidFill>
                  <a:srgbClr val="19222D"/>
                </a:solidFill>
                <a:latin typeface="Yu Gothic"/>
              </a:rPr>
              <a:t>Google Workspaceで進捗が回る基盤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510528"/>
            <a:ext cx="841248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800" b="0">
                <a:solidFill>
                  <a:srgbClr val="5B6978"/>
                </a:solidFill>
                <a:latin typeface="Yu Gothic"/>
              </a:rPr>
              <a:t>03 / 08   NotebookLM CLI outline / notebook 4934c12b-b270-4739-97a1-b04b5b84eaaf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509760" y="6510528"/>
            <a:ext cx="210312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r"/>
            <a:r>
              <a:rPr sz="800" b="0">
                <a:solidFill>
                  <a:srgbClr val="5B6978"/>
                </a:solidFill>
                <a:latin typeface="Yu Gothic"/>
              </a:rPr>
              <a:t>Mighty Skill-Bridge / CEO meeting prep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49808" y="2011680"/>
            <a:ext cx="2103120" cy="914400"/>
          </a:xfrm>
          <a:prstGeom prst="roundRect">
            <a:avLst/>
          </a:prstGeom>
          <a:solidFill>
            <a:srgbClr val="E6F2FF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96112" y="2176272"/>
            <a:ext cx="178308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300" b="1">
                <a:solidFill>
                  <a:srgbClr val="19222D"/>
                </a:solidFill>
                <a:latin typeface="Yu Gothic"/>
              </a:rPr>
              <a:t>Codex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2487168"/>
            <a:ext cx="173736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800" b="0">
                <a:solidFill>
                  <a:srgbClr val="5B6978"/>
                </a:solidFill>
                <a:latin typeface="Yu Gothic"/>
              </a:rPr>
              <a:t>実装・文書・WBS更新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2980944" y="2011680"/>
            <a:ext cx="2103120" cy="914400"/>
          </a:xfrm>
          <a:prstGeom prst="round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127248" y="2176272"/>
            <a:ext cx="178308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300" b="1">
                <a:solidFill>
                  <a:srgbClr val="19222D"/>
                </a:solidFill>
                <a:latin typeface="Yu Gothic"/>
              </a:rPr>
              <a:t>WBS.tsv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145536" y="2487168"/>
            <a:ext cx="173736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800" b="0">
                <a:solidFill>
                  <a:srgbClr val="5B6978"/>
                </a:solidFill>
                <a:latin typeface="Yu Gothic"/>
              </a:rPr>
              <a:t>日程と状態の主ソース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212080" y="2011680"/>
            <a:ext cx="2103120" cy="914400"/>
          </a:xfrm>
          <a:prstGeom prst="roundRect">
            <a:avLst/>
          </a:prstGeom>
          <a:solidFill>
            <a:srgbClr val="E2F6EE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358384" y="2176272"/>
            <a:ext cx="178308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300" b="1">
                <a:solidFill>
                  <a:srgbClr val="19222D"/>
                </a:solidFill>
                <a:latin typeface="Yu Gothic"/>
              </a:rPr>
              <a:t>Google Sheets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376672" y="2487168"/>
            <a:ext cx="173736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800" b="0">
                <a:solidFill>
                  <a:srgbClr val="5B6978"/>
                </a:solidFill>
                <a:latin typeface="Yu Gothic"/>
              </a:rPr>
              <a:t>CATS型WBS / Summary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443216" y="2011680"/>
            <a:ext cx="2103120" cy="914400"/>
          </a:xfrm>
          <a:prstGeom prst="roundRect">
            <a:avLst/>
          </a:prstGeom>
          <a:solidFill>
            <a:srgbClr val="FFF4DA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589520" y="2176272"/>
            <a:ext cx="178308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300" b="1">
                <a:solidFill>
                  <a:srgbClr val="19222D"/>
                </a:solidFill>
                <a:latin typeface="Yu Gothic"/>
              </a:rPr>
              <a:t>Calendar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607808" y="2487168"/>
            <a:ext cx="173736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800" b="0">
                <a:solidFill>
                  <a:srgbClr val="5B6978"/>
                </a:solidFill>
                <a:latin typeface="Yu Gothic"/>
              </a:rPr>
              <a:t>開発予定を同期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9674352" y="2011680"/>
            <a:ext cx="2103120" cy="914400"/>
          </a:xfrm>
          <a:prstGeom prst="roundRect">
            <a:avLst/>
          </a:prstGeom>
          <a:solidFill>
            <a:srgbClr val="E6F2FF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820656" y="2176272"/>
            <a:ext cx="178308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300" b="1">
                <a:solidFill>
                  <a:srgbClr val="19222D"/>
                </a:solidFill>
                <a:latin typeface="Yu Gothic"/>
              </a:rPr>
              <a:t>Docs / Drive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838944" y="2487168"/>
            <a:ext cx="173736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800" b="0">
                <a:solidFill>
                  <a:srgbClr val="5B6978"/>
                </a:solidFill>
                <a:latin typeface="Yu Gothic"/>
              </a:rPr>
              <a:t>NotebookLM投入資料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578608" y="2267712"/>
            <a:ext cx="320040" cy="36576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2000" b="1">
                <a:solidFill>
                  <a:srgbClr val="1A73E8"/>
                </a:solidFill>
                <a:latin typeface="Yu Gothic"/>
              </a:rPr>
              <a:t>→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809744" y="2267712"/>
            <a:ext cx="320040" cy="36576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2000" b="1">
                <a:solidFill>
                  <a:srgbClr val="1A73E8"/>
                </a:solidFill>
                <a:latin typeface="Yu Gothic"/>
              </a:rPr>
              <a:t>→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040880" y="2267712"/>
            <a:ext cx="320040" cy="36576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2000" b="1">
                <a:solidFill>
                  <a:srgbClr val="1A73E8"/>
                </a:solidFill>
                <a:latin typeface="Yu Gothic"/>
              </a:rPr>
              <a:t>→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272016" y="2267712"/>
            <a:ext cx="320040" cy="36576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2000" b="1">
                <a:solidFill>
                  <a:srgbClr val="1A73E8"/>
                </a:solidFill>
                <a:latin typeface="Yu Gothic"/>
              </a:rPr>
              <a:t>→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14400" y="3730752"/>
            <a:ext cx="9966960" cy="841248"/>
          </a:xfrm>
          <a:prstGeom prst="rect">
            <a:avLst/>
          </a:prstGeom>
          <a:noFill/>
        </p:spPr>
        <p:txBody>
          <a:bodyPr wrap="square" lIns="73152" rIns="73152" tIns="27432" bIns="27432">
            <a:spAutoFit/>
          </a:bodyPr>
          <a:lstStyle/>
          <a:p>
            <a:pPr>
              <a:spcAft>
                <a:spcPts val="800"/>
              </a:spcAft>
              <a:defRPr sz="1600">
                <a:solidFill>
                  <a:srgbClr val="19222D"/>
                </a:solidFill>
                <a:latin typeface="Yu Gothic"/>
              </a:defRPr>
            </a:pPr>
            <a:r>
              <a:t>OAuth実行アカウントは k-umezawa@ml-mightylink.com に固定。</a:t>
            </a:r>
          </a:p>
          <a:p>
            <a:pPr>
              <a:spcAft>
                <a:spcPts val="800"/>
              </a:spcAft>
              <a:defRPr sz="1600">
                <a:solidFill>
                  <a:srgbClr val="19222D"/>
                </a:solidFill>
                <a:latin typeface="Yu Gothic"/>
              </a:defRPr>
            </a:pPr>
            <a:r>
              <a:t>WBSはGoogle Sheetsへ、主要予定はCalendarへ同期。</a:t>
            </a:r>
          </a:p>
          <a:p>
            <a:pPr>
              <a:spcAft>
                <a:spcPts val="800"/>
              </a:spcAft>
              <a:defRPr sz="1600">
                <a:solidFill>
                  <a:srgbClr val="19222D"/>
                </a:solidFill>
                <a:latin typeface="Yu Gothic"/>
              </a:defRPr>
            </a:pPr>
            <a:r>
              <a:t>docs配下はGoogle Docs化し、NotebookLM sourceとして再利用。</a:t>
            </a:r>
          </a:p>
        </p:txBody>
      </p:sp>
      <p:sp>
        <p:nvSpPr>
          <p:cNvPr id="27" name="Rectangle 26"/>
          <p:cNvSpPr/>
          <p:nvPr/>
        </p:nvSpPr>
        <p:spPr>
          <a:xfrm>
            <a:off x="530352" y="5230368"/>
            <a:ext cx="11137392" cy="1078992"/>
          </a:xfrm>
          <a:prstGeom prst="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49808" y="5394959"/>
            <a:ext cx="128016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000" b="1">
                <a:solidFill>
                  <a:srgbClr val="1A73E8"/>
                </a:solidFill>
                <a:latin typeface="Yu Gothic"/>
              </a:rPr>
              <a:t>見せる証跡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874519" y="5358383"/>
            <a:ext cx="9464040" cy="786384"/>
          </a:xfrm>
          <a:prstGeom prst="rect">
            <a:avLst/>
          </a:prstGeom>
          <a:noFill/>
        </p:spPr>
        <p:txBody>
          <a:bodyPr wrap="square" lIns="73152" rIns="73152" tIns="27432" bIns="27432">
            <a:spAutoFit/>
          </a:bodyPr>
          <a:lstStyle/>
          <a:p>
            <a:pPr>
              <a:spcAft>
                <a:spcPts val="800"/>
              </a:spcAft>
              <a:defRPr sz="1100">
                <a:solidFill>
                  <a:srgbClr val="19222D"/>
                </a:solidFill>
                <a:latin typeface="Yu Gothic"/>
              </a:defRPr>
            </a:pPr>
            <a:r>
              <a:t>Workspace account: k-umezawa@ml-mightylink.com</a:t>
            </a:r>
          </a:p>
          <a:p>
            <a:pPr>
              <a:spcAft>
                <a:spcPts val="800"/>
              </a:spcAft>
              <a:defRPr sz="1100">
                <a:solidFill>
                  <a:srgbClr val="19222D"/>
                </a:solidFill>
                <a:latin typeface="Yu Gothic"/>
              </a:defRPr>
            </a:pPr>
            <a:r>
              <a:t>NotebookLM sources ready: 158</a:t>
            </a:r>
          </a:p>
          <a:p>
            <a:pPr>
              <a:spcAft>
                <a:spcPts val="800"/>
              </a:spcAft>
              <a:defRPr sz="1100">
                <a:solidFill>
                  <a:srgbClr val="19222D"/>
                </a:solidFill>
                <a:latin typeface="Yu Gothic"/>
              </a:defRPr>
            </a:pPr>
            <a:r>
              <a:t>Spreadsheet ID: 1L99HCBHr4IsVUWqnUuG6OgoUmxEQUdfaYQim1n6etB8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1A73E8"/>
          </a:solidFill>
          <a:ln w="12700">
            <a:solidFill>
              <a:srgbClr val="1A73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347472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1">
                <a:solidFill>
                  <a:srgbClr val="1A73E8"/>
                </a:solidFill>
                <a:latin typeface="Yu Gothic"/>
              </a:rPr>
              <a:t>Knowledge Flow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21792"/>
            <a:ext cx="10789920" cy="6766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2800" b="1">
                <a:solidFill>
                  <a:srgbClr val="19222D"/>
                </a:solidFill>
                <a:latin typeface="Yu Gothic"/>
              </a:rPr>
              <a:t>開発ナレッジ連携の実績とデモ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510528"/>
            <a:ext cx="841248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800" b="0">
                <a:solidFill>
                  <a:srgbClr val="5B6978"/>
                </a:solidFill>
                <a:latin typeface="Yu Gothic"/>
              </a:rPr>
              <a:t>04 / 08   NotebookLM CLI outline / notebook 4934c12b-b270-4739-97a1-b04b5b84eaaf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509760" y="6510528"/>
            <a:ext cx="210312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r"/>
            <a:r>
              <a:rPr sz="800" b="0">
                <a:solidFill>
                  <a:srgbClr val="5B6978"/>
                </a:solidFill>
                <a:latin typeface="Yu Gothic"/>
              </a:rPr>
              <a:t>Mighty Skill-Bridge / CEO meeting prep</a:t>
            </a:r>
          </a:p>
        </p:txBody>
      </p:sp>
      <p:sp>
        <p:nvSpPr>
          <p:cNvPr id="7" name="Rectangle 6"/>
          <p:cNvSpPr/>
          <p:nvPr/>
        </p:nvSpPr>
        <p:spPr>
          <a:xfrm>
            <a:off x="713232" y="1874519"/>
            <a:ext cx="2450592" cy="2487168"/>
          </a:xfrm>
          <a:prstGeom prst="rect">
            <a:avLst/>
          </a:prstGeom>
          <a:solidFill>
            <a:srgbClr val="E6F2FF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914400" y="2084831"/>
            <a:ext cx="1234440" cy="34747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87552" y="2135124"/>
            <a:ext cx="1088136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000" b="1">
                <a:solidFill>
                  <a:srgbClr val="10489A"/>
                </a:solidFill>
                <a:latin typeface="Yu Gothic"/>
              </a:rPr>
              <a:t>完了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2578608"/>
            <a:ext cx="2011680" cy="29260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600" b="1">
                <a:solidFill>
                  <a:srgbClr val="19222D"/>
                </a:solidFill>
                <a:latin typeface="Yu Gothic"/>
              </a:rPr>
              <a:t>NotebookLM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3063240"/>
            <a:ext cx="1993392" cy="65836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100" b="0">
                <a:solidFill>
                  <a:srgbClr val="5B6978"/>
                </a:solidFill>
                <a:latin typeface="Yu Gothic"/>
              </a:rPr>
              <a:t>22 source ready
Agent Brief / CEO outline取得済み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529584" y="1874519"/>
            <a:ext cx="2450592" cy="2487168"/>
          </a:xfrm>
          <a:prstGeom prst="rect">
            <a:avLst/>
          </a:prstGeom>
          <a:solidFill>
            <a:srgbClr val="FFF4DA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3730752" y="2084831"/>
            <a:ext cx="1234440" cy="34747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803904" y="2135124"/>
            <a:ext cx="1088136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000" b="1">
                <a:solidFill>
                  <a:srgbClr val="10489A"/>
                </a:solidFill>
                <a:latin typeface="Yu Gothic"/>
              </a:rPr>
              <a:t>権限確認待ち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730752" y="2578608"/>
            <a:ext cx="2011680" cy="29260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600" b="1">
                <a:solidFill>
                  <a:srgbClr val="19222D"/>
                </a:solidFill>
                <a:latin typeface="Yu Gothic"/>
              </a:rPr>
              <a:t>Slack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730752" y="3063240"/>
            <a:ext cx="1993392" cy="65836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100" b="0">
                <a:solidFill>
                  <a:srgbClr val="5B6978"/>
                </a:solidFill>
                <a:latin typeface="Yu Gothic"/>
              </a:rPr>
              <a:t>投稿案生成済み
CLI/MCP送信ツールは未露出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345936" y="1874519"/>
            <a:ext cx="2450592" cy="2487168"/>
          </a:xfrm>
          <a:prstGeom prst="rect">
            <a:avLst/>
          </a:prstGeom>
          <a:solidFill>
            <a:srgbClr val="E2F6EE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6547104" y="2084831"/>
            <a:ext cx="1234440" cy="34747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620256" y="2135124"/>
            <a:ext cx="1088136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000" b="1">
                <a:solidFill>
                  <a:srgbClr val="10489A"/>
                </a:solidFill>
                <a:latin typeface="Yu Gothic"/>
              </a:rPr>
              <a:t>MCP実行済み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547104" y="2578608"/>
            <a:ext cx="2011680" cy="29260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600" b="1">
                <a:solidFill>
                  <a:srgbClr val="19222D"/>
                </a:solidFill>
                <a:latin typeface="Yu Gothic"/>
              </a:rPr>
              <a:t>Notion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547104" y="3063240"/>
            <a:ext cx="1993392" cy="65836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100" b="0">
                <a:solidFill>
                  <a:srgbClr val="5B6978"/>
                </a:solidFill>
                <a:latin typeface="Yu Gothic"/>
              </a:rPr>
              <a:t>証跡ページ作成
意思決定DB候補を管理</a:t>
            </a:r>
          </a:p>
        </p:txBody>
      </p:sp>
      <p:sp>
        <p:nvSpPr>
          <p:cNvPr id="22" name="Rectangle 21"/>
          <p:cNvSpPr/>
          <p:nvPr/>
        </p:nvSpPr>
        <p:spPr>
          <a:xfrm>
            <a:off x="9162288" y="1874519"/>
            <a:ext cx="2450592" cy="2487168"/>
          </a:xfrm>
          <a:prstGeom prst="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9363456" y="2084831"/>
            <a:ext cx="1234440" cy="34747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436608" y="2135124"/>
            <a:ext cx="1088136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000" b="1">
                <a:solidFill>
                  <a:srgbClr val="10489A"/>
                </a:solidFill>
                <a:latin typeface="Yu Gothic"/>
              </a:rPr>
              <a:t>完了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363456" y="2578608"/>
            <a:ext cx="2011680" cy="29260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600" b="1">
                <a:solidFill>
                  <a:srgbClr val="19222D"/>
                </a:solidFill>
                <a:latin typeface="Yu Gothic"/>
              </a:rPr>
              <a:t>Obsidian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363456" y="3063240"/>
            <a:ext cx="1993392" cy="65836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100" b="0">
                <a:solidFill>
                  <a:srgbClr val="5B6978"/>
                </a:solidFill>
                <a:latin typeface="Yu Gothic"/>
              </a:rPr>
              <a:t>ローカルvault生成
ADR / Prompt / Meeting導線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41248" y="4572000"/>
            <a:ext cx="10332720" cy="603504"/>
          </a:xfrm>
          <a:prstGeom prst="rect">
            <a:avLst/>
          </a:prstGeom>
          <a:noFill/>
        </p:spPr>
        <p:txBody>
          <a:bodyPr wrap="square" lIns="73152" rIns="73152" tIns="27432" bIns="27432">
            <a:spAutoFit/>
          </a:bodyPr>
          <a:lstStyle/>
          <a:p>
            <a:pPr>
              <a:spcAft>
                <a:spcPts val="800"/>
              </a:spcAft>
              <a:defRPr sz="1400">
                <a:solidFill>
                  <a:srgbClr val="19222D"/>
                </a:solidFill>
                <a:latin typeface="Yu Gothic"/>
              </a:defRPr>
            </a:pPr>
            <a:r>
              <a:t>NotebookLMはプレゼンの草案作成に使い、AIエージェントの開発入力にもする。</a:t>
            </a:r>
          </a:p>
          <a:p>
            <a:pPr>
              <a:spcAft>
                <a:spcPts val="800"/>
              </a:spcAft>
              <a:defRPr sz="1400">
                <a:solidFill>
                  <a:srgbClr val="19222D"/>
                </a:solidFill>
                <a:latin typeface="Yu Gothic"/>
              </a:defRPr>
            </a:pPr>
            <a:r>
              <a:t>Slackは投稿先と共有範囲の社長確認後に実送信へ進める。</a:t>
            </a:r>
          </a:p>
          <a:p>
            <a:pPr>
              <a:spcAft>
                <a:spcPts val="800"/>
              </a:spcAft>
              <a:defRPr sz="1400">
                <a:solidFill>
                  <a:srgbClr val="19222D"/>
                </a:solidFill>
                <a:latin typeface="Yu Gothic"/>
              </a:defRPr>
            </a:pPr>
            <a:r>
              <a:t>Notionは議事録・意思決定・バックログの公式台帳候補、Obsidianはローカル思考メモ候補。</a:t>
            </a:r>
          </a:p>
        </p:txBody>
      </p:sp>
      <p:sp>
        <p:nvSpPr>
          <p:cNvPr id="28" name="Rectangle 27"/>
          <p:cNvSpPr/>
          <p:nvPr/>
        </p:nvSpPr>
        <p:spPr>
          <a:xfrm>
            <a:off x="530352" y="5413248"/>
            <a:ext cx="11137392" cy="1078992"/>
          </a:xfrm>
          <a:prstGeom prst="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749808" y="5577840"/>
            <a:ext cx="128016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000" b="1">
                <a:solidFill>
                  <a:srgbClr val="1A73E8"/>
                </a:solidFill>
                <a:latin typeface="Yu Gothic"/>
              </a:rPr>
              <a:t>見せる証跡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874519" y="5541264"/>
            <a:ext cx="9464040" cy="786384"/>
          </a:xfrm>
          <a:prstGeom prst="rect">
            <a:avLst/>
          </a:prstGeom>
          <a:noFill/>
        </p:spPr>
        <p:txBody>
          <a:bodyPr wrap="square" lIns="73152" rIns="73152" tIns="27432" bIns="27432">
            <a:spAutoFit/>
          </a:bodyPr>
          <a:lstStyle/>
          <a:p>
            <a:pPr>
              <a:spcAft>
                <a:spcPts val="800"/>
              </a:spcAft>
              <a:defRPr sz="1100">
                <a:solidFill>
                  <a:srgbClr val="19222D"/>
                </a:solidFill>
                <a:latin typeface="Yu Gothic"/>
              </a:defRPr>
            </a:pPr>
            <a:r>
              <a:t>Notion evidence page: https://www.notion.so/3671d736b9db818aaa33da0a5f1a3951</a:t>
            </a:r>
          </a:p>
          <a:p>
            <a:pPr>
              <a:spcAft>
                <a:spcPts val="800"/>
              </a:spcAft>
              <a:defRPr sz="1100">
                <a:solidFill>
                  <a:srgbClr val="19222D"/>
                </a:solidFill>
                <a:latin typeface="Yu Gothic"/>
              </a:defRPr>
            </a:pPr>
            <a:r>
              <a:t>Slack draft: exports/knowledge_flow/slack_ceo_update.md</a:t>
            </a:r>
          </a:p>
          <a:p>
            <a:pPr>
              <a:spcAft>
                <a:spcPts val="800"/>
              </a:spcAft>
              <a:defRPr sz="1100">
                <a:solidFill>
                  <a:srgbClr val="19222D"/>
                </a:solidFill>
                <a:latin typeface="Yu Gothic"/>
              </a:defRPr>
            </a:pPr>
            <a:r>
              <a:t>Obsidian vault: exports/knowledge_flow/obsidian_vault/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1A73E8"/>
          </a:solidFill>
          <a:ln w="12700">
            <a:solidFill>
              <a:srgbClr val="1A73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347472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1">
                <a:solidFill>
                  <a:srgbClr val="1A73E8"/>
                </a:solidFill>
                <a:latin typeface="Yu Gothic"/>
              </a:rPr>
              <a:t>NotebookLM to PPTX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21792"/>
            <a:ext cx="10789920" cy="6766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2800" b="1">
                <a:solidFill>
                  <a:srgbClr val="19222D"/>
                </a:solidFill>
                <a:latin typeface="Yu Gothic"/>
              </a:rPr>
              <a:t>NotebookLMからPPTXへ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510528"/>
            <a:ext cx="841248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800" b="0">
                <a:solidFill>
                  <a:srgbClr val="5B6978"/>
                </a:solidFill>
                <a:latin typeface="Yu Gothic"/>
              </a:rPr>
              <a:t>05 / 08   NotebookLM CLI outline / notebook 4934c12b-b270-4739-97a1-b04b5b84eaaf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509760" y="6510528"/>
            <a:ext cx="210312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r"/>
            <a:r>
              <a:rPr sz="800" b="0">
                <a:solidFill>
                  <a:srgbClr val="5B6978"/>
                </a:solidFill>
                <a:latin typeface="Yu Gothic"/>
              </a:rPr>
              <a:t>Mighty Skill-Bridge / CEO meeting prep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914400" y="1874519"/>
            <a:ext cx="2103120" cy="914400"/>
          </a:xfrm>
          <a:prstGeom prst="round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60704" y="2039112"/>
            <a:ext cx="178308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300" b="1">
                <a:solidFill>
                  <a:srgbClr val="19222D"/>
                </a:solidFill>
                <a:latin typeface="Yu Gothic"/>
              </a:rPr>
              <a:t>docs/ + WBS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78992" y="2350008"/>
            <a:ext cx="173736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800" b="0">
                <a:solidFill>
                  <a:srgbClr val="5B6978"/>
                </a:solidFill>
                <a:latin typeface="Yu Gothic"/>
              </a:rPr>
              <a:t>公式手順・WBSを同期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182112" y="2139696"/>
            <a:ext cx="320040" cy="36576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2000" b="1">
                <a:solidFill>
                  <a:srgbClr val="1A73E8"/>
                </a:solidFill>
                <a:latin typeface="Yu Gothic"/>
              </a:rPr>
              <a:t>→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611880" y="1874519"/>
            <a:ext cx="2103120" cy="914400"/>
          </a:xfrm>
          <a:prstGeom prst="roundRect">
            <a:avLst/>
          </a:prstGeom>
          <a:solidFill>
            <a:srgbClr val="E6F2FF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758184" y="2039112"/>
            <a:ext cx="178308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300" b="1">
                <a:solidFill>
                  <a:srgbClr val="19222D"/>
                </a:solidFill>
                <a:latin typeface="Yu Gothic"/>
              </a:rPr>
              <a:t>Google Docs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776472" y="2350008"/>
            <a:ext cx="173736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800" b="0">
                <a:solidFill>
                  <a:srgbClr val="5B6978"/>
                </a:solidFill>
                <a:latin typeface="Yu Gothic"/>
              </a:rPr>
              <a:t>Workspace所有で22件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879592" y="2139696"/>
            <a:ext cx="320040" cy="36576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2000" b="1">
                <a:solidFill>
                  <a:srgbClr val="1A73E8"/>
                </a:solidFill>
                <a:latin typeface="Yu Gothic"/>
              </a:rPr>
              <a:t>→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309360" y="1874519"/>
            <a:ext cx="2103120" cy="914400"/>
          </a:xfrm>
          <a:prstGeom prst="roundRect">
            <a:avLst/>
          </a:prstGeom>
          <a:solidFill>
            <a:srgbClr val="E2F6EE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55664" y="2039112"/>
            <a:ext cx="178308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300" b="1">
                <a:solidFill>
                  <a:srgbClr val="19222D"/>
                </a:solidFill>
                <a:latin typeface="Yu Gothic"/>
              </a:rPr>
              <a:t>NotebookLM CLI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73952" y="2350008"/>
            <a:ext cx="173736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800" b="0">
                <a:solidFill>
                  <a:srgbClr val="5B6978"/>
                </a:solidFill>
                <a:latin typeface="Yu Gothic"/>
              </a:rPr>
              <a:t>要約・QA・8枚構成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577072" y="2139696"/>
            <a:ext cx="320040" cy="36576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2000" b="1">
                <a:solidFill>
                  <a:srgbClr val="1A73E8"/>
                </a:solidFill>
                <a:latin typeface="Yu Gothic"/>
              </a:rPr>
              <a:t>→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9006840" y="1874519"/>
            <a:ext cx="2103120" cy="914400"/>
          </a:xfrm>
          <a:prstGeom prst="roundRect">
            <a:avLst/>
          </a:prstGeom>
          <a:solidFill>
            <a:srgbClr val="FFF4DA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153144" y="2039112"/>
            <a:ext cx="178308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300" b="1">
                <a:solidFill>
                  <a:srgbClr val="19222D"/>
                </a:solidFill>
                <a:latin typeface="Yu Gothic"/>
              </a:rPr>
              <a:t>PowerPoint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171432" y="2350008"/>
            <a:ext cx="173736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800" b="0">
                <a:solidFill>
                  <a:srgbClr val="5B6978"/>
                </a:solidFill>
                <a:latin typeface="Yu Gothic"/>
              </a:rPr>
              <a:t>社長説明用PPTX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32688" y="3520440"/>
            <a:ext cx="9875520" cy="841248"/>
          </a:xfrm>
          <a:prstGeom prst="rect">
            <a:avLst/>
          </a:prstGeom>
          <a:noFill/>
        </p:spPr>
        <p:txBody>
          <a:bodyPr wrap="square" lIns="73152" rIns="73152" tIns="27432" bIns="27432">
            <a:spAutoFit/>
          </a:bodyPr>
          <a:lstStyle/>
          <a:p>
            <a:pPr>
              <a:spcAft>
                <a:spcPts val="800"/>
              </a:spcAft>
              <a:defRPr sz="1500">
                <a:solidFill>
                  <a:srgbClr val="19222D"/>
                </a:solidFill>
                <a:latin typeface="Yu Gothic"/>
              </a:defRPr>
            </a:pPr>
            <a:r>
              <a:t>NotebookLM CLIで取得したCEO Slide Outlineを、説明用PPTXのストーリー骨子に反映。</a:t>
            </a:r>
          </a:p>
          <a:p>
            <a:pPr>
              <a:spcAft>
                <a:spcPts val="800"/>
              </a:spcAft>
              <a:defRPr sz="1500">
                <a:solidFill>
                  <a:srgbClr val="19222D"/>
                </a:solidFill>
                <a:latin typeface="Yu Gothic"/>
              </a:defRPr>
            </a:pPr>
            <a:r>
              <a:t>PPTXは編集可能なPowerPointファイルとしてexports配下に保存し、Driveにもアップロード対象化。</a:t>
            </a:r>
          </a:p>
          <a:p>
            <a:pPr>
              <a:spcAft>
                <a:spcPts val="800"/>
              </a:spcAft>
              <a:defRPr sz="1500">
                <a:solidFill>
                  <a:srgbClr val="19222D"/>
                </a:solidFill>
                <a:latin typeface="Yu Gothic"/>
              </a:defRPr>
            </a:pPr>
            <a:r>
              <a:t>artifact-tool runtimeはこのWindowsシェルで解決できないため、PPTX組版はpython-pptxで代替。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30352" y="5230368"/>
            <a:ext cx="11137392" cy="1078992"/>
          </a:xfrm>
          <a:prstGeom prst="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49808" y="5394959"/>
            <a:ext cx="128016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000" b="1">
                <a:solidFill>
                  <a:srgbClr val="1A73E8"/>
                </a:solidFill>
                <a:latin typeface="Yu Gothic"/>
              </a:rPr>
              <a:t>見せる証跡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874519" y="5358383"/>
            <a:ext cx="9464040" cy="786384"/>
          </a:xfrm>
          <a:prstGeom prst="rect">
            <a:avLst/>
          </a:prstGeom>
          <a:noFill/>
        </p:spPr>
        <p:txBody>
          <a:bodyPr wrap="square" lIns="73152" rIns="73152" tIns="27432" bIns="27432">
            <a:spAutoFit/>
          </a:bodyPr>
          <a:lstStyle/>
          <a:p>
            <a:pPr>
              <a:spcAft>
                <a:spcPts val="800"/>
              </a:spcAft>
              <a:defRPr sz="1100">
                <a:solidFill>
                  <a:srgbClr val="19222D"/>
                </a:solidFill>
                <a:latin typeface="Yu Gothic"/>
              </a:defRPr>
            </a:pPr>
            <a:r>
              <a:t>NotebookLM notebook: 4934c12b-b270-4739-97a1-b04b5b84eaaf</a:t>
            </a:r>
          </a:p>
          <a:p>
            <a:pPr>
              <a:spcAft>
                <a:spcPts val="800"/>
              </a:spcAft>
              <a:defRPr sz="1100">
                <a:solidFill>
                  <a:srgbClr val="19222D"/>
                </a:solidFill>
                <a:latin typeface="Yu Gothic"/>
              </a:defRPr>
            </a:pPr>
            <a:r>
              <a:t>Outline: exports/knowledge_flow/notebooklm_ceo_slide_outline.md</a:t>
            </a:r>
          </a:p>
          <a:p>
            <a:pPr>
              <a:spcAft>
                <a:spcPts val="800"/>
              </a:spcAft>
              <a:defRPr sz="1100">
                <a:solidFill>
                  <a:srgbClr val="19222D"/>
                </a:solidFill>
                <a:latin typeface="Yu Gothic"/>
              </a:defRPr>
            </a:pPr>
            <a:r>
              <a:t>Generator: scripts/generate_ceo_presentation_deck.py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1A73E8"/>
          </a:solidFill>
          <a:ln w="12700">
            <a:solidFill>
              <a:srgbClr val="1A73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347472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1">
                <a:solidFill>
                  <a:srgbClr val="1A73E8"/>
                </a:solidFill>
                <a:latin typeface="Yu Gothic"/>
              </a:rPr>
              <a:t>Decision Matrix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21792"/>
            <a:ext cx="10789920" cy="6766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2800" b="1">
                <a:solidFill>
                  <a:srgbClr val="19222D"/>
                </a:solidFill>
                <a:latin typeface="Yu Gothic"/>
              </a:rPr>
              <a:t>サービス方向性の選択肢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510528"/>
            <a:ext cx="841248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800" b="0">
                <a:solidFill>
                  <a:srgbClr val="5B6978"/>
                </a:solidFill>
                <a:latin typeface="Yu Gothic"/>
              </a:rPr>
              <a:t>06 / 08   NotebookLM CLI outline / notebook 4934c12b-b270-4739-97a1-b04b5b84eaaf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509760" y="6510528"/>
            <a:ext cx="210312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r"/>
            <a:r>
              <a:rPr sz="800" b="0">
                <a:solidFill>
                  <a:srgbClr val="5B6978"/>
                </a:solidFill>
                <a:latin typeface="Yu Gothic"/>
              </a:rPr>
              <a:t>Mighty Skill-Bridge / CEO meeting prep</a:t>
            </a:r>
          </a:p>
        </p:txBody>
      </p:sp>
      <p:sp>
        <p:nvSpPr>
          <p:cNvPr id="7" name="Rectangle 6"/>
          <p:cNvSpPr/>
          <p:nvPr/>
        </p:nvSpPr>
        <p:spPr>
          <a:xfrm>
            <a:off x="694944" y="1828800"/>
            <a:ext cx="3429000" cy="2331720"/>
          </a:xfrm>
          <a:prstGeom prst="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96112" y="2011680"/>
            <a:ext cx="2971800" cy="29260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500" b="1">
                <a:solidFill>
                  <a:srgbClr val="10489A"/>
                </a:solidFill>
                <a:latin typeface="Yu Gothic"/>
              </a:rPr>
              <a:t>A. AIフィット診断支援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96112" y="2487168"/>
            <a:ext cx="822960" cy="21031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1">
                <a:solidFill>
                  <a:srgbClr val="5B6978"/>
                </a:solidFill>
                <a:latin typeface="Yu Gothic"/>
              </a:rPr>
              <a:t>想定対象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682496" y="2459736"/>
            <a:ext cx="2011680" cy="27432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100" b="0">
                <a:solidFill>
                  <a:srgbClr val="19222D"/>
                </a:solidFill>
                <a:latin typeface="Yu Gothic"/>
              </a:rPr>
              <a:t>営業 / 人材担当 / エンジニア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96112" y="2944368"/>
            <a:ext cx="822960" cy="21031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1">
                <a:solidFill>
                  <a:srgbClr val="5B6978"/>
                </a:solidFill>
                <a:latin typeface="Yu Gothic"/>
              </a:rPr>
              <a:t>価値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682496" y="2880360"/>
            <a:ext cx="2148840" cy="41148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100" b="0">
                <a:solidFill>
                  <a:srgbClr val="19222D"/>
                </a:solidFill>
                <a:latin typeface="Yu Gothic"/>
              </a:rPr>
              <a:t>採用・SES・案件配属の効率化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96112" y="3584448"/>
            <a:ext cx="822960" cy="21031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1">
                <a:solidFill>
                  <a:srgbClr val="5B6978"/>
                </a:solidFill>
                <a:latin typeface="Yu Gothic"/>
              </a:rPr>
              <a:t>初手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682496" y="3529584"/>
            <a:ext cx="2148840" cy="41148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100" b="0">
                <a:solidFill>
                  <a:srgbClr val="19222D"/>
                </a:solidFill>
                <a:latin typeface="Yu Gothic"/>
              </a:rPr>
              <a:t>デモの診断体験を磨く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370832" y="1828800"/>
            <a:ext cx="3429000" cy="2331720"/>
          </a:xfrm>
          <a:prstGeom prst="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572000" y="2011680"/>
            <a:ext cx="2971800" cy="29260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500" b="1">
                <a:solidFill>
                  <a:srgbClr val="10489A"/>
                </a:solidFill>
                <a:latin typeface="Yu Gothic"/>
              </a:rPr>
              <a:t>B. Workspace連携型PM支援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72000" y="2487168"/>
            <a:ext cx="822960" cy="21031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1">
                <a:solidFill>
                  <a:srgbClr val="5B6978"/>
                </a:solidFill>
                <a:latin typeface="Yu Gothic"/>
              </a:rPr>
              <a:t>想定対象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358384" y="2459736"/>
            <a:ext cx="2011680" cy="27432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100" b="0">
                <a:solidFill>
                  <a:srgbClr val="19222D"/>
                </a:solidFill>
                <a:latin typeface="Yu Gothic"/>
              </a:rPr>
              <a:t>経営 / PM / 現場責任者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72000" y="2944368"/>
            <a:ext cx="822960" cy="21031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1">
                <a:solidFill>
                  <a:srgbClr val="5B6978"/>
                </a:solidFill>
                <a:latin typeface="Yu Gothic"/>
              </a:rPr>
              <a:t>価値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358384" y="2880360"/>
            <a:ext cx="2148840" cy="41148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100" b="0">
                <a:solidFill>
                  <a:srgbClr val="19222D"/>
                </a:solidFill>
                <a:latin typeface="Yu Gothic"/>
              </a:rPr>
              <a:t>進捗・報告・予定同期の高速化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72000" y="3584448"/>
            <a:ext cx="822960" cy="21031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1">
                <a:solidFill>
                  <a:srgbClr val="5B6978"/>
                </a:solidFill>
                <a:latin typeface="Yu Gothic"/>
              </a:rPr>
              <a:t>初手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358384" y="3529584"/>
            <a:ext cx="2148840" cy="41148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100" b="0">
                <a:solidFill>
                  <a:srgbClr val="19222D"/>
                </a:solidFill>
                <a:latin typeface="Yu Gothic"/>
              </a:rPr>
              <a:t>WBS/Calendar同期を商品化</a:t>
            </a:r>
          </a:p>
        </p:txBody>
      </p:sp>
      <p:sp>
        <p:nvSpPr>
          <p:cNvPr id="23" name="Rectangle 22"/>
          <p:cNvSpPr/>
          <p:nvPr/>
        </p:nvSpPr>
        <p:spPr>
          <a:xfrm>
            <a:off x="8046720" y="1828800"/>
            <a:ext cx="3429000" cy="2331720"/>
          </a:xfrm>
          <a:prstGeom prst="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247888" y="2011680"/>
            <a:ext cx="2971800" cy="29260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500" b="1">
                <a:solidFill>
                  <a:srgbClr val="10489A"/>
                </a:solidFill>
                <a:latin typeface="Yu Gothic"/>
              </a:rPr>
              <a:t>C. AI PoC高速構築支援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247888" y="2487168"/>
            <a:ext cx="822960" cy="21031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1">
                <a:solidFill>
                  <a:srgbClr val="5B6978"/>
                </a:solidFill>
                <a:latin typeface="Yu Gothic"/>
              </a:rPr>
              <a:t>想定対象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034272" y="2459736"/>
            <a:ext cx="2011680" cy="27432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100" b="0">
                <a:solidFill>
                  <a:srgbClr val="19222D"/>
                </a:solidFill>
                <a:latin typeface="Yu Gothic"/>
              </a:rPr>
              <a:t>新規事業 / 企画 / 開発責任者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247888" y="2944368"/>
            <a:ext cx="822960" cy="21031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1">
                <a:solidFill>
                  <a:srgbClr val="5B6978"/>
                </a:solidFill>
                <a:latin typeface="Yu Gothic"/>
              </a:rPr>
              <a:t>価値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034272" y="2880360"/>
            <a:ext cx="2148840" cy="41148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100" b="0">
                <a:solidFill>
                  <a:srgbClr val="19222D"/>
                </a:solidFill>
                <a:latin typeface="Yu Gothic"/>
              </a:rPr>
              <a:t>検証回数と提案速度を増やす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247888" y="3584448"/>
            <a:ext cx="822960" cy="21031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1">
                <a:solidFill>
                  <a:srgbClr val="5B6978"/>
                </a:solidFill>
                <a:latin typeface="Yu Gothic"/>
              </a:rPr>
              <a:t>初手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034272" y="3529584"/>
            <a:ext cx="2148840" cy="41148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100" b="0">
                <a:solidFill>
                  <a:srgbClr val="19222D"/>
                </a:solidFill>
                <a:latin typeface="Yu Gothic"/>
              </a:rPr>
              <a:t>NotebookLM/Docs連携を型化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41248" y="4526280"/>
            <a:ext cx="10241280" cy="457200"/>
          </a:xfrm>
          <a:prstGeom prst="rect">
            <a:avLst/>
          </a:prstGeom>
          <a:noFill/>
        </p:spPr>
        <p:txBody>
          <a:bodyPr wrap="square" lIns="73152" rIns="73152" tIns="27432" bIns="27432">
            <a:spAutoFit/>
          </a:bodyPr>
          <a:lstStyle/>
          <a:p>
            <a:pPr>
              <a:spcAft>
                <a:spcPts val="800"/>
              </a:spcAft>
              <a:defRPr sz="1500">
                <a:solidFill>
                  <a:srgbClr val="19222D"/>
                </a:solidFill>
                <a:latin typeface="Yu Gothic"/>
              </a:defRPr>
            </a:pPr>
            <a:r>
              <a:t>6/2では最初の適用業務と最初に見せる相手を決める。</a:t>
            </a:r>
          </a:p>
          <a:p>
            <a:pPr>
              <a:spcAft>
                <a:spcPts val="800"/>
              </a:spcAft>
              <a:defRPr sz="1500">
                <a:solidFill>
                  <a:srgbClr val="19222D"/>
                </a:solidFill>
                <a:latin typeface="Yu Gothic"/>
              </a:defRPr>
            </a:pPr>
            <a:r>
              <a:t>正式企画は決め打ちせず、社長判断後にWBSとロードマップへ反映する。</a:t>
            </a:r>
          </a:p>
        </p:txBody>
      </p:sp>
      <p:sp>
        <p:nvSpPr>
          <p:cNvPr id="32" name="Rectangle 31"/>
          <p:cNvSpPr/>
          <p:nvPr/>
        </p:nvSpPr>
        <p:spPr>
          <a:xfrm>
            <a:off x="530352" y="5230368"/>
            <a:ext cx="11137392" cy="1078992"/>
          </a:xfrm>
          <a:prstGeom prst="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749808" y="5394959"/>
            <a:ext cx="128016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000" b="1">
                <a:solidFill>
                  <a:srgbClr val="1A73E8"/>
                </a:solidFill>
                <a:latin typeface="Yu Gothic"/>
              </a:rPr>
              <a:t>見せる証跡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874519" y="5358383"/>
            <a:ext cx="9464040" cy="786384"/>
          </a:xfrm>
          <a:prstGeom prst="rect">
            <a:avLst/>
          </a:prstGeom>
          <a:noFill/>
        </p:spPr>
        <p:txBody>
          <a:bodyPr wrap="square" lIns="73152" rIns="73152" tIns="27432" bIns="27432">
            <a:spAutoFit/>
          </a:bodyPr>
          <a:lstStyle/>
          <a:p>
            <a:pPr>
              <a:spcAft>
                <a:spcPts val="800"/>
              </a:spcAft>
              <a:defRPr sz="1100">
                <a:solidFill>
                  <a:srgbClr val="19222D"/>
                </a:solidFill>
                <a:latin typeface="Yu Gothic"/>
              </a:defRPr>
            </a:pPr>
            <a:r>
              <a:t>Decision pack: docs/CEO_PRESENTATION_DECISION_PACK_2026-06-02.md</a:t>
            </a:r>
          </a:p>
          <a:p>
            <a:pPr>
              <a:spcAft>
                <a:spcPts val="800"/>
              </a:spcAft>
              <a:defRPr sz="1100">
                <a:solidFill>
                  <a:srgbClr val="19222D"/>
                </a:solidFill>
                <a:latin typeface="Yu Gothic"/>
              </a:defRPr>
            </a:pPr>
            <a:r>
              <a:t>WBS tasks: T605 / T611 / T623 / T615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1A73E8"/>
          </a:solidFill>
          <a:ln w="12700">
            <a:solidFill>
              <a:srgbClr val="1A73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347472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1">
                <a:solidFill>
                  <a:srgbClr val="1A73E8"/>
                </a:solidFill>
                <a:latin typeface="Yu Gothic"/>
              </a:rPr>
              <a:t>Risks and Boundaries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21792"/>
            <a:ext cx="10789920" cy="6766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2800" b="1">
                <a:solidFill>
                  <a:srgbClr val="19222D"/>
                </a:solidFill>
                <a:latin typeface="Yu Gothic"/>
              </a:rPr>
              <a:t>運用・リスク論点と未完了項目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510528"/>
            <a:ext cx="841248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800" b="0">
                <a:solidFill>
                  <a:srgbClr val="5B6978"/>
                </a:solidFill>
                <a:latin typeface="Yu Gothic"/>
              </a:rPr>
              <a:t>07 / 08   NotebookLM CLI outline / notebook 4934c12b-b270-4739-97a1-b04b5b84eaaf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509760" y="6510528"/>
            <a:ext cx="210312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r"/>
            <a:r>
              <a:rPr sz="800" b="0">
                <a:solidFill>
                  <a:srgbClr val="5B6978"/>
                </a:solidFill>
                <a:latin typeface="Yu Gothic"/>
              </a:rPr>
              <a:t>Mighty Skill-Bridge / CEO meeting prep</a:t>
            </a:r>
          </a:p>
        </p:txBody>
      </p:sp>
      <p:sp>
        <p:nvSpPr>
          <p:cNvPr id="7" name="Rectangle 6"/>
          <p:cNvSpPr/>
          <p:nvPr/>
        </p:nvSpPr>
        <p:spPr>
          <a:xfrm>
            <a:off x="658368" y="1664208"/>
            <a:ext cx="10881360" cy="420624"/>
          </a:xfrm>
          <a:prstGeom prst="rect">
            <a:avLst/>
          </a:prstGeom>
          <a:solidFill>
            <a:srgbClr val="10489A"/>
          </a:solidFill>
          <a:ln w="12700">
            <a:solidFill>
              <a:srgbClr val="10489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77824" y="1764792"/>
            <a:ext cx="1280160" cy="16459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1">
                <a:solidFill>
                  <a:srgbClr val="FFFFFF"/>
                </a:solidFill>
                <a:latin typeface="Yu Gothic"/>
              </a:rPr>
              <a:t>論点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286000" y="1764792"/>
            <a:ext cx="4114800" cy="16459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1">
                <a:solidFill>
                  <a:srgbClr val="FFFFFF"/>
                </a:solidFill>
                <a:latin typeface="Yu Gothic"/>
              </a:rPr>
              <a:t>現状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784848" y="1764792"/>
            <a:ext cx="4114800" cy="16459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1">
                <a:solidFill>
                  <a:srgbClr val="FFFFFF"/>
                </a:solidFill>
                <a:latin typeface="Yu Gothic"/>
              </a:rPr>
              <a:t>次の扱い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58368" y="2167128"/>
            <a:ext cx="10881360" cy="566928"/>
          </a:xfrm>
          <a:prstGeom prst="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77824" y="2304288"/>
            <a:ext cx="1234440" cy="18288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100" b="1">
                <a:solidFill>
                  <a:srgbClr val="19222D"/>
                </a:solidFill>
                <a:latin typeface="Yu Gothic"/>
              </a:rPr>
              <a:t>公開URL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286000" y="2276856"/>
            <a:ext cx="406908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000" b="0">
                <a:solidFill>
                  <a:srgbClr val="5B6978"/>
                </a:solidFill>
                <a:latin typeface="Yu Gothic"/>
              </a:rPr>
              <a:t>社長共有済み。UIデグレは許容しない。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784848" y="2276856"/>
            <a:ext cx="406908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000" b="0">
                <a:solidFill>
                  <a:srgbClr val="19222D"/>
                </a:solidFill>
                <a:latin typeface="Yu Gothic"/>
              </a:rPr>
              <a:t>Public Demo Guardをpush前後で実行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58368" y="2825496"/>
            <a:ext cx="10881360" cy="566928"/>
          </a:xfrm>
          <a:prstGeom prst="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77824" y="2962656"/>
            <a:ext cx="1234440" cy="18288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100" b="1">
                <a:solidFill>
                  <a:srgbClr val="19222D"/>
                </a:solidFill>
                <a:latin typeface="Yu Gothic"/>
              </a:rPr>
              <a:t>Slack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286000" y="2935224"/>
            <a:ext cx="406908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000" b="0">
                <a:solidFill>
                  <a:srgbClr val="5B6978"/>
                </a:solidFill>
                <a:latin typeface="Yu Gothic"/>
              </a:rPr>
              <a:t>投稿先と共有範囲の承認が必要。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784848" y="2935224"/>
            <a:ext cx="406908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000" b="0">
                <a:solidFill>
                  <a:srgbClr val="19222D"/>
                </a:solidFill>
                <a:latin typeface="Yu Gothic"/>
              </a:rPr>
              <a:t>承認後に公式コネクタで送信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58368" y="3483864"/>
            <a:ext cx="10881360" cy="566928"/>
          </a:xfrm>
          <a:prstGeom prst="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77824" y="3621024"/>
            <a:ext cx="1234440" cy="18288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100" b="1">
                <a:solidFill>
                  <a:srgbClr val="19222D"/>
                </a:solidFill>
                <a:latin typeface="Yu Gothic"/>
              </a:rPr>
              <a:t>GitHub Project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286000" y="3593592"/>
            <a:ext cx="406908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000" b="0">
                <a:solidFill>
                  <a:srgbClr val="5B6978"/>
                </a:solidFill>
                <a:latin typeface="Yu Gothic"/>
              </a:rPr>
              <a:t>Project #1へWBS対象限定同期済み。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784848" y="3593592"/>
            <a:ext cx="406908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000" b="0">
                <a:solidFill>
                  <a:srgbClr val="19222D"/>
                </a:solidFill>
                <a:latin typeface="Yu Gothic"/>
              </a:rPr>
              <a:t>完了・更新タスクだけを継続同期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58368" y="4142232"/>
            <a:ext cx="10881360" cy="566928"/>
          </a:xfrm>
          <a:prstGeom prst="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77824" y="4279392"/>
            <a:ext cx="1234440" cy="18288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100" b="1">
                <a:solidFill>
                  <a:srgbClr val="19222D"/>
                </a:solidFill>
                <a:latin typeface="Yu Gothic"/>
              </a:rPr>
              <a:t>外部投入情報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286000" y="4251960"/>
            <a:ext cx="406908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000" b="0">
                <a:solidFill>
                  <a:srgbClr val="5B6978"/>
                </a:solidFill>
                <a:latin typeface="Yu Gothic"/>
              </a:rPr>
              <a:t>認証情報・個人情報・未承認顧客情報は投入禁止。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784848" y="4251960"/>
            <a:ext cx="406908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000" b="0">
                <a:solidFill>
                  <a:srgbClr val="19222D"/>
                </a:solidFill>
                <a:latin typeface="Yu Gothic"/>
              </a:rPr>
              <a:t>docs/とWBSに安全ルールを明記</a:t>
            </a:r>
          </a:p>
        </p:txBody>
      </p:sp>
      <p:sp>
        <p:nvSpPr>
          <p:cNvPr id="27" name="Rectangle 26"/>
          <p:cNvSpPr/>
          <p:nvPr/>
        </p:nvSpPr>
        <p:spPr>
          <a:xfrm>
            <a:off x="530352" y="5230368"/>
            <a:ext cx="11137392" cy="1078992"/>
          </a:xfrm>
          <a:prstGeom prst="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49808" y="5394959"/>
            <a:ext cx="128016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000" b="1">
                <a:solidFill>
                  <a:srgbClr val="1A73E8"/>
                </a:solidFill>
                <a:latin typeface="Yu Gothic"/>
              </a:rPr>
              <a:t>見せる証跡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874519" y="5358383"/>
            <a:ext cx="9464040" cy="786384"/>
          </a:xfrm>
          <a:prstGeom prst="rect">
            <a:avLst/>
          </a:prstGeom>
          <a:noFill/>
        </p:spPr>
        <p:txBody>
          <a:bodyPr wrap="square" lIns="73152" rIns="73152" tIns="27432" bIns="27432">
            <a:spAutoFit/>
          </a:bodyPr>
          <a:lstStyle/>
          <a:p>
            <a:pPr>
              <a:spcAft>
                <a:spcPts val="800"/>
              </a:spcAft>
              <a:defRPr sz="1100">
                <a:solidFill>
                  <a:srgbClr val="19222D"/>
                </a:solidFill>
                <a:latin typeface="Yu Gothic"/>
              </a:defRPr>
            </a:pPr>
            <a:r>
              <a:t>GitHub Project: Project #1 operational</a:t>
            </a:r>
          </a:p>
          <a:p>
            <a:pPr>
              <a:spcAft>
                <a:spcPts val="800"/>
              </a:spcAft>
              <a:defRPr sz="1100">
                <a:solidFill>
                  <a:srgbClr val="19222D"/>
                </a:solidFill>
                <a:latin typeface="Yu Gothic"/>
              </a:defRPr>
            </a:pPr>
            <a:r>
              <a:t>WBS sync: scripts/sync_wbs_to_github.py</a:t>
            </a:r>
          </a:p>
          <a:p>
            <a:pPr>
              <a:spcAft>
                <a:spcPts val="800"/>
              </a:spcAft>
              <a:defRPr sz="1100">
                <a:solidFill>
                  <a:srgbClr val="19222D"/>
                </a:solidFill>
                <a:latin typeface="Yu Gothic"/>
              </a:defRPr>
            </a:pPr>
            <a:r>
              <a:t>Slack: destination approval required before posting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1A73E8"/>
          </a:solidFill>
          <a:ln w="12700">
            <a:solidFill>
              <a:srgbClr val="1A73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347472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1">
                <a:solidFill>
                  <a:srgbClr val="1A73E8"/>
                </a:solidFill>
                <a:latin typeface="Yu Gothic"/>
              </a:rPr>
              <a:t>Next Actions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21792"/>
            <a:ext cx="10789920" cy="6766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2800" b="1">
                <a:solidFill>
                  <a:srgbClr val="19222D"/>
                </a:solidFill>
                <a:latin typeface="Yu Gothic"/>
              </a:rPr>
              <a:t>次アクションとWBSへの即時反映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510528"/>
            <a:ext cx="841248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800" b="0">
                <a:solidFill>
                  <a:srgbClr val="5B6978"/>
                </a:solidFill>
                <a:latin typeface="Yu Gothic"/>
              </a:rPr>
              <a:t>08 / 08   NotebookLM CLI outline / notebook 4934c12b-b270-4739-97a1-b04b5b84eaaf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509760" y="6510528"/>
            <a:ext cx="210312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r"/>
            <a:r>
              <a:rPr sz="800" b="0">
                <a:solidFill>
                  <a:srgbClr val="5B6978"/>
                </a:solidFill>
                <a:latin typeface="Yu Gothic"/>
              </a:rPr>
              <a:t>Mighty Skill-Bridge / CEO meeting prep</a:t>
            </a:r>
          </a:p>
        </p:txBody>
      </p:sp>
      <p:sp>
        <p:nvSpPr>
          <p:cNvPr id="7" name="Rectangle 6"/>
          <p:cNvSpPr/>
          <p:nvPr/>
        </p:nvSpPr>
        <p:spPr>
          <a:xfrm>
            <a:off x="749808" y="1874519"/>
            <a:ext cx="1828800" cy="1572768"/>
          </a:xfrm>
          <a:prstGeom prst="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987552" y="2057400"/>
            <a:ext cx="713232" cy="347472"/>
          </a:xfrm>
          <a:prstGeom prst="roundRect">
            <a:avLst/>
          </a:prstGeom>
          <a:solidFill>
            <a:srgbClr val="E6F2FF"/>
          </a:solidFill>
          <a:ln w="12700">
            <a:solidFill>
              <a:srgbClr val="E6F2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60704" y="2107692"/>
            <a:ext cx="566928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000" b="1">
                <a:solidFill>
                  <a:srgbClr val="10489A"/>
                </a:solidFill>
                <a:latin typeface="Yu Gothic"/>
              </a:rPr>
              <a:t>5/22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69264" y="2523744"/>
            <a:ext cx="1371600" cy="237744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200" b="1">
                <a:solidFill>
                  <a:srgbClr val="19222D"/>
                </a:solidFill>
                <a:latin typeface="Yu Gothic"/>
              </a:rPr>
              <a:t>PPTX生成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32688" y="2871216"/>
            <a:ext cx="1444752" cy="31089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800" b="0">
                <a:solidFill>
                  <a:srgbClr val="5B6978"/>
                </a:solidFill>
                <a:latin typeface="Yu Gothic"/>
              </a:rPr>
              <a:t>NotebookLM outlineをPowerPoint化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615184" y="2487168"/>
            <a:ext cx="320040" cy="36576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2000" b="1">
                <a:solidFill>
                  <a:srgbClr val="1A73E8"/>
                </a:solidFill>
                <a:latin typeface="Yu Gothic"/>
              </a:rPr>
              <a:t>→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017520" y="1874519"/>
            <a:ext cx="1828800" cy="1572768"/>
          </a:xfrm>
          <a:prstGeom prst="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3255263" y="2057400"/>
            <a:ext cx="713232" cy="347472"/>
          </a:xfrm>
          <a:prstGeom prst="roundRect">
            <a:avLst/>
          </a:prstGeom>
          <a:solidFill>
            <a:srgbClr val="E6F2FF"/>
          </a:solidFill>
          <a:ln w="12700">
            <a:solidFill>
              <a:srgbClr val="E6F2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328415" y="2107692"/>
            <a:ext cx="566928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000" b="1">
                <a:solidFill>
                  <a:srgbClr val="10489A"/>
                </a:solidFill>
                <a:latin typeface="Yu Gothic"/>
              </a:rPr>
              <a:t>5/24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236976" y="2523744"/>
            <a:ext cx="1371600" cy="237744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200" b="1">
                <a:solidFill>
                  <a:srgbClr val="19222D"/>
                </a:solidFill>
                <a:latin typeface="Yu Gothic"/>
              </a:rPr>
              <a:t>権限確認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200400" y="2871216"/>
            <a:ext cx="1444752" cy="31089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800" b="0">
                <a:solidFill>
                  <a:srgbClr val="5B6978"/>
                </a:solidFill>
                <a:latin typeface="Yu Gothic"/>
              </a:rPr>
              <a:t>Slack / GitHub Projectの復旧確認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882896" y="2487168"/>
            <a:ext cx="320040" cy="36576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2000" b="1">
                <a:solidFill>
                  <a:srgbClr val="1A73E8"/>
                </a:solidFill>
                <a:latin typeface="Yu Gothic"/>
              </a:rPr>
              <a:t>→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285232" y="1874519"/>
            <a:ext cx="1828800" cy="1572768"/>
          </a:xfrm>
          <a:prstGeom prst="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5522976" y="2057400"/>
            <a:ext cx="713232" cy="347472"/>
          </a:xfrm>
          <a:prstGeom prst="roundRect">
            <a:avLst/>
          </a:prstGeom>
          <a:solidFill>
            <a:srgbClr val="E6F2FF"/>
          </a:solidFill>
          <a:ln w="12700">
            <a:solidFill>
              <a:srgbClr val="E6F2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596128" y="2107692"/>
            <a:ext cx="566928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000" b="1">
                <a:solidFill>
                  <a:srgbClr val="10489A"/>
                </a:solidFill>
                <a:latin typeface="Yu Gothic"/>
              </a:rPr>
              <a:t>5/30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504688" y="2523744"/>
            <a:ext cx="1371600" cy="237744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200" b="1">
                <a:solidFill>
                  <a:srgbClr val="19222D"/>
                </a:solidFill>
                <a:latin typeface="Yu Gothic"/>
              </a:rPr>
              <a:t>判断材料レビュー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468112" y="2871216"/>
            <a:ext cx="1444752" cy="31089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800" b="0">
                <a:solidFill>
                  <a:srgbClr val="5B6978"/>
                </a:solidFill>
                <a:latin typeface="Yu Gothic"/>
              </a:rPr>
              <a:t>社長説明資料の最終確認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150608" y="2487168"/>
            <a:ext cx="320040" cy="36576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2000" b="1">
                <a:solidFill>
                  <a:srgbClr val="1A73E8"/>
                </a:solidFill>
                <a:latin typeface="Yu Gothic"/>
              </a:rPr>
              <a:t>→</a:t>
            </a:r>
          </a:p>
        </p:txBody>
      </p:sp>
      <p:sp>
        <p:nvSpPr>
          <p:cNvPr id="25" name="Rectangle 24"/>
          <p:cNvSpPr/>
          <p:nvPr/>
        </p:nvSpPr>
        <p:spPr>
          <a:xfrm>
            <a:off x="7552944" y="1874519"/>
            <a:ext cx="1828800" cy="1572768"/>
          </a:xfrm>
          <a:prstGeom prst="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ounded Rectangle 25"/>
          <p:cNvSpPr/>
          <p:nvPr/>
        </p:nvSpPr>
        <p:spPr>
          <a:xfrm>
            <a:off x="7790688" y="2057400"/>
            <a:ext cx="713232" cy="347472"/>
          </a:xfrm>
          <a:prstGeom prst="roundRect">
            <a:avLst/>
          </a:prstGeom>
          <a:solidFill>
            <a:srgbClr val="E6F2FF"/>
          </a:solidFill>
          <a:ln w="12700">
            <a:solidFill>
              <a:srgbClr val="E6F2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863840" y="2107692"/>
            <a:ext cx="566928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000" b="1">
                <a:solidFill>
                  <a:srgbClr val="10489A"/>
                </a:solidFill>
                <a:latin typeface="Yu Gothic"/>
              </a:rPr>
              <a:t>6/1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772400" y="2523744"/>
            <a:ext cx="1371600" cy="237744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200" b="1">
                <a:solidFill>
                  <a:srgbClr val="19222D"/>
                </a:solidFill>
                <a:latin typeface="Yu Gothic"/>
              </a:rPr>
              <a:t>最終リハーサル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735823" y="2871216"/>
            <a:ext cx="1444752" cy="31089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800" b="0">
                <a:solidFill>
                  <a:srgbClr val="5B6978"/>
                </a:solidFill>
                <a:latin typeface="Yu Gothic"/>
              </a:rPr>
              <a:t>公開URL / WBS / Calendar / 資料確認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418320" y="2487168"/>
            <a:ext cx="320040" cy="36576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2000" b="1">
                <a:solidFill>
                  <a:srgbClr val="1A73E8"/>
                </a:solidFill>
                <a:latin typeface="Yu Gothic"/>
              </a:rPr>
              <a:t>→</a:t>
            </a:r>
          </a:p>
        </p:txBody>
      </p:sp>
      <p:sp>
        <p:nvSpPr>
          <p:cNvPr id="31" name="Rectangle 30"/>
          <p:cNvSpPr/>
          <p:nvPr/>
        </p:nvSpPr>
        <p:spPr>
          <a:xfrm>
            <a:off x="9820656" y="1874519"/>
            <a:ext cx="1828800" cy="1572768"/>
          </a:xfrm>
          <a:prstGeom prst="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ounded Rectangle 31"/>
          <p:cNvSpPr/>
          <p:nvPr/>
        </p:nvSpPr>
        <p:spPr>
          <a:xfrm>
            <a:off x="10058400" y="2057400"/>
            <a:ext cx="713232" cy="347472"/>
          </a:xfrm>
          <a:prstGeom prst="roundRect">
            <a:avLst/>
          </a:prstGeom>
          <a:solidFill>
            <a:srgbClr val="E6F2FF"/>
          </a:solidFill>
          <a:ln w="12700">
            <a:solidFill>
              <a:srgbClr val="E6F2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0131552" y="2107692"/>
            <a:ext cx="566928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000" b="1">
                <a:solidFill>
                  <a:srgbClr val="10489A"/>
                </a:solidFill>
                <a:latin typeface="Yu Gothic"/>
              </a:rPr>
              <a:t>6/2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0040112" y="2523744"/>
            <a:ext cx="1371600" cy="237744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200" b="1">
                <a:solidFill>
                  <a:srgbClr val="19222D"/>
                </a:solidFill>
                <a:latin typeface="Yu Gothic"/>
              </a:rPr>
              <a:t>社長判断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0003536" y="2871216"/>
            <a:ext cx="1444752" cy="31089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800" b="0">
                <a:solidFill>
                  <a:srgbClr val="5B6978"/>
                </a:solidFill>
                <a:latin typeface="Yu Gothic"/>
              </a:rPr>
              <a:t>決定事項をWBSへ即時反映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41248" y="3977639"/>
            <a:ext cx="10287000" cy="749808"/>
          </a:xfrm>
          <a:prstGeom prst="rect">
            <a:avLst/>
          </a:prstGeom>
          <a:noFill/>
        </p:spPr>
        <p:txBody>
          <a:bodyPr wrap="square" lIns="73152" rIns="73152" tIns="27432" bIns="27432">
            <a:spAutoFit/>
          </a:bodyPr>
          <a:lstStyle/>
          <a:p>
            <a:pPr>
              <a:spcAft>
                <a:spcPts val="800"/>
              </a:spcAft>
              <a:defRPr sz="1500">
                <a:solidFill>
                  <a:srgbClr val="19222D"/>
                </a:solidFill>
                <a:latin typeface="Yu Gothic"/>
              </a:defRPr>
            </a:pPr>
            <a:r>
              <a:t>社長に決めてもらうこと: 最初の業務課題、最初の利用者、公式化する連携、公開範囲。</a:t>
            </a:r>
          </a:p>
          <a:p>
            <a:pPr>
              <a:spcAft>
                <a:spcPts val="800"/>
              </a:spcAft>
              <a:defRPr sz="1500">
                <a:solidFill>
                  <a:srgbClr val="19222D"/>
                </a:solidFill>
                <a:latin typeface="Yu Gothic"/>
              </a:defRPr>
            </a:pPr>
            <a:r>
              <a:t>決定直後にやること: WBS・Calendar・Issues・Docsへ反映し、次回レビュー日を固定。</a:t>
            </a:r>
          </a:p>
          <a:p>
            <a:pPr>
              <a:spcAft>
                <a:spcPts val="800"/>
              </a:spcAft>
              <a:defRPr sz="1500">
                <a:solidFill>
                  <a:srgbClr val="19222D"/>
                </a:solidFill>
                <a:latin typeface="Yu Gothic"/>
              </a:defRPr>
            </a:pPr>
            <a:r>
              <a:t>保留にすること: サービス名、課金、外部共有範囲、Slack/Notionの正式運用範囲。</a:t>
            </a:r>
          </a:p>
        </p:txBody>
      </p:sp>
      <p:sp>
        <p:nvSpPr>
          <p:cNvPr id="37" name="Rectangle 36"/>
          <p:cNvSpPr/>
          <p:nvPr/>
        </p:nvSpPr>
        <p:spPr>
          <a:xfrm>
            <a:off x="530352" y="5230368"/>
            <a:ext cx="11137392" cy="1078992"/>
          </a:xfrm>
          <a:prstGeom prst="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749808" y="5394959"/>
            <a:ext cx="128016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000" b="1">
                <a:solidFill>
                  <a:srgbClr val="1A73E8"/>
                </a:solidFill>
                <a:latin typeface="Yu Gothic"/>
              </a:rPr>
              <a:t>見せる証跡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874519" y="5358383"/>
            <a:ext cx="9464040" cy="786384"/>
          </a:xfrm>
          <a:prstGeom prst="rect">
            <a:avLst/>
          </a:prstGeom>
          <a:noFill/>
        </p:spPr>
        <p:txBody>
          <a:bodyPr wrap="square" lIns="73152" rIns="73152" tIns="27432" bIns="27432">
            <a:spAutoFit/>
          </a:bodyPr>
          <a:lstStyle/>
          <a:p>
            <a:pPr>
              <a:spcAft>
                <a:spcPts val="800"/>
              </a:spcAft>
              <a:defRPr sz="1100">
                <a:solidFill>
                  <a:srgbClr val="19222D"/>
                </a:solidFill>
                <a:latin typeface="Yu Gothic"/>
              </a:defRPr>
            </a:pPr>
            <a:r>
              <a:t>WBS: data/WBS.tsv / docs/WBS.md</a:t>
            </a:r>
          </a:p>
          <a:p>
            <a:pPr>
              <a:spcAft>
                <a:spcPts val="800"/>
              </a:spcAft>
              <a:defRPr sz="1100">
                <a:solidFill>
                  <a:srgbClr val="19222D"/>
                </a:solidFill>
                <a:latin typeface="Yu Gothic"/>
              </a:defRPr>
            </a:pPr>
            <a:r>
              <a:t>Calendar sync: scripts/sync_wbs_to_calendar.py</a:t>
            </a:r>
          </a:p>
          <a:p>
            <a:pPr>
              <a:spcAft>
                <a:spcPts val="800"/>
              </a:spcAft>
              <a:defRPr sz="1100">
                <a:solidFill>
                  <a:srgbClr val="19222D"/>
                </a:solidFill>
                <a:latin typeface="Yu Gothic"/>
              </a:defRPr>
            </a:pPr>
            <a:r>
              <a:t>Issue/Project sync: scripts/sync_wbs_to_github.py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