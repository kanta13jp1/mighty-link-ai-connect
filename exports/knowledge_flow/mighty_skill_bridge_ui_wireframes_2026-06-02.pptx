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1247120" cy="32004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onsolas"/>
              </a:rPr>
              <a:t>WIREFRAME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2937"/>
                </a:solidFill>
                <a:latin typeface="Yu Gothic UI"/>
              </a:rPr>
              <a:t>Mighty Skill-Bridge UI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Yu Gothic UI"/>
              </a:rPr>
              <a:t>10 design pattern variants — for CEO direction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onsolas"/>
              </a:rPr>
              <a:t>Greyscale wireframes · 16:9 · Generated 2026-05-24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onsolas"/>
              </a:rPr>
              <a:t>Pair file (Figma): https://www.figma.com/design/aiQt3c1Cenru4x6GMcLuL5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Vertical Hero Stack — Mobile-first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1 column / top-to-bottom flow. 縦スクロールで完結。スマホ親和。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▶ Hero animation / brand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 UI"/>
              </a:rPr>
              <a:t>1. 経歴書をアップロード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📄 Drag &amp; drop here / Click to browse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 UI"/>
              </a:rPr>
              <a:t>2. 案件票を貼り付け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📋 Paste JD text or attach 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443484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43484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AFBFC"/>
                </a:solidFill>
                <a:latin typeface="Yu Gothic UI"/>
              </a:rPr>
              <a:t>Analyze &amp; Generate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Yu Gothic UI"/>
              </a:rPr>
              <a:t>3. 結果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49240"/>
            <a:ext cx="1124712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522976"/>
            <a:ext cx="1124712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696712"/>
            <a:ext cx="1124712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870448"/>
            <a:ext cx="6748272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最小 UI で迷わず Step 1→2→3 を順に体験できる。SES 営業が客先で iPad プレゼン時に強い。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Split Form — Profile vs Job (Current)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2 列並列入力 / 中央 Analyze CTA。現行 UI のベース。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5349240" cy="4572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 UI"/>
              </a:rPr>
              <a:t>Engineer ·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498348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45336"/>
            <a:ext cx="498348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19072"/>
            <a:ext cx="2990088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920240"/>
            <a:ext cx="4983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498348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textarea: 経歴・スキル・希望条件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006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0060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Load Sample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868680"/>
            <a:ext cx="5349240" cy="45720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005840"/>
            <a:ext cx="4983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 UI"/>
              </a:rPr>
              <a:t>Job · Requirements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371600"/>
            <a:ext cx="498348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1545336"/>
            <a:ext cx="498348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1719072"/>
            <a:ext cx="2990088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1920240"/>
            <a:ext cx="498348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920240"/>
            <a:ext cx="4983480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textarea: 必須・歓迎要件・カルチャー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8006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80060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Load Sample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562356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6235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AFBFC"/>
                </a:solidFill>
                <a:latin typeface="Yu Gothic UI"/>
              </a:rPr>
              <a:t>Analyze Fit &amp; Generate 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比較対象を視覚的に対置。デスクトップでの広い画面前提。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Step Wizard — 4-step Progress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経歴 → 案件 → 確認 → 結果。1 ステップずつ集中。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2727883" cy="36576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65109" y="868680"/>
            <a:ext cx="329184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65109" y="8686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Yu Gothic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80160"/>
            <a:ext cx="2727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Yu Gothic UI"/>
              </a:rPr>
              <a:t>1. 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0803" y="960120"/>
            <a:ext cx="2727883" cy="36576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0153" y="868680"/>
            <a:ext cx="329184" cy="329184"/>
          </a:xfrm>
          <a:prstGeom prst="roundRect">
            <a:avLst/>
          </a:prstGeom>
          <a:solidFill>
            <a:srgbClr val="374151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0153" y="8686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0803" y="1280160"/>
            <a:ext cx="2727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Yu Gothic UI"/>
              </a:rPr>
              <a:t>2. Job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960120"/>
            <a:ext cx="2727883" cy="36576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95197" y="868680"/>
            <a:ext cx="329184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5197" y="8686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Yu Gothic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1280160"/>
            <a:ext cx="2727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Yu Gothic UI"/>
              </a:rPr>
              <a:t>3.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0891" y="960120"/>
            <a:ext cx="2727883" cy="36576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60241" y="868680"/>
            <a:ext cx="329184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0241" y="86868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Yu Gothic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0891" y="1280160"/>
            <a:ext cx="272788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Yu Gothic UI"/>
              </a:rPr>
              <a:t>4.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737360"/>
            <a:ext cx="11247120" cy="411480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1874519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 UI"/>
              </a:rPr>
              <a:t>Step 2 · 案件票を入力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240280"/>
            <a:ext cx="107899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240280"/>
            <a:ext cx="10789920" cy="3474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textarea: 案件詳細...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989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98932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← 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59893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5989320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AFBFC"/>
                </a:solidFill>
                <a:latin typeface="Yu Gothic UI"/>
              </a:rPr>
              <a:t>Next 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初めて使う社内人事担当が迷わない。各ステップで Help が出せる。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Conversational Chat — AI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AI が質問 / ユーザーが回答 / 最終 fit を結果バブルで提示。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5486400" cy="5029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🤖 AI: 経歴を教えてください。職種、経験年数、得意領域。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463040"/>
            <a:ext cx="5486400" cy="50292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6304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AFBFC"/>
                </a:solidFill>
                <a:latin typeface="Yu Gothic UI"/>
              </a:rPr>
              <a:t>Python 8 年 / FastAPI / 採用系 SaaS の MVP 設計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5486400" cy="5029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🤖 AI: 次に、希望案件の規模感は?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651760"/>
            <a:ext cx="548640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65176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Yu Gothic UI"/>
              </a:rPr>
              <a:t>_ Type your reply...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11247120" cy="1371600"/>
          </a:xfrm>
          <a:prstGeom prst="round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💎 暫定 Fit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Skill 72 · Culture — · Growth — · Performing 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1078992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42816"/>
            <a:ext cx="10789920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370832"/>
            <a:ext cx="6473952" cy="64008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1005840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Yu Gothic UI"/>
              </a:rPr>
              <a:t>Type message...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98480" y="5029200"/>
            <a:ext cx="1005840" cy="41148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0" y="502920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AFBFC"/>
                </a:solidFill>
                <a:latin typeface="Yu Gothic UI"/>
              </a:rPr>
              <a:t>Send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応募者本人が直接使う場合に親しみやすい。チャット履歴で説明責任。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Drag &amp; Drop Cards — 4 Quadrant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Engineers / Jobs / Matches / Reports の 4 象限。カード DnD。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5486400" cy="25603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Engineers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Engineer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417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5740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Engineer 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0574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0604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Engineer 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697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868680"/>
            <a:ext cx="5486400" cy="25603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0058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32588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4173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Job #1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14173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96596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05740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Job #2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0574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60604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269748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Job #3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26974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11880"/>
            <a:ext cx="5486400" cy="25603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7490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Matches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6908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1605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Matche #1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1605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70916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80060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Matche #2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8006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34924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44068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Matche #3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4406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611880"/>
            <a:ext cx="5486400" cy="256032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7490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Reports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06908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16052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Report #1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1605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70916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80060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Report #2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480060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349240"/>
            <a:ext cx="512064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5440680"/>
            <a:ext cx="4754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Report #3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98480" y="544068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Fit: 81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中規模の人事チームが複数案件 × 複数候補を同時管理。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Pipeline Board — Kanban for Recruiters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候補 → 評価中 → 推薦 → 配属済。Score badge 付きカード。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2716453" cy="493776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05840"/>
            <a:ext cx="207637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候補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5013" y="10058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(12)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371600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44752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4592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0733" y="1463040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733" y="14630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212848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28600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48716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70733" y="2304288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733" y="23042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54096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12724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32841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70733" y="3145536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733" y="314553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895344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6849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169664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0733" y="3986784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0733" y="39867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0813" y="868680"/>
            <a:ext cx="2716453" cy="493776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973" y="1005840"/>
            <a:ext cx="207637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評価中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8627" y="10058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(5)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47973" y="1371600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845" y="1444752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845" y="164592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24347" y="1463040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24347" y="14630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47973" y="2212848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845" y="228600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845" y="248716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24347" y="2304288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4347" y="23042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47973" y="3054096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845" y="312724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845" y="332841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24347" y="3145536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24347" y="314553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A8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47973" y="3895344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845" y="396849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845" y="4169664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24347" y="3986784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24347" y="39867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64427" y="868680"/>
            <a:ext cx="2716453" cy="493776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1587" y="1005840"/>
            <a:ext cx="207637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推薦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2241" y="10058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(3)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01587" y="1371600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20459" y="1444752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0459" y="164592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87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77961" y="1463040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77961" y="14630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1587" y="2212848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20459" y="228600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20459" y="248716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77961" y="2304288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77961" y="23042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01587" y="3054096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20459" y="312724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20459" y="332841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77961" y="3145536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377961" y="314553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A7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01587" y="3895344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20459" y="396849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20459" y="4169664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77961" y="3986784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77961" y="39867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A7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18041" y="868680"/>
            <a:ext cx="2716453" cy="493776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55201" y="1005840"/>
            <a:ext cx="207637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配属済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85855" y="10058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(8)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155201" y="1371600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74073" y="1444752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274073" y="164592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231575" y="1463040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1575" y="1463040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155201" y="2212848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74073" y="2286000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74073" y="248716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85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231575" y="2304288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31575" y="23042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A6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155201" y="3054096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74073" y="3127248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74073" y="332841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1231575" y="3145536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231575" y="3145536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A6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155201" y="3895344"/>
            <a:ext cx="2442133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74073" y="3968496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274073" y="4169664"/>
            <a:ext cx="189349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Yu Gothic UI"/>
              </a:rPr>
              <a:t>案件 × Skill 83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231575" y="3986784"/>
            <a:ext cx="329184" cy="201168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231575" y="3986784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AFBFC"/>
                </a:solidFill>
                <a:latin typeface="Yu Gothic UI"/>
              </a:rPr>
              <a:t>A6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リクルーター業務の標準ビュー。複数案件並列追跡しやすい。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Comparison Table — Multi-candidate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候補 (rows) × 評価軸 (cols)。color-coded score。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11277295" cy="384048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3909" y="868680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868680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Culture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868680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2556" y="868680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Performing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92105" y="868680"/>
            <a:ext cx="160522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32588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3716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田中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3909" y="13716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92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73909" y="1618488"/>
            <a:ext cx="1476810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3458" y="13716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3458" y="1618488"/>
            <a:ext cx="1364444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3007" y="13716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78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1618488"/>
            <a:ext cx="1252078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2556" y="13716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2556" y="1618488"/>
            <a:ext cx="1412601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2105" y="13716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85.8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874520"/>
            <a:ext cx="11277295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9202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佐藤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3909" y="19202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3909" y="2167128"/>
            <a:ext cx="1412601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3458" y="19202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90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53458" y="2167128"/>
            <a:ext cx="1444706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3007" y="19202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3007" y="2167128"/>
            <a:ext cx="1316287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2556" y="19202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2556" y="2167128"/>
            <a:ext cx="1380497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92105" y="19202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86.5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42316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246888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鈴木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73909" y="246888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76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73909" y="2715768"/>
            <a:ext cx="1219974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53458" y="246888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3458" y="2715768"/>
            <a:ext cx="1316287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3007" y="246888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95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33007" y="2715768"/>
            <a:ext cx="1524967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2556" y="246888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12556" y="2715768"/>
            <a:ext cx="1284183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92105" y="246888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83.3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971800"/>
            <a:ext cx="11277295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301752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高橋 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73909" y="301752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95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73909" y="3264408"/>
            <a:ext cx="1524967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3458" y="301752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70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53458" y="3264408"/>
            <a:ext cx="1123660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3007" y="301752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72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3007" y="3264408"/>
            <a:ext cx="1155765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12556" y="301752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90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2556" y="3264408"/>
            <a:ext cx="1444706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92105" y="301752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81.8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52044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356616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伊藤 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73909" y="356616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473909" y="3813048"/>
            <a:ext cx="1284183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53458" y="356616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3458" y="3813048"/>
            <a:ext cx="1412601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33007" y="356616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33007" y="3813048"/>
            <a:ext cx="1348392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12556" y="356616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12556" y="3813048"/>
            <a:ext cx="1364444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992105" y="356616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84.3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4069080"/>
            <a:ext cx="11277295" cy="502920"/>
          </a:xfrm>
          <a:prstGeom prst="rect">
            <a:avLst/>
          </a:prstGeom>
          <a:solidFill>
            <a:srgbClr val="FAFBFC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4360" y="41148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渡辺 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73909" y="41148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70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73909" y="4361688"/>
            <a:ext cx="1123660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3458" y="41148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353458" y="4361688"/>
            <a:ext cx="1284183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33007" y="41148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90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3007" y="4361688"/>
            <a:ext cx="1444706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12556" y="41148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75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12556" y="4361688"/>
            <a:ext cx="1203921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992105" y="411480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78.8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7200" y="4617720"/>
            <a:ext cx="1127729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46634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山本 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473909" y="46634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473909" y="4910328"/>
            <a:ext cx="1364444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53458" y="46634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92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353458" y="4910328"/>
            <a:ext cx="1476810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33007" y="46634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33007" y="4910328"/>
            <a:ext cx="1412601" cy="73152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112556" y="46634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Yu Gothic UI"/>
              </a:rPr>
              <a:t>82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12556" y="4910328"/>
            <a:ext cx="1316287" cy="73152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992105" y="4663440"/>
            <a:ext cx="16052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86.8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経営報告/最終決裁で最強。1 画面で 5-10 候補を比較できる。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Dashboard Tiles — Exec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6 タイル: 本日マッチ / Score 分布 / Skill Gap / Recent / Queue / Metrics。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3667658" cy="24688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33018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本日のマッチ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Yu Gothic UI"/>
              </a:rPr>
              <a:t>+12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330189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📈 sparkline / chart placeholder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2018" y="868680"/>
            <a:ext cx="3667658" cy="24688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4898" y="1005840"/>
            <a:ext cx="33018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Score 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898" y="123444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Yu Gothic UI"/>
              </a:rPr>
              <a:t>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4898" y="2057400"/>
            <a:ext cx="330189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4898" y="205740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📈 sparkline / chart placeholder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868680"/>
            <a:ext cx="3667658" cy="24688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9716" y="1005840"/>
            <a:ext cx="33018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Top Skill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123444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Yu Gothic UI"/>
              </a:rPr>
              <a:t>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9716" y="2057400"/>
            <a:ext cx="330189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9716" y="205740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📈 sparkline / chart placeholder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20440"/>
            <a:ext cx="3667658" cy="24688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33018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Recent 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Yu Gothic UI"/>
              </a:rPr>
              <a:t>8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09160"/>
            <a:ext cx="330189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0916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📈 sparkline / chart placeholder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2018" y="3520440"/>
            <a:ext cx="3667658" cy="24688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44898" y="3657600"/>
            <a:ext cx="33018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Interview Queue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4898" y="388620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Yu Gothic UI"/>
              </a:rPr>
              <a:t>3 pending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44898" y="4709160"/>
            <a:ext cx="330189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44898" y="470916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📈 sparkline / chart placeholder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6836" y="3520440"/>
            <a:ext cx="3667658" cy="24688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9716" y="3657600"/>
            <a:ext cx="33018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Monthly Hires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9716" y="3886200"/>
            <a:ext cx="330189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2937"/>
                </a:solidFill>
                <a:latin typeface="Yu Gothic UI"/>
              </a:rPr>
              <a:t>+5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9716" y="4709160"/>
            <a:ext cx="3301898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9716" y="470916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📈 sparkline / chart placeholder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社長 / 経営層が一目で全体把握。週次レビューで使う。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Inline Preview — Live Suggestions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入力中に右パネルへリアルタイム fit / 候補をストリーミング表示。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6675120" cy="521208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05840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Yu Gothic UI"/>
              </a:rPr>
              <a:t>経歴書 + 案件票 (入力中)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630936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6309360" cy="4480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Yu Gothic UI"/>
              </a:rPr>
              <a:t>live typing area — 入力するたびに右が更新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868680"/>
            <a:ext cx="4510735" cy="5212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005840"/>
            <a:ext cx="41449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🔴 LIVE Fit Preview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46304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Skill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508760"/>
            <a:ext cx="2590495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508760"/>
            <a:ext cx="2020586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77295" y="146304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F2937"/>
                </a:solidFill>
                <a:latin typeface="Yu Gothic UI"/>
              </a:rPr>
              <a:t>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196596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Culture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011680"/>
            <a:ext cx="2590495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011680"/>
            <a:ext cx="1683821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77295" y="196596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F2937"/>
                </a:solidFill>
                <a:latin typeface="Yu Gothic UI"/>
              </a:rPr>
              <a:t>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46888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Growth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514600"/>
            <a:ext cx="2590495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514600"/>
            <a:ext cx="2124205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77295" y="246888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F2937"/>
                </a:solidFill>
                <a:latin typeface="Yu Gothic UI"/>
              </a:rPr>
              <a:t>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29718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Performing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3017520"/>
            <a:ext cx="2590495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017520"/>
            <a:ext cx="1839251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77295" y="2971800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F2937"/>
                </a:solidFill>
                <a:latin typeface="Yu Gothic UI"/>
              </a:rPr>
              <a:t>71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749039"/>
            <a:ext cx="414497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近い候補 (top 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0" y="4023360"/>
            <a:ext cx="4144975" cy="411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411480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411480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Skill 84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0" y="4526280"/>
            <a:ext cx="4144975" cy="411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6177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11535" y="461772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Skill 83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0" y="5029200"/>
            <a:ext cx="4144975" cy="411480"/>
          </a:xfrm>
          <a:prstGeom prst="roundRect">
            <a:avLst/>
          </a:prstGeom>
          <a:solidFill>
            <a:srgbClr val="FAFBFC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512064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Yu Gothic UI"/>
              </a:rPr>
              <a:t>候補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512064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Yu Gothic UI"/>
              </a:rPr>
              <a:t>Skill 82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AI ライブ感を最大化。社長デモで「打ちながら結果が変わる」を見せる。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6459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A3AF"/>
                </a:solidFill>
                <a:latin typeface="Consolas"/>
              </a:rPr>
              <a:t>WF-10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18872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Search-First Catalog — Engineer/Job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"/>
            <a:ext cx="10515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検索バー + フィルタ → グリッドカード → 詳細モーダル。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96012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Yu Gothic UI"/>
              </a:rPr>
              <a:t>🔍 検索: スキル / 業界 / 経験年数...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8686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8686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AFBFC"/>
                </a:solidFill>
                <a:latin typeface="Yu Gothic UI"/>
              </a:rPr>
              <a:t>+ New Match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AFBFC"/>
                </a:solidFill>
                <a:latin typeface="Yu Gothic UI"/>
              </a:rPr>
              <a:t>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Senior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Remote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JP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15087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1508760"/>
            <a:ext cx="7772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Hourly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1508760"/>
            <a:ext cx="5029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508760"/>
            <a:ext cx="502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+ Add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965960"/>
            <a:ext cx="3667658" cy="192024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2103120"/>
            <a:ext cx="43891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2148840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候補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2350008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Python · FastAPI · 8y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2834640"/>
            <a:ext cx="3393338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2834640"/>
            <a:ext cx="2884337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971800"/>
            <a:ext cx="33933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Fit 85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2918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2918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Remote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32918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32918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Senior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62018" y="1965960"/>
            <a:ext cx="3667658" cy="192024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99178" y="2103120"/>
            <a:ext cx="43891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47818" y="2148840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候補 #2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47818" y="2350008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Python · FastAPI · 8y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99178" y="2834640"/>
            <a:ext cx="3393338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99178" y="2834640"/>
            <a:ext cx="2884337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99178" y="2971800"/>
            <a:ext cx="33933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Fit 85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99178" y="32918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99178" y="32918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Remote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84978" y="32918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84978" y="32918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Senior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66836" y="1965960"/>
            <a:ext cx="3667658" cy="192024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03996" y="2103120"/>
            <a:ext cx="43891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52636" y="2148840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候補 #3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52636" y="2350008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Python · FastAPI · 8y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03996" y="2834640"/>
            <a:ext cx="3393338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03996" y="2834640"/>
            <a:ext cx="2884337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03996" y="2971800"/>
            <a:ext cx="33933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Fit 85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03996" y="32918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3996" y="32918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Remote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89796" y="32918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89796" y="32918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Senior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023360"/>
            <a:ext cx="3667658" cy="192024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94360" y="4160520"/>
            <a:ext cx="43891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43000" y="4206240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候補 #4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" y="4407408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Python · FastAPI · 8y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4892040"/>
            <a:ext cx="3393338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" y="4892040"/>
            <a:ext cx="2884337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5029200"/>
            <a:ext cx="33933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Fit 85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" y="53492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53492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Remote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80160" y="53492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80160" y="53492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Senior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62018" y="4023360"/>
            <a:ext cx="3667658" cy="192024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399178" y="4160520"/>
            <a:ext cx="43891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47818" y="4206240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候補 #5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47818" y="4407408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Python · FastAPI · 8y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99178" y="4892040"/>
            <a:ext cx="3393338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99178" y="4892040"/>
            <a:ext cx="2884337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9178" y="5029200"/>
            <a:ext cx="33933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Fit 85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99178" y="53492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99178" y="53492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Remote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84978" y="53492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84978" y="53492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Senior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66836" y="4023360"/>
            <a:ext cx="3667658" cy="1920240"/>
          </a:xfrm>
          <a:prstGeom prst="round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03996" y="4160520"/>
            <a:ext cx="438912" cy="4389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52636" y="4206240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Yu Gothic UI"/>
              </a:rPr>
              <a:t>候補 #6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52636" y="4407408"/>
            <a:ext cx="284469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Python · FastAPI · 8y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203996" y="4892040"/>
            <a:ext cx="3393338" cy="91440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03996" y="4892040"/>
            <a:ext cx="2884337" cy="91440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03996" y="5029200"/>
            <a:ext cx="33933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Yu Gothic UI"/>
              </a:rPr>
              <a:t>Fit 85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203996" y="53492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03996" y="53492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Remote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889796" y="5349240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889796" y="5349240"/>
            <a:ext cx="640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Yu Gothic UI"/>
              </a:rPr>
              <a:t>Senior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0" y="6400800"/>
            <a:ext cx="12191695" cy="10972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8600" y="6510528"/>
            <a:ext cx="1188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Yu Gothic UI"/>
              </a:rPr>
              <a:t>💡 蓄積データが増えた後の "リクルーターの日常入口"。検索駆動。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