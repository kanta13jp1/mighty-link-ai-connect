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428200f77648c7" /><Relationship Type="http://schemas.openxmlformats.org/officeDocument/2006/relationships/extended-properties" Target="/docProps/app.xml" Id="Ra7299b4747bf4780" /><Relationship Type="http://schemas.openxmlformats.org/officeDocument/2006/relationships/officeDocument" Target="/ppt/presentation.xml" Id="Re58135f1e6a446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15c9b45e704c1f"/>
  </p:sldMasterIdLst>
  <p:notesMasterIdLst>
    <p:notesMasterId xmlns:r="http://schemas.openxmlformats.org/officeDocument/2006/relationships" r:id="Rf92d54aa49974abf"/>
  </p:notesMasterIdLst>
  <p:sldIdLst>
    <p:sldId xmlns:r="http://schemas.openxmlformats.org/officeDocument/2006/relationships" id="256" r:id="R655d88acb63c42f7"/>
    <p:sldId xmlns:r="http://schemas.openxmlformats.org/officeDocument/2006/relationships" id="257" r:id="Rc2a89dc50a134c2b"/>
    <p:sldId xmlns:r="http://schemas.openxmlformats.org/officeDocument/2006/relationships" id="258" r:id="Rab65f1aa11a54494"/>
    <p:sldId xmlns:r="http://schemas.openxmlformats.org/officeDocument/2006/relationships" id="259" r:id="Rbecd056b6c5b4442"/>
    <p:sldId xmlns:r="http://schemas.openxmlformats.org/officeDocument/2006/relationships" id="260" r:id="R7a2ea50d16064d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d8bdd7cd484ddd" /><Relationship Type="http://schemas.openxmlformats.org/officeDocument/2006/relationships/slideMaster" Target="/ppt/slideMasters/slideMaster1.xml" Id="Raf15c9b45e704c1f" /><Relationship Type="http://schemas.openxmlformats.org/officeDocument/2006/relationships/notesMaster" Target="/ppt/notesMasters/notesMaster1.xml" Id="Rf92d54aa49974abf" /><Relationship Type="http://schemas.openxmlformats.org/officeDocument/2006/relationships/presProps" Target="/ppt/presProps.xml" Id="Rc6ec5730ef434e69" /><Relationship Type="http://schemas.openxmlformats.org/officeDocument/2006/relationships/tableStyles" Target="/ppt/tableStyles.xml" Id="R320c1f35366e4bb9" /><Relationship Type="http://schemas.openxmlformats.org/officeDocument/2006/relationships/slide" Target="/ppt/slides/slide1.xml" Id="R655d88acb63c42f7" /><Relationship Type="http://schemas.openxmlformats.org/officeDocument/2006/relationships/slide" Target="/ppt/slides/slide2.xml" Id="Rc2a89dc50a134c2b" /><Relationship Type="http://schemas.openxmlformats.org/officeDocument/2006/relationships/slide" Target="/ppt/slides/slide3.xml" Id="Rab65f1aa11a54494" /><Relationship Type="http://schemas.openxmlformats.org/officeDocument/2006/relationships/slide" Target="/ppt/slides/slide4.xml" Id="Rbecd056b6c5b4442" /><Relationship Type="http://schemas.openxmlformats.org/officeDocument/2006/relationships/slide" Target="/ppt/slides/slide5.xml" Id="R7a2ea50d16064d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e1f84167ff44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985da11cf8494b" /><Relationship Type="http://schemas.openxmlformats.org/officeDocument/2006/relationships/notesMaster" Target="/ppt/notesMasters/notesMaster1.xml" Id="Rc9cdeaeeccc440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b710fd35e4455d" /><Relationship Type="http://schemas.openxmlformats.org/officeDocument/2006/relationships/notesMaster" Target="/ppt/notesMasters/notesMaster1.xml" Id="R0ff3687d209448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69ff979898421d" /><Relationship Type="http://schemas.openxmlformats.org/officeDocument/2006/relationships/notesMaster" Target="/ppt/notesMasters/notesMaster1.xml" Id="R44287198caae44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48b7c96d4b4c8c" /><Relationship Type="http://schemas.openxmlformats.org/officeDocument/2006/relationships/notesMaster" Target="/ppt/notesMasters/notesMaster1.xml" Id="R9289a51af57744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38e606ce7d44db" /><Relationship Type="http://schemas.openxmlformats.org/officeDocument/2006/relationships/notesMaster" Target="/ppt/notesMasters/notesMaster1.xml" Id="R5739258df1c64d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Hero concept image generated with OpenAI image generation on 2026-08-15.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demo timing and recovery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https://developers.figma.com/docs/figma-mcp-server/</a:t>
            </a:r>
          </a:p>
          <a:p xmlns:a="http://schemas.openxmlformats.org/drawingml/2006/main">
            <a:r>
              <a:t>- https://developers.figma.com/docs/figma-mcp-server/mcp-vs-agent/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copy-and-paste demo prompt. Full version: docs/demo/antigravity_workshop/PROMPT_12_FIGMA_POWERPOINT.txt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1792508fa947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0358007ccf45ab" /><Relationship Type="http://schemas.openxmlformats.org/officeDocument/2006/relationships/slideLayout" Target="/ppt/slideLayouts/slideLayout1.xml" Id="Ra853cdfb22fa47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53cdfb22fa47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a93973b0b4bb9" /><Relationship Type="http://schemas.openxmlformats.org/officeDocument/2006/relationships/image" Target="/ppt/media/image.png" Id="Rfbc34aed1a024565" /><Relationship Type="http://schemas.openxmlformats.org/officeDocument/2006/relationships/notesSlide" Target="/ppt/notesSlides/notesSlide1.xml" Id="Rcc172e803bd341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eaf161e984e08" /><Relationship Type="http://schemas.openxmlformats.org/officeDocument/2006/relationships/notesSlide" Target="/ppt/notesSlides/notesSlide2.xml" Id="Raa2f6257ba9846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88e4dc1cc458b" /><Relationship Type="http://schemas.openxmlformats.org/officeDocument/2006/relationships/notesSlide" Target="/ppt/notesSlides/notesSlide3.xml" Id="Raf3944bd726349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74f6a50ad4276" /><Relationship Type="http://schemas.openxmlformats.org/officeDocument/2006/relationships/notesSlide" Target="/ppt/notesSlides/notesSlide4.xml" Id="Ra30dc9cc1e7740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0c327283f44d1" /><Relationship Type="http://schemas.openxmlformats.org/officeDocument/2006/relationships/notesSlide" Target="/ppt/notesSlides/notesSlide5.xml" Id="R27e24f3a00b94d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34aed1a024565"/>
          <a:srcRect xmlns:a="http://schemas.openxmlformats.org/drawingml/2006/main" l="25573" t="0" r="255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0"/>
            <a:ext cx="59531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hero-white-field">
            <a:extLst xmlns:a="http://schemas.openxmlformats.org/drawingml/2006/main">
              <a:ext uri="{FF2B5EF4-FFF2-40B4-BE49-F238E27FC236}">
                <a16:creationId xmlns:a16="http://schemas.microsoft.com/office/drawing/2014/main" id="{A1A238C8-36D1-4921-A529-74474F3D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hero-teal-rail">
            <a:extLst xmlns:a="http://schemas.openxmlformats.org/drawingml/2006/main">
              <a:ext uri="{FF2B5EF4-FFF2-40B4-BE49-F238E27FC236}">
                <a16:creationId xmlns:a16="http://schemas.microsoft.com/office/drawing/2014/main" id="{AEAB6A4B-0A2C-49BC-80B8-D1C63B79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ro-coral-rail">
            <a:extLst xmlns:a="http://schemas.openxmlformats.org/drawingml/2006/main">
              <a:ext uri="{FF2B5EF4-FFF2-40B4-BE49-F238E27FC236}">
                <a16:creationId xmlns:a16="http://schemas.microsoft.com/office/drawing/2014/main" id="{317A5BE1-7EDC-4BFD-998D-759EDE05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ero-eyebrow">
            <a:extLst xmlns:a="http://schemas.openxmlformats.org/drawingml/2006/main">
              <a:ext uri="{FF2B5EF4-FFF2-40B4-BE49-F238E27FC236}">
                <a16:creationId xmlns:a16="http://schemas.microsoft.com/office/drawing/2014/main" id="{D9510A8F-6869-4CA6-980C-D6AD3DD2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9D8A"/>
                </a:solidFill>
              </a:defRPr>
            </a:pPr>
            <a:r>
              <a:rPr sz="1050" b="1">
                <a:solidFill>
                  <a:srgbClr val="0F9D8A"/>
                </a:solidFill>
              </a:rPr>
              <a:t>MIGHTYLINK  |  5-MIN OPTIONAL DEMO</a:t>
            </a:r>
          </a:p>
        </p:txBody>
      </p:sp>
      <p:sp>
        <p:nvSpPr>
          <p:cNvPr id="6" name="hero-title">
            <a:extLst xmlns:a="http://schemas.openxmlformats.org/drawingml/2006/main">
              <a:ext uri="{FF2B5EF4-FFF2-40B4-BE49-F238E27FC236}">
                <a16:creationId xmlns:a16="http://schemas.microsoft.com/office/drawing/2014/main" id="{F039E66C-059D-4DEA-B3AC-C38405B7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5143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1827"/>
                </a:solidFill>
              </a:defRPr>
            </a:pPr>
            <a:r>
              <a:rPr sz="3900" b="1">
                <a:solidFill>
                  <a:srgbClr val="101827"/>
                </a:solidFill>
              </a:rPr>
              <a:t>Figmaから</a:t>
            </a:r>
          </a:p>
          <a:p xmlns:a="http://schemas.openxmlformats.org/drawingml/2006/main">
            <a:pPr>
              <a:defRPr sz="3900" b="1">
                <a:solidFill>
                  <a:srgbClr val="101827"/>
                </a:solidFill>
              </a:defRPr>
            </a:pPr>
            <a:r>
              <a:rPr sz="3900" b="1">
                <a:solidFill>
                  <a:srgbClr val="101827"/>
                </a:solidFill>
              </a:rPr>
              <a:t>PowerPointへ</a:t>
            </a:r>
          </a:p>
        </p:txBody>
      </p:sp>
      <p:sp>
        <p:nvSpPr>
          <p:cNvPr id="7" name="hero-subtitle">
            <a:extLst xmlns:a="http://schemas.openxmlformats.org/drawingml/2006/main">
              <a:ext uri="{FF2B5EF4-FFF2-40B4-BE49-F238E27FC236}">
                <a16:creationId xmlns:a16="http://schemas.microsoft.com/office/drawing/2014/main" id="{D50F506A-441C-46D2-8394-36D372DF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36176"/>
                </a:solidFill>
              </a:defRPr>
            </a:pPr>
            <a:r>
              <a:rPr sz="1725">
                <a:solidFill>
                  <a:srgbClr val="536176"/>
                </a:solidFill>
              </a:rPr>
              <a:t>AIエージェントが構成し、Figmaが視覚を整え、</a:t>
            </a:r>
          </a:p>
          <a:p xmlns:a="http://schemas.openxmlformats.org/drawingml/2006/main">
            <a:pPr>
              <a:defRPr sz="1725">
                <a:solidFill>
                  <a:srgbClr val="536176"/>
                </a:solidFill>
              </a:defRPr>
            </a:pPr>
            <a:r>
              <a:rPr sz="1725">
                <a:solidFill>
                  <a:srgbClr val="536176"/>
                </a:solidFill>
              </a:rPr>
              <a:t>PPTXで届けるところまでを5分で実演します。</a:t>
            </a:r>
          </a:p>
        </p:txBody>
      </p:sp>
      <p:sp>
        <p:nvSpPr>
          <p:cNvPr id="8" name="hero-flow">
            <a:extLst xmlns:a="http://schemas.openxmlformats.org/drawingml/2006/main">
              <a:ext uri="{FF2B5EF4-FFF2-40B4-BE49-F238E27FC236}">
                <a16:creationId xmlns:a16="http://schemas.microsoft.com/office/drawing/2014/main" id="{976876C3-EC97-44C0-90C7-63943388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953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hero-flow-text">
            <a:extLst xmlns:a="http://schemas.openxmlformats.org/drawingml/2006/main">
              <a:ext uri="{FF2B5EF4-FFF2-40B4-BE49-F238E27FC236}">
                <a16:creationId xmlns:a16="http://schemas.microsoft.com/office/drawing/2014/main" id="{14C74C88-006B-4263-8BD0-B592D0DC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577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PROMPT   &gt;   FIGMA SLIDES   &gt;   PPTX</a:t>
            </a:r>
          </a:p>
        </p:txBody>
      </p:sp>
      <p:sp>
        <p:nvSpPr>
          <p:cNvPr id="10" name="hero-slot">
            <a:extLst xmlns:a="http://schemas.openxmlformats.org/drawingml/2006/main">
              <a:ext uri="{FF2B5EF4-FFF2-40B4-BE49-F238E27FC236}">
                <a16:creationId xmlns:a16="http://schemas.microsoft.com/office/drawing/2014/main" id="{C5F1E53A-F8A9-40F9-9E3C-4B18A973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06A3C"/>
                </a:solidFill>
              </a:defRPr>
            </a:pPr>
            <a:r>
              <a:rPr sz="1275" b="1">
                <a:solidFill>
                  <a:srgbClr val="F06A3C"/>
                </a:solidFill>
              </a:rPr>
              <a:t>Q&amp;A / 予備時間  |  90秒復旧あり</a:t>
            </a:r>
          </a:p>
        </p:txBody>
      </p:sp>
    </p:spTree>
    <p:extLst>
      <p:ext uri="{BB962C8B-B14F-4D97-AF65-F5344CB8AC3E}">
        <p14:creationId xmlns:p14="http://schemas.microsoft.com/office/powerpoint/2010/main" val="5829435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accent-2">
            <a:extLst xmlns:a="http://schemas.openxmlformats.org/drawingml/2006/main">
              <a:ext uri="{FF2B5EF4-FFF2-40B4-BE49-F238E27FC236}">
                <a16:creationId xmlns:a16="http://schemas.microsoft.com/office/drawing/2014/main" id="{677962E0-C4EE-41F9-B94A-1A44193C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B748F240-0F8B-4718-A4F1-D8315B05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9D8A"/>
                </a:solidFill>
              </a:defRPr>
            </a:pPr>
            <a:r>
              <a:rPr sz="1050" b="1">
                <a:solidFill>
                  <a:srgbClr val="0F9D8A"/>
                </a:solidFill>
              </a:rPr>
              <a:t>01  /  POSITIONING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B59A1A6D-134E-4C63-AA79-E231021F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827"/>
                </a:solidFill>
              </a:defRPr>
            </a:pPr>
            <a:r>
              <a:rPr sz="2625" b="1">
                <a:solidFill>
                  <a:srgbClr val="101827"/>
                </a:solidFill>
              </a:rPr>
              <a:t>30分本編を守り、5分だけ見せ場を足します</a:t>
            </a:r>
          </a:p>
        </p:txBody>
      </p:sp>
      <p:sp>
        <p:nvSpPr>
          <p:cNvPr id="4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63482BB4-3DA4-4A71-90C3-4CF3E9ED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0D50B597-4950-4A98-A36E-687A7C11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36176"/>
                </a:solidFill>
              </a:defRPr>
            </a:pPr>
            <a:r>
              <a:rPr sz="750">
                <a:solidFill>
                  <a:srgbClr val="536176"/>
                </a:solidFill>
              </a:rPr>
              <a:t>MightyLINK  |  FIGMA TO POWERPOINT  |  02 / 05</a:t>
            </a:r>
          </a:p>
        </p:txBody>
      </p:sp>
      <p:sp>
        <p:nvSpPr>
          <p:cNvPr id="6" name="metric-band-0">
            <a:extLst xmlns:a="http://schemas.openxmlformats.org/drawingml/2006/main">
              <a:ext uri="{FF2B5EF4-FFF2-40B4-BE49-F238E27FC236}">
                <a16:creationId xmlns:a16="http://schemas.microsoft.com/office/drawing/2014/main" id="{2CA822D1-71F0-43CA-8B6D-50D2F792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bg-0">
            <a:extLst xmlns:a="http://schemas.openxmlformats.org/drawingml/2006/main">
              <a:ext uri="{FF2B5EF4-FFF2-40B4-BE49-F238E27FC236}">
                <a16:creationId xmlns:a16="http://schemas.microsoft.com/office/drawing/2014/main" id="{6743B3D8-BD2D-4432-902D-8CAF6043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3238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9D23F1FC-60CD-4F4D-92D4-3ED3B696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161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563EB"/>
                </a:solidFill>
              </a:defRPr>
            </a:pPr>
            <a:r>
              <a:rPr sz="4650" b="1">
                <a:solidFill>
                  <a:srgbClr val="2563EB"/>
                </a:solidFill>
              </a:rPr>
              <a:t>30</a:t>
            </a:r>
          </a:p>
        </p:txBody>
      </p:sp>
      <p:sp>
        <p:nvSpPr>
          <p:cNvPr id="9" name="metric-unit-0">
            <a:extLst xmlns:a="http://schemas.openxmlformats.org/drawingml/2006/main">
              <a:ext uri="{FF2B5EF4-FFF2-40B4-BE49-F238E27FC236}">
                <a16:creationId xmlns:a16="http://schemas.microsoft.com/office/drawing/2014/main" id="{EC6AB740-C2DD-49FE-A51B-70818038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289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min</a:t>
            </a:r>
          </a:p>
        </p:txBody>
      </p:sp>
      <p:sp>
        <p:nvSpPr>
          <p:cNvPr id="10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7498C068-5A92-4C19-8A21-2E8FA5F6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Antigravity本編</a:t>
            </a:r>
          </a:p>
        </p:txBody>
      </p:sp>
      <p:sp>
        <p:nvSpPr>
          <p:cNvPr id="11" name="metric-detail-0">
            <a:extLst xmlns:a="http://schemas.openxmlformats.org/drawingml/2006/main">
              <a:ext uri="{FF2B5EF4-FFF2-40B4-BE49-F238E27FC236}">
                <a16:creationId xmlns:a16="http://schemas.microsoft.com/office/drawing/2014/main" id="{81D4CE9B-8E5E-4169-BE2A-C78B4D1D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176"/>
                </a:solidFill>
              </a:defRPr>
            </a:pPr>
            <a:r>
              <a:rPr sz="1350">
                <a:solidFill>
                  <a:srgbClr val="536176"/>
                </a:solidFill>
              </a:rPr>
              <a:t>構成と公開まで完結</a:t>
            </a:r>
          </a:p>
        </p:txBody>
      </p:sp>
      <p:sp>
        <p:nvSpPr>
          <p:cNvPr id="12" name="metric-band-1">
            <a:extLst xmlns:a="http://schemas.openxmlformats.org/drawingml/2006/main">
              <a:ext uri="{FF2B5EF4-FFF2-40B4-BE49-F238E27FC236}">
                <a16:creationId xmlns:a16="http://schemas.microsoft.com/office/drawing/2014/main" id="{339EBA74-5841-484B-8300-4F7B1779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bg-1">
            <a:extLst xmlns:a="http://schemas.openxmlformats.org/drawingml/2006/main">
              <a:ext uri="{FF2B5EF4-FFF2-40B4-BE49-F238E27FC236}">
                <a16:creationId xmlns:a16="http://schemas.microsoft.com/office/drawing/2014/main" id="{DF8C4801-F8A0-4952-AC05-030BE651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85950"/>
            <a:ext cx="3238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9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0F5849D1-3F46-44B1-8E7B-9C6E5AB8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90750"/>
            <a:ext cx="161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9D8A"/>
                </a:solidFill>
              </a:defRPr>
            </a:pPr>
            <a:r>
              <a:rPr sz="4650" b="1">
                <a:solidFill>
                  <a:srgbClr val="0F9D8A"/>
                </a:solidFill>
              </a:rPr>
              <a:t>05</a:t>
            </a:r>
          </a:p>
        </p:txBody>
      </p:sp>
      <p:sp>
        <p:nvSpPr>
          <p:cNvPr id="15" name="metric-unit-1">
            <a:extLst xmlns:a="http://schemas.openxmlformats.org/drawingml/2006/main">
              <a:ext uri="{FF2B5EF4-FFF2-40B4-BE49-F238E27FC236}">
                <a16:creationId xmlns:a16="http://schemas.microsoft.com/office/drawing/2014/main" id="{273EDF77-B304-4A32-86AB-20417735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289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9D8A"/>
                </a:solidFill>
              </a:defRPr>
            </a:pPr>
            <a:r>
              <a:rPr sz="1350" b="1">
                <a:solidFill>
                  <a:srgbClr val="0F9D8A"/>
                </a:solidFill>
              </a:rPr>
              <a:t>min</a:t>
            </a:r>
          </a:p>
        </p:txBody>
      </p:sp>
      <p:sp>
        <p:nvSpPr>
          <p:cNvPr id="16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D83AADAC-1579-4C81-9D4E-6E20D52C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33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Figma追加デモ</a:t>
            </a:r>
          </a:p>
        </p:txBody>
      </p:sp>
      <p:sp>
        <p:nvSpPr>
          <p:cNvPr id="17" name="metric-detail-1">
            <a:extLst xmlns:a="http://schemas.openxmlformats.org/drawingml/2006/main">
              <a:ext uri="{FF2B5EF4-FFF2-40B4-BE49-F238E27FC236}">
                <a16:creationId xmlns:a16="http://schemas.microsoft.com/office/drawing/2014/main" id="{30CF5B2B-F8F0-4C82-8D4B-0C8CAAF2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052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176"/>
                </a:solidFill>
              </a:defRPr>
            </a:pPr>
            <a:r>
              <a:rPr sz="1350">
                <a:solidFill>
                  <a:srgbClr val="536176"/>
                </a:solidFill>
              </a:rPr>
              <a:t>Q&amp;A / 予備時間だけ</a:t>
            </a:r>
          </a:p>
        </p:txBody>
      </p:sp>
      <p:sp>
        <p:nvSpPr>
          <p:cNvPr id="18" name="metric-band-2">
            <a:extLst xmlns:a="http://schemas.openxmlformats.org/drawingml/2006/main">
              <a:ext uri="{FF2B5EF4-FFF2-40B4-BE49-F238E27FC236}">
                <a16:creationId xmlns:a16="http://schemas.microsoft.com/office/drawing/2014/main" id="{CA14F7CD-72B3-4AC2-962B-E5679EBD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etric-bg-2">
            <a:extLst xmlns:a="http://schemas.openxmlformats.org/drawingml/2006/main">
              <a:ext uri="{FF2B5EF4-FFF2-40B4-BE49-F238E27FC236}">
                <a16:creationId xmlns:a16="http://schemas.microsoft.com/office/drawing/2014/main" id="{65F6E0A8-EC80-45EE-9098-E0B31A5C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85950"/>
            <a:ext cx="3238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E7217768-1226-4A9E-B4B4-C9FCBD46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161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06A3C"/>
                </a:solidFill>
              </a:defRPr>
            </a:pPr>
            <a:r>
              <a:rPr sz="4650" b="1">
                <a:solidFill>
                  <a:srgbClr val="F06A3C"/>
                </a:solidFill>
              </a:rPr>
              <a:t>90</a:t>
            </a:r>
          </a:p>
        </p:txBody>
      </p:sp>
      <p:sp>
        <p:nvSpPr>
          <p:cNvPr id="21" name="metric-unit-2">
            <a:extLst xmlns:a="http://schemas.openxmlformats.org/drawingml/2006/main">
              <a:ext uri="{FF2B5EF4-FFF2-40B4-BE49-F238E27FC236}">
                <a16:creationId xmlns:a16="http://schemas.microsoft.com/office/drawing/2014/main" id="{7AEBC4CA-DF04-41C8-9071-CFE8CCAD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289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A3C"/>
                </a:solidFill>
              </a:defRPr>
            </a:pPr>
            <a:r>
              <a:rPr sz="1350" b="1">
                <a:solidFill>
                  <a:srgbClr val="F06A3C"/>
                </a:solidFill>
              </a:rPr>
              <a:t>sec</a:t>
            </a:r>
          </a:p>
        </p:txBody>
      </p:sp>
      <p:sp>
        <p:nvSpPr>
          <p:cNvPr id="22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AD43319C-4C5A-43DA-BA8F-50C263A9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33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復旧上限</a:t>
            </a:r>
          </a:p>
        </p:txBody>
      </p:sp>
      <p:sp>
        <p:nvSpPr>
          <p:cNvPr id="23" name="metric-detail-2">
            <a:extLst xmlns:a="http://schemas.openxmlformats.org/drawingml/2006/main">
              <a:ext uri="{FF2B5EF4-FFF2-40B4-BE49-F238E27FC236}">
                <a16:creationId xmlns:a16="http://schemas.microsoft.com/office/drawing/2014/main" id="{B2FB2E26-573E-4DC6-B0E4-5C93F0E1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052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176"/>
                </a:solidFill>
              </a:defRPr>
            </a:pPr>
            <a:r>
              <a:rPr sz="1350">
                <a:solidFill>
                  <a:srgbClr val="536176"/>
                </a:solidFill>
              </a:rPr>
              <a:t>認証を会場でやり直さない</a:t>
            </a:r>
          </a:p>
        </p:txBody>
      </p:sp>
      <p:sp>
        <p:nvSpPr>
          <p:cNvPr id="24" name="positioning-conclusion">
            <a:extLst xmlns:a="http://schemas.openxmlformats.org/drawingml/2006/main">
              <a:ext uri="{FF2B5EF4-FFF2-40B4-BE49-F238E27FC236}">
                <a16:creationId xmlns:a16="http://schemas.microsoft.com/office/drawing/2014/main" id="{E6BA891D-04E4-4703-8084-B8C6F3F2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91125"/>
            <a:ext cx="8001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ositioning-conclusion-text">
            <a:extLst xmlns:a="http://schemas.openxmlformats.org/drawingml/2006/main">
              <a:ext uri="{FF2B5EF4-FFF2-40B4-BE49-F238E27FC236}">
                <a16:creationId xmlns:a16="http://schemas.microsoft.com/office/drawing/2014/main" id="{7D56A095-652E-4835-ABCA-36E03F38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911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成功時はFigmaの編集性を見せ、失敗時は完成済みPPTXへ切り替えます。</a:t>
            </a:r>
          </a:p>
        </p:txBody>
      </p:sp>
    </p:spTree>
    <p:extLst>
      <p:ext uri="{BB962C8B-B14F-4D97-AF65-F5344CB8AC3E}">
        <p14:creationId xmlns:p14="http://schemas.microsoft.com/office/powerpoint/2010/main" val="5875679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accent-3">
            <a:extLst xmlns:a="http://schemas.openxmlformats.org/drawingml/2006/main">
              <a:ext uri="{FF2B5EF4-FFF2-40B4-BE49-F238E27FC236}">
                <a16:creationId xmlns:a16="http://schemas.microsoft.com/office/drawing/2014/main" id="{0E4D792C-A7A4-4A8C-9A03-8839E215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5FC1E02A-6D46-4575-932B-3FEF7E0D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9D8A"/>
                </a:solidFill>
              </a:defRPr>
            </a:pPr>
            <a:r>
              <a:rPr sz="1050" b="1">
                <a:solidFill>
                  <a:srgbClr val="0F9D8A"/>
                </a:solidFill>
              </a:rPr>
              <a:t>02  /  WORKFLOW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DD3B0383-BBBE-4371-8E80-FF3E7561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827"/>
                </a:solidFill>
              </a:defRPr>
            </a:pPr>
            <a:r>
              <a:rPr sz="2625" b="1">
                <a:solidFill>
                  <a:srgbClr val="101827"/>
                </a:solidFill>
              </a:rPr>
              <a:t>役割を分けると、見栄えと再現性を両立できます</a:t>
            </a:r>
          </a:p>
        </p:txBody>
      </p:sp>
      <p:sp>
        <p:nvSpPr>
          <p:cNvPr id="4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E4972C68-B9B1-4623-A905-4A6A87B5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58483E2E-5F84-43B8-B442-0B3DA666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36176"/>
                </a:solidFill>
              </a:defRPr>
            </a:pPr>
            <a:r>
              <a:rPr sz="750">
                <a:solidFill>
                  <a:srgbClr val="536176"/>
                </a:solidFill>
              </a:rPr>
              <a:t>MightyLINK  |  FIGMA TO POWERPOINT  |  03 / 05</a:t>
            </a:r>
          </a:p>
        </p:txBody>
      </p:sp>
      <p:sp>
        <p:nvSpPr>
          <p:cNvPr id="6" name="flow-number-0">
            <a:extLst xmlns:a="http://schemas.openxmlformats.org/drawingml/2006/main">
              <a:ext uri="{FF2B5EF4-FFF2-40B4-BE49-F238E27FC236}">
                <a16:creationId xmlns:a16="http://schemas.microsoft.com/office/drawing/2014/main" id="{A56866F1-A0C6-4056-8879-58256FC8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7" name="flow-line-0">
            <a:extLst xmlns:a="http://schemas.openxmlformats.org/drawingml/2006/main">
              <a:ext uri="{FF2B5EF4-FFF2-40B4-BE49-F238E27FC236}">
                <a16:creationId xmlns:a16="http://schemas.microsoft.com/office/drawing/2014/main" id="{CD38AF2E-31BC-4197-AB32-ED3B8A7A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label-0">
            <a:extLst xmlns:a="http://schemas.openxmlformats.org/drawingml/2006/main">
              <a:ext uri="{FF2B5EF4-FFF2-40B4-BE49-F238E27FC236}">
                <a16:creationId xmlns:a16="http://schemas.microsoft.com/office/drawing/2014/main" id="{CBDCBD7D-9DEC-48F2-9465-9C711760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AI AGENT</a:t>
            </a:r>
          </a:p>
        </p:txBody>
      </p:sp>
      <p:sp>
        <p:nvSpPr>
          <p:cNvPr id="9" name="flow-detail-0">
            <a:extLst xmlns:a="http://schemas.openxmlformats.org/drawingml/2006/main">
              <a:ext uri="{FF2B5EF4-FFF2-40B4-BE49-F238E27FC236}">
                <a16:creationId xmlns:a16="http://schemas.microsoft.com/office/drawing/2014/main" id="{CBC00488-B16D-4F27-82BA-2F591BB5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176"/>
                </a:solidFill>
              </a:defRPr>
            </a:pPr>
            <a:r>
              <a:rPr sz="1425">
                <a:solidFill>
                  <a:srgbClr val="536176"/>
                </a:solidFill>
              </a:rPr>
              <a:t>目的・対象者・構成・制約を固定</a:t>
            </a:r>
          </a:p>
        </p:txBody>
      </p:sp>
      <p:sp>
        <p:nvSpPr>
          <p:cNvPr id="10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4B9E71C2-DBF3-449F-A5BD-8514FDBA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DEE8"/>
                </a:solidFill>
              </a:defRPr>
            </a:pPr>
            <a:r>
              <a:rPr sz="2100" b="1">
                <a:solidFill>
                  <a:srgbClr val="D7DEE8"/>
                </a:solidFill>
              </a:rPr>
              <a:t>&gt;</a:t>
            </a:r>
          </a:p>
        </p:txBody>
      </p:sp>
      <p:sp>
        <p:nvSpPr>
          <p:cNvPr id="11" name="flow-number-1">
            <a:extLst xmlns:a="http://schemas.openxmlformats.org/drawingml/2006/main">
              <a:ext uri="{FF2B5EF4-FFF2-40B4-BE49-F238E27FC236}">
                <a16:creationId xmlns:a16="http://schemas.microsoft.com/office/drawing/2014/main" id="{6C538E64-04B9-4F8C-9C19-123ABBF6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9D8A"/>
                </a:solidFill>
              </a:defRPr>
            </a:pPr>
            <a:r>
              <a:rPr sz="1350" b="1">
                <a:solidFill>
                  <a:srgbClr val="0F9D8A"/>
                </a:solidFill>
              </a:rPr>
              <a:t>02</a:t>
            </a:r>
          </a:p>
        </p:txBody>
      </p:sp>
      <p:sp>
        <p:nvSpPr>
          <p:cNvPr id="12" name="flow-line-1">
            <a:extLst xmlns:a="http://schemas.openxmlformats.org/drawingml/2006/main">
              <a:ext uri="{FF2B5EF4-FFF2-40B4-BE49-F238E27FC236}">
                <a16:creationId xmlns:a16="http://schemas.microsoft.com/office/drawing/2014/main" id="{B1A7A958-B007-435F-AE7B-A408B860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479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6BB0D730-03AE-4DB5-BDFD-C4CEE365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FIGMA SLIDES</a:t>
            </a:r>
          </a:p>
        </p:txBody>
      </p:sp>
      <p:sp>
        <p:nvSpPr>
          <p:cNvPr id="14" name="flow-detail-1">
            <a:extLst xmlns:a="http://schemas.openxmlformats.org/drawingml/2006/main">
              <a:ext uri="{FF2B5EF4-FFF2-40B4-BE49-F238E27FC236}">
                <a16:creationId xmlns:a16="http://schemas.microsoft.com/office/drawing/2014/main" id="{D5819E79-75DC-4A0B-9070-67020F2A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623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176"/>
                </a:solidFill>
              </a:defRPr>
            </a:pPr>
            <a:r>
              <a:rPr sz="1425">
                <a:solidFill>
                  <a:srgbClr val="536176"/>
                </a:solidFill>
              </a:rPr>
              <a:t>編集可能なレイアウトと視覚を作る</a:t>
            </a:r>
          </a:p>
        </p:txBody>
      </p:sp>
      <p:sp>
        <p:nvSpPr>
          <p:cNvPr id="15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EA3CA56-4464-431A-9723-7C760F2F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0035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DEE8"/>
                </a:solidFill>
              </a:defRPr>
            </a:pPr>
            <a:r>
              <a:rPr sz="2100" b="1">
                <a:solidFill>
                  <a:srgbClr val="D7DEE8"/>
                </a:solidFill>
              </a:rPr>
              <a:t>&gt;</a:t>
            </a:r>
          </a:p>
        </p:txBody>
      </p:sp>
      <p:sp>
        <p:nvSpPr>
          <p:cNvPr id="16" name="flow-number-2">
            <a:extLst xmlns:a="http://schemas.openxmlformats.org/drawingml/2006/main">
              <a:ext uri="{FF2B5EF4-FFF2-40B4-BE49-F238E27FC236}">
                <a16:creationId xmlns:a16="http://schemas.microsoft.com/office/drawing/2014/main" id="{6836EBAA-4574-4757-B5B5-84DAF2EB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A3C"/>
                </a:solidFill>
              </a:defRPr>
            </a:pPr>
            <a:r>
              <a:rPr sz="1350" b="1">
                <a:solidFill>
                  <a:srgbClr val="F06A3C"/>
                </a:solidFill>
              </a:rPr>
              <a:t>03</a:t>
            </a:r>
          </a:p>
        </p:txBody>
      </p:sp>
      <p:sp>
        <p:nvSpPr>
          <p:cNvPr id="17" name="flow-line-2">
            <a:extLst xmlns:a="http://schemas.openxmlformats.org/drawingml/2006/main">
              <a:ext uri="{FF2B5EF4-FFF2-40B4-BE49-F238E27FC236}">
                <a16:creationId xmlns:a16="http://schemas.microsoft.com/office/drawing/2014/main" id="{18161D00-4EF2-4960-A02C-70033FC5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479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34E1BED9-046C-485F-87E2-89C28AF1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PPTX EXPORT</a:t>
            </a:r>
          </a:p>
        </p:txBody>
      </p:sp>
      <p:sp>
        <p:nvSpPr>
          <p:cNvPr id="19" name="flow-detail-2">
            <a:extLst xmlns:a="http://schemas.openxmlformats.org/drawingml/2006/main">
              <a:ext uri="{FF2B5EF4-FFF2-40B4-BE49-F238E27FC236}">
                <a16:creationId xmlns:a16="http://schemas.microsoft.com/office/drawing/2014/main" id="{A1BBF3D9-5529-48F4-86B2-0FA10B17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176"/>
                </a:solidFill>
              </a:defRPr>
            </a:pPr>
            <a:r>
              <a:rPr sz="1425">
                <a:solidFill>
                  <a:srgbClr val="536176"/>
                </a:solidFill>
              </a:rPr>
              <a:t>editable structureで書き出す</a:t>
            </a:r>
          </a:p>
        </p:txBody>
      </p:sp>
      <p:sp>
        <p:nvSpPr>
          <p:cNvPr id="20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8BCCD405-D049-4C74-A989-ABE5B944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0035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DEE8"/>
                </a:solidFill>
              </a:defRPr>
            </a:pPr>
            <a:r>
              <a:rPr sz="2100" b="1">
                <a:solidFill>
                  <a:srgbClr val="D7DEE8"/>
                </a:solidFill>
              </a:rPr>
              <a:t>&gt;</a:t>
            </a:r>
          </a:p>
        </p:txBody>
      </p:sp>
      <p:sp>
        <p:nvSpPr>
          <p:cNvPr id="21" name="flow-number-3">
            <a:extLst xmlns:a="http://schemas.openxmlformats.org/drawingml/2006/main">
              <a:ext uri="{FF2B5EF4-FFF2-40B4-BE49-F238E27FC236}">
                <a16:creationId xmlns:a16="http://schemas.microsoft.com/office/drawing/2014/main" id="{BBCD689A-F395-40CE-BCFB-617D0991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097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965A"/>
                </a:solidFill>
              </a:defRPr>
            </a:pPr>
            <a:r>
              <a:rPr sz="1350" b="1">
                <a:solidFill>
                  <a:srgbClr val="15965A"/>
                </a:solidFill>
              </a:rPr>
              <a:t>04</a:t>
            </a:r>
          </a:p>
        </p:txBody>
      </p:sp>
      <p:sp>
        <p:nvSpPr>
          <p:cNvPr id="22" name="flow-line-3">
            <a:extLst xmlns:a="http://schemas.openxmlformats.org/drawingml/2006/main">
              <a:ext uri="{FF2B5EF4-FFF2-40B4-BE49-F238E27FC236}">
                <a16:creationId xmlns:a16="http://schemas.microsoft.com/office/drawing/2014/main" id="{384EB73E-E348-4B5A-907B-55DA141A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479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F92FCC32-AA90-47A3-845E-CE2F7F2F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71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POWERPOINT</a:t>
            </a:r>
          </a:p>
        </p:txBody>
      </p:sp>
      <p:sp>
        <p:nvSpPr>
          <p:cNvPr id="24" name="flow-detail-3">
            <a:extLst xmlns:a="http://schemas.openxmlformats.org/drawingml/2006/main">
              <a:ext uri="{FF2B5EF4-FFF2-40B4-BE49-F238E27FC236}">
                <a16:creationId xmlns:a16="http://schemas.microsoft.com/office/drawing/2014/main" id="{8CD8F000-C3BC-4827-B678-C269FFB4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623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176"/>
                </a:solidFill>
              </a:defRPr>
            </a:pPr>
            <a:r>
              <a:rPr sz="1425">
                <a:solidFill>
                  <a:srgbClr val="536176"/>
                </a:solidFill>
              </a:rPr>
              <a:t>フォント・改行・色を最終確認</a:t>
            </a:r>
          </a:p>
        </p:txBody>
      </p:sp>
      <p:sp>
        <p:nvSpPr>
          <p:cNvPr id="25" name="workflow-owner">
            <a:extLst xmlns:a="http://schemas.openxmlformats.org/drawingml/2006/main">
              <a:ext uri="{FF2B5EF4-FFF2-40B4-BE49-F238E27FC236}">
                <a16:creationId xmlns:a16="http://schemas.microsoft.com/office/drawing/2014/main" id="{E1A8A2A4-98DC-4D35-B272-9A1CC005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10858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workflow-owner-kicker">
            <a:extLst xmlns:a="http://schemas.openxmlformats.org/drawingml/2006/main">
              <a:ext uri="{FF2B5EF4-FFF2-40B4-BE49-F238E27FC236}">
                <a16:creationId xmlns:a16="http://schemas.microsoft.com/office/drawing/2014/main" id="{F3FD543B-7803-46CE-9C29-75AC7281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6A3C"/>
                </a:solidFill>
              </a:defRPr>
            </a:pPr>
            <a:r>
              <a:rPr sz="1125" b="1">
                <a:solidFill>
                  <a:srgbClr val="F06A3C"/>
                </a:solidFill>
              </a:rPr>
              <a:t>HUMAN OWNER</a:t>
            </a:r>
          </a:p>
        </p:txBody>
      </p:sp>
      <p:sp>
        <p:nvSpPr>
          <p:cNvPr id="27" name="workflow-owner-text">
            <a:extLst xmlns:a="http://schemas.openxmlformats.org/drawingml/2006/main">
              <a:ext uri="{FF2B5EF4-FFF2-40B4-BE49-F238E27FC236}">
                <a16:creationId xmlns:a16="http://schemas.microsoft.com/office/drawing/2014/main" id="{1CEEFD8A-FD82-414F-B466-CD04ABD3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958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人は作成先team、秘密情報、PPTX書き出し、最終承認を持ちます。</a:t>
            </a:r>
          </a:p>
        </p:txBody>
      </p:sp>
      <p:sp>
        <p:nvSpPr>
          <p:cNvPr id="28" name="workflow-owner-note">
            <a:extLst xmlns:a="http://schemas.openxmlformats.org/drawingml/2006/main">
              <a:ext uri="{FF2B5EF4-FFF2-40B4-BE49-F238E27FC236}">
                <a16:creationId xmlns:a16="http://schemas.microsoft.com/office/drawing/2014/main" id="{82518DAF-B9B8-461A-AD91-BB6E993F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8162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176"/>
                </a:solidFill>
              </a:defRPr>
            </a:pPr>
            <a:r>
              <a:rPr sz="1350">
                <a:solidFill>
                  <a:srgbClr val="536176"/>
                </a:solidFill>
              </a:rPr>
              <a:t>Figma MCPは接続。完成品の品質保証はAIではなく、人の確認です。</a:t>
            </a:r>
          </a:p>
        </p:txBody>
      </p:sp>
    </p:spTree>
    <p:extLst>
      <p:ext uri="{BB962C8B-B14F-4D97-AF65-F5344CB8AC3E}">
        <p14:creationId xmlns:p14="http://schemas.microsoft.com/office/powerpoint/2010/main" val="7856904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accent-4">
            <a:extLst xmlns:a="http://schemas.openxmlformats.org/drawingml/2006/main">
              <a:ext uri="{FF2B5EF4-FFF2-40B4-BE49-F238E27FC236}">
                <a16:creationId xmlns:a16="http://schemas.microsoft.com/office/drawing/2014/main" id="{9B6C4851-DE1B-48CB-8FD4-B8EACC20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60EB014C-64A5-4AFD-90BC-56D07622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9D8A"/>
                </a:solidFill>
              </a:defRPr>
            </a:pPr>
            <a:r>
              <a:rPr sz="1050" b="1">
                <a:solidFill>
                  <a:srgbClr val="0F9D8A"/>
                </a:solidFill>
              </a:rPr>
              <a:t>03  /  COPY &amp; PASTE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F41788C4-9A08-439F-A7D0-03334594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827"/>
                </a:solidFill>
              </a:defRPr>
            </a:pPr>
            <a:r>
              <a:rPr sz="2625" b="1">
                <a:solidFill>
                  <a:srgbClr val="101827"/>
                </a:solidFill>
              </a:rPr>
              <a:t>このプロンプトを全文貼り付けます</a:t>
            </a:r>
          </a:p>
        </p:txBody>
      </p:sp>
      <p:sp>
        <p:nvSpPr>
          <p:cNvPr id="4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562A1B7D-D733-4F0C-BF2A-7476A199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A15C8B6D-2F75-4AE9-A754-7C3057CF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36176"/>
                </a:solidFill>
              </a:defRPr>
            </a:pPr>
            <a:r>
              <a:rPr sz="750">
                <a:solidFill>
                  <a:srgbClr val="536176"/>
                </a:solidFill>
              </a:rPr>
              <a:t>MightyLINK  |  FIGMA TO POWERPOINT  |  04 / 05</a:t>
            </a:r>
          </a:p>
        </p:txBody>
      </p:sp>
      <p:sp>
        <p:nvSpPr>
          <p:cNvPr id="6" name="prompt-panel">
            <a:extLst xmlns:a="http://schemas.openxmlformats.org/drawingml/2006/main">
              <a:ext uri="{FF2B5EF4-FFF2-40B4-BE49-F238E27FC236}">
                <a16:creationId xmlns:a16="http://schemas.microsoft.com/office/drawing/2014/main" id="{B996ABE3-3905-4584-9DCA-CF0C3EB5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449580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mpt-accent">
            <a:extLst xmlns:a="http://schemas.openxmlformats.org/drawingml/2006/main">
              <a:ext uri="{FF2B5EF4-FFF2-40B4-BE49-F238E27FC236}">
                <a16:creationId xmlns:a16="http://schemas.microsoft.com/office/drawing/2014/main" id="{B8121A44-CB2B-44EB-9672-F39E4FA9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CD9C603D-0309-4640-8CA3-DA3372FF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5E0D0"/>
                </a:solidFill>
              </a:defRPr>
            </a:pPr>
            <a:r>
              <a:rPr sz="1050" b="1">
                <a:solidFill>
                  <a:srgbClr val="75E0D0"/>
                </a:solidFill>
              </a:rPr>
              <a:t>PROMPT_12_FIGMA_POWERPOINT.txt</a:t>
            </a:r>
          </a:p>
        </p:txBody>
      </p:sp>
      <p:sp>
        <p:nvSpPr>
          <p:cNvPr id="9" name="prompt-body">
            <a:extLst xmlns:a="http://schemas.openxmlformats.org/drawingml/2006/main">
              <a:ext uri="{FF2B5EF4-FFF2-40B4-BE49-F238E27FC236}">
                <a16:creationId xmlns:a16="http://schemas.microsoft.com/office/drawing/2014/main" id="{EFF9CC62-D0EC-426D-B82B-8844A7D3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103251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接続済みのFigmaプラグインを使って、編集可能なFigma Slidesを新規作成してください。</a:t>
            </a:r>
          </a:p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複数のteam / plan候補がある場合は、作成前に私へ選択を求めてください。</a:t>
            </a:r>
          </a:p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非エンジニアと開発者が混在する社内研修向けに、次の3枚を作成します。</a:t>
            </a:r>
          </a:p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1. 目的 -&gt; 指示 -&gt; 実行 -&gt; 証拠 -&gt; 改善のAIエージェント活用フロー</a:t>
            </a:r>
          </a:p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2. IDEは見ながら作る、CLIは素早く確認する、SDKは仕組みに組み込む</a:t>
            </a:r>
          </a:p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3. 人が持つ責任として、目的、権限、承認、証拠、停止条件を示す</a:t>
            </a:r>
          </a:p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16:9、白基調、本文24pt以上、余白を広く、フラットな構成にしてください。</a:t>
            </a:r>
          </a:p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顧客情報、個人情報、APIキー、未確認の数値、外部ロゴは入れないでください。</a:t>
            </a:r>
          </a:p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完成後、文字切れ・重なり・キャンバス外要素を確認し、Figma Slides URLを返してください。</a:t>
            </a:r>
          </a:p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PPTX書き出しは実行せず、私がFigma上で確認してから行います。</a:t>
            </a:r>
          </a:p>
        </p:txBody>
      </p:sp>
    </p:spTree>
    <p:extLst>
      <p:ext uri="{BB962C8B-B14F-4D97-AF65-F5344CB8AC3E}">
        <p14:creationId xmlns:p14="http://schemas.microsoft.com/office/powerpoint/2010/main" val="1582643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accent-5">
            <a:extLst xmlns:a="http://schemas.openxmlformats.org/drawingml/2006/main">
              <a:ext uri="{FF2B5EF4-FFF2-40B4-BE49-F238E27FC236}">
                <a16:creationId xmlns:a16="http://schemas.microsoft.com/office/drawing/2014/main" id="{FB0E455A-3E6C-4589-AB67-2FD0D7CB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BD80F32E-630C-4C0F-9082-D299B87D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9D8A"/>
                </a:solidFill>
              </a:defRPr>
            </a:pPr>
            <a:r>
              <a:rPr sz="1050" b="1">
                <a:solidFill>
                  <a:srgbClr val="0F9D8A"/>
                </a:solidFill>
              </a:rPr>
              <a:t>04  /  EXPORT &amp; RECOVERY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D969E41F-B33F-460A-84F6-4A404150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827"/>
                </a:solidFill>
              </a:defRPr>
            </a:pPr>
            <a:r>
              <a:rPr sz="2625" b="1">
                <a:solidFill>
                  <a:srgbClr val="101827"/>
                </a:solidFill>
              </a:rPr>
              <a:t>書き出し後の確認までがデモです</a:t>
            </a:r>
          </a:p>
        </p:txBody>
      </p:sp>
      <p:sp>
        <p:nvSpPr>
          <p:cNvPr id="4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F13D0ADA-FBD1-4499-B883-ECF627EC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1D317F48-52F5-4BD7-BC8A-C0A87404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36176"/>
                </a:solidFill>
              </a:defRPr>
            </a:pPr>
            <a:r>
              <a:rPr sz="750">
                <a:solidFill>
                  <a:srgbClr val="536176"/>
                </a:solidFill>
              </a:rPr>
              <a:t>MightyLINK  |  FIGMA TO POWERPOINT  |  05 / 05</a:t>
            </a:r>
          </a:p>
        </p:txBody>
      </p:sp>
      <p:sp>
        <p:nvSpPr>
          <p:cNvPr id="6" name="check-accent-0">
            <a:extLst xmlns:a="http://schemas.openxmlformats.org/drawingml/2006/main">
              <a:ext uri="{FF2B5EF4-FFF2-40B4-BE49-F238E27FC236}">
                <a16:creationId xmlns:a16="http://schemas.microsoft.com/office/drawing/2014/main" id="{451F0DE4-80CD-4AA9-83DB-2168E8F8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heck-bg-0">
            <a:extLst xmlns:a="http://schemas.openxmlformats.org/drawingml/2006/main">
              <a:ext uri="{FF2B5EF4-FFF2-40B4-BE49-F238E27FC236}">
                <a16:creationId xmlns:a16="http://schemas.microsoft.com/office/drawing/2014/main" id="{98CE25F6-3066-45B6-8A46-7E1D7110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32385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heck-label-0">
            <a:extLst xmlns:a="http://schemas.openxmlformats.org/drawingml/2006/main">
              <a:ext uri="{FF2B5EF4-FFF2-40B4-BE49-F238E27FC236}">
                <a16:creationId xmlns:a16="http://schemas.microsoft.com/office/drawing/2014/main" id="{5247CE46-772E-4108-B990-C68E3785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EXPORT</a:t>
            </a:r>
          </a:p>
        </p:txBody>
      </p:sp>
      <p:sp>
        <p:nvSpPr>
          <p:cNvPr id="9" name="check-detail-0">
            <a:extLst xmlns:a="http://schemas.openxmlformats.org/drawingml/2006/main">
              <a:ext uri="{FF2B5EF4-FFF2-40B4-BE49-F238E27FC236}">
                <a16:creationId xmlns:a16="http://schemas.microsoft.com/office/drawing/2014/main" id="{3F678664-DAA9-48C7-853F-7F4A8EC5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274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Main menu &gt; File &gt;</a:t>
            </a:r>
          </a:p>
          <a:p xmlns:a="http://schemas.openxmlformats.org/drawingml/2006/main">
            <a:pPr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Export slides to &gt; PPTX</a:t>
            </a:r>
          </a:p>
        </p:txBody>
      </p:sp>
      <p:sp>
        <p:nvSpPr>
          <p:cNvPr id="10" name="check-accent-1">
            <a:extLst xmlns:a="http://schemas.openxmlformats.org/drawingml/2006/main">
              <a:ext uri="{FF2B5EF4-FFF2-40B4-BE49-F238E27FC236}">
                <a16:creationId xmlns:a16="http://schemas.microsoft.com/office/drawing/2014/main" id="{D74B91C0-44C0-4A3F-9E6E-E3511947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5260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heck-bg-1">
            <a:extLst xmlns:a="http://schemas.openxmlformats.org/drawingml/2006/main">
              <a:ext uri="{FF2B5EF4-FFF2-40B4-BE49-F238E27FC236}">
                <a16:creationId xmlns:a16="http://schemas.microsoft.com/office/drawing/2014/main" id="{CB4D9D38-DDE5-4BF0-AE49-CDA6C3CF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28800"/>
            <a:ext cx="32385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9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-label-1">
            <a:extLst xmlns:a="http://schemas.openxmlformats.org/drawingml/2006/main">
              <a:ext uri="{FF2B5EF4-FFF2-40B4-BE49-F238E27FC236}">
                <a16:creationId xmlns:a16="http://schemas.microsoft.com/office/drawing/2014/main" id="{B753E20D-D0D3-4E7F-B20E-F7FB5F99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145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9D8A"/>
                </a:solidFill>
              </a:defRPr>
            </a:pPr>
            <a:r>
              <a:rPr sz="1275" b="1">
                <a:solidFill>
                  <a:srgbClr val="0F9D8A"/>
                </a:solidFill>
              </a:rPr>
              <a:t>STRUCTURE</a:t>
            </a:r>
          </a:p>
        </p:txBody>
      </p:sp>
      <p:sp>
        <p:nvSpPr>
          <p:cNvPr id="13" name="check-detail-1">
            <a:extLst xmlns:a="http://schemas.openxmlformats.org/drawingml/2006/main">
              <a:ext uri="{FF2B5EF4-FFF2-40B4-BE49-F238E27FC236}">
                <a16:creationId xmlns:a16="http://schemas.microsoft.com/office/drawing/2014/main" id="{B14678AF-CC15-47F4-9DCA-E811BE63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19375"/>
            <a:ext cx="274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editable PPTX equivalent</a:t>
            </a:r>
          </a:p>
          <a:p xmlns:a="http://schemas.openxmlformats.org/drawingml/2006/main">
            <a:pPr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を選択</a:t>
            </a:r>
          </a:p>
        </p:txBody>
      </p:sp>
      <p:sp>
        <p:nvSpPr>
          <p:cNvPr id="14" name="check-accent-2">
            <a:extLst xmlns:a="http://schemas.openxmlformats.org/drawingml/2006/main">
              <a:ext uri="{FF2B5EF4-FFF2-40B4-BE49-F238E27FC236}">
                <a16:creationId xmlns:a16="http://schemas.microsoft.com/office/drawing/2014/main" id="{4E8AE498-42F5-4717-A87C-9591C8CF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5260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eck-bg-2">
            <a:extLst xmlns:a="http://schemas.openxmlformats.org/drawingml/2006/main">
              <a:ext uri="{FF2B5EF4-FFF2-40B4-BE49-F238E27FC236}">
                <a16:creationId xmlns:a16="http://schemas.microsoft.com/office/drawing/2014/main" id="{8FD9781B-23A4-42E6-882D-06D38AE1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28800"/>
            <a:ext cx="32385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-label-2">
            <a:extLst xmlns:a="http://schemas.openxmlformats.org/drawingml/2006/main">
              <a:ext uri="{FF2B5EF4-FFF2-40B4-BE49-F238E27FC236}">
                <a16:creationId xmlns:a16="http://schemas.microsoft.com/office/drawing/2014/main" id="{31F5FB59-01B0-4FFF-99FD-390551D2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145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65A"/>
                </a:solidFill>
              </a:defRPr>
            </a:pPr>
            <a:r>
              <a:rPr sz="1275" b="1">
                <a:solidFill>
                  <a:srgbClr val="15965A"/>
                </a:solidFill>
              </a:rPr>
              <a:t>CHECK</a:t>
            </a:r>
          </a:p>
        </p:txBody>
      </p:sp>
      <p:sp>
        <p:nvSpPr>
          <p:cNvPr id="17" name="check-detail-2">
            <a:extLst xmlns:a="http://schemas.openxmlformats.org/drawingml/2006/main">
              <a:ext uri="{FF2B5EF4-FFF2-40B4-BE49-F238E27FC236}">
                <a16:creationId xmlns:a16="http://schemas.microsoft.com/office/drawing/2014/main" id="{E56E2206-C14F-4A8A-897E-CD563F91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19375"/>
            <a:ext cx="274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フォント / 改行 / 色 /</a:t>
            </a:r>
          </a:p>
          <a:p xmlns:a="http://schemas.openxmlformats.org/drawingml/2006/main">
            <a:pPr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静止画化を確認</a:t>
            </a:r>
          </a:p>
        </p:txBody>
      </p:sp>
      <p:sp>
        <p:nvSpPr>
          <p:cNvPr id="18" name="limitations">
            <a:extLst xmlns:a="http://schemas.openxmlformats.org/drawingml/2006/main">
              <a:ext uri="{FF2B5EF4-FFF2-40B4-BE49-F238E27FC236}">
                <a16:creationId xmlns:a16="http://schemas.microsoft.com/office/drawing/2014/main" id="{E4A7C823-92EE-4E56-BDB2-3EDD5319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685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limitations-title">
            <a:extLst xmlns:a="http://schemas.openxmlformats.org/drawingml/2006/main">
              <a:ext uri="{FF2B5EF4-FFF2-40B4-BE49-F238E27FC236}">
                <a16:creationId xmlns:a16="http://schemas.microsoft.com/office/drawing/2014/main" id="{BEAA42EE-A544-4816-B1D4-DBF48E1B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67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PPTX変換で必ず見る3点</a:t>
            </a:r>
          </a:p>
        </p:txBody>
      </p:sp>
      <p:sp>
        <p:nvSpPr>
          <p:cNvPr id="20" name="limitations-body">
            <a:extLst xmlns:a="http://schemas.openxmlformats.org/drawingml/2006/main">
              <a:ext uri="{FF2B5EF4-FFF2-40B4-BE49-F238E27FC236}">
                <a16:creationId xmlns:a16="http://schemas.microsoft.com/office/drawing/2014/main" id="{3D1AEE02-53CA-49AF-A652-73EAD937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176"/>
                </a:solidFill>
              </a:defRPr>
            </a:pPr>
            <a:r>
              <a:rPr sz="1350">
                <a:solidFill>
                  <a:srgbClr val="536176"/>
                </a:solidFill>
              </a:rPr>
              <a:t>01  PowerPointに無いフォントは置換される</a:t>
            </a:r>
          </a:p>
          <a:p xmlns:a="http://schemas.openxmlformats.org/drawingml/2006/main">
            <a:pPr>
              <a:defRPr sz="1350">
                <a:solidFill>
                  <a:srgbClr val="536176"/>
                </a:solidFill>
              </a:defRPr>
            </a:pPr>
            <a:r>
              <a:rPr sz="1350">
                <a:solidFill>
                  <a:srgbClr val="536176"/>
                </a:solidFill>
              </a:rPr>
              <a:t>02  グラデーションは単色へ変換される</a:t>
            </a:r>
          </a:p>
          <a:p xmlns:a="http://schemas.openxmlformats.org/drawingml/2006/main">
            <a:pPr>
              <a:defRPr sz="1350">
                <a:solidFill>
                  <a:srgbClr val="536176"/>
                </a:solidFill>
              </a:defRPr>
            </a:pPr>
            <a:r>
              <a:rPr sz="1350">
                <a:solidFill>
                  <a:srgbClr val="536176"/>
                </a:solidFill>
              </a:rPr>
              <a:t>03  インタラクションとコードブロックは静止画像になる</a:t>
            </a:r>
          </a:p>
        </p:txBody>
      </p:sp>
      <p:sp>
        <p:nvSpPr>
          <p:cNvPr id="21" name="recovery">
            <a:extLst xmlns:a="http://schemas.openxmlformats.org/drawingml/2006/main">
              <a:ext uri="{FF2B5EF4-FFF2-40B4-BE49-F238E27FC236}">
                <a16:creationId xmlns:a16="http://schemas.microsoft.com/office/drawing/2014/main" id="{4496D06A-E332-4809-AE10-4362B625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19550"/>
            <a:ext cx="3714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overy-time">
            <a:extLst xmlns:a="http://schemas.openxmlformats.org/drawingml/2006/main">
              <a:ext uri="{FF2B5EF4-FFF2-40B4-BE49-F238E27FC236}">
                <a16:creationId xmlns:a16="http://schemas.microsoft.com/office/drawing/2014/main" id="{0AED9A9A-2682-44DE-B53C-CA3F3067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672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06A3C"/>
                </a:solidFill>
              </a:defRPr>
            </a:pPr>
            <a:r>
              <a:rPr sz="3000" b="1">
                <a:solidFill>
                  <a:srgbClr val="F06A3C"/>
                </a:solidFill>
              </a:rPr>
              <a:t>90 sec</a:t>
            </a:r>
          </a:p>
        </p:txBody>
      </p:sp>
      <p:sp>
        <p:nvSpPr>
          <p:cNvPr id="23" name="recovery-body">
            <a:extLst xmlns:a="http://schemas.openxmlformats.org/drawingml/2006/main">
              <a:ext uri="{FF2B5EF4-FFF2-40B4-BE49-F238E27FC236}">
                <a16:creationId xmlns:a16="http://schemas.microsoft.com/office/drawing/2014/main" id="{CDE0D037-4527-4944-A37F-2FF88CD1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進展がなければ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完成済みFigma Slides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またはPPTXへ切り替える</a:t>
            </a:r>
          </a:p>
        </p:txBody>
      </p:sp>
    </p:spTree>
    <p:extLst>
      <p:ext uri="{BB962C8B-B14F-4D97-AF65-F5344CB8AC3E}">
        <p14:creationId xmlns:p14="http://schemas.microsoft.com/office/powerpoint/2010/main" val="7707131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2026-08-15T11:57:55.3760000Z</dcterms:created>
  <dcterms:modified xsi:type="dcterms:W3CDTF">2026-08-15T11:57:55.3760000Z</dcterms:modified>
</coreProperties>
</file>