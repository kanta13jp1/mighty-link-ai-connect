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w="12700">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777240"/>
            <a:ext cx="10817352" cy="530352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143000"/>
            <a:ext cx="3840480" cy="310896"/>
          </a:xfrm>
          <a:prstGeom prst="roundRect">
            <a:avLst/>
          </a:prstGeom>
          <a:solidFill>
            <a:srgbClr val="0D353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179576"/>
            <a:ext cx="3840480" cy="219456"/>
          </a:xfrm>
          <a:prstGeom prst="rect">
            <a:avLst/>
          </a:prstGeom>
          <a:noFill/>
        </p:spPr>
        <p:txBody>
          <a:bodyPr wrap="square" anchor="ctr" lIns="36576" rIns="36576" tIns="36576" bIns="36576">
            <a:spAutoFit/>
          </a:bodyPr>
          <a:lstStyle/>
          <a:p>
            <a:pPr algn="ctr"/>
            <a:r>
              <a:rPr sz="950" b="1">
                <a:solidFill>
                  <a:srgbClr val="2DD4BF"/>
                </a:solidFill>
                <a:latin typeface="Plus Jakarta Sans"/>
              </a:rPr>
              <a:t>2026-08-26 オンライン開催 · 60分ライブデモ</a:t>
            </a:r>
          </a:p>
        </p:txBody>
      </p:sp>
      <p:sp>
        <p:nvSpPr>
          <p:cNvPr id="6" name="TextBox 5"/>
          <p:cNvSpPr txBox="1"/>
          <p:nvPr/>
        </p:nvSpPr>
        <p:spPr>
          <a:xfrm>
            <a:off x="1051560" y="1600200"/>
            <a:ext cx="10058400" cy="594360"/>
          </a:xfrm>
          <a:prstGeom prst="rect">
            <a:avLst/>
          </a:prstGeom>
          <a:noFill/>
        </p:spPr>
        <p:txBody>
          <a:bodyPr wrap="square" anchor="t" lIns="36576" rIns="36576" tIns="36576" bIns="36576">
            <a:spAutoFit/>
          </a:bodyPr>
          <a:lstStyle/>
          <a:p>
            <a:pPr algn="l"/>
            <a:r>
              <a:rPr sz="3000" b="1">
                <a:solidFill>
                  <a:srgbClr val="F8FAFC"/>
                </a:solidFill>
                <a:latin typeface="Plus Jakarta Sans"/>
              </a:rPr>
              <a:t>AIエージェントでWeb制作・アプリ開発を</a:t>
            </a:r>
          </a:p>
        </p:txBody>
      </p:sp>
      <p:sp>
        <p:nvSpPr>
          <p:cNvPr id="7" name="TextBox 6"/>
          <p:cNvSpPr txBox="1"/>
          <p:nvPr/>
        </p:nvSpPr>
        <p:spPr>
          <a:xfrm>
            <a:off x="1051560" y="2194560"/>
            <a:ext cx="10058400" cy="594360"/>
          </a:xfrm>
          <a:prstGeom prst="rect">
            <a:avLst/>
          </a:prstGeom>
          <a:noFill/>
        </p:spPr>
        <p:txBody>
          <a:bodyPr wrap="square" anchor="t" lIns="36576" rIns="36576" tIns="36576" bIns="36576">
            <a:spAutoFit/>
          </a:bodyPr>
          <a:lstStyle/>
          <a:p>
            <a:pPr algn="l"/>
            <a:r>
              <a:rPr sz="3000" b="1">
                <a:solidFill>
                  <a:srgbClr val="2DD4BF"/>
                </a:solidFill>
                <a:latin typeface="Plus Jakarta Sans"/>
              </a:rPr>
              <a:t>1時間で体験する Antigravity ライブデモ</a:t>
            </a:r>
          </a:p>
        </p:txBody>
      </p:sp>
      <p:sp>
        <p:nvSpPr>
          <p:cNvPr id="8" name="TextBox 7"/>
          <p:cNvSpPr txBox="1"/>
          <p:nvPr/>
        </p:nvSpPr>
        <p:spPr>
          <a:xfrm>
            <a:off x="1078992" y="2880360"/>
            <a:ext cx="10058400" cy="320040"/>
          </a:xfrm>
          <a:prstGeom prst="rect">
            <a:avLst/>
          </a:prstGeom>
          <a:noFill/>
        </p:spPr>
        <p:txBody>
          <a:bodyPr wrap="square" anchor="t" lIns="36576" rIns="36576" tIns="36576" bIns="36576">
            <a:spAutoFit/>
          </a:bodyPr>
          <a:lstStyle/>
          <a:p>
            <a:pPr algn="l"/>
            <a:r>
              <a:rPr sz="1500" b="0">
                <a:solidFill>
                  <a:srgbClr val="CBD5E1"/>
                </a:solidFill>
                <a:latin typeface="Yu Gothic"/>
              </a:rPr>
              <a:t>〜 非エンジニアと開発者が共に創る「Artifacts × 画面直接指示」の次世代開発体験 〜</a:t>
            </a:r>
          </a:p>
        </p:txBody>
      </p:sp>
      <p:sp>
        <p:nvSpPr>
          <p:cNvPr id="9" name="Rounded Rectangle 8"/>
          <p:cNvSpPr/>
          <p:nvPr/>
        </p:nvSpPr>
        <p:spPr>
          <a:xfrm>
            <a:off x="1078992" y="3429000"/>
            <a:ext cx="3154680" cy="2286000"/>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61872" y="3657600"/>
            <a:ext cx="36576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61872" y="3840480"/>
            <a:ext cx="2788920" cy="292608"/>
          </a:xfrm>
          <a:prstGeom prst="rect">
            <a:avLst/>
          </a:prstGeom>
          <a:noFill/>
        </p:spPr>
        <p:txBody>
          <a:bodyPr wrap="square" anchor="t" lIns="36576" rIns="36576" tIns="36576" bIns="36576">
            <a:spAutoFit/>
          </a:bodyPr>
          <a:lstStyle/>
          <a:p>
            <a:pPr algn="l"/>
            <a:r>
              <a:rPr sz="1500" b="1">
                <a:solidFill>
                  <a:srgbClr val="F8FAFC"/>
                </a:solidFill>
                <a:latin typeface="Plus Jakarta Sans"/>
              </a:rPr>
              <a:t>01. 自然言語で即時モック化</a:t>
            </a:r>
          </a:p>
        </p:txBody>
      </p:sp>
      <p:sp>
        <p:nvSpPr>
          <p:cNvPr id="12" name="TextBox 11"/>
          <p:cNvSpPr txBox="1"/>
          <p:nvPr/>
        </p:nvSpPr>
        <p:spPr>
          <a:xfrm>
            <a:off x="1261872" y="4251960"/>
            <a:ext cx="2788920" cy="1188720"/>
          </a:xfrm>
          <a:prstGeom prst="rect">
            <a:avLst/>
          </a:prstGeom>
          <a:noFill/>
        </p:spPr>
        <p:txBody>
          <a:bodyPr wrap="square" anchor="t" lIns="36576" rIns="36576" tIns="36576" bIns="36576">
            <a:spAutoFit/>
          </a:bodyPr>
          <a:lstStyle/>
          <a:p>
            <a:pPr algn="l"/>
            <a:r>
              <a:rPr sz="1150" b="0">
                <a:solidFill>
                  <a:srgbClr val="94A3B8"/>
                </a:solidFill>
                <a:latin typeface="Yu Gothic"/>
              </a:rPr>
              <a:t>「こんな機能が欲しい」と入力するだけで、AIが設計・コード・画面を即時生成</a:t>
            </a:r>
          </a:p>
        </p:txBody>
      </p:sp>
      <p:sp>
        <p:nvSpPr>
          <p:cNvPr id="13" name="Rounded Rectangle 12"/>
          <p:cNvSpPr/>
          <p:nvPr/>
        </p:nvSpPr>
        <p:spPr>
          <a:xfrm>
            <a:off x="4462272" y="3429000"/>
            <a:ext cx="3154680" cy="2286000"/>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45152" y="3657600"/>
            <a:ext cx="36576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3840480"/>
            <a:ext cx="2788920" cy="292608"/>
          </a:xfrm>
          <a:prstGeom prst="rect">
            <a:avLst/>
          </a:prstGeom>
          <a:noFill/>
        </p:spPr>
        <p:txBody>
          <a:bodyPr wrap="square" anchor="t" lIns="36576" rIns="36576" tIns="36576" bIns="36576">
            <a:spAutoFit/>
          </a:bodyPr>
          <a:lstStyle/>
          <a:p>
            <a:pPr algn="l"/>
            <a:r>
              <a:rPr sz="1500" b="1">
                <a:solidFill>
                  <a:srgbClr val="F8FAFC"/>
                </a:solidFill>
                <a:latin typeface="Plus Jakarta Sans"/>
              </a:rPr>
              <a:t>02. Visual Feedback修正</a:t>
            </a:r>
          </a:p>
        </p:txBody>
      </p:sp>
      <p:sp>
        <p:nvSpPr>
          <p:cNvPr id="16" name="TextBox 15"/>
          <p:cNvSpPr txBox="1"/>
          <p:nvPr/>
        </p:nvSpPr>
        <p:spPr>
          <a:xfrm>
            <a:off x="4645152" y="4251960"/>
            <a:ext cx="2788920" cy="1188720"/>
          </a:xfrm>
          <a:prstGeom prst="rect">
            <a:avLst/>
          </a:prstGeom>
          <a:noFill/>
        </p:spPr>
        <p:txBody>
          <a:bodyPr wrap="square" anchor="t" lIns="36576" rIns="36576" tIns="36576" bIns="36576">
            <a:spAutoFit/>
          </a:bodyPr>
          <a:lstStyle/>
          <a:p>
            <a:pPr algn="l"/>
            <a:r>
              <a:rPr sz="1150" b="0">
                <a:solidFill>
                  <a:srgbClr val="94A3B8"/>
                </a:solidFill>
                <a:latin typeface="Yu Gothic"/>
              </a:rPr>
              <a:t>画面の気になる部分を直接クリックしてピン留め。言葉足らずの指示ミスを撲滅</a:t>
            </a:r>
          </a:p>
        </p:txBody>
      </p:sp>
      <p:sp>
        <p:nvSpPr>
          <p:cNvPr id="17" name="Rounded Rectangle 16"/>
          <p:cNvSpPr/>
          <p:nvPr/>
        </p:nvSpPr>
        <p:spPr>
          <a:xfrm>
            <a:off x="7845552" y="3429000"/>
            <a:ext cx="3154680" cy="2286000"/>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3657600"/>
            <a:ext cx="365760" cy="45720"/>
          </a:xfrm>
          <a:prstGeom prst="rect">
            <a:avLst/>
          </a:prstGeom>
          <a:solidFill>
            <a:srgbClr val="A78BFA"/>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28431" y="3840480"/>
            <a:ext cx="2788920" cy="292608"/>
          </a:xfrm>
          <a:prstGeom prst="rect">
            <a:avLst/>
          </a:prstGeom>
          <a:noFill/>
        </p:spPr>
        <p:txBody>
          <a:bodyPr wrap="square" anchor="t" lIns="36576" rIns="36576" tIns="36576" bIns="36576">
            <a:spAutoFit/>
          </a:bodyPr>
          <a:lstStyle/>
          <a:p>
            <a:pPr algn="l"/>
            <a:r>
              <a:rPr sz="1500" b="1">
                <a:solidFill>
                  <a:srgbClr val="F8FAFC"/>
                </a:solidFill>
                <a:latin typeface="Plus Jakarta Sans"/>
              </a:rPr>
              <a:t>03. 1時間完結ライブ作成</a:t>
            </a:r>
          </a:p>
        </p:txBody>
      </p:sp>
      <p:sp>
        <p:nvSpPr>
          <p:cNvPr id="20" name="TextBox 19"/>
          <p:cNvSpPr txBox="1"/>
          <p:nvPr/>
        </p:nvSpPr>
        <p:spPr>
          <a:xfrm>
            <a:off x="8028431" y="4251960"/>
            <a:ext cx="2788920" cy="1188720"/>
          </a:xfrm>
          <a:prstGeom prst="rect">
            <a:avLst/>
          </a:prstGeom>
          <a:noFill/>
        </p:spPr>
        <p:txBody>
          <a:bodyPr wrap="square" anchor="t" lIns="36576" rIns="36576" tIns="36576" bIns="36576">
            <a:spAutoFit/>
          </a:bodyPr>
          <a:lstStyle/>
          <a:p>
            <a:pPr algn="l"/>
            <a:r>
              <a:rPr sz="1150" b="0">
                <a:solidFill>
                  <a:srgbClr val="94A3B8"/>
                </a:solidFill>
                <a:latin typeface="Yu Gothic"/>
              </a:rPr>
              <a:t>アイデア出しからWeb公開・PowerPoint資料化までの全工程を完全生実演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w="12700">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20040"/>
            <a:ext cx="54864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320040"/>
            <a:ext cx="32004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38912"/>
            <a:ext cx="7315200" cy="237744"/>
          </a:xfrm>
          <a:prstGeom prst="rect">
            <a:avLst/>
          </a:prstGeom>
          <a:noFill/>
        </p:spPr>
        <p:txBody>
          <a:bodyPr wrap="square" anchor="t" lIns="36576" rIns="36576" tIns="36576" bIns="36576">
            <a:spAutoFit/>
          </a:bodyPr>
          <a:lstStyle/>
          <a:p>
            <a:pPr algn="l"/>
            <a:r>
              <a:rPr sz="900" b="1">
                <a:solidFill>
                  <a:srgbClr val="2DD4BF"/>
                </a:solidFill>
                <a:latin typeface="Consolas"/>
              </a:rPr>
              <a:t>02  /  SESSION SCHEDULE</a:t>
            </a:r>
          </a:p>
        </p:txBody>
      </p:sp>
      <p:sp>
        <p:nvSpPr>
          <p:cNvPr id="6" name="TextBox 5"/>
          <p:cNvSpPr txBox="1"/>
          <p:nvPr/>
        </p:nvSpPr>
        <p:spPr>
          <a:xfrm>
            <a:off x="667512" y="694944"/>
            <a:ext cx="10789920" cy="594360"/>
          </a:xfrm>
          <a:prstGeom prst="rect">
            <a:avLst/>
          </a:prstGeom>
          <a:noFill/>
        </p:spPr>
        <p:txBody>
          <a:bodyPr wrap="square" anchor="t" lIns="36576" rIns="36576" tIns="36576" bIns="36576">
            <a:spAutoFit/>
          </a:bodyPr>
          <a:lstStyle/>
          <a:p>
            <a:pPr algn="l"/>
            <a:r>
              <a:rPr sz="2600" b="1">
                <a:solidFill>
                  <a:srgbClr val="F8FAFC"/>
                </a:solidFill>
                <a:latin typeface="Plus Jakarta Sans"/>
              </a:rPr>
              <a:t>本日のタイムテーブル（60分のアジェンダ）</a:t>
            </a:r>
          </a:p>
        </p:txBody>
      </p:sp>
      <p:sp>
        <p:nvSpPr>
          <p:cNvPr id="7" name="TextBox 6"/>
          <p:cNvSpPr txBox="1"/>
          <p:nvPr/>
        </p:nvSpPr>
        <p:spPr>
          <a:xfrm>
            <a:off x="685800" y="6446520"/>
            <a:ext cx="6400800" cy="256032"/>
          </a:xfrm>
          <a:prstGeom prst="rect">
            <a:avLst/>
          </a:prstGeom>
          <a:noFill/>
        </p:spPr>
        <p:txBody>
          <a:bodyPr wrap="square" anchor="t" lIns="36576" rIns="36576" tIns="36576" bIns="36576">
            <a:spAutoFit/>
          </a:bodyPr>
          <a:lstStyle/>
          <a:p>
            <a:pPr algn="l"/>
            <a:r>
              <a:rPr sz="850" b="0">
                <a:solidFill>
                  <a:srgbClr val="64748B"/>
                </a:solidFill>
                <a:latin typeface="Consolas"/>
              </a:rPr>
              <a:t>2026-08-26 社内AI研修 · Antigravity 1時間ライブデモ  ·  Slide 02 / 08</a:t>
            </a:r>
          </a:p>
        </p:txBody>
      </p:sp>
      <p:sp>
        <p:nvSpPr>
          <p:cNvPr id="8" name="TextBox 7"/>
          <p:cNvSpPr txBox="1"/>
          <p:nvPr/>
        </p:nvSpPr>
        <p:spPr>
          <a:xfrm>
            <a:off x="7315200" y="6446520"/>
            <a:ext cx="4187952" cy="256032"/>
          </a:xfrm>
          <a:prstGeom prst="rect">
            <a:avLst/>
          </a:prstGeom>
          <a:noFill/>
        </p:spPr>
        <p:txBody>
          <a:bodyPr wrap="square" anchor="t" lIns="36576" rIns="36576" tIns="36576" bIns="36576">
            <a:spAutoFit/>
          </a:bodyPr>
          <a:lstStyle/>
          <a:p>
            <a:pPr algn="r"/>
            <a:r>
              <a:rPr sz="850" b="0">
                <a:solidFill>
                  <a:srgbClr val="64748B"/>
                </a:solidFill>
                <a:latin typeface="Plus Jakarta Sans"/>
              </a:rPr>
              <a:t>Canva Compatible Deck  ·  Mighty Link AI Connect</a:t>
            </a:r>
          </a:p>
        </p:txBody>
      </p:sp>
      <p:sp>
        <p:nvSpPr>
          <p:cNvPr id="9" name="TextBox 8"/>
          <p:cNvSpPr txBox="1"/>
          <p:nvPr/>
        </p:nvSpPr>
        <p:spPr>
          <a:xfrm>
            <a:off x="713232" y="1371600"/>
            <a:ext cx="10698480" cy="320040"/>
          </a:xfrm>
          <a:prstGeom prst="rect">
            <a:avLst/>
          </a:prstGeom>
          <a:noFill/>
        </p:spPr>
        <p:txBody>
          <a:bodyPr wrap="square" anchor="t" lIns="36576" rIns="36576" tIns="36576" bIns="36576">
            <a:spAutoFit/>
          </a:bodyPr>
          <a:lstStyle/>
          <a:p>
            <a:pPr algn="l"/>
            <a:r>
              <a:rPr sz="1400" b="0">
                <a:solidFill>
                  <a:srgbClr val="CBD5E1"/>
                </a:solidFill>
                <a:latin typeface="Yu Gothic"/>
              </a:rPr>
              <a:t>理論よりも「実際の操作画面と挙動」を体感していただく実践中心のプログラムです。</a:t>
            </a:r>
          </a:p>
        </p:txBody>
      </p:sp>
      <p:sp>
        <p:nvSpPr>
          <p:cNvPr id="10" name="Rounded Rectangle 9"/>
          <p:cNvSpPr/>
          <p:nvPr/>
        </p:nvSpPr>
        <p:spPr>
          <a:xfrm>
            <a:off x="685800" y="1783080"/>
            <a:ext cx="2560320" cy="438912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2011680"/>
            <a:ext cx="109728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048256"/>
            <a:ext cx="1097280" cy="219456"/>
          </a:xfrm>
          <a:prstGeom prst="rect">
            <a:avLst/>
          </a:prstGeom>
          <a:noFill/>
        </p:spPr>
        <p:txBody>
          <a:bodyPr wrap="square" anchor="ctr" lIns="36576" rIns="36576" tIns="36576" bIns="36576">
            <a:spAutoFit/>
          </a:bodyPr>
          <a:lstStyle/>
          <a:p>
            <a:pPr algn="ctr"/>
            <a:r>
              <a:rPr sz="950" b="1">
                <a:solidFill>
                  <a:srgbClr val="2DD4BF"/>
                </a:solidFill>
                <a:latin typeface="Plus Jakarta Sans"/>
              </a:rPr>
              <a:t>10 min</a:t>
            </a:r>
          </a:p>
        </p:txBody>
      </p:sp>
      <p:sp>
        <p:nvSpPr>
          <p:cNvPr id="13" name="TextBox 12"/>
          <p:cNvSpPr txBox="1"/>
          <p:nvPr/>
        </p:nvSpPr>
        <p:spPr>
          <a:xfrm>
            <a:off x="868680" y="2514600"/>
            <a:ext cx="2194560" cy="594360"/>
          </a:xfrm>
          <a:prstGeom prst="rect">
            <a:avLst/>
          </a:prstGeom>
          <a:noFill/>
        </p:spPr>
        <p:txBody>
          <a:bodyPr wrap="square" anchor="t" lIns="36576" rIns="36576" tIns="36576" bIns="36576">
            <a:spAutoFit/>
          </a:bodyPr>
          <a:lstStyle/>
          <a:p>
            <a:pPr algn="l"/>
            <a:r>
              <a:rPr sz="1600" b="1">
                <a:solidFill>
                  <a:srgbClr val="F8FAFC"/>
                </a:solidFill>
                <a:latin typeface="Plus Jakarta Sans"/>
              </a:rPr>
              <a:t>イントロダクション</a:t>
            </a:r>
          </a:p>
        </p:txBody>
      </p:sp>
      <p:sp>
        <p:nvSpPr>
          <p:cNvPr id="14" name="TextBox 13"/>
          <p:cNvSpPr txBox="1"/>
          <p:nvPr/>
        </p:nvSpPr>
        <p:spPr>
          <a:xfrm>
            <a:off x="868680" y="3246120"/>
            <a:ext cx="2194560" cy="2560320"/>
          </a:xfrm>
          <a:prstGeom prst="rect">
            <a:avLst/>
          </a:prstGeom>
          <a:noFill/>
        </p:spPr>
        <p:txBody>
          <a:bodyPr wrap="square" anchor="t" lIns="36576" rIns="36576" tIns="36576" bIns="36576">
            <a:spAutoFit/>
          </a:bodyPr>
          <a:lstStyle/>
          <a:p>
            <a:pPr algn="l"/>
            <a:r>
              <a:rPr sz="1200" b="0">
                <a:solidFill>
                  <a:srgbClr val="CBD5E1"/>
                </a:solidFill>
                <a:latin typeface="Yu Gothic"/>
              </a:rPr>
              <a:t>AIエージェントの現在地と「なぜAntigravityなのか」の背景解説</a:t>
            </a:r>
          </a:p>
        </p:txBody>
      </p:sp>
      <p:sp>
        <p:nvSpPr>
          <p:cNvPr id="15" name="Rounded Rectangle 14"/>
          <p:cNvSpPr/>
          <p:nvPr/>
        </p:nvSpPr>
        <p:spPr>
          <a:xfrm>
            <a:off x="3438144" y="1783080"/>
            <a:ext cx="2560320" cy="438912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621024" y="2011680"/>
            <a:ext cx="109728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1024" y="2048256"/>
            <a:ext cx="1097280" cy="219456"/>
          </a:xfrm>
          <a:prstGeom prst="rect">
            <a:avLst/>
          </a:prstGeom>
          <a:noFill/>
        </p:spPr>
        <p:txBody>
          <a:bodyPr wrap="square" anchor="ctr" lIns="36576" rIns="36576" tIns="36576" bIns="36576">
            <a:spAutoFit/>
          </a:bodyPr>
          <a:lstStyle/>
          <a:p>
            <a:pPr algn="ctr"/>
            <a:r>
              <a:rPr sz="950" b="1">
                <a:solidFill>
                  <a:srgbClr val="38BDF8"/>
                </a:solidFill>
                <a:latin typeface="Plus Jakarta Sans"/>
              </a:rPr>
              <a:t>25 min</a:t>
            </a:r>
          </a:p>
        </p:txBody>
      </p:sp>
      <p:sp>
        <p:nvSpPr>
          <p:cNvPr id="18" name="TextBox 17"/>
          <p:cNvSpPr txBox="1"/>
          <p:nvPr/>
        </p:nvSpPr>
        <p:spPr>
          <a:xfrm>
            <a:off x="3621024" y="2514600"/>
            <a:ext cx="2194560" cy="594360"/>
          </a:xfrm>
          <a:prstGeom prst="rect">
            <a:avLst/>
          </a:prstGeom>
          <a:noFill/>
        </p:spPr>
        <p:txBody>
          <a:bodyPr wrap="square" anchor="t" lIns="36576" rIns="36576" tIns="36576" bIns="36576">
            <a:spAutoFit/>
          </a:bodyPr>
          <a:lstStyle/>
          <a:p>
            <a:pPr algn="l"/>
            <a:r>
              <a:rPr sz="1600" b="1">
                <a:solidFill>
                  <a:srgbClr val="F8FAFC"/>
                </a:solidFill>
                <a:latin typeface="Plus Jakarta Sans"/>
              </a:rPr>
              <a:t>ゼロからWeb制作 ライブ実演</a:t>
            </a:r>
          </a:p>
        </p:txBody>
      </p:sp>
      <p:sp>
        <p:nvSpPr>
          <p:cNvPr id="19" name="TextBox 18"/>
          <p:cNvSpPr txBox="1"/>
          <p:nvPr/>
        </p:nvSpPr>
        <p:spPr>
          <a:xfrm>
            <a:off x="3621024" y="3246120"/>
            <a:ext cx="2194560" cy="2560320"/>
          </a:xfrm>
          <a:prstGeom prst="rect">
            <a:avLst/>
          </a:prstGeom>
          <a:noFill/>
        </p:spPr>
        <p:txBody>
          <a:bodyPr wrap="square" anchor="t" lIns="36576" rIns="36576" tIns="36576" bIns="36576">
            <a:spAutoFit/>
          </a:bodyPr>
          <a:lstStyle/>
          <a:p>
            <a:pPr algn="l"/>
            <a:r>
              <a:rPr sz="1200" b="0">
                <a:solidFill>
                  <a:srgbClr val="CBD5E1"/>
                </a:solidFill>
                <a:latin typeface="Yu Gothic"/>
              </a:rPr>
              <a:t>画面共有でAntigravityを操作。要件定義からデプロイまでをノーカット実演</a:t>
            </a:r>
          </a:p>
        </p:txBody>
      </p:sp>
      <p:sp>
        <p:nvSpPr>
          <p:cNvPr id="20" name="Rounded Rectangle 19"/>
          <p:cNvSpPr/>
          <p:nvPr/>
        </p:nvSpPr>
        <p:spPr>
          <a:xfrm>
            <a:off x="6190488" y="1783080"/>
            <a:ext cx="2560320" cy="438912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2011680"/>
            <a:ext cx="109728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2048256"/>
            <a:ext cx="1097280" cy="219456"/>
          </a:xfrm>
          <a:prstGeom prst="rect">
            <a:avLst/>
          </a:prstGeom>
          <a:noFill/>
        </p:spPr>
        <p:txBody>
          <a:bodyPr wrap="square" anchor="ctr" lIns="36576" rIns="36576" tIns="36576" bIns="36576">
            <a:spAutoFit/>
          </a:bodyPr>
          <a:lstStyle/>
          <a:p>
            <a:pPr algn="ctr"/>
            <a:r>
              <a:rPr sz="950" b="1">
                <a:solidFill>
                  <a:srgbClr val="A78BFA"/>
                </a:solidFill>
                <a:latin typeface="Plus Jakarta Sans"/>
              </a:rPr>
              <a:t>15 min</a:t>
            </a:r>
          </a:p>
        </p:txBody>
      </p:sp>
      <p:sp>
        <p:nvSpPr>
          <p:cNvPr id="23" name="TextBox 22"/>
          <p:cNvSpPr txBox="1"/>
          <p:nvPr/>
        </p:nvSpPr>
        <p:spPr>
          <a:xfrm>
            <a:off x="6373368" y="2514600"/>
            <a:ext cx="2194560" cy="594360"/>
          </a:xfrm>
          <a:prstGeom prst="rect">
            <a:avLst/>
          </a:prstGeom>
          <a:noFill/>
        </p:spPr>
        <p:txBody>
          <a:bodyPr wrap="square" anchor="t" lIns="36576" rIns="36576" tIns="36576" bIns="36576">
            <a:spAutoFit/>
          </a:bodyPr>
          <a:lstStyle/>
          <a:p>
            <a:pPr algn="l"/>
            <a:r>
              <a:rPr sz="1600" b="1">
                <a:solidFill>
                  <a:srgbClr val="F8FAFC"/>
                </a:solidFill>
                <a:latin typeface="Plus Jakarta Sans"/>
              </a:rPr>
              <a:t>参加者プチ・ハンズオン</a:t>
            </a:r>
          </a:p>
        </p:txBody>
      </p:sp>
      <p:sp>
        <p:nvSpPr>
          <p:cNvPr id="24" name="TextBox 23"/>
          <p:cNvSpPr txBox="1"/>
          <p:nvPr/>
        </p:nvSpPr>
        <p:spPr>
          <a:xfrm>
            <a:off x="6373368" y="3246120"/>
            <a:ext cx="2194560" cy="2560320"/>
          </a:xfrm>
          <a:prstGeom prst="rect">
            <a:avLst/>
          </a:prstGeom>
          <a:noFill/>
        </p:spPr>
        <p:txBody>
          <a:bodyPr wrap="square" anchor="t" lIns="36576" rIns="36576" tIns="36576" bIns="36576">
            <a:spAutoFit/>
          </a:bodyPr>
          <a:lstStyle/>
          <a:p>
            <a:pPr algn="l"/>
            <a:r>
              <a:rPr sz="1200" b="0">
                <a:solidFill>
                  <a:srgbClr val="CBD5E1"/>
                </a:solidFill>
                <a:latin typeface="Yu Gothic"/>
              </a:rPr>
              <a:t>各自の端末でプロンプト入力 &amp; Visual Feedbackピン留め指示を体験</a:t>
            </a:r>
          </a:p>
        </p:txBody>
      </p:sp>
      <p:sp>
        <p:nvSpPr>
          <p:cNvPr id="25" name="Rounded Rectangle 24"/>
          <p:cNvSpPr/>
          <p:nvPr/>
        </p:nvSpPr>
        <p:spPr>
          <a:xfrm>
            <a:off x="8942832" y="1783080"/>
            <a:ext cx="2560320" cy="438912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125711" y="2011680"/>
            <a:ext cx="109728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1" y="2048256"/>
            <a:ext cx="1097280" cy="219456"/>
          </a:xfrm>
          <a:prstGeom prst="rect">
            <a:avLst/>
          </a:prstGeom>
          <a:noFill/>
        </p:spPr>
        <p:txBody>
          <a:bodyPr wrap="square" anchor="ctr" lIns="36576" rIns="36576" tIns="36576" bIns="36576">
            <a:spAutoFit/>
          </a:bodyPr>
          <a:lstStyle/>
          <a:p>
            <a:pPr algn="ctr"/>
            <a:r>
              <a:rPr sz="950" b="1">
                <a:solidFill>
                  <a:srgbClr val="34D399"/>
                </a:solidFill>
                <a:latin typeface="Plus Jakarta Sans"/>
              </a:rPr>
              <a:t>10 min</a:t>
            </a:r>
          </a:p>
        </p:txBody>
      </p:sp>
      <p:sp>
        <p:nvSpPr>
          <p:cNvPr id="28" name="TextBox 27"/>
          <p:cNvSpPr txBox="1"/>
          <p:nvPr/>
        </p:nvSpPr>
        <p:spPr>
          <a:xfrm>
            <a:off x="9125711" y="2514600"/>
            <a:ext cx="2194560" cy="594360"/>
          </a:xfrm>
          <a:prstGeom prst="rect">
            <a:avLst/>
          </a:prstGeom>
          <a:noFill/>
        </p:spPr>
        <p:txBody>
          <a:bodyPr wrap="square" anchor="t" lIns="36576" rIns="36576" tIns="36576" bIns="36576">
            <a:spAutoFit/>
          </a:bodyPr>
          <a:lstStyle/>
          <a:p>
            <a:pPr algn="l"/>
            <a:r>
              <a:rPr sz="1600" b="1">
                <a:solidFill>
                  <a:srgbClr val="F8FAFC"/>
                </a:solidFill>
                <a:latin typeface="Plus Jakarta Sans"/>
              </a:rPr>
              <a:t>質疑応答 &amp; 社内活用案内</a:t>
            </a:r>
          </a:p>
        </p:txBody>
      </p:sp>
      <p:sp>
        <p:nvSpPr>
          <p:cNvPr id="29" name="TextBox 28"/>
          <p:cNvSpPr txBox="1"/>
          <p:nvPr/>
        </p:nvSpPr>
        <p:spPr>
          <a:xfrm>
            <a:off x="9125711" y="3246120"/>
            <a:ext cx="2194560" cy="2560320"/>
          </a:xfrm>
          <a:prstGeom prst="rect">
            <a:avLst/>
          </a:prstGeom>
          <a:noFill/>
        </p:spPr>
        <p:txBody>
          <a:bodyPr wrap="square" anchor="t" lIns="36576" rIns="36576" tIns="36576" bIns="36576">
            <a:spAutoFit/>
          </a:bodyPr>
          <a:lstStyle/>
          <a:p>
            <a:pPr algn="l"/>
            <a:r>
              <a:rPr sz="1200" b="0">
                <a:solidFill>
                  <a:srgbClr val="CBD5E1"/>
                </a:solidFill>
                <a:latin typeface="Yu Gothic"/>
              </a:rPr>
              <a:t>社内アカウント申請手順・共有プロンプト集・今後の展開案内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w="12700">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20040"/>
            <a:ext cx="54864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320040"/>
            <a:ext cx="32004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38912"/>
            <a:ext cx="7315200" cy="237744"/>
          </a:xfrm>
          <a:prstGeom prst="rect">
            <a:avLst/>
          </a:prstGeom>
          <a:noFill/>
        </p:spPr>
        <p:txBody>
          <a:bodyPr wrap="square" anchor="t" lIns="36576" rIns="36576" tIns="36576" bIns="36576">
            <a:spAutoFit/>
          </a:bodyPr>
          <a:lstStyle/>
          <a:p>
            <a:pPr algn="l"/>
            <a:r>
              <a:rPr sz="900" b="1">
                <a:solidFill>
                  <a:srgbClr val="2DD4BF"/>
                </a:solidFill>
                <a:latin typeface="Consolas"/>
              </a:rPr>
              <a:t>03  /  CORE ADVANTAGES</a:t>
            </a:r>
          </a:p>
        </p:txBody>
      </p:sp>
      <p:sp>
        <p:nvSpPr>
          <p:cNvPr id="6" name="TextBox 5"/>
          <p:cNvSpPr txBox="1"/>
          <p:nvPr/>
        </p:nvSpPr>
        <p:spPr>
          <a:xfrm>
            <a:off x="667512" y="694944"/>
            <a:ext cx="10789920" cy="594360"/>
          </a:xfrm>
          <a:prstGeom prst="rect">
            <a:avLst/>
          </a:prstGeom>
          <a:noFill/>
        </p:spPr>
        <p:txBody>
          <a:bodyPr wrap="square" anchor="t" lIns="36576" rIns="36576" tIns="36576" bIns="36576">
            <a:spAutoFit/>
          </a:bodyPr>
          <a:lstStyle/>
          <a:p>
            <a:pPr algn="l"/>
            <a:r>
              <a:rPr sz="2600" b="1">
                <a:solidFill>
                  <a:srgbClr val="F8FAFC"/>
                </a:solidFill>
                <a:latin typeface="Plus Jakarta Sans"/>
              </a:rPr>
              <a:t>なぜ今、Google Antigravityなのか？</a:t>
            </a:r>
          </a:p>
        </p:txBody>
      </p:sp>
      <p:sp>
        <p:nvSpPr>
          <p:cNvPr id="7" name="TextBox 6"/>
          <p:cNvSpPr txBox="1"/>
          <p:nvPr/>
        </p:nvSpPr>
        <p:spPr>
          <a:xfrm>
            <a:off x="685800" y="6446520"/>
            <a:ext cx="6400800" cy="256032"/>
          </a:xfrm>
          <a:prstGeom prst="rect">
            <a:avLst/>
          </a:prstGeom>
          <a:noFill/>
        </p:spPr>
        <p:txBody>
          <a:bodyPr wrap="square" anchor="t" lIns="36576" rIns="36576" tIns="36576" bIns="36576">
            <a:spAutoFit/>
          </a:bodyPr>
          <a:lstStyle/>
          <a:p>
            <a:pPr algn="l"/>
            <a:r>
              <a:rPr sz="850" b="0">
                <a:solidFill>
                  <a:srgbClr val="64748B"/>
                </a:solidFill>
                <a:latin typeface="Consolas"/>
              </a:rPr>
              <a:t>2026-08-26 社内AI研修 · Antigravity 1時間ライブデモ  ·  Slide 03 / 08</a:t>
            </a:r>
          </a:p>
        </p:txBody>
      </p:sp>
      <p:sp>
        <p:nvSpPr>
          <p:cNvPr id="8" name="TextBox 7"/>
          <p:cNvSpPr txBox="1"/>
          <p:nvPr/>
        </p:nvSpPr>
        <p:spPr>
          <a:xfrm>
            <a:off x="7315200" y="6446520"/>
            <a:ext cx="4187952" cy="256032"/>
          </a:xfrm>
          <a:prstGeom prst="rect">
            <a:avLst/>
          </a:prstGeom>
          <a:noFill/>
        </p:spPr>
        <p:txBody>
          <a:bodyPr wrap="square" anchor="t" lIns="36576" rIns="36576" tIns="36576" bIns="36576">
            <a:spAutoFit/>
          </a:bodyPr>
          <a:lstStyle/>
          <a:p>
            <a:pPr algn="r"/>
            <a:r>
              <a:rPr sz="850" b="0">
                <a:solidFill>
                  <a:srgbClr val="64748B"/>
                </a:solidFill>
                <a:latin typeface="Plus Jakarta Sans"/>
              </a:rPr>
              <a:t>Canva Compatible Deck  ·  Mighty Link AI Connect</a:t>
            </a:r>
          </a:p>
        </p:txBody>
      </p:sp>
      <p:sp>
        <p:nvSpPr>
          <p:cNvPr id="9" name="TextBox 8"/>
          <p:cNvSpPr txBox="1"/>
          <p:nvPr/>
        </p:nvSpPr>
        <p:spPr>
          <a:xfrm>
            <a:off x="713232" y="1371600"/>
            <a:ext cx="10698480" cy="320040"/>
          </a:xfrm>
          <a:prstGeom prst="rect">
            <a:avLst/>
          </a:prstGeom>
          <a:noFill/>
        </p:spPr>
        <p:txBody>
          <a:bodyPr wrap="square" anchor="t" lIns="36576" rIns="36576" tIns="36576" bIns="36576">
            <a:spAutoFit/>
          </a:bodyPr>
          <a:lstStyle/>
          <a:p>
            <a:pPr algn="l"/>
            <a:r>
              <a:rPr sz="1400" b="0">
                <a:solidFill>
                  <a:srgbClr val="CBD5E1"/>
                </a:solidFill>
                <a:latin typeface="Yu Gothic"/>
              </a:rPr>
              <a:t>従来のチャット型AI（ChatGPT/Claude）と決定的に異なる「4大パラダイムシフト」</a:t>
            </a:r>
          </a:p>
        </p:txBody>
      </p:sp>
      <p:sp>
        <p:nvSpPr>
          <p:cNvPr id="10" name="Rounded Rectangle 9"/>
          <p:cNvSpPr/>
          <p:nvPr/>
        </p:nvSpPr>
        <p:spPr>
          <a:xfrm>
            <a:off x="685800" y="1783080"/>
            <a:ext cx="5303520" cy="20116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1984248"/>
            <a:ext cx="36576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30552"/>
            <a:ext cx="4846320" cy="320040"/>
          </a:xfrm>
          <a:prstGeom prst="rect">
            <a:avLst/>
          </a:prstGeom>
          <a:noFill/>
        </p:spPr>
        <p:txBody>
          <a:bodyPr wrap="square" anchor="t" lIns="36576" rIns="36576" tIns="36576" bIns="36576">
            <a:spAutoFit/>
          </a:bodyPr>
          <a:lstStyle/>
          <a:p>
            <a:pPr algn="l"/>
            <a:r>
              <a:rPr sz="1600" b="1">
                <a:solidFill>
                  <a:srgbClr val="F8FAFC"/>
                </a:solidFill>
                <a:latin typeface="Plus Jakarta Sans"/>
              </a:rPr>
              <a:t>Artifacts (動的成果物)</a:t>
            </a:r>
          </a:p>
        </p:txBody>
      </p:sp>
      <p:sp>
        <p:nvSpPr>
          <p:cNvPr id="13" name="TextBox 12"/>
          <p:cNvSpPr txBox="1"/>
          <p:nvPr/>
        </p:nvSpPr>
        <p:spPr>
          <a:xfrm>
            <a:off x="914400" y="2560320"/>
            <a:ext cx="4846320" cy="1051560"/>
          </a:xfrm>
          <a:prstGeom prst="rect">
            <a:avLst/>
          </a:prstGeom>
          <a:noFill/>
        </p:spPr>
        <p:txBody>
          <a:bodyPr wrap="square" anchor="t" lIns="36576" rIns="36576" tIns="36576" bIns="36576">
            <a:spAutoFit/>
          </a:bodyPr>
          <a:lstStyle/>
          <a:p>
            <a:pPr algn="l"/>
            <a:r>
              <a:rPr sz="1200" b="0">
                <a:solidFill>
                  <a:srgbClr val="CBD5E1"/>
                </a:solidFill>
                <a:latin typeface="Yu Gothic"/>
              </a:rPr>
              <a:t>チャット欄に長いコードを流すのではなく、画面右側に独立したドキュメント・計画・プレビューを即時生成。いつでも修正・参照が可能。</a:t>
            </a:r>
          </a:p>
        </p:txBody>
      </p:sp>
      <p:sp>
        <p:nvSpPr>
          <p:cNvPr id="14" name="Rounded Rectangle 13"/>
          <p:cNvSpPr/>
          <p:nvPr/>
        </p:nvSpPr>
        <p:spPr>
          <a:xfrm>
            <a:off x="6190488" y="1783080"/>
            <a:ext cx="5303520" cy="20116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19088" y="1984248"/>
            <a:ext cx="36576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2130552"/>
            <a:ext cx="4846320" cy="320040"/>
          </a:xfrm>
          <a:prstGeom prst="rect">
            <a:avLst/>
          </a:prstGeom>
          <a:noFill/>
        </p:spPr>
        <p:txBody>
          <a:bodyPr wrap="square" anchor="t" lIns="36576" rIns="36576" tIns="36576" bIns="36576">
            <a:spAutoFit/>
          </a:bodyPr>
          <a:lstStyle/>
          <a:p>
            <a:pPr algn="l"/>
            <a:r>
              <a:rPr sz="1600" b="1">
                <a:solidFill>
                  <a:srgbClr val="F8FAFC"/>
                </a:solidFill>
                <a:latin typeface="Plus Jakarta Sans"/>
              </a:rPr>
              <a:t>Visual Feedback</a:t>
            </a:r>
          </a:p>
        </p:txBody>
      </p:sp>
      <p:sp>
        <p:nvSpPr>
          <p:cNvPr id="17" name="TextBox 16"/>
          <p:cNvSpPr txBox="1"/>
          <p:nvPr/>
        </p:nvSpPr>
        <p:spPr>
          <a:xfrm>
            <a:off x="6419088" y="2560320"/>
            <a:ext cx="4846320" cy="1051560"/>
          </a:xfrm>
          <a:prstGeom prst="rect">
            <a:avLst/>
          </a:prstGeom>
          <a:noFill/>
        </p:spPr>
        <p:txBody>
          <a:bodyPr wrap="square" anchor="t" lIns="36576" rIns="36576" tIns="36576" bIns="36576">
            <a:spAutoFit/>
          </a:bodyPr>
          <a:lstStyle/>
          <a:p>
            <a:pPr algn="l"/>
            <a:r>
              <a:rPr sz="1200" b="0">
                <a:solidFill>
                  <a:srgbClr val="CBD5E1"/>
                </a:solidFill>
                <a:latin typeface="Yu Gothic"/>
              </a:rPr>
              <a:t>「ここのボタンを青にして」「この余白を狭くして」といった指示を、画面キャプチャ上のクリック位置ピンと短いコメントだけで正確に伝達。</a:t>
            </a:r>
          </a:p>
        </p:txBody>
      </p:sp>
      <p:sp>
        <p:nvSpPr>
          <p:cNvPr id="18" name="Rounded Rectangle 17"/>
          <p:cNvSpPr/>
          <p:nvPr/>
        </p:nvSpPr>
        <p:spPr>
          <a:xfrm>
            <a:off x="685800" y="3977639"/>
            <a:ext cx="5303520" cy="20116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4178807"/>
            <a:ext cx="365760" cy="45720"/>
          </a:xfrm>
          <a:prstGeom prst="rect">
            <a:avLst/>
          </a:prstGeom>
          <a:solidFill>
            <a:srgbClr val="A78BFA"/>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325112"/>
            <a:ext cx="4846320" cy="320040"/>
          </a:xfrm>
          <a:prstGeom prst="rect">
            <a:avLst/>
          </a:prstGeom>
          <a:noFill/>
        </p:spPr>
        <p:txBody>
          <a:bodyPr wrap="square" anchor="t" lIns="36576" rIns="36576" tIns="36576" bIns="36576">
            <a:spAutoFit/>
          </a:bodyPr>
          <a:lstStyle/>
          <a:p>
            <a:pPr algn="l"/>
            <a:r>
              <a:rPr sz="1600" b="1">
                <a:solidFill>
                  <a:srgbClr val="F8FAFC"/>
                </a:solidFill>
                <a:latin typeface="Plus Jakarta Sans"/>
              </a:rPr>
              <a:t>Autonomous Browser</a:t>
            </a:r>
          </a:p>
        </p:txBody>
      </p:sp>
      <p:sp>
        <p:nvSpPr>
          <p:cNvPr id="21" name="TextBox 20"/>
          <p:cNvSpPr txBox="1"/>
          <p:nvPr/>
        </p:nvSpPr>
        <p:spPr>
          <a:xfrm>
            <a:off x="914400" y="4754879"/>
            <a:ext cx="4846320" cy="1051560"/>
          </a:xfrm>
          <a:prstGeom prst="rect">
            <a:avLst/>
          </a:prstGeom>
          <a:noFill/>
        </p:spPr>
        <p:txBody>
          <a:bodyPr wrap="square" anchor="t" lIns="36576" rIns="36576" tIns="36576" bIns="36576">
            <a:spAutoFit/>
          </a:bodyPr>
          <a:lstStyle/>
          <a:p>
            <a:pPr algn="l"/>
            <a:r>
              <a:rPr sz="1200" b="0">
                <a:solidFill>
                  <a:srgbClr val="CBD5E1"/>
                </a:solidFill>
                <a:latin typeface="Yu Gothic"/>
              </a:rPr>
              <a:t>Headless Chromeを自動起動し、作成したWebサイトのボタンクリック・E2Eテスト・レスポンシブ崩れをAI自身が自律検証。</a:t>
            </a:r>
          </a:p>
        </p:txBody>
      </p:sp>
      <p:sp>
        <p:nvSpPr>
          <p:cNvPr id="22" name="Rounded Rectangle 21"/>
          <p:cNvSpPr/>
          <p:nvPr/>
        </p:nvSpPr>
        <p:spPr>
          <a:xfrm>
            <a:off x="6190488" y="3977639"/>
            <a:ext cx="5303520" cy="20116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19088" y="4178807"/>
            <a:ext cx="365760" cy="45720"/>
          </a:xfrm>
          <a:prstGeom prst="rect">
            <a:avLst/>
          </a:prstGeom>
          <a:solidFill>
            <a:srgbClr val="FBBF24"/>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4325112"/>
            <a:ext cx="4846320" cy="320040"/>
          </a:xfrm>
          <a:prstGeom prst="rect">
            <a:avLst/>
          </a:prstGeom>
          <a:noFill/>
        </p:spPr>
        <p:txBody>
          <a:bodyPr wrap="square" anchor="t" lIns="36576" rIns="36576" tIns="36576" bIns="36576">
            <a:spAutoFit/>
          </a:bodyPr>
          <a:lstStyle/>
          <a:p>
            <a:pPr algn="l"/>
            <a:r>
              <a:rPr sz="1600" b="1">
                <a:solidFill>
                  <a:srgbClr val="F8FAFC"/>
                </a:solidFill>
                <a:latin typeface="Plus Jakarta Sans"/>
              </a:rPr>
              <a:t>外部ツール・MCP連携</a:t>
            </a:r>
          </a:p>
        </p:txBody>
      </p:sp>
      <p:sp>
        <p:nvSpPr>
          <p:cNvPr id="25" name="TextBox 24"/>
          <p:cNvSpPr txBox="1"/>
          <p:nvPr/>
        </p:nvSpPr>
        <p:spPr>
          <a:xfrm>
            <a:off x="6419088" y="4754879"/>
            <a:ext cx="4846320" cy="1051560"/>
          </a:xfrm>
          <a:prstGeom prst="rect">
            <a:avLst/>
          </a:prstGeom>
          <a:noFill/>
        </p:spPr>
        <p:txBody>
          <a:bodyPr wrap="square" anchor="t" lIns="36576" rIns="36576" tIns="36576" bIns="36576">
            <a:spAutoFit/>
          </a:bodyPr>
          <a:lstStyle/>
          <a:p>
            <a:pPr algn="l"/>
            <a:r>
              <a:rPr sz="1200" b="0">
                <a:solidFill>
                  <a:srgbClr val="CBD5E1"/>
                </a:solidFill>
                <a:latin typeface="Yu Gothic"/>
              </a:rPr>
              <a:t>Figma、Canva、Google Workspace、Slack等の外部SaaSと双方向でデータをやり取りし、社内業務フローへ即座に統合。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w="12700">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20040"/>
            <a:ext cx="54864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320040"/>
            <a:ext cx="32004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38912"/>
            <a:ext cx="7315200" cy="237744"/>
          </a:xfrm>
          <a:prstGeom prst="rect">
            <a:avLst/>
          </a:prstGeom>
          <a:noFill/>
        </p:spPr>
        <p:txBody>
          <a:bodyPr wrap="square" anchor="t" lIns="36576" rIns="36576" tIns="36576" bIns="36576">
            <a:spAutoFit/>
          </a:bodyPr>
          <a:lstStyle/>
          <a:p>
            <a:pPr algn="l"/>
            <a:r>
              <a:rPr sz="900" b="1">
                <a:solidFill>
                  <a:srgbClr val="2DD4BF"/>
                </a:solidFill>
                <a:latin typeface="Consolas"/>
              </a:rPr>
              <a:t>04  /  LIVE DEMONSTRATION</a:t>
            </a:r>
          </a:p>
        </p:txBody>
      </p:sp>
      <p:sp>
        <p:nvSpPr>
          <p:cNvPr id="6" name="TextBox 5"/>
          <p:cNvSpPr txBox="1"/>
          <p:nvPr/>
        </p:nvSpPr>
        <p:spPr>
          <a:xfrm>
            <a:off x="667512" y="694944"/>
            <a:ext cx="10789920" cy="594360"/>
          </a:xfrm>
          <a:prstGeom prst="rect">
            <a:avLst/>
          </a:prstGeom>
          <a:noFill/>
        </p:spPr>
        <p:txBody>
          <a:bodyPr wrap="square" anchor="t" lIns="36576" rIns="36576" tIns="36576" bIns="36576">
            <a:spAutoFit/>
          </a:bodyPr>
          <a:lstStyle/>
          <a:p>
            <a:pPr algn="l"/>
            <a:r>
              <a:rPr sz="2600" b="1">
                <a:solidFill>
                  <a:srgbClr val="F8FAFC"/>
                </a:solidFill>
                <a:latin typeface="Plus Jakarta Sans"/>
              </a:rPr>
              <a:t>25分ライブデモの実演ステップ（実画面共有）</a:t>
            </a:r>
          </a:p>
        </p:txBody>
      </p:sp>
      <p:sp>
        <p:nvSpPr>
          <p:cNvPr id="7" name="TextBox 6"/>
          <p:cNvSpPr txBox="1"/>
          <p:nvPr/>
        </p:nvSpPr>
        <p:spPr>
          <a:xfrm>
            <a:off x="685800" y="6446520"/>
            <a:ext cx="6400800" cy="256032"/>
          </a:xfrm>
          <a:prstGeom prst="rect">
            <a:avLst/>
          </a:prstGeom>
          <a:noFill/>
        </p:spPr>
        <p:txBody>
          <a:bodyPr wrap="square" anchor="t" lIns="36576" rIns="36576" tIns="36576" bIns="36576">
            <a:spAutoFit/>
          </a:bodyPr>
          <a:lstStyle/>
          <a:p>
            <a:pPr algn="l"/>
            <a:r>
              <a:rPr sz="850" b="0">
                <a:solidFill>
                  <a:srgbClr val="64748B"/>
                </a:solidFill>
                <a:latin typeface="Consolas"/>
              </a:rPr>
              <a:t>2026-08-26 社内AI研修 · Antigravity 1時間ライブデモ  ·  Slide 04 / 08</a:t>
            </a:r>
          </a:p>
        </p:txBody>
      </p:sp>
      <p:sp>
        <p:nvSpPr>
          <p:cNvPr id="8" name="TextBox 7"/>
          <p:cNvSpPr txBox="1"/>
          <p:nvPr/>
        </p:nvSpPr>
        <p:spPr>
          <a:xfrm>
            <a:off x="7315200" y="6446520"/>
            <a:ext cx="4187952" cy="256032"/>
          </a:xfrm>
          <a:prstGeom prst="rect">
            <a:avLst/>
          </a:prstGeom>
          <a:noFill/>
        </p:spPr>
        <p:txBody>
          <a:bodyPr wrap="square" anchor="t" lIns="36576" rIns="36576" tIns="36576" bIns="36576">
            <a:spAutoFit/>
          </a:bodyPr>
          <a:lstStyle/>
          <a:p>
            <a:pPr algn="r"/>
            <a:r>
              <a:rPr sz="850" b="0">
                <a:solidFill>
                  <a:srgbClr val="64748B"/>
                </a:solidFill>
                <a:latin typeface="Plus Jakarta Sans"/>
              </a:rPr>
              <a:t>Canva Compatible Deck  ·  Mighty Link AI Connect</a:t>
            </a:r>
          </a:p>
        </p:txBody>
      </p:sp>
      <p:sp>
        <p:nvSpPr>
          <p:cNvPr id="9" name="TextBox 8"/>
          <p:cNvSpPr txBox="1"/>
          <p:nvPr/>
        </p:nvSpPr>
        <p:spPr>
          <a:xfrm>
            <a:off x="713232" y="1371600"/>
            <a:ext cx="10698480" cy="320040"/>
          </a:xfrm>
          <a:prstGeom prst="rect">
            <a:avLst/>
          </a:prstGeom>
          <a:noFill/>
        </p:spPr>
        <p:txBody>
          <a:bodyPr wrap="square" anchor="t" lIns="36576" rIns="36576" tIns="36576" bIns="36576">
            <a:spAutoFit/>
          </a:bodyPr>
          <a:lstStyle/>
          <a:p>
            <a:pPr algn="l"/>
            <a:r>
              <a:rPr sz="1400" b="0">
                <a:solidFill>
                  <a:srgbClr val="CBD5E1"/>
                </a:solidFill>
                <a:latin typeface="Yu Gothic"/>
              </a:rPr>
              <a:t>「社内向けAI比較ポータルサイト」をゼロから作成・公開する一連のフローを完全実演します。</a:t>
            </a:r>
          </a:p>
        </p:txBody>
      </p:sp>
      <p:sp>
        <p:nvSpPr>
          <p:cNvPr id="10" name="Rounded Rectangle 9"/>
          <p:cNvSpPr/>
          <p:nvPr/>
        </p:nvSpPr>
        <p:spPr>
          <a:xfrm>
            <a:off x="685800" y="1783080"/>
            <a:ext cx="25603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1965960"/>
            <a:ext cx="109728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002536"/>
            <a:ext cx="1097280" cy="219456"/>
          </a:xfrm>
          <a:prstGeom prst="rect">
            <a:avLst/>
          </a:prstGeom>
          <a:noFill/>
        </p:spPr>
        <p:txBody>
          <a:bodyPr wrap="square" anchor="ctr" lIns="36576" rIns="36576" tIns="36576" bIns="36576">
            <a:spAutoFit/>
          </a:bodyPr>
          <a:lstStyle/>
          <a:p>
            <a:pPr algn="ctr"/>
            <a:r>
              <a:rPr sz="950" b="1">
                <a:solidFill>
                  <a:srgbClr val="2DD4BF"/>
                </a:solidFill>
                <a:latin typeface="Plus Jakarta Sans"/>
              </a:rPr>
              <a:t>STEP 01</a:t>
            </a:r>
          </a:p>
        </p:txBody>
      </p:sp>
      <p:sp>
        <p:nvSpPr>
          <p:cNvPr id="13" name="TextBox 12"/>
          <p:cNvSpPr txBox="1"/>
          <p:nvPr/>
        </p:nvSpPr>
        <p:spPr>
          <a:xfrm>
            <a:off x="868680" y="2423160"/>
            <a:ext cx="2194560" cy="502920"/>
          </a:xfrm>
          <a:prstGeom prst="rect">
            <a:avLst/>
          </a:prstGeom>
          <a:noFill/>
        </p:spPr>
        <p:txBody>
          <a:bodyPr wrap="square" anchor="t" lIns="36576" rIns="36576" tIns="36576" bIns="36576">
            <a:spAutoFit/>
          </a:bodyPr>
          <a:lstStyle/>
          <a:p>
            <a:pPr algn="l"/>
            <a:r>
              <a:rPr sz="1500" b="1">
                <a:solidFill>
                  <a:srgbClr val="F8FAFC"/>
                </a:solidFill>
                <a:latin typeface="Plus Jakarta Sans"/>
              </a:rPr>
              <a:t>要件プロンプト投入</a:t>
            </a:r>
          </a:p>
        </p:txBody>
      </p:sp>
      <p:sp>
        <p:nvSpPr>
          <p:cNvPr id="14" name="TextBox 13"/>
          <p:cNvSpPr txBox="1"/>
          <p:nvPr/>
        </p:nvSpPr>
        <p:spPr>
          <a:xfrm>
            <a:off x="868680" y="3017520"/>
            <a:ext cx="2194560" cy="1463040"/>
          </a:xfrm>
          <a:prstGeom prst="rect">
            <a:avLst/>
          </a:prstGeom>
          <a:noFill/>
        </p:spPr>
        <p:txBody>
          <a:bodyPr wrap="square" anchor="t" lIns="36576" rIns="36576" tIns="36576" bIns="36576">
            <a:spAutoFit/>
          </a:bodyPr>
          <a:lstStyle/>
          <a:p>
            <a:pPr algn="l"/>
            <a:r>
              <a:rPr sz="1150" b="0">
                <a:solidFill>
                  <a:srgbClr val="CBD5E1"/>
                </a:solidFill>
                <a:latin typeface="Yu Gothic"/>
              </a:rPr>
              <a:t>「9大AIエージェント比較サイトを作って」と自然言語で指示</a:t>
            </a:r>
          </a:p>
        </p:txBody>
      </p:sp>
      <p:sp>
        <p:nvSpPr>
          <p:cNvPr id="15" name="Rounded Rectangle 14"/>
          <p:cNvSpPr/>
          <p:nvPr/>
        </p:nvSpPr>
        <p:spPr>
          <a:xfrm>
            <a:off x="3438144" y="1783080"/>
            <a:ext cx="25603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621024" y="1965960"/>
            <a:ext cx="109728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1024" y="2002536"/>
            <a:ext cx="1097280" cy="219456"/>
          </a:xfrm>
          <a:prstGeom prst="rect">
            <a:avLst/>
          </a:prstGeom>
          <a:noFill/>
        </p:spPr>
        <p:txBody>
          <a:bodyPr wrap="square" anchor="ctr" lIns="36576" rIns="36576" tIns="36576" bIns="36576">
            <a:spAutoFit/>
          </a:bodyPr>
          <a:lstStyle/>
          <a:p>
            <a:pPr algn="ctr"/>
            <a:r>
              <a:rPr sz="950" b="1">
                <a:solidFill>
                  <a:srgbClr val="38BDF8"/>
                </a:solidFill>
                <a:latin typeface="Plus Jakarta Sans"/>
              </a:rPr>
              <a:t>STEP 02</a:t>
            </a:r>
          </a:p>
        </p:txBody>
      </p:sp>
      <p:sp>
        <p:nvSpPr>
          <p:cNvPr id="18" name="TextBox 17"/>
          <p:cNvSpPr txBox="1"/>
          <p:nvPr/>
        </p:nvSpPr>
        <p:spPr>
          <a:xfrm>
            <a:off x="3621024" y="2423160"/>
            <a:ext cx="2194560" cy="502920"/>
          </a:xfrm>
          <a:prstGeom prst="rect">
            <a:avLst/>
          </a:prstGeom>
          <a:noFill/>
        </p:spPr>
        <p:txBody>
          <a:bodyPr wrap="square" anchor="t" lIns="36576" rIns="36576" tIns="36576" bIns="36576">
            <a:spAutoFit/>
          </a:bodyPr>
          <a:lstStyle/>
          <a:p>
            <a:pPr algn="l"/>
            <a:r>
              <a:rPr sz="1500" b="1">
                <a:solidFill>
                  <a:srgbClr val="F8FAFC"/>
                </a:solidFill>
                <a:latin typeface="Plus Jakarta Sans"/>
              </a:rPr>
              <a:t>計画 &amp; 自動コーディング</a:t>
            </a:r>
          </a:p>
        </p:txBody>
      </p:sp>
      <p:sp>
        <p:nvSpPr>
          <p:cNvPr id="19" name="TextBox 18"/>
          <p:cNvSpPr txBox="1"/>
          <p:nvPr/>
        </p:nvSpPr>
        <p:spPr>
          <a:xfrm>
            <a:off x="3621024" y="3017520"/>
            <a:ext cx="2194560" cy="1463040"/>
          </a:xfrm>
          <a:prstGeom prst="rect">
            <a:avLst/>
          </a:prstGeom>
          <a:noFill/>
        </p:spPr>
        <p:txBody>
          <a:bodyPr wrap="square" anchor="t" lIns="36576" rIns="36576" tIns="36576" bIns="36576">
            <a:spAutoFit/>
          </a:bodyPr>
          <a:lstStyle/>
          <a:p>
            <a:pPr algn="l"/>
            <a:r>
              <a:rPr sz="1150" b="0">
                <a:solidFill>
                  <a:srgbClr val="CBD5E1"/>
                </a:solidFill>
                <a:latin typeface="Yu Gothic"/>
              </a:rPr>
              <a:t>Implementation Planを策定しHTML/CSS/JSを一括自動生成</a:t>
            </a:r>
          </a:p>
        </p:txBody>
      </p:sp>
      <p:sp>
        <p:nvSpPr>
          <p:cNvPr id="20" name="Rounded Rectangle 19"/>
          <p:cNvSpPr/>
          <p:nvPr/>
        </p:nvSpPr>
        <p:spPr>
          <a:xfrm>
            <a:off x="6190488" y="1783080"/>
            <a:ext cx="25603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1965960"/>
            <a:ext cx="109728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2002536"/>
            <a:ext cx="1097280" cy="219456"/>
          </a:xfrm>
          <a:prstGeom prst="rect">
            <a:avLst/>
          </a:prstGeom>
          <a:noFill/>
        </p:spPr>
        <p:txBody>
          <a:bodyPr wrap="square" anchor="ctr" lIns="36576" rIns="36576" tIns="36576" bIns="36576">
            <a:spAutoFit/>
          </a:bodyPr>
          <a:lstStyle/>
          <a:p>
            <a:pPr algn="ctr"/>
            <a:r>
              <a:rPr sz="950" b="1">
                <a:solidFill>
                  <a:srgbClr val="A78BFA"/>
                </a:solidFill>
                <a:latin typeface="Plus Jakarta Sans"/>
              </a:rPr>
              <a:t>STEP 03</a:t>
            </a:r>
          </a:p>
        </p:txBody>
      </p:sp>
      <p:sp>
        <p:nvSpPr>
          <p:cNvPr id="23" name="TextBox 22"/>
          <p:cNvSpPr txBox="1"/>
          <p:nvPr/>
        </p:nvSpPr>
        <p:spPr>
          <a:xfrm>
            <a:off x="6373368" y="2423160"/>
            <a:ext cx="2194560" cy="502920"/>
          </a:xfrm>
          <a:prstGeom prst="rect">
            <a:avLst/>
          </a:prstGeom>
          <a:noFill/>
        </p:spPr>
        <p:txBody>
          <a:bodyPr wrap="square" anchor="t" lIns="36576" rIns="36576" tIns="36576" bIns="36576">
            <a:spAutoFit/>
          </a:bodyPr>
          <a:lstStyle/>
          <a:p>
            <a:pPr algn="l"/>
            <a:r>
              <a:rPr sz="1500" b="1">
                <a:solidFill>
                  <a:srgbClr val="F8FAFC"/>
                </a:solidFill>
                <a:latin typeface="Plus Jakarta Sans"/>
              </a:rPr>
              <a:t>画面直接ピン留め修正</a:t>
            </a:r>
          </a:p>
        </p:txBody>
      </p:sp>
      <p:sp>
        <p:nvSpPr>
          <p:cNvPr id="24" name="TextBox 23"/>
          <p:cNvSpPr txBox="1"/>
          <p:nvPr/>
        </p:nvSpPr>
        <p:spPr>
          <a:xfrm>
            <a:off x="6373368" y="3017520"/>
            <a:ext cx="2194560" cy="1463040"/>
          </a:xfrm>
          <a:prstGeom prst="rect">
            <a:avLst/>
          </a:prstGeom>
          <a:noFill/>
        </p:spPr>
        <p:txBody>
          <a:bodyPr wrap="square" anchor="t" lIns="36576" rIns="36576" tIns="36576" bIns="36576">
            <a:spAutoFit/>
          </a:bodyPr>
          <a:lstStyle/>
          <a:p>
            <a:pPr algn="l"/>
            <a:r>
              <a:rPr sz="1150" b="0">
                <a:solidFill>
                  <a:srgbClr val="CBD5E1"/>
                </a:solidFill>
                <a:latin typeface="Yu Gothic"/>
              </a:rPr>
              <a:t>Artifactプレビューを見ながらVisual Feedbackで直感的に微調整</a:t>
            </a:r>
          </a:p>
        </p:txBody>
      </p:sp>
      <p:sp>
        <p:nvSpPr>
          <p:cNvPr id="25" name="Rounded Rectangle 24"/>
          <p:cNvSpPr/>
          <p:nvPr/>
        </p:nvSpPr>
        <p:spPr>
          <a:xfrm>
            <a:off x="8942832" y="1783080"/>
            <a:ext cx="25603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125711" y="1965960"/>
            <a:ext cx="109728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1" y="2002536"/>
            <a:ext cx="1097280" cy="219456"/>
          </a:xfrm>
          <a:prstGeom prst="rect">
            <a:avLst/>
          </a:prstGeom>
          <a:noFill/>
        </p:spPr>
        <p:txBody>
          <a:bodyPr wrap="square" anchor="ctr" lIns="36576" rIns="36576" tIns="36576" bIns="36576">
            <a:spAutoFit/>
          </a:bodyPr>
          <a:lstStyle/>
          <a:p>
            <a:pPr algn="ctr"/>
            <a:r>
              <a:rPr sz="950" b="1">
                <a:solidFill>
                  <a:srgbClr val="34D399"/>
                </a:solidFill>
                <a:latin typeface="Plus Jakarta Sans"/>
              </a:rPr>
              <a:t>STEP 04</a:t>
            </a:r>
          </a:p>
        </p:txBody>
      </p:sp>
      <p:sp>
        <p:nvSpPr>
          <p:cNvPr id="28" name="TextBox 27"/>
          <p:cNvSpPr txBox="1"/>
          <p:nvPr/>
        </p:nvSpPr>
        <p:spPr>
          <a:xfrm>
            <a:off x="9125711" y="2423160"/>
            <a:ext cx="2194560" cy="502920"/>
          </a:xfrm>
          <a:prstGeom prst="rect">
            <a:avLst/>
          </a:prstGeom>
          <a:noFill/>
        </p:spPr>
        <p:txBody>
          <a:bodyPr wrap="square" anchor="t" lIns="36576" rIns="36576" tIns="36576" bIns="36576">
            <a:spAutoFit/>
          </a:bodyPr>
          <a:lstStyle/>
          <a:p>
            <a:pPr algn="l"/>
            <a:r>
              <a:rPr sz="1500" b="1">
                <a:solidFill>
                  <a:srgbClr val="F8FAFC"/>
                </a:solidFill>
                <a:latin typeface="Plus Jakarta Sans"/>
              </a:rPr>
              <a:t>即時デプロイ &amp; 導通確認</a:t>
            </a:r>
          </a:p>
        </p:txBody>
      </p:sp>
      <p:sp>
        <p:nvSpPr>
          <p:cNvPr id="29" name="TextBox 28"/>
          <p:cNvSpPr txBox="1"/>
          <p:nvPr/>
        </p:nvSpPr>
        <p:spPr>
          <a:xfrm>
            <a:off x="9125711" y="3017520"/>
            <a:ext cx="2194560" cy="1463040"/>
          </a:xfrm>
          <a:prstGeom prst="rect">
            <a:avLst/>
          </a:prstGeom>
          <a:noFill/>
        </p:spPr>
        <p:txBody>
          <a:bodyPr wrap="square" anchor="t" lIns="36576" rIns="36576" tIns="36576" bIns="36576">
            <a:spAutoFit/>
          </a:bodyPr>
          <a:lstStyle/>
          <a:p>
            <a:pPr algn="l"/>
            <a:r>
              <a:rPr sz="1150" b="0">
                <a:solidFill>
                  <a:srgbClr val="CBD5E1"/>
                </a:solidFill>
                <a:latin typeface="Yu Gothic"/>
              </a:rPr>
              <a:t>GitHub Pagesへ自動公開しHTTP 200疎通確認を完遂</a:t>
            </a:r>
          </a:p>
        </p:txBody>
      </p:sp>
      <p:sp>
        <p:nvSpPr>
          <p:cNvPr id="30" name="Rounded Rectangle 29"/>
          <p:cNvSpPr/>
          <p:nvPr/>
        </p:nvSpPr>
        <p:spPr>
          <a:xfrm>
            <a:off x="685800" y="4892040"/>
            <a:ext cx="10817352" cy="13258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68680" y="5047488"/>
            <a:ext cx="2560320" cy="310896"/>
          </a:xfrm>
          <a:prstGeom prst="roundRect">
            <a:avLst/>
          </a:prstGeom>
          <a:solidFill>
            <a:srgbClr val="0D353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5084064"/>
            <a:ext cx="2560320" cy="219456"/>
          </a:xfrm>
          <a:prstGeom prst="rect">
            <a:avLst/>
          </a:prstGeom>
          <a:noFill/>
        </p:spPr>
        <p:txBody>
          <a:bodyPr wrap="square" anchor="ctr" lIns="36576" rIns="36576" tIns="36576" bIns="36576">
            <a:spAutoFit/>
          </a:bodyPr>
          <a:lstStyle/>
          <a:p>
            <a:pPr algn="ctr"/>
            <a:r>
              <a:rPr sz="950" b="1">
                <a:solidFill>
                  <a:srgbClr val="2DD4BF"/>
                </a:solidFill>
                <a:latin typeface="Plus Jakarta Sans"/>
              </a:rPr>
              <a:t>🌐 実演で公開される完成サイト</a:t>
            </a:r>
          </a:p>
        </p:txBody>
      </p:sp>
      <p:sp>
        <p:nvSpPr>
          <p:cNvPr id="33" name="TextBox 32"/>
          <p:cNvSpPr txBox="1"/>
          <p:nvPr/>
        </p:nvSpPr>
        <p:spPr>
          <a:xfrm>
            <a:off x="868680" y="5486400"/>
            <a:ext cx="10424160" cy="457200"/>
          </a:xfrm>
          <a:prstGeom prst="rect">
            <a:avLst/>
          </a:prstGeom>
          <a:noFill/>
        </p:spPr>
        <p:txBody>
          <a:bodyPr wrap="square" anchor="t" lIns="36576" rIns="36576" tIns="36576" bIns="36576">
            <a:spAutoFit/>
          </a:bodyPr>
          <a:lstStyle/>
          <a:p>
            <a:pPr algn="l"/>
            <a:r>
              <a:rPr sz="1200" b="0">
                <a:solidFill>
                  <a:srgbClr val="CBD5E1"/>
                </a:solidFill>
                <a:latin typeface="Yu Gothic"/>
              </a:rPr>
              <a:t>URL: https://kanta13jp1.github.io/mighty-link-antigravity-live-demo/ （全9製品比較 &amp; 公式アイコン &amp; 動画デモシアター搭載）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w="12700">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20040"/>
            <a:ext cx="54864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320040"/>
            <a:ext cx="32004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38912"/>
            <a:ext cx="7315200" cy="237744"/>
          </a:xfrm>
          <a:prstGeom prst="rect">
            <a:avLst/>
          </a:prstGeom>
          <a:noFill/>
        </p:spPr>
        <p:txBody>
          <a:bodyPr wrap="square" anchor="t" lIns="36576" rIns="36576" tIns="36576" bIns="36576">
            <a:spAutoFit/>
          </a:bodyPr>
          <a:lstStyle/>
          <a:p>
            <a:pPr algn="l"/>
            <a:r>
              <a:rPr sz="900" b="1">
                <a:solidFill>
                  <a:srgbClr val="2DD4BF"/>
                </a:solidFill>
                <a:latin typeface="Consolas"/>
              </a:rPr>
              <a:t>05  /  VISUAL FEEDBACK</a:t>
            </a:r>
          </a:p>
        </p:txBody>
      </p:sp>
      <p:sp>
        <p:nvSpPr>
          <p:cNvPr id="6" name="TextBox 5"/>
          <p:cNvSpPr txBox="1"/>
          <p:nvPr/>
        </p:nvSpPr>
        <p:spPr>
          <a:xfrm>
            <a:off x="667512" y="694944"/>
            <a:ext cx="10789920" cy="594360"/>
          </a:xfrm>
          <a:prstGeom prst="rect">
            <a:avLst/>
          </a:prstGeom>
          <a:noFill/>
        </p:spPr>
        <p:txBody>
          <a:bodyPr wrap="square" anchor="t" lIns="36576" rIns="36576" tIns="36576" bIns="36576">
            <a:spAutoFit/>
          </a:bodyPr>
          <a:lstStyle/>
          <a:p>
            <a:pPr algn="l"/>
            <a:r>
              <a:rPr sz="2600" b="1">
                <a:solidFill>
                  <a:srgbClr val="F8FAFC"/>
                </a:solidFill>
                <a:latin typeface="Plus Jakarta Sans"/>
              </a:rPr>
              <a:t>「言葉足らず」を解決する Visual Feedback の仕組み</a:t>
            </a:r>
          </a:p>
        </p:txBody>
      </p:sp>
      <p:sp>
        <p:nvSpPr>
          <p:cNvPr id="7" name="TextBox 6"/>
          <p:cNvSpPr txBox="1"/>
          <p:nvPr/>
        </p:nvSpPr>
        <p:spPr>
          <a:xfrm>
            <a:off x="685800" y="6446520"/>
            <a:ext cx="6400800" cy="256032"/>
          </a:xfrm>
          <a:prstGeom prst="rect">
            <a:avLst/>
          </a:prstGeom>
          <a:noFill/>
        </p:spPr>
        <p:txBody>
          <a:bodyPr wrap="square" anchor="t" lIns="36576" rIns="36576" tIns="36576" bIns="36576">
            <a:spAutoFit/>
          </a:bodyPr>
          <a:lstStyle/>
          <a:p>
            <a:pPr algn="l"/>
            <a:r>
              <a:rPr sz="850" b="0">
                <a:solidFill>
                  <a:srgbClr val="64748B"/>
                </a:solidFill>
                <a:latin typeface="Consolas"/>
              </a:rPr>
              <a:t>2026-08-26 社内AI研修 · Antigravity 1時間ライブデモ  ·  Slide 05 / 08</a:t>
            </a:r>
          </a:p>
        </p:txBody>
      </p:sp>
      <p:sp>
        <p:nvSpPr>
          <p:cNvPr id="8" name="TextBox 7"/>
          <p:cNvSpPr txBox="1"/>
          <p:nvPr/>
        </p:nvSpPr>
        <p:spPr>
          <a:xfrm>
            <a:off x="7315200" y="6446520"/>
            <a:ext cx="4187952" cy="256032"/>
          </a:xfrm>
          <a:prstGeom prst="rect">
            <a:avLst/>
          </a:prstGeom>
          <a:noFill/>
        </p:spPr>
        <p:txBody>
          <a:bodyPr wrap="square" anchor="t" lIns="36576" rIns="36576" tIns="36576" bIns="36576">
            <a:spAutoFit/>
          </a:bodyPr>
          <a:lstStyle/>
          <a:p>
            <a:pPr algn="r"/>
            <a:r>
              <a:rPr sz="850" b="0">
                <a:solidFill>
                  <a:srgbClr val="64748B"/>
                </a:solidFill>
                <a:latin typeface="Plus Jakarta Sans"/>
              </a:rPr>
              <a:t>Canva Compatible Deck  ·  Mighty Link AI Connect</a:t>
            </a:r>
          </a:p>
        </p:txBody>
      </p:sp>
      <p:sp>
        <p:nvSpPr>
          <p:cNvPr id="9" name="TextBox 8"/>
          <p:cNvSpPr txBox="1"/>
          <p:nvPr/>
        </p:nvSpPr>
        <p:spPr>
          <a:xfrm>
            <a:off x="713232" y="1371600"/>
            <a:ext cx="10698480" cy="320040"/>
          </a:xfrm>
          <a:prstGeom prst="rect">
            <a:avLst/>
          </a:prstGeom>
          <a:noFill/>
        </p:spPr>
        <p:txBody>
          <a:bodyPr wrap="square" anchor="t" lIns="36576" rIns="36576" tIns="36576" bIns="36576">
            <a:spAutoFit/>
          </a:bodyPr>
          <a:lstStyle/>
          <a:p>
            <a:pPr algn="l"/>
            <a:r>
              <a:rPr sz="1400" b="0">
                <a:solidFill>
                  <a:srgbClr val="CBD5E1"/>
                </a:solidFill>
                <a:latin typeface="Yu Gothic"/>
              </a:rPr>
              <a:t>非エンジニアでも迷わない！画面をクリックして直感的に修正指示を出す3ステップ</a:t>
            </a:r>
          </a:p>
        </p:txBody>
      </p:sp>
      <p:sp>
        <p:nvSpPr>
          <p:cNvPr id="10" name="Rounded Rectangle 9"/>
          <p:cNvSpPr/>
          <p:nvPr/>
        </p:nvSpPr>
        <p:spPr>
          <a:xfrm>
            <a:off x="685800" y="1783080"/>
            <a:ext cx="34747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011680"/>
            <a:ext cx="36576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40280"/>
            <a:ext cx="3017520" cy="320040"/>
          </a:xfrm>
          <a:prstGeom prst="rect">
            <a:avLst/>
          </a:prstGeom>
          <a:noFill/>
        </p:spPr>
        <p:txBody>
          <a:bodyPr wrap="square" anchor="t" lIns="36576" rIns="36576" tIns="36576" bIns="36576">
            <a:spAutoFit/>
          </a:bodyPr>
          <a:lstStyle/>
          <a:p>
            <a:pPr algn="l"/>
            <a:r>
              <a:rPr sz="1600" b="1">
                <a:solidFill>
                  <a:srgbClr val="F8FAFC"/>
                </a:solidFill>
                <a:latin typeface="Plus Jakarta Sans"/>
              </a:rPr>
              <a:t>1. 画面を開く</a:t>
            </a:r>
          </a:p>
        </p:txBody>
      </p:sp>
      <p:sp>
        <p:nvSpPr>
          <p:cNvPr id="13" name="TextBox 12"/>
          <p:cNvSpPr txBox="1"/>
          <p:nvPr/>
        </p:nvSpPr>
        <p:spPr>
          <a:xfrm>
            <a:off x="914400" y="2743200"/>
            <a:ext cx="3017520" cy="1645920"/>
          </a:xfrm>
          <a:prstGeom prst="rect">
            <a:avLst/>
          </a:prstGeom>
          <a:noFill/>
        </p:spPr>
        <p:txBody>
          <a:bodyPr wrap="square" anchor="t" lIns="36576" rIns="36576" tIns="36576" bIns="36576">
            <a:spAutoFit/>
          </a:bodyPr>
          <a:lstStyle/>
          <a:p>
            <a:pPr algn="l"/>
            <a:r>
              <a:rPr sz="1250" b="0">
                <a:solidFill>
                  <a:srgbClr val="CBD5E1"/>
                </a:solidFill>
                <a:latin typeface="Yu Gothic"/>
              </a:rPr>
              <a:t>AIが作成したWebサイトやUIモックアップのArtifactプレビューを表示します。</a:t>
            </a:r>
          </a:p>
        </p:txBody>
      </p:sp>
      <p:sp>
        <p:nvSpPr>
          <p:cNvPr id="14" name="Rounded Rectangle 13"/>
          <p:cNvSpPr/>
          <p:nvPr/>
        </p:nvSpPr>
        <p:spPr>
          <a:xfrm>
            <a:off x="4361688" y="1783080"/>
            <a:ext cx="34747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90288" y="2011680"/>
            <a:ext cx="36576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2240280"/>
            <a:ext cx="3017520" cy="320040"/>
          </a:xfrm>
          <a:prstGeom prst="rect">
            <a:avLst/>
          </a:prstGeom>
          <a:noFill/>
        </p:spPr>
        <p:txBody>
          <a:bodyPr wrap="square" anchor="t" lIns="36576" rIns="36576" tIns="36576" bIns="36576">
            <a:spAutoFit/>
          </a:bodyPr>
          <a:lstStyle/>
          <a:p>
            <a:pPr algn="l"/>
            <a:r>
              <a:rPr sz="1600" b="1">
                <a:solidFill>
                  <a:srgbClr val="F8FAFC"/>
                </a:solidFill>
                <a:latin typeface="Plus Jakarta Sans"/>
              </a:rPr>
              <a:t>2. 気になる場所をクリック</a:t>
            </a:r>
          </a:p>
        </p:txBody>
      </p:sp>
      <p:sp>
        <p:nvSpPr>
          <p:cNvPr id="17" name="TextBox 16"/>
          <p:cNvSpPr txBox="1"/>
          <p:nvPr/>
        </p:nvSpPr>
        <p:spPr>
          <a:xfrm>
            <a:off x="4590288" y="2743200"/>
            <a:ext cx="3017520" cy="1645920"/>
          </a:xfrm>
          <a:prstGeom prst="rect">
            <a:avLst/>
          </a:prstGeom>
          <a:noFill/>
        </p:spPr>
        <p:txBody>
          <a:bodyPr wrap="square" anchor="t" lIns="36576" rIns="36576" tIns="36576" bIns="36576">
            <a:spAutoFit/>
          </a:bodyPr>
          <a:lstStyle/>
          <a:p>
            <a:pPr algn="l"/>
            <a:r>
              <a:rPr sz="1250" b="0">
                <a:solidFill>
                  <a:srgbClr val="CBD5E1"/>
                </a:solidFill>
                <a:latin typeface="Yu Gothic"/>
              </a:rPr>
              <a:t>修正したいボタンや文字を直接クリックすると、その場所に「📌 ピン」が刺さります。</a:t>
            </a:r>
          </a:p>
        </p:txBody>
      </p:sp>
      <p:sp>
        <p:nvSpPr>
          <p:cNvPr id="18" name="Rounded Rectangle 17"/>
          <p:cNvSpPr/>
          <p:nvPr/>
        </p:nvSpPr>
        <p:spPr>
          <a:xfrm>
            <a:off x="8037575" y="1783080"/>
            <a:ext cx="34747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66175" y="2011680"/>
            <a:ext cx="365760" cy="45720"/>
          </a:xfrm>
          <a:prstGeom prst="rect">
            <a:avLst/>
          </a:prstGeom>
          <a:solidFill>
            <a:srgbClr val="A78BFA"/>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6175" y="2240280"/>
            <a:ext cx="3017520" cy="320040"/>
          </a:xfrm>
          <a:prstGeom prst="rect">
            <a:avLst/>
          </a:prstGeom>
          <a:noFill/>
        </p:spPr>
        <p:txBody>
          <a:bodyPr wrap="square" anchor="t" lIns="36576" rIns="36576" tIns="36576" bIns="36576">
            <a:spAutoFit/>
          </a:bodyPr>
          <a:lstStyle/>
          <a:p>
            <a:pPr algn="l"/>
            <a:r>
              <a:rPr sz="1600" b="1">
                <a:solidFill>
                  <a:srgbClr val="F8FAFC"/>
                </a:solidFill>
                <a:latin typeface="Plus Jakarta Sans"/>
              </a:rPr>
              <a:t>3. 短い指示を入力して送信</a:t>
            </a:r>
          </a:p>
        </p:txBody>
      </p:sp>
      <p:sp>
        <p:nvSpPr>
          <p:cNvPr id="21" name="TextBox 20"/>
          <p:cNvSpPr txBox="1"/>
          <p:nvPr/>
        </p:nvSpPr>
        <p:spPr>
          <a:xfrm>
            <a:off x="8266175" y="2743200"/>
            <a:ext cx="3017520" cy="1645920"/>
          </a:xfrm>
          <a:prstGeom prst="rect">
            <a:avLst/>
          </a:prstGeom>
          <a:noFill/>
        </p:spPr>
        <p:txBody>
          <a:bodyPr wrap="square" anchor="t" lIns="36576" rIns="36576" tIns="36576" bIns="36576">
            <a:spAutoFit/>
          </a:bodyPr>
          <a:lstStyle/>
          <a:p>
            <a:pPr algn="l"/>
            <a:r>
              <a:rPr sz="1250" b="0">
                <a:solidFill>
                  <a:srgbClr val="CBD5E1"/>
                </a:solidFill>
                <a:latin typeface="Yu Gothic"/>
              </a:rPr>
              <a:t>「ここを赤色にして」「文字サイズを大きく」と短いコメントを入力するだけでAIが的確に修正。</a:t>
            </a:r>
          </a:p>
        </p:txBody>
      </p:sp>
      <p:sp>
        <p:nvSpPr>
          <p:cNvPr id="22" name="Rounded Rectangle 21"/>
          <p:cNvSpPr/>
          <p:nvPr/>
        </p:nvSpPr>
        <p:spPr>
          <a:xfrm>
            <a:off x="685800" y="4892040"/>
            <a:ext cx="10817352" cy="13258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8680" y="5047488"/>
            <a:ext cx="2560320" cy="310896"/>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084064"/>
            <a:ext cx="2560320" cy="219456"/>
          </a:xfrm>
          <a:prstGeom prst="rect">
            <a:avLst/>
          </a:prstGeom>
          <a:noFill/>
        </p:spPr>
        <p:txBody>
          <a:bodyPr wrap="square" anchor="ctr" lIns="36576" rIns="36576" tIns="36576" bIns="36576">
            <a:spAutoFit/>
          </a:bodyPr>
          <a:lstStyle/>
          <a:p>
            <a:pPr algn="ctr"/>
            <a:r>
              <a:rPr sz="950" b="1">
                <a:solidFill>
                  <a:srgbClr val="FBBF24"/>
                </a:solidFill>
                <a:latin typeface="Plus Jakarta Sans"/>
              </a:rPr>
              <a:t>💡 従来のチャット指示との違い</a:t>
            </a:r>
          </a:p>
        </p:txBody>
      </p:sp>
      <p:sp>
        <p:nvSpPr>
          <p:cNvPr id="25" name="TextBox 24"/>
          <p:cNvSpPr txBox="1"/>
          <p:nvPr/>
        </p:nvSpPr>
        <p:spPr>
          <a:xfrm>
            <a:off x="868680" y="5486400"/>
            <a:ext cx="10424160" cy="457200"/>
          </a:xfrm>
          <a:prstGeom prst="rect">
            <a:avLst/>
          </a:prstGeom>
          <a:noFill/>
        </p:spPr>
        <p:txBody>
          <a:bodyPr wrap="square" anchor="t" lIns="36576" rIns="36576" tIns="36576" bIns="36576">
            <a:spAutoFit/>
          </a:bodyPr>
          <a:lstStyle/>
          <a:p>
            <a:pPr algn="l"/>
            <a:r>
              <a:rPr sz="1250" b="0">
                <a:solidFill>
                  <a:srgbClr val="CBD5E1"/>
                </a:solidFill>
                <a:latin typeface="Yu Gothic"/>
              </a:rPr>
              <a:t>「上から3つ目のカードの右下のボタン...」のような複雑な説明が一切不要になり、指示ミスや手戻りがゼロになります。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w="12700">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20040"/>
            <a:ext cx="54864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320040"/>
            <a:ext cx="32004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38912"/>
            <a:ext cx="7315200" cy="237744"/>
          </a:xfrm>
          <a:prstGeom prst="rect">
            <a:avLst/>
          </a:prstGeom>
          <a:noFill/>
        </p:spPr>
        <p:txBody>
          <a:bodyPr wrap="square" anchor="t" lIns="36576" rIns="36576" tIns="36576" bIns="36576">
            <a:spAutoFit/>
          </a:bodyPr>
          <a:lstStyle/>
          <a:p>
            <a:pPr algn="l"/>
            <a:r>
              <a:rPr sz="900" b="1">
                <a:solidFill>
                  <a:srgbClr val="2DD4BF"/>
                </a:solidFill>
                <a:latin typeface="Consolas"/>
              </a:rPr>
              <a:t>06  /  AI ECOSYSTEM</a:t>
            </a:r>
          </a:p>
        </p:txBody>
      </p:sp>
      <p:sp>
        <p:nvSpPr>
          <p:cNvPr id="6" name="TextBox 5"/>
          <p:cNvSpPr txBox="1"/>
          <p:nvPr/>
        </p:nvSpPr>
        <p:spPr>
          <a:xfrm>
            <a:off x="667512" y="694944"/>
            <a:ext cx="10789920" cy="594360"/>
          </a:xfrm>
          <a:prstGeom prst="rect">
            <a:avLst/>
          </a:prstGeom>
          <a:noFill/>
        </p:spPr>
        <p:txBody>
          <a:bodyPr wrap="square" anchor="t" lIns="36576" rIns="36576" tIns="36576" bIns="36576">
            <a:spAutoFit/>
          </a:bodyPr>
          <a:lstStyle/>
          <a:p>
            <a:pPr algn="l"/>
            <a:r>
              <a:rPr sz="2600" b="1">
                <a:solidFill>
                  <a:srgbClr val="F8FAFC"/>
                </a:solidFill>
                <a:latin typeface="Plus Jakarta Sans"/>
              </a:rPr>
              <a:t>主要AIエージェントの使い分けマップ（2026）</a:t>
            </a:r>
          </a:p>
        </p:txBody>
      </p:sp>
      <p:sp>
        <p:nvSpPr>
          <p:cNvPr id="7" name="TextBox 6"/>
          <p:cNvSpPr txBox="1"/>
          <p:nvPr/>
        </p:nvSpPr>
        <p:spPr>
          <a:xfrm>
            <a:off x="685800" y="6446520"/>
            <a:ext cx="6400800" cy="256032"/>
          </a:xfrm>
          <a:prstGeom prst="rect">
            <a:avLst/>
          </a:prstGeom>
          <a:noFill/>
        </p:spPr>
        <p:txBody>
          <a:bodyPr wrap="square" anchor="t" lIns="36576" rIns="36576" tIns="36576" bIns="36576">
            <a:spAutoFit/>
          </a:bodyPr>
          <a:lstStyle/>
          <a:p>
            <a:pPr algn="l"/>
            <a:r>
              <a:rPr sz="850" b="0">
                <a:solidFill>
                  <a:srgbClr val="64748B"/>
                </a:solidFill>
                <a:latin typeface="Consolas"/>
              </a:rPr>
              <a:t>2026-08-26 社内AI研修 · Antigravity 1時間ライブデモ  ·  Slide 06 / 08</a:t>
            </a:r>
          </a:p>
        </p:txBody>
      </p:sp>
      <p:sp>
        <p:nvSpPr>
          <p:cNvPr id="8" name="TextBox 7"/>
          <p:cNvSpPr txBox="1"/>
          <p:nvPr/>
        </p:nvSpPr>
        <p:spPr>
          <a:xfrm>
            <a:off x="7315200" y="6446520"/>
            <a:ext cx="4187952" cy="256032"/>
          </a:xfrm>
          <a:prstGeom prst="rect">
            <a:avLst/>
          </a:prstGeom>
          <a:noFill/>
        </p:spPr>
        <p:txBody>
          <a:bodyPr wrap="square" anchor="t" lIns="36576" rIns="36576" tIns="36576" bIns="36576">
            <a:spAutoFit/>
          </a:bodyPr>
          <a:lstStyle/>
          <a:p>
            <a:pPr algn="r"/>
            <a:r>
              <a:rPr sz="850" b="0">
                <a:solidFill>
                  <a:srgbClr val="64748B"/>
                </a:solidFill>
                <a:latin typeface="Plus Jakarta Sans"/>
              </a:rPr>
              <a:t>Canva Compatible Deck  ·  Mighty Link AI Connect</a:t>
            </a:r>
          </a:p>
        </p:txBody>
      </p:sp>
      <p:sp>
        <p:nvSpPr>
          <p:cNvPr id="9" name="TextBox 8"/>
          <p:cNvSpPr txBox="1"/>
          <p:nvPr/>
        </p:nvSpPr>
        <p:spPr>
          <a:xfrm>
            <a:off x="713232" y="1371600"/>
            <a:ext cx="10698480" cy="320040"/>
          </a:xfrm>
          <a:prstGeom prst="rect">
            <a:avLst/>
          </a:prstGeom>
          <a:noFill/>
        </p:spPr>
        <p:txBody>
          <a:bodyPr wrap="square" anchor="t" lIns="36576" rIns="36576" tIns="36576" bIns="36576">
            <a:spAutoFit/>
          </a:bodyPr>
          <a:lstStyle/>
          <a:p>
            <a:pPr algn="l"/>
            <a:r>
              <a:rPr sz="1400" b="0">
                <a:solidFill>
                  <a:srgbClr val="CBD5E1"/>
                </a:solidFill>
                <a:latin typeface="Yu Gothic"/>
              </a:rPr>
              <a:t>Antigravityだけでなく、用途や業務内容に応じて最適なツールを組み合わせます。</a:t>
            </a:r>
          </a:p>
        </p:txBody>
      </p:sp>
      <p:sp>
        <p:nvSpPr>
          <p:cNvPr id="10" name="Rounded Rectangle 9"/>
          <p:cNvSpPr/>
          <p:nvPr/>
        </p:nvSpPr>
        <p:spPr>
          <a:xfrm>
            <a:off x="685800" y="1783080"/>
            <a:ext cx="10817352" cy="411480"/>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874519"/>
            <a:ext cx="2011680" cy="228600"/>
          </a:xfrm>
          <a:prstGeom prst="rect">
            <a:avLst/>
          </a:prstGeom>
          <a:noFill/>
        </p:spPr>
        <p:txBody>
          <a:bodyPr wrap="square" anchor="t" lIns="36576" rIns="36576" tIns="36576" bIns="36576">
            <a:spAutoFit/>
          </a:bodyPr>
          <a:lstStyle/>
          <a:p>
            <a:pPr algn="l"/>
            <a:r>
              <a:rPr sz="1050" b="1">
                <a:solidFill>
                  <a:srgbClr val="2DD4BF"/>
                </a:solidFill>
                <a:latin typeface="Plus Jakarta Sans"/>
              </a:rPr>
              <a:t>エージェント名</a:t>
            </a:r>
          </a:p>
        </p:txBody>
      </p:sp>
      <p:sp>
        <p:nvSpPr>
          <p:cNvPr id="12" name="TextBox 11"/>
          <p:cNvSpPr txBox="1"/>
          <p:nvPr/>
        </p:nvSpPr>
        <p:spPr>
          <a:xfrm>
            <a:off x="3017520" y="1874519"/>
            <a:ext cx="3474720" cy="228600"/>
          </a:xfrm>
          <a:prstGeom prst="rect">
            <a:avLst/>
          </a:prstGeom>
          <a:noFill/>
        </p:spPr>
        <p:txBody>
          <a:bodyPr wrap="square" anchor="t" lIns="36576" rIns="36576" tIns="36576" bIns="36576">
            <a:spAutoFit/>
          </a:bodyPr>
          <a:lstStyle/>
          <a:p>
            <a:pPr algn="l"/>
            <a:r>
              <a:rPr sz="1050" b="1">
                <a:solidFill>
                  <a:srgbClr val="94A3B8"/>
                </a:solidFill>
                <a:latin typeface="Plus Jakarta Sans"/>
              </a:rPr>
              <a:t>得意な領域・ユースケース</a:t>
            </a:r>
          </a:p>
        </p:txBody>
      </p:sp>
      <p:sp>
        <p:nvSpPr>
          <p:cNvPr id="13" name="TextBox 12"/>
          <p:cNvSpPr txBox="1"/>
          <p:nvPr/>
        </p:nvSpPr>
        <p:spPr>
          <a:xfrm>
            <a:off x="6675120" y="1874519"/>
            <a:ext cx="2011680" cy="228600"/>
          </a:xfrm>
          <a:prstGeom prst="rect">
            <a:avLst/>
          </a:prstGeom>
          <a:noFill/>
        </p:spPr>
        <p:txBody>
          <a:bodyPr wrap="square" anchor="t" lIns="36576" rIns="36576" tIns="36576" bIns="36576">
            <a:spAutoFit/>
          </a:bodyPr>
          <a:lstStyle/>
          <a:p>
            <a:pPr algn="l"/>
            <a:r>
              <a:rPr sz="1050" b="1">
                <a:solidFill>
                  <a:srgbClr val="94A3B8"/>
                </a:solidFill>
                <a:latin typeface="Plus Jakarta Sans"/>
              </a:rPr>
              <a:t>おすすめの利用者</a:t>
            </a:r>
          </a:p>
        </p:txBody>
      </p:sp>
      <p:sp>
        <p:nvSpPr>
          <p:cNvPr id="14" name="TextBox 13"/>
          <p:cNvSpPr txBox="1"/>
          <p:nvPr/>
        </p:nvSpPr>
        <p:spPr>
          <a:xfrm>
            <a:off x="8869680" y="1874519"/>
            <a:ext cx="2377440" cy="228600"/>
          </a:xfrm>
          <a:prstGeom prst="rect">
            <a:avLst/>
          </a:prstGeom>
          <a:noFill/>
        </p:spPr>
        <p:txBody>
          <a:bodyPr wrap="square" anchor="t" lIns="36576" rIns="36576" tIns="36576" bIns="36576">
            <a:spAutoFit/>
          </a:bodyPr>
          <a:lstStyle/>
          <a:p>
            <a:pPr algn="l"/>
            <a:r>
              <a:rPr sz="1050" b="1">
                <a:solidFill>
                  <a:srgbClr val="94A3B8"/>
                </a:solidFill>
                <a:latin typeface="Plus Jakarta Sans"/>
              </a:rPr>
              <a:t>主な機能・武器</a:t>
            </a:r>
          </a:p>
        </p:txBody>
      </p:sp>
      <p:sp>
        <p:nvSpPr>
          <p:cNvPr id="15" name="Rounded Rectangle 14"/>
          <p:cNvSpPr/>
          <p:nvPr/>
        </p:nvSpPr>
        <p:spPr>
          <a:xfrm>
            <a:off x="685800" y="2286000"/>
            <a:ext cx="10817352" cy="932688"/>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450592"/>
            <a:ext cx="2011680" cy="274320"/>
          </a:xfrm>
          <a:prstGeom prst="rect">
            <a:avLst/>
          </a:prstGeom>
          <a:noFill/>
        </p:spPr>
        <p:txBody>
          <a:bodyPr wrap="square" anchor="t" lIns="36576" rIns="36576" tIns="36576" bIns="36576">
            <a:spAutoFit/>
          </a:bodyPr>
          <a:lstStyle/>
          <a:p>
            <a:pPr algn="l"/>
            <a:r>
              <a:rPr sz="1300" b="1">
                <a:solidFill>
                  <a:srgbClr val="F8FAFC"/>
                </a:solidFill>
                <a:latin typeface="Plus Jakarta Sans"/>
              </a:rPr>
              <a:t>Google Antigravity</a:t>
            </a:r>
          </a:p>
        </p:txBody>
      </p:sp>
      <p:sp>
        <p:nvSpPr>
          <p:cNvPr id="17" name="TextBox 16"/>
          <p:cNvSpPr txBox="1"/>
          <p:nvPr/>
        </p:nvSpPr>
        <p:spPr>
          <a:xfrm>
            <a:off x="3017520" y="2450592"/>
            <a:ext cx="3474720" cy="594360"/>
          </a:xfrm>
          <a:prstGeom prst="rect">
            <a:avLst/>
          </a:prstGeom>
          <a:noFill/>
        </p:spPr>
        <p:txBody>
          <a:bodyPr wrap="square" anchor="t" lIns="36576" rIns="36576" tIns="36576" bIns="36576">
            <a:spAutoFit/>
          </a:bodyPr>
          <a:lstStyle/>
          <a:p>
            <a:pPr algn="l"/>
            <a:r>
              <a:rPr sz="1100" b="0">
                <a:solidFill>
                  <a:srgbClr val="CBD5E1"/>
                </a:solidFill>
                <a:latin typeface="Yu Gothic"/>
              </a:rPr>
              <a:t>Web制作・画面直接指示・プロトタイピング</a:t>
            </a:r>
          </a:p>
        </p:txBody>
      </p:sp>
      <p:sp>
        <p:nvSpPr>
          <p:cNvPr id="18" name="TextBox 17"/>
          <p:cNvSpPr txBox="1"/>
          <p:nvPr/>
        </p:nvSpPr>
        <p:spPr>
          <a:xfrm>
            <a:off x="6675120" y="2450592"/>
            <a:ext cx="2011680" cy="594360"/>
          </a:xfrm>
          <a:prstGeom prst="rect">
            <a:avLst/>
          </a:prstGeom>
          <a:noFill/>
        </p:spPr>
        <p:txBody>
          <a:bodyPr wrap="square" anchor="t" lIns="36576" rIns="36576" tIns="36576" bIns="36576">
            <a:spAutoFit/>
          </a:bodyPr>
          <a:lstStyle/>
          <a:p>
            <a:pPr algn="l"/>
            <a:r>
              <a:rPr sz="1100" b="0">
                <a:solidFill>
                  <a:srgbClr val="2DD4BF"/>
                </a:solidFill>
                <a:latin typeface="Yu Gothic"/>
              </a:rPr>
              <a:t>非エンジニア・デザイナー・フロントエンド</a:t>
            </a:r>
          </a:p>
        </p:txBody>
      </p:sp>
      <p:sp>
        <p:nvSpPr>
          <p:cNvPr id="19" name="TextBox 18"/>
          <p:cNvSpPr txBox="1"/>
          <p:nvPr/>
        </p:nvSpPr>
        <p:spPr>
          <a:xfrm>
            <a:off x="8869680" y="2450592"/>
            <a:ext cx="2377440" cy="594360"/>
          </a:xfrm>
          <a:prstGeom prst="rect">
            <a:avLst/>
          </a:prstGeom>
          <a:noFill/>
        </p:spPr>
        <p:txBody>
          <a:bodyPr wrap="square" anchor="t" lIns="36576" rIns="36576" tIns="36576" bIns="36576">
            <a:spAutoFit/>
          </a:bodyPr>
          <a:lstStyle/>
          <a:p>
            <a:pPr algn="l"/>
            <a:r>
              <a:rPr sz="1050" b="0">
                <a:solidFill>
                  <a:srgbClr val="94A3B8"/>
                </a:solidFill>
                <a:latin typeface="Yu Gothic"/>
              </a:rPr>
              <a:t>Artifacts / Visual Feedback / ブラウザ自動検証</a:t>
            </a:r>
          </a:p>
        </p:txBody>
      </p:sp>
      <p:sp>
        <p:nvSpPr>
          <p:cNvPr id="20" name="Rounded Rectangle 19"/>
          <p:cNvSpPr/>
          <p:nvPr/>
        </p:nvSpPr>
        <p:spPr>
          <a:xfrm>
            <a:off x="685800" y="3337560"/>
            <a:ext cx="10817352" cy="932688"/>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502152"/>
            <a:ext cx="2011680" cy="274320"/>
          </a:xfrm>
          <a:prstGeom prst="rect">
            <a:avLst/>
          </a:prstGeom>
          <a:noFill/>
        </p:spPr>
        <p:txBody>
          <a:bodyPr wrap="square" anchor="t" lIns="36576" rIns="36576" tIns="36576" bIns="36576">
            <a:spAutoFit/>
          </a:bodyPr>
          <a:lstStyle/>
          <a:p>
            <a:pPr algn="l"/>
            <a:r>
              <a:rPr sz="1300" b="1">
                <a:solidFill>
                  <a:srgbClr val="F8FAFC"/>
                </a:solidFill>
                <a:latin typeface="Plus Jakarta Sans"/>
              </a:rPr>
              <a:t>OpenAI Codex</a:t>
            </a:r>
          </a:p>
        </p:txBody>
      </p:sp>
      <p:sp>
        <p:nvSpPr>
          <p:cNvPr id="22" name="TextBox 21"/>
          <p:cNvSpPr txBox="1"/>
          <p:nvPr/>
        </p:nvSpPr>
        <p:spPr>
          <a:xfrm>
            <a:off x="3017520" y="3502152"/>
            <a:ext cx="3474720" cy="594360"/>
          </a:xfrm>
          <a:prstGeom prst="rect">
            <a:avLst/>
          </a:prstGeom>
          <a:noFill/>
        </p:spPr>
        <p:txBody>
          <a:bodyPr wrap="square" anchor="t" lIns="36576" rIns="36576" tIns="36576" bIns="36576">
            <a:spAutoFit/>
          </a:bodyPr>
          <a:lstStyle/>
          <a:p>
            <a:pPr algn="l"/>
            <a:r>
              <a:rPr sz="1100" b="0">
                <a:solidFill>
                  <a:srgbClr val="CBD5E1"/>
                </a:solidFill>
                <a:latin typeface="Yu Gothic"/>
              </a:rPr>
              <a:t>既存コードベース理解・バックエンド実装・バグ修正</a:t>
            </a:r>
          </a:p>
        </p:txBody>
      </p:sp>
      <p:sp>
        <p:nvSpPr>
          <p:cNvPr id="23" name="TextBox 22"/>
          <p:cNvSpPr txBox="1"/>
          <p:nvPr/>
        </p:nvSpPr>
        <p:spPr>
          <a:xfrm>
            <a:off x="6675120" y="3502152"/>
            <a:ext cx="2011680" cy="594360"/>
          </a:xfrm>
          <a:prstGeom prst="rect">
            <a:avLst/>
          </a:prstGeom>
          <a:noFill/>
        </p:spPr>
        <p:txBody>
          <a:bodyPr wrap="square" anchor="t" lIns="36576" rIns="36576" tIns="36576" bIns="36576">
            <a:spAutoFit/>
          </a:bodyPr>
          <a:lstStyle/>
          <a:p>
            <a:pPr algn="l"/>
            <a:r>
              <a:rPr sz="1100" b="0">
                <a:solidFill>
                  <a:srgbClr val="2DD4BF"/>
                </a:solidFill>
                <a:latin typeface="Yu Gothic"/>
              </a:rPr>
              <a:t>ソフトウェアエンジニア・SRE</a:t>
            </a:r>
          </a:p>
        </p:txBody>
      </p:sp>
      <p:sp>
        <p:nvSpPr>
          <p:cNvPr id="24" name="TextBox 23"/>
          <p:cNvSpPr txBox="1"/>
          <p:nvPr/>
        </p:nvSpPr>
        <p:spPr>
          <a:xfrm>
            <a:off x="8869680" y="3502152"/>
            <a:ext cx="2377440" cy="594360"/>
          </a:xfrm>
          <a:prstGeom prst="rect">
            <a:avLst/>
          </a:prstGeom>
          <a:noFill/>
        </p:spPr>
        <p:txBody>
          <a:bodyPr wrap="square" anchor="t" lIns="36576" rIns="36576" tIns="36576" bIns="36576">
            <a:spAutoFit/>
          </a:bodyPr>
          <a:lstStyle/>
          <a:p>
            <a:pPr algn="l"/>
            <a:r>
              <a:rPr sz="1050" b="0">
                <a:solidFill>
                  <a:srgbClr val="94A3B8"/>
                </a:solidFill>
                <a:latin typeface="Yu Gothic"/>
              </a:rPr>
              <a:t>AGENTS.md / MCP / クラウドサンドボックス</a:t>
            </a:r>
          </a:p>
        </p:txBody>
      </p:sp>
      <p:sp>
        <p:nvSpPr>
          <p:cNvPr id="25" name="Rounded Rectangle 24"/>
          <p:cNvSpPr/>
          <p:nvPr/>
        </p:nvSpPr>
        <p:spPr>
          <a:xfrm>
            <a:off x="685800" y="4389120"/>
            <a:ext cx="10817352" cy="932688"/>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553712"/>
            <a:ext cx="2011680" cy="274320"/>
          </a:xfrm>
          <a:prstGeom prst="rect">
            <a:avLst/>
          </a:prstGeom>
          <a:noFill/>
        </p:spPr>
        <p:txBody>
          <a:bodyPr wrap="square" anchor="t" lIns="36576" rIns="36576" tIns="36576" bIns="36576">
            <a:spAutoFit/>
          </a:bodyPr>
          <a:lstStyle/>
          <a:p>
            <a:pPr algn="l"/>
            <a:r>
              <a:rPr sz="1300" b="1">
                <a:solidFill>
                  <a:srgbClr val="F8FAFC"/>
                </a:solidFill>
                <a:latin typeface="Plus Jakarta Sans"/>
              </a:rPr>
              <a:t>Anthropic Claude Code</a:t>
            </a:r>
          </a:p>
        </p:txBody>
      </p:sp>
      <p:sp>
        <p:nvSpPr>
          <p:cNvPr id="27" name="TextBox 26"/>
          <p:cNvSpPr txBox="1"/>
          <p:nvPr/>
        </p:nvSpPr>
        <p:spPr>
          <a:xfrm>
            <a:off x="3017520" y="4553712"/>
            <a:ext cx="3474720" cy="594360"/>
          </a:xfrm>
          <a:prstGeom prst="rect">
            <a:avLst/>
          </a:prstGeom>
          <a:noFill/>
        </p:spPr>
        <p:txBody>
          <a:bodyPr wrap="square" anchor="t" lIns="36576" rIns="36576" tIns="36576" bIns="36576">
            <a:spAutoFit/>
          </a:bodyPr>
          <a:lstStyle/>
          <a:p>
            <a:pPr algn="l"/>
            <a:r>
              <a:rPr sz="1100" b="0">
                <a:solidFill>
                  <a:srgbClr val="CBD5E1"/>
                </a:solidFill>
                <a:latin typeface="Yu Gothic"/>
              </a:rPr>
              <a:t>マルチファイル開発・Git操作・ターミナル自動化</a:t>
            </a:r>
          </a:p>
        </p:txBody>
      </p:sp>
      <p:sp>
        <p:nvSpPr>
          <p:cNvPr id="28" name="TextBox 27"/>
          <p:cNvSpPr txBox="1"/>
          <p:nvPr/>
        </p:nvSpPr>
        <p:spPr>
          <a:xfrm>
            <a:off x="6675120" y="4553712"/>
            <a:ext cx="2011680" cy="594360"/>
          </a:xfrm>
          <a:prstGeom prst="rect">
            <a:avLst/>
          </a:prstGeom>
          <a:noFill/>
        </p:spPr>
        <p:txBody>
          <a:bodyPr wrap="square" anchor="t" lIns="36576" rIns="36576" tIns="36576" bIns="36576">
            <a:spAutoFit/>
          </a:bodyPr>
          <a:lstStyle/>
          <a:p>
            <a:pPr algn="l"/>
            <a:r>
              <a:rPr sz="1100" b="0">
                <a:solidFill>
                  <a:srgbClr val="2DD4BF"/>
                </a:solidFill>
                <a:latin typeface="Yu Gothic"/>
              </a:rPr>
              <a:t>フルスタックエンジニア・テックリード</a:t>
            </a:r>
          </a:p>
        </p:txBody>
      </p:sp>
      <p:sp>
        <p:nvSpPr>
          <p:cNvPr id="29" name="TextBox 28"/>
          <p:cNvSpPr txBox="1"/>
          <p:nvPr/>
        </p:nvSpPr>
        <p:spPr>
          <a:xfrm>
            <a:off x="8869680" y="4553712"/>
            <a:ext cx="2377440" cy="594360"/>
          </a:xfrm>
          <a:prstGeom prst="rect">
            <a:avLst/>
          </a:prstGeom>
          <a:noFill/>
        </p:spPr>
        <p:txBody>
          <a:bodyPr wrap="square" anchor="t" lIns="36576" rIns="36576" tIns="36576" bIns="36576">
            <a:spAutoFit/>
          </a:bodyPr>
          <a:lstStyle/>
          <a:p>
            <a:pPr algn="l"/>
            <a:r>
              <a:rPr sz="1050" b="0">
                <a:solidFill>
                  <a:srgbClr val="94A3B8"/>
                </a:solidFill>
                <a:latin typeface="Yu Gothic"/>
              </a:rPr>
              <a:t>CLAUDE.md / subagents / 自動メモリ</a:t>
            </a:r>
          </a:p>
        </p:txBody>
      </p:sp>
      <p:sp>
        <p:nvSpPr>
          <p:cNvPr id="30" name="Rounded Rectangle 29"/>
          <p:cNvSpPr/>
          <p:nvPr/>
        </p:nvSpPr>
        <p:spPr>
          <a:xfrm>
            <a:off x="685800" y="5440679"/>
            <a:ext cx="10817352" cy="932688"/>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605271"/>
            <a:ext cx="2011680" cy="274320"/>
          </a:xfrm>
          <a:prstGeom prst="rect">
            <a:avLst/>
          </a:prstGeom>
          <a:noFill/>
        </p:spPr>
        <p:txBody>
          <a:bodyPr wrap="square" anchor="t" lIns="36576" rIns="36576" tIns="36576" bIns="36576">
            <a:spAutoFit/>
          </a:bodyPr>
          <a:lstStyle/>
          <a:p>
            <a:pPr algn="l"/>
            <a:r>
              <a:rPr sz="1300" b="1">
                <a:solidFill>
                  <a:srgbClr val="F8FAFC"/>
                </a:solidFill>
                <a:latin typeface="Plus Jakarta Sans"/>
              </a:rPr>
              <a:t>Claude Cowork</a:t>
            </a:r>
          </a:p>
        </p:txBody>
      </p:sp>
      <p:sp>
        <p:nvSpPr>
          <p:cNvPr id="32" name="TextBox 31"/>
          <p:cNvSpPr txBox="1"/>
          <p:nvPr/>
        </p:nvSpPr>
        <p:spPr>
          <a:xfrm>
            <a:off x="3017520" y="5605271"/>
            <a:ext cx="3474720" cy="594360"/>
          </a:xfrm>
          <a:prstGeom prst="rect">
            <a:avLst/>
          </a:prstGeom>
          <a:noFill/>
        </p:spPr>
        <p:txBody>
          <a:bodyPr wrap="square" anchor="t" lIns="36576" rIns="36576" tIns="36576" bIns="36576">
            <a:spAutoFit/>
          </a:bodyPr>
          <a:lstStyle/>
          <a:p>
            <a:pPr algn="l"/>
            <a:r>
              <a:rPr sz="1100" b="0">
                <a:solidFill>
                  <a:srgbClr val="CBD5E1"/>
                </a:solidFill>
                <a:latin typeface="Yu Gothic"/>
              </a:rPr>
              <a:t>ドキュメント作成・表計算・リサーチ・定期レポート</a:t>
            </a:r>
          </a:p>
        </p:txBody>
      </p:sp>
      <p:sp>
        <p:nvSpPr>
          <p:cNvPr id="33" name="TextBox 32"/>
          <p:cNvSpPr txBox="1"/>
          <p:nvPr/>
        </p:nvSpPr>
        <p:spPr>
          <a:xfrm>
            <a:off x="6675120" y="5605271"/>
            <a:ext cx="2011680" cy="594360"/>
          </a:xfrm>
          <a:prstGeom prst="rect">
            <a:avLst/>
          </a:prstGeom>
          <a:noFill/>
        </p:spPr>
        <p:txBody>
          <a:bodyPr wrap="square" anchor="t" lIns="36576" rIns="36576" tIns="36576" bIns="36576">
            <a:spAutoFit/>
          </a:bodyPr>
          <a:lstStyle/>
          <a:p>
            <a:pPr algn="l"/>
            <a:r>
              <a:rPr sz="1100" b="0">
                <a:solidFill>
                  <a:srgbClr val="2DD4BF"/>
                </a:solidFill>
                <a:latin typeface="Yu Gothic"/>
              </a:rPr>
              <a:t>バックオフィス・企画・マーケター</a:t>
            </a:r>
          </a:p>
        </p:txBody>
      </p:sp>
      <p:sp>
        <p:nvSpPr>
          <p:cNvPr id="34" name="TextBox 33"/>
          <p:cNvSpPr txBox="1"/>
          <p:nvPr/>
        </p:nvSpPr>
        <p:spPr>
          <a:xfrm>
            <a:off x="8869680" y="5605271"/>
            <a:ext cx="2377440" cy="594360"/>
          </a:xfrm>
          <a:prstGeom prst="rect">
            <a:avLst/>
          </a:prstGeom>
          <a:noFill/>
        </p:spPr>
        <p:txBody>
          <a:bodyPr wrap="square" anchor="t" lIns="36576" rIns="36576" tIns="36576" bIns="36576">
            <a:spAutoFit/>
          </a:bodyPr>
          <a:lstStyle/>
          <a:p>
            <a:pPr algn="l"/>
            <a:r>
              <a:rPr sz="1050" b="0">
                <a:solidFill>
                  <a:srgbClr val="94A3B8"/>
                </a:solidFill>
                <a:latin typeface="Yu Gothic"/>
              </a:rPr>
              <a:t>Projects / Connectors / scheduled tasks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w="12700">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20040"/>
            <a:ext cx="54864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320040"/>
            <a:ext cx="32004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38912"/>
            <a:ext cx="7315200" cy="237744"/>
          </a:xfrm>
          <a:prstGeom prst="rect">
            <a:avLst/>
          </a:prstGeom>
          <a:noFill/>
        </p:spPr>
        <p:txBody>
          <a:bodyPr wrap="square" anchor="t" lIns="36576" rIns="36576" tIns="36576" bIns="36576">
            <a:spAutoFit/>
          </a:bodyPr>
          <a:lstStyle/>
          <a:p>
            <a:pPr algn="l"/>
            <a:r>
              <a:rPr sz="900" b="1">
                <a:solidFill>
                  <a:srgbClr val="2DD4BF"/>
                </a:solidFill>
                <a:latin typeface="Consolas"/>
              </a:rPr>
              <a:t>07  /  SECURITY &amp; RULES</a:t>
            </a:r>
          </a:p>
        </p:txBody>
      </p:sp>
      <p:sp>
        <p:nvSpPr>
          <p:cNvPr id="6" name="TextBox 5"/>
          <p:cNvSpPr txBox="1"/>
          <p:nvPr/>
        </p:nvSpPr>
        <p:spPr>
          <a:xfrm>
            <a:off x="667512" y="694944"/>
            <a:ext cx="10789920" cy="594360"/>
          </a:xfrm>
          <a:prstGeom prst="rect">
            <a:avLst/>
          </a:prstGeom>
          <a:noFill/>
        </p:spPr>
        <p:txBody>
          <a:bodyPr wrap="square" anchor="t" lIns="36576" rIns="36576" tIns="36576" bIns="36576">
            <a:spAutoFit/>
          </a:bodyPr>
          <a:lstStyle/>
          <a:p>
            <a:pPr algn="l"/>
            <a:r>
              <a:rPr sz="2600" b="1">
                <a:solidFill>
                  <a:srgbClr val="F8FAFC"/>
                </a:solidFill>
                <a:latin typeface="Plus Jakarta Sans"/>
              </a:rPr>
              <a:t>社内利用における安全ガイドラインと禁止事項</a:t>
            </a:r>
          </a:p>
        </p:txBody>
      </p:sp>
      <p:sp>
        <p:nvSpPr>
          <p:cNvPr id="7" name="TextBox 6"/>
          <p:cNvSpPr txBox="1"/>
          <p:nvPr/>
        </p:nvSpPr>
        <p:spPr>
          <a:xfrm>
            <a:off x="685800" y="6446520"/>
            <a:ext cx="6400800" cy="256032"/>
          </a:xfrm>
          <a:prstGeom prst="rect">
            <a:avLst/>
          </a:prstGeom>
          <a:noFill/>
        </p:spPr>
        <p:txBody>
          <a:bodyPr wrap="square" anchor="t" lIns="36576" rIns="36576" tIns="36576" bIns="36576">
            <a:spAutoFit/>
          </a:bodyPr>
          <a:lstStyle/>
          <a:p>
            <a:pPr algn="l"/>
            <a:r>
              <a:rPr sz="850" b="0">
                <a:solidFill>
                  <a:srgbClr val="64748B"/>
                </a:solidFill>
                <a:latin typeface="Consolas"/>
              </a:rPr>
              <a:t>2026-08-26 社内AI研修 · Antigravity 1時間ライブデモ  ·  Slide 07 / 08</a:t>
            </a:r>
          </a:p>
        </p:txBody>
      </p:sp>
      <p:sp>
        <p:nvSpPr>
          <p:cNvPr id="8" name="TextBox 7"/>
          <p:cNvSpPr txBox="1"/>
          <p:nvPr/>
        </p:nvSpPr>
        <p:spPr>
          <a:xfrm>
            <a:off x="7315200" y="6446520"/>
            <a:ext cx="4187952" cy="256032"/>
          </a:xfrm>
          <a:prstGeom prst="rect">
            <a:avLst/>
          </a:prstGeom>
          <a:noFill/>
        </p:spPr>
        <p:txBody>
          <a:bodyPr wrap="square" anchor="t" lIns="36576" rIns="36576" tIns="36576" bIns="36576">
            <a:spAutoFit/>
          </a:bodyPr>
          <a:lstStyle/>
          <a:p>
            <a:pPr algn="r"/>
            <a:r>
              <a:rPr sz="850" b="0">
                <a:solidFill>
                  <a:srgbClr val="64748B"/>
                </a:solidFill>
                <a:latin typeface="Plus Jakarta Sans"/>
              </a:rPr>
              <a:t>Canva Compatible Deck  ·  Mighty Link AI Connect</a:t>
            </a:r>
          </a:p>
        </p:txBody>
      </p:sp>
      <p:sp>
        <p:nvSpPr>
          <p:cNvPr id="9" name="TextBox 8"/>
          <p:cNvSpPr txBox="1"/>
          <p:nvPr/>
        </p:nvSpPr>
        <p:spPr>
          <a:xfrm>
            <a:off x="713232" y="1371600"/>
            <a:ext cx="10698480" cy="320040"/>
          </a:xfrm>
          <a:prstGeom prst="rect">
            <a:avLst/>
          </a:prstGeom>
          <a:noFill/>
        </p:spPr>
        <p:txBody>
          <a:bodyPr wrap="square" anchor="t" lIns="36576" rIns="36576" tIns="36576" bIns="36576">
            <a:spAutoFit/>
          </a:bodyPr>
          <a:lstStyle/>
          <a:p>
            <a:pPr algn="l"/>
            <a:r>
              <a:rPr sz="1400" b="0">
                <a:solidFill>
                  <a:srgbClr val="CBD5E1"/>
                </a:solidFill>
                <a:latin typeface="Yu Gothic"/>
              </a:rPr>
              <a:t>全社で安心してAIを活用するために徹底すべき4つのセキュリティ原則</a:t>
            </a:r>
          </a:p>
        </p:txBody>
      </p:sp>
      <p:sp>
        <p:nvSpPr>
          <p:cNvPr id="10" name="Rounded Rectangle 9"/>
          <p:cNvSpPr/>
          <p:nvPr/>
        </p:nvSpPr>
        <p:spPr>
          <a:xfrm>
            <a:off x="685800" y="1783080"/>
            <a:ext cx="10817352" cy="96012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1920240"/>
            <a:ext cx="128016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956816"/>
            <a:ext cx="1280160" cy="219456"/>
          </a:xfrm>
          <a:prstGeom prst="rect">
            <a:avLst/>
          </a:prstGeom>
          <a:noFill/>
        </p:spPr>
        <p:txBody>
          <a:bodyPr wrap="square" anchor="ctr" lIns="36576" rIns="36576" tIns="36576" bIns="36576">
            <a:spAutoFit/>
          </a:bodyPr>
          <a:lstStyle/>
          <a:p>
            <a:pPr algn="ctr"/>
            <a:r>
              <a:rPr sz="950" b="1">
                <a:solidFill>
                  <a:srgbClr val="FB7185"/>
                </a:solidFill>
                <a:latin typeface="Plus Jakarta Sans"/>
              </a:rPr>
              <a:t>SECURITY 01</a:t>
            </a:r>
          </a:p>
        </p:txBody>
      </p:sp>
      <p:sp>
        <p:nvSpPr>
          <p:cNvPr id="13" name="TextBox 12"/>
          <p:cNvSpPr txBox="1"/>
          <p:nvPr/>
        </p:nvSpPr>
        <p:spPr>
          <a:xfrm>
            <a:off x="2331720" y="1920240"/>
            <a:ext cx="8778240" cy="274320"/>
          </a:xfrm>
          <a:prstGeom prst="rect">
            <a:avLst/>
          </a:prstGeom>
          <a:noFill/>
        </p:spPr>
        <p:txBody>
          <a:bodyPr wrap="square" anchor="t" lIns="36576" rIns="36576" tIns="36576" bIns="36576">
            <a:spAutoFit/>
          </a:bodyPr>
          <a:lstStyle/>
          <a:p>
            <a:pPr algn="l"/>
            <a:r>
              <a:rPr sz="1350" b="1">
                <a:solidFill>
                  <a:srgbClr val="F8FAFC"/>
                </a:solidFill>
                <a:latin typeface="Plus Jakarta Sans"/>
              </a:rPr>
              <a:t>RULE 1: 機密情報・個人情報の投入禁止</a:t>
            </a:r>
          </a:p>
        </p:txBody>
      </p:sp>
      <p:sp>
        <p:nvSpPr>
          <p:cNvPr id="14" name="TextBox 13"/>
          <p:cNvSpPr txBox="1"/>
          <p:nvPr/>
        </p:nvSpPr>
        <p:spPr>
          <a:xfrm>
            <a:off x="2331720" y="2221991"/>
            <a:ext cx="8778240" cy="411480"/>
          </a:xfrm>
          <a:prstGeom prst="rect">
            <a:avLst/>
          </a:prstGeom>
          <a:noFill/>
        </p:spPr>
        <p:txBody>
          <a:bodyPr wrap="square" anchor="t" lIns="36576" rIns="36576" tIns="36576" bIns="36576">
            <a:spAutoFit/>
          </a:bodyPr>
          <a:lstStyle/>
          <a:p>
            <a:pPr algn="l"/>
            <a:r>
              <a:rPr sz="1100" b="0">
                <a:solidFill>
                  <a:srgbClr val="CBD5E1"/>
                </a:solidFill>
                <a:latin typeface="Yu Gothic"/>
              </a:rPr>
              <a:t>顧客の実名、パスワード、APIキー、未公開の契約書テキストはプロンプトに投入厳禁。テスト時はダミーデータを使用する。</a:t>
            </a:r>
          </a:p>
        </p:txBody>
      </p:sp>
      <p:sp>
        <p:nvSpPr>
          <p:cNvPr id="15" name="Rounded Rectangle 14"/>
          <p:cNvSpPr/>
          <p:nvPr/>
        </p:nvSpPr>
        <p:spPr>
          <a:xfrm>
            <a:off x="685800" y="2862072"/>
            <a:ext cx="10817352" cy="96012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2999232"/>
            <a:ext cx="128016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035808"/>
            <a:ext cx="1280160" cy="219456"/>
          </a:xfrm>
          <a:prstGeom prst="rect">
            <a:avLst/>
          </a:prstGeom>
          <a:noFill/>
        </p:spPr>
        <p:txBody>
          <a:bodyPr wrap="square" anchor="ctr" lIns="36576" rIns="36576" tIns="36576" bIns="36576">
            <a:spAutoFit/>
          </a:bodyPr>
          <a:lstStyle/>
          <a:p>
            <a:pPr algn="ctr"/>
            <a:r>
              <a:rPr sz="950" b="1">
                <a:solidFill>
                  <a:srgbClr val="FBBF24"/>
                </a:solidFill>
                <a:latin typeface="Plus Jakarta Sans"/>
              </a:rPr>
              <a:t>SECURITY 02</a:t>
            </a:r>
          </a:p>
        </p:txBody>
      </p:sp>
      <p:sp>
        <p:nvSpPr>
          <p:cNvPr id="18" name="TextBox 17"/>
          <p:cNvSpPr txBox="1"/>
          <p:nvPr/>
        </p:nvSpPr>
        <p:spPr>
          <a:xfrm>
            <a:off x="2331720" y="2999232"/>
            <a:ext cx="8778240" cy="274320"/>
          </a:xfrm>
          <a:prstGeom prst="rect">
            <a:avLst/>
          </a:prstGeom>
          <a:noFill/>
        </p:spPr>
        <p:txBody>
          <a:bodyPr wrap="square" anchor="t" lIns="36576" rIns="36576" tIns="36576" bIns="36576">
            <a:spAutoFit/>
          </a:bodyPr>
          <a:lstStyle/>
          <a:p>
            <a:pPr algn="l"/>
            <a:r>
              <a:rPr sz="1350" b="1">
                <a:solidFill>
                  <a:srgbClr val="F8FAFC"/>
                </a:solidFill>
                <a:latin typeface="Plus Jakarta Sans"/>
              </a:rPr>
              <a:t>RULE 2: 生成物のファクトチェック必須</a:t>
            </a:r>
          </a:p>
        </p:txBody>
      </p:sp>
      <p:sp>
        <p:nvSpPr>
          <p:cNvPr id="19" name="TextBox 18"/>
          <p:cNvSpPr txBox="1"/>
          <p:nvPr/>
        </p:nvSpPr>
        <p:spPr>
          <a:xfrm>
            <a:off x="2331720" y="3300984"/>
            <a:ext cx="8778240" cy="411480"/>
          </a:xfrm>
          <a:prstGeom prst="rect">
            <a:avLst/>
          </a:prstGeom>
          <a:noFill/>
        </p:spPr>
        <p:txBody>
          <a:bodyPr wrap="square" anchor="t" lIns="36576" rIns="36576" tIns="36576" bIns="36576">
            <a:spAutoFit/>
          </a:bodyPr>
          <a:lstStyle/>
          <a:p>
            <a:pPr algn="l"/>
            <a:r>
              <a:rPr sz="1100" b="0">
                <a:solidFill>
                  <a:srgbClr val="CBD5E1"/>
                </a:solidFill>
                <a:latin typeface="Yu Gothic"/>
              </a:rPr>
              <a:t>AIの回答や生成コードにはハルシネーション（誤情報）が含まれうるため、必ず担当者が動作・内容を確認する。</a:t>
            </a:r>
          </a:p>
        </p:txBody>
      </p:sp>
      <p:sp>
        <p:nvSpPr>
          <p:cNvPr id="20" name="Rounded Rectangle 19"/>
          <p:cNvSpPr/>
          <p:nvPr/>
        </p:nvSpPr>
        <p:spPr>
          <a:xfrm>
            <a:off x="685800" y="3941063"/>
            <a:ext cx="10817352" cy="96012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8680" y="4078224"/>
            <a:ext cx="128016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114800"/>
            <a:ext cx="1280160" cy="219456"/>
          </a:xfrm>
          <a:prstGeom prst="rect">
            <a:avLst/>
          </a:prstGeom>
          <a:noFill/>
        </p:spPr>
        <p:txBody>
          <a:bodyPr wrap="square" anchor="ctr" lIns="36576" rIns="36576" tIns="36576" bIns="36576">
            <a:spAutoFit/>
          </a:bodyPr>
          <a:lstStyle/>
          <a:p>
            <a:pPr algn="ctr"/>
            <a:r>
              <a:rPr sz="950" b="1">
                <a:solidFill>
                  <a:srgbClr val="38BDF8"/>
                </a:solidFill>
                <a:latin typeface="Plus Jakarta Sans"/>
              </a:rPr>
              <a:t>SECURITY 03</a:t>
            </a:r>
          </a:p>
        </p:txBody>
      </p:sp>
      <p:sp>
        <p:nvSpPr>
          <p:cNvPr id="23" name="TextBox 22"/>
          <p:cNvSpPr txBox="1"/>
          <p:nvPr/>
        </p:nvSpPr>
        <p:spPr>
          <a:xfrm>
            <a:off x="2331720" y="4078224"/>
            <a:ext cx="8778240" cy="274320"/>
          </a:xfrm>
          <a:prstGeom prst="rect">
            <a:avLst/>
          </a:prstGeom>
          <a:noFill/>
        </p:spPr>
        <p:txBody>
          <a:bodyPr wrap="square" anchor="t" lIns="36576" rIns="36576" tIns="36576" bIns="36576">
            <a:spAutoFit/>
          </a:bodyPr>
          <a:lstStyle/>
          <a:p>
            <a:pPr algn="l"/>
            <a:r>
              <a:rPr sz="1350" b="1">
                <a:solidFill>
                  <a:srgbClr val="F8FAFC"/>
                </a:solidFill>
                <a:latin typeface="Plus Jakarta Sans"/>
              </a:rPr>
              <a:t>RULE 3: 外部公開時の著作権・OSSライセンス確認</a:t>
            </a:r>
          </a:p>
        </p:txBody>
      </p:sp>
      <p:sp>
        <p:nvSpPr>
          <p:cNvPr id="24" name="TextBox 23"/>
          <p:cNvSpPr txBox="1"/>
          <p:nvPr/>
        </p:nvSpPr>
        <p:spPr>
          <a:xfrm>
            <a:off x="2331720" y="4379975"/>
            <a:ext cx="8778240" cy="411480"/>
          </a:xfrm>
          <a:prstGeom prst="rect">
            <a:avLst/>
          </a:prstGeom>
          <a:noFill/>
        </p:spPr>
        <p:txBody>
          <a:bodyPr wrap="square" anchor="t" lIns="36576" rIns="36576" tIns="36576" bIns="36576">
            <a:spAutoFit/>
          </a:bodyPr>
          <a:lstStyle/>
          <a:p>
            <a:pPr algn="l"/>
            <a:r>
              <a:rPr sz="1100" b="0">
                <a:solidFill>
                  <a:srgbClr val="CBD5E1"/>
                </a:solidFill>
                <a:latin typeface="Yu Gothic"/>
              </a:rPr>
              <a:t>生成した画像・文章・ソースコードを社外へ公開・納品する場合は、ライセンスおよび商用利用規約を確認する。</a:t>
            </a:r>
          </a:p>
        </p:txBody>
      </p:sp>
      <p:sp>
        <p:nvSpPr>
          <p:cNvPr id="25" name="Rounded Rectangle 24"/>
          <p:cNvSpPr/>
          <p:nvPr/>
        </p:nvSpPr>
        <p:spPr>
          <a:xfrm>
            <a:off x="685800" y="5020056"/>
            <a:ext cx="10817352" cy="96012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68680" y="5157216"/>
            <a:ext cx="1280160" cy="310896"/>
          </a:xfrm>
          <a:prstGeom prst="roundRect">
            <a:avLst/>
          </a:prstGeom>
          <a:solidFill>
            <a:srgbClr val="1E293B"/>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193792"/>
            <a:ext cx="1280160" cy="219456"/>
          </a:xfrm>
          <a:prstGeom prst="rect">
            <a:avLst/>
          </a:prstGeom>
          <a:noFill/>
        </p:spPr>
        <p:txBody>
          <a:bodyPr wrap="square" anchor="ctr" lIns="36576" rIns="36576" tIns="36576" bIns="36576">
            <a:spAutoFit/>
          </a:bodyPr>
          <a:lstStyle/>
          <a:p>
            <a:pPr algn="ctr"/>
            <a:r>
              <a:rPr sz="950" b="1">
                <a:solidFill>
                  <a:srgbClr val="34D399"/>
                </a:solidFill>
                <a:latin typeface="Plus Jakarta Sans"/>
              </a:rPr>
              <a:t>SECURITY 04</a:t>
            </a:r>
          </a:p>
        </p:txBody>
      </p:sp>
      <p:sp>
        <p:nvSpPr>
          <p:cNvPr id="28" name="TextBox 27"/>
          <p:cNvSpPr txBox="1"/>
          <p:nvPr/>
        </p:nvSpPr>
        <p:spPr>
          <a:xfrm>
            <a:off x="2331720" y="5157216"/>
            <a:ext cx="8778240" cy="274320"/>
          </a:xfrm>
          <a:prstGeom prst="rect">
            <a:avLst/>
          </a:prstGeom>
          <a:noFill/>
        </p:spPr>
        <p:txBody>
          <a:bodyPr wrap="square" anchor="t" lIns="36576" rIns="36576" tIns="36576" bIns="36576">
            <a:spAutoFit/>
          </a:bodyPr>
          <a:lstStyle/>
          <a:p>
            <a:pPr algn="l"/>
            <a:r>
              <a:rPr sz="1350" b="1">
                <a:solidFill>
                  <a:srgbClr val="F8FAFC"/>
                </a:solidFill>
                <a:latin typeface="Plus Jakarta Sans"/>
              </a:rPr>
              <a:t>RULE 4: アカウント・クォータの適正利用</a:t>
            </a:r>
          </a:p>
        </p:txBody>
      </p:sp>
      <p:sp>
        <p:nvSpPr>
          <p:cNvPr id="29" name="TextBox 28"/>
          <p:cNvSpPr txBox="1"/>
          <p:nvPr/>
        </p:nvSpPr>
        <p:spPr>
          <a:xfrm>
            <a:off x="2331720" y="5458968"/>
            <a:ext cx="8778240" cy="411480"/>
          </a:xfrm>
          <a:prstGeom prst="rect">
            <a:avLst/>
          </a:prstGeom>
          <a:noFill/>
        </p:spPr>
        <p:txBody>
          <a:bodyPr wrap="square" anchor="t" lIns="36576" rIns="36576" tIns="36576" bIns="36576">
            <a:spAutoFit/>
          </a:bodyPr>
          <a:lstStyle/>
          <a:p>
            <a:pPr algn="l"/>
            <a:r>
              <a:rPr sz="1100" b="0">
                <a:solidFill>
                  <a:srgbClr val="CBD5E1"/>
                </a:solidFill>
                <a:latin typeface="Yu Gothic"/>
              </a:rPr>
              <a:t>各エージェントに設定された利用上限（クォータ）を意識し、大規模な自動処理を行う際は事前に管理部へ相談する。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w="12700">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20040"/>
            <a:ext cx="54864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320040"/>
            <a:ext cx="32004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38912"/>
            <a:ext cx="7315200" cy="237744"/>
          </a:xfrm>
          <a:prstGeom prst="rect">
            <a:avLst/>
          </a:prstGeom>
          <a:noFill/>
        </p:spPr>
        <p:txBody>
          <a:bodyPr wrap="square" anchor="t" lIns="36576" rIns="36576" tIns="36576" bIns="36576">
            <a:spAutoFit/>
          </a:bodyPr>
          <a:lstStyle/>
          <a:p>
            <a:pPr algn="l"/>
            <a:r>
              <a:rPr sz="900" b="1">
                <a:solidFill>
                  <a:srgbClr val="2DD4BF"/>
                </a:solidFill>
                <a:latin typeface="Consolas"/>
              </a:rPr>
              <a:t>08  /  NEXT ACTIONS</a:t>
            </a:r>
          </a:p>
        </p:txBody>
      </p:sp>
      <p:sp>
        <p:nvSpPr>
          <p:cNvPr id="6" name="TextBox 5"/>
          <p:cNvSpPr txBox="1"/>
          <p:nvPr/>
        </p:nvSpPr>
        <p:spPr>
          <a:xfrm>
            <a:off x="667512" y="694944"/>
            <a:ext cx="10789920" cy="594360"/>
          </a:xfrm>
          <a:prstGeom prst="rect">
            <a:avLst/>
          </a:prstGeom>
          <a:noFill/>
        </p:spPr>
        <p:txBody>
          <a:bodyPr wrap="square" anchor="t" lIns="36576" rIns="36576" tIns="36576" bIns="36576">
            <a:spAutoFit/>
          </a:bodyPr>
          <a:lstStyle/>
          <a:p>
            <a:pPr algn="l"/>
            <a:r>
              <a:rPr sz="2600" b="1">
                <a:solidFill>
                  <a:srgbClr val="F8FAFC"/>
                </a:solidFill>
                <a:latin typeface="Plus Jakarta Sans"/>
              </a:rPr>
              <a:t>本日のまとめ &amp; 研修後の実践ステップ</a:t>
            </a:r>
          </a:p>
        </p:txBody>
      </p:sp>
      <p:sp>
        <p:nvSpPr>
          <p:cNvPr id="7" name="TextBox 6"/>
          <p:cNvSpPr txBox="1"/>
          <p:nvPr/>
        </p:nvSpPr>
        <p:spPr>
          <a:xfrm>
            <a:off x="685800" y="6446520"/>
            <a:ext cx="6400800" cy="256032"/>
          </a:xfrm>
          <a:prstGeom prst="rect">
            <a:avLst/>
          </a:prstGeom>
          <a:noFill/>
        </p:spPr>
        <p:txBody>
          <a:bodyPr wrap="square" anchor="t" lIns="36576" rIns="36576" tIns="36576" bIns="36576">
            <a:spAutoFit/>
          </a:bodyPr>
          <a:lstStyle/>
          <a:p>
            <a:pPr algn="l"/>
            <a:r>
              <a:rPr sz="850" b="0">
                <a:solidFill>
                  <a:srgbClr val="64748B"/>
                </a:solidFill>
                <a:latin typeface="Consolas"/>
              </a:rPr>
              <a:t>2026-08-26 社内AI研修 · Antigravity 1時間ライブデモ  ·  Slide 08 / 08</a:t>
            </a:r>
          </a:p>
        </p:txBody>
      </p:sp>
      <p:sp>
        <p:nvSpPr>
          <p:cNvPr id="8" name="TextBox 7"/>
          <p:cNvSpPr txBox="1"/>
          <p:nvPr/>
        </p:nvSpPr>
        <p:spPr>
          <a:xfrm>
            <a:off x="7315200" y="6446520"/>
            <a:ext cx="4187952" cy="256032"/>
          </a:xfrm>
          <a:prstGeom prst="rect">
            <a:avLst/>
          </a:prstGeom>
          <a:noFill/>
        </p:spPr>
        <p:txBody>
          <a:bodyPr wrap="square" anchor="t" lIns="36576" rIns="36576" tIns="36576" bIns="36576">
            <a:spAutoFit/>
          </a:bodyPr>
          <a:lstStyle/>
          <a:p>
            <a:pPr algn="r"/>
            <a:r>
              <a:rPr sz="850" b="0">
                <a:solidFill>
                  <a:srgbClr val="64748B"/>
                </a:solidFill>
                <a:latin typeface="Plus Jakarta Sans"/>
              </a:rPr>
              <a:t>Canva Compatible Deck  ·  Mighty Link AI Connect</a:t>
            </a:r>
          </a:p>
        </p:txBody>
      </p:sp>
      <p:sp>
        <p:nvSpPr>
          <p:cNvPr id="9" name="TextBox 8"/>
          <p:cNvSpPr txBox="1"/>
          <p:nvPr/>
        </p:nvSpPr>
        <p:spPr>
          <a:xfrm>
            <a:off x="713232" y="1371600"/>
            <a:ext cx="10698480" cy="320040"/>
          </a:xfrm>
          <a:prstGeom prst="rect">
            <a:avLst/>
          </a:prstGeom>
          <a:noFill/>
        </p:spPr>
        <p:txBody>
          <a:bodyPr wrap="square" anchor="t" lIns="36576" rIns="36576" tIns="36576" bIns="36576">
            <a:spAutoFit/>
          </a:bodyPr>
          <a:lstStyle/>
          <a:p>
            <a:pPr algn="l"/>
            <a:r>
              <a:rPr sz="1400" b="0">
                <a:solidFill>
                  <a:srgbClr val="CBD5E1"/>
                </a:solidFill>
                <a:latin typeface="Yu Gothic"/>
              </a:rPr>
              <a:t>研修終了後、各自の業務で小さなAI活用（Quick Win）をスタートしましょう！</a:t>
            </a:r>
          </a:p>
        </p:txBody>
      </p:sp>
      <p:sp>
        <p:nvSpPr>
          <p:cNvPr id="10" name="Rounded Rectangle 9"/>
          <p:cNvSpPr/>
          <p:nvPr/>
        </p:nvSpPr>
        <p:spPr>
          <a:xfrm>
            <a:off x="685800" y="1783080"/>
            <a:ext cx="34747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011680"/>
            <a:ext cx="365760" cy="45720"/>
          </a:xfrm>
          <a:prstGeom prst="rect">
            <a:avLst/>
          </a:prstGeom>
          <a:solidFill>
            <a:srgbClr val="2DD4B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40280"/>
            <a:ext cx="3017520" cy="320040"/>
          </a:xfrm>
          <a:prstGeom prst="rect">
            <a:avLst/>
          </a:prstGeom>
          <a:noFill/>
        </p:spPr>
        <p:txBody>
          <a:bodyPr wrap="square" anchor="t" lIns="36576" rIns="36576" tIns="36576" bIns="36576">
            <a:spAutoFit/>
          </a:bodyPr>
          <a:lstStyle/>
          <a:p>
            <a:pPr algn="l"/>
            <a:r>
              <a:rPr sz="1500" b="1">
                <a:solidFill>
                  <a:srgbClr val="F8FAFC"/>
                </a:solidFill>
                <a:latin typeface="Plus Jakarta Sans"/>
              </a:rPr>
              <a:t>STEP 1: アカウント申請</a:t>
            </a:r>
          </a:p>
        </p:txBody>
      </p:sp>
      <p:sp>
        <p:nvSpPr>
          <p:cNvPr id="13" name="TextBox 12"/>
          <p:cNvSpPr txBox="1"/>
          <p:nvPr/>
        </p:nvSpPr>
        <p:spPr>
          <a:xfrm>
            <a:off x="914400" y="2743200"/>
            <a:ext cx="3017520" cy="1645920"/>
          </a:xfrm>
          <a:prstGeom prst="rect">
            <a:avLst/>
          </a:prstGeom>
          <a:noFill/>
        </p:spPr>
        <p:txBody>
          <a:bodyPr wrap="square" anchor="t" lIns="36576" rIns="36576" tIns="36576" bIns="36576">
            <a:spAutoFit/>
          </a:bodyPr>
          <a:lstStyle/>
          <a:p>
            <a:pPr algn="l"/>
            <a:r>
              <a:rPr sz="1200" b="0">
                <a:solidFill>
                  <a:srgbClr val="CBD5E1"/>
                </a:solidFill>
                <a:latin typeface="Yu Gothic"/>
              </a:rPr>
              <a:t>社内ポータルからAntigravity / Claudeの利用申請を行う（即日承認）</a:t>
            </a:r>
          </a:p>
        </p:txBody>
      </p:sp>
      <p:sp>
        <p:nvSpPr>
          <p:cNvPr id="14" name="Rounded Rectangle 13"/>
          <p:cNvSpPr/>
          <p:nvPr/>
        </p:nvSpPr>
        <p:spPr>
          <a:xfrm>
            <a:off x="4361688" y="1783080"/>
            <a:ext cx="34747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90288" y="2011680"/>
            <a:ext cx="365760" cy="4572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2240280"/>
            <a:ext cx="3017520" cy="320040"/>
          </a:xfrm>
          <a:prstGeom prst="rect">
            <a:avLst/>
          </a:prstGeom>
          <a:noFill/>
        </p:spPr>
        <p:txBody>
          <a:bodyPr wrap="square" anchor="t" lIns="36576" rIns="36576" tIns="36576" bIns="36576">
            <a:spAutoFit/>
          </a:bodyPr>
          <a:lstStyle/>
          <a:p>
            <a:pPr algn="l"/>
            <a:r>
              <a:rPr sz="1500" b="1">
                <a:solidFill>
                  <a:srgbClr val="F8FAFC"/>
                </a:solidFill>
                <a:latin typeface="Plus Jakarta Sans"/>
              </a:rPr>
              <a:t>STEP 2: 社内プロンプト集の活用</a:t>
            </a:r>
          </a:p>
        </p:txBody>
      </p:sp>
      <p:sp>
        <p:nvSpPr>
          <p:cNvPr id="17" name="TextBox 16"/>
          <p:cNvSpPr txBox="1"/>
          <p:nvPr/>
        </p:nvSpPr>
        <p:spPr>
          <a:xfrm>
            <a:off x="4590288" y="2743200"/>
            <a:ext cx="3017520" cy="1645920"/>
          </a:xfrm>
          <a:prstGeom prst="rect">
            <a:avLst/>
          </a:prstGeom>
          <a:noFill/>
        </p:spPr>
        <p:txBody>
          <a:bodyPr wrap="square" anchor="t" lIns="36576" rIns="36576" tIns="36576" bIns="36576">
            <a:spAutoFit/>
          </a:bodyPr>
          <a:lstStyle/>
          <a:p>
            <a:pPr algn="l"/>
            <a:r>
              <a:rPr sz="1200" b="0">
                <a:solidFill>
                  <a:srgbClr val="CBD5E1"/>
                </a:solidFill>
                <a:latin typeface="Yu Gothic"/>
              </a:rPr>
              <a:t>共有リポジトリに登録されている「業務別プロンプト・Skills定義」を試す</a:t>
            </a:r>
          </a:p>
        </p:txBody>
      </p:sp>
      <p:sp>
        <p:nvSpPr>
          <p:cNvPr id="18" name="Rounded Rectangle 17"/>
          <p:cNvSpPr/>
          <p:nvPr/>
        </p:nvSpPr>
        <p:spPr>
          <a:xfrm>
            <a:off x="8037575" y="1783080"/>
            <a:ext cx="3474720" cy="29260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66175" y="2011680"/>
            <a:ext cx="365760" cy="45720"/>
          </a:xfrm>
          <a:prstGeom prst="rect">
            <a:avLst/>
          </a:prstGeom>
          <a:solidFill>
            <a:srgbClr val="A78BFA"/>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6175" y="2240280"/>
            <a:ext cx="3017520" cy="320040"/>
          </a:xfrm>
          <a:prstGeom prst="rect">
            <a:avLst/>
          </a:prstGeom>
          <a:noFill/>
        </p:spPr>
        <p:txBody>
          <a:bodyPr wrap="square" anchor="t" lIns="36576" rIns="36576" tIns="36576" bIns="36576">
            <a:spAutoFit/>
          </a:bodyPr>
          <a:lstStyle/>
          <a:p>
            <a:pPr algn="l"/>
            <a:r>
              <a:rPr sz="1500" b="1">
                <a:solidFill>
                  <a:srgbClr val="F8FAFC"/>
                </a:solidFill>
                <a:latin typeface="Plus Jakarta Sans"/>
              </a:rPr>
              <a:t>STEP 3: 成果共有と勉強会</a:t>
            </a:r>
          </a:p>
        </p:txBody>
      </p:sp>
      <p:sp>
        <p:nvSpPr>
          <p:cNvPr id="21" name="TextBox 20"/>
          <p:cNvSpPr txBox="1"/>
          <p:nvPr/>
        </p:nvSpPr>
        <p:spPr>
          <a:xfrm>
            <a:off x="8266175" y="2743200"/>
            <a:ext cx="3017520" cy="1645920"/>
          </a:xfrm>
          <a:prstGeom prst="rect">
            <a:avLst/>
          </a:prstGeom>
          <a:noFill/>
        </p:spPr>
        <p:txBody>
          <a:bodyPr wrap="square" anchor="t" lIns="36576" rIns="36576" tIns="36576" bIns="36576">
            <a:spAutoFit/>
          </a:bodyPr>
          <a:lstStyle/>
          <a:p>
            <a:pPr algn="l"/>
            <a:r>
              <a:rPr sz="1200" b="0">
                <a:solidFill>
                  <a:srgbClr val="CBD5E1"/>
                </a:solidFill>
                <a:latin typeface="Yu Gothic"/>
              </a:rPr>
              <a:t>月次開催の「AI活用LT会」で自作プロンプトや自動化の成果を発表</a:t>
            </a:r>
          </a:p>
        </p:txBody>
      </p:sp>
      <p:sp>
        <p:nvSpPr>
          <p:cNvPr id="22" name="Rounded Rectangle 21"/>
          <p:cNvSpPr/>
          <p:nvPr/>
        </p:nvSpPr>
        <p:spPr>
          <a:xfrm>
            <a:off x="685800" y="4892040"/>
            <a:ext cx="10817352" cy="1325880"/>
          </a:xfrm>
          <a:prstGeom prst="roundRect">
            <a:avLst/>
          </a:prstGeom>
          <a:solidFill>
            <a:srgbClr val="151E2E"/>
          </a:solidFill>
          <a:ln w="12700">
            <a:solidFill>
              <a:srgbClr val="2A3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8680" y="5047488"/>
            <a:ext cx="2560320" cy="310896"/>
          </a:xfrm>
          <a:prstGeom prst="roundRect">
            <a:avLst/>
          </a:prstGeom>
          <a:solidFill>
            <a:srgbClr val="0D353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084064"/>
            <a:ext cx="2560320" cy="219456"/>
          </a:xfrm>
          <a:prstGeom prst="rect">
            <a:avLst/>
          </a:prstGeom>
          <a:noFill/>
        </p:spPr>
        <p:txBody>
          <a:bodyPr wrap="square" anchor="ctr" lIns="36576" rIns="36576" tIns="36576" bIns="36576">
            <a:spAutoFit/>
          </a:bodyPr>
          <a:lstStyle/>
          <a:p>
            <a:pPr algn="ctr"/>
            <a:r>
              <a:rPr sz="950" b="1">
                <a:solidFill>
                  <a:srgbClr val="2DD4BF"/>
                </a:solidFill>
                <a:latin typeface="Plus Jakarta Sans"/>
              </a:rPr>
              <a:t>💬 質疑応答 &amp; 社内サポート窓口</a:t>
            </a:r>
          </a:p>
        </p:txBody>
      </p:sp>
      <p:sp>
        <p:nvSpPr>
          <p:cNvPr id="25" name="TextBox 24"/>
          <p:cNvSpPr txBox="1"/>
          <p:nvPr/>
        </p:nvSpPr>
        <p:spPr>
          <a:xfrm>
            <a:off x="868680" y="5486400"/>
            <a:ext cx="10424160" cy="457200"/>
          </a:xfrm>
          <a:prstGeom prst="rect">
            <a:avLst/>
          </a:prstGeom>
          <a:noFill/>
        </p:spPr>
        <p:txBody>
          <a:bodyPr wrap="square" anchor="t" lIns="36576" rIns="36576" tIns="36576" bIns="36576">
            <a:spAutoFit/>
          </a:bodyPr>
          <a:lstStyle/>
          <a:p>
            <a:pPr algn="l"/>
            <a:r>
              <a:rPr sz="1150" b="0">
                <a:solidFill>
                  <a:srgbClr val="CBD5E1"/>
                </a:solidFill>
                <a:latin typeface="Yu Gothic"/>
              </a:rPr>
              <a:t>社内Slack: #ai-agent-hub  |  質問窓口: ai-support@ml-mightylink.com  |  研修アンケートへのご協力をお願いします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