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77240"/>
            <a:ext cx="10817352" cy="53035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143000"/>
            <a:ext cx="3657600" cy="310896"/>
          </a:xfrm>
          <a:prstGeom prst="roundRect">
            <a:avLst/>
          </a:prstGeom>
          <a:solidFill>
            <a:srgbClr val="0D3532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79576"/>
            <a:ext cx="365760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2DD4BF"/>
                </a:solidFill>
                <a:latin typeface="Plus Jakarta Sans"/>
              </a:rPr>
              <a:t>研修シラバス (SYLLABUS) · 2026-08-26 開催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0584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Plus Jakarta Sans"/>
              </a:rPr>
              <a:t>Google Antigravity 60分ライブデモ実践研修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100584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Plus Jakarta Sans"/>
              </a:rPr>
              <a:t>Web生成 ➜ 画面直接修正 ➜ 自律検証 ➜ 公開 ➜ 健全性ガード ➜ ローカル連携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8036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Yu Gothic"/>
              </a:rPr>
              <a:t>〜 生成AIチャットの壁を超え、AIエージェントと1時間でWebアプリを共創・公開する標準カリキュラム 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3429000"/>
            <a:ext cx="31546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61872" y="3657600"/>
            <a:ext cx="36576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3840480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Plus Jakarta Sans"/>
              </a:rPr>
              <a:t>受講対象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251960"/>
            <a:ext cx="27889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Yu Gothic"/>
              </a:rPr>
              <a:t>全社（非エンジニア・企画・営業・開発者）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3429000"/>
            <a:ext cx="31546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45152" y="3657600"/>
            <a:ext cx="3657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3840480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Plus Jakarta Sans"/>
              </a:rPr>
              <a:t>所要時間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251960"/>
            <a:ext cx="27889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Yu Gothic"/>
              </a:rPr>
              <a:t>オンライン 60分（実演＋体験）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5552" y="3429000"/>
            <a:ext cx="31546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3657600"/>
            <a:ext cx="365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3840480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Plus Jakarta Sans"/>
              </a:rPr>
              <a:t>到達目標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4251960"/>
            <a:ext cx="27889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Yu Gothic"/>
              </a:rPr>
              <a:t>自然言語での要件定義・画面修正指示を体得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54864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320040"/>
            <a:ext cx="320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Consolas"/>
              </a:rPr>
              <a:t>02  /  COURSE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Plus Jakarta Sans"/>
              </a:rPr>
              <a:t>講座のねらいと受講対象・到達目標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6583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nsolas"/>
              </a:rPr>
              <a:t>2026-08-26 社内AI研修シラバス · Antigravity 60分完全実演  ·  Page 02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187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"/>
              </a:rPr>
              <a:t>Mighty Link AI Connect  ·  Training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Yu Gothic"/>
              </a:rPr>
              <a:t>プログラミング経験不問。AIエージェントに「正しく指示を出し、安全に使いこなす」スキルを習得します。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36576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🎯 研修のねらい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301752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Yu Gothic"/>
              </a:rPr>
              <a:t>「ChatGPTで文章を作る」段階から、「AIエージェントにアプリ・サイトを作らせて業務を自動化する」次世代の仕事術を60分で体感する。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0288" y="2011680"/>
            <a:ext cx="3657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24028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👥 対象受講者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788920"/>
            <a:ext cx="301752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Yu Gothic"/>
              </a:rPr>
              <a:t>・新規Web施策やLPを素早く作りたい企画・営業
・社内ツールやマニュアルを自動化したい非エンジニア
・AIエージェントの最新開発フローを学びたいエンジニア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5" y="2011680"/>
            <a:ext cx="36576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224028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🏆 研修後の到達目標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788920"/>
            <a:ext cx="301752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Yu Gothic"/>
              </a:rPr>
              <a:t>① 自然言語でAIに過不足のない要件を伝えられる
② 画面プレビューを見ながらピン留め修正指示ができる
③ 自動公開された本番サイトの健全性を検証できる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54864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320040"/>
            <a:ext cx="320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Consolas"/>
              </a:rPr>
              <a:t>03  /  SCHEDULE &amp;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Plus Jakarta Sans"/>
              </a:rPr>
              <a:t>60分間のタイムテーブル構成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6583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nsolas"/>
              </a:rPr>
              <a:t>2026-08-26 社内AI研修シラバス · Antigravity 60分完全実演  ·  Page 03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187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"/>
              </a:rPr>
              <a:t>Mighty Link AI Connect  ·  Training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Yu Gothic"/>
              </a:rPr>
              <a:t>だれもが飽きずに集中できる「解説 ➜ 生実演 ➜ 体験 ➜ 質疑」の最適配分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25603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109728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48256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2DD4BF"/>
                </a:solidFill>
                <a:latin typeface="Plus Jakarta Sans"/>
              </a:rPr>
              <a:t>10分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Plus Jakarta Sans"/>
              </a:rPr>
              <a:t>01. 導入と背景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2194560" cy="2743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Yu Gothic"/>
              </a:rPr>
              <a:t>・AIエージェントの現在地 (2026年)
・ChatGPT SitesとAntigravityの違い
・本日の実演テーマの発表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1783080"/>
            <a:ext cx="25603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21024" y="2011680"/>
            <a:ext cx="109728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2048256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38BDF8"/>
                </a:solidFill>
                <a:latin typeface="Plus Jakarta Sans"/>
              </a:rPr>
              <a:t>30分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51460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Plus Jakarta Sans"/>
              </a:rPr>
              <a:t>02. 6大ステップ完全生実演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3154680"/>
            <a:ext cx="2194560" cy="2743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Yu Gothic"/>
              </a:rPr>
              <a:t>・Webサイト生成からローカル連携まで
・画面直接ピン留め修正のノーカット実演
・リアルタイム本番デプロイ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1783080"/>
            <a:ext cx="25603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3368" y="2011680"/>
            <a:ext cx="109728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048256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A78BFA"/>
                </a:solidFill>
                <a:latin typeface="Plus Jakarta Sans"/>
              </a:rPr>
              <a:t>10分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51460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Plus Jakarta Sans"/>
              </a:rPr>
              <a:t>03. 参加者プチ体験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154680"/>
            <a:ext cx="2194560" cy="2743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Yu Gothic"/>
              </a:rPr>
              <a:t>・公開URLを参加者自身の端末で閲覧
・Visual Feedbackのピン留め指示体験
・スマホ表示でのレスポンシブ確認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1783080"/>
            <a:ext cx="25603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25711" y="2011680"/>
            <a:ext cx="109728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1" y="2048256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34D399"/>
                </a:solidFill>
                <a:latin typeface="Plus Jakarta Sans"/>
              </a:rPr>
              <a:t>10分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251460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Plus Jakarta Sans"/>
              </a:rPr>
              <a:t>04. 質疑応答 &amp; 申請案内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1" y="3154680"/>
            <a:ext cx="2194560" cy="2743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Yu Gothic"/>
              </a:rPr>
              <a:t>・現場の疑問に答えるリアルタイムQ&amp;A
・社内アカウント申請フォーム案内
・社内プロンプト共有リポジトリ紹介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54864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320040"/>
            <a:ext cx="320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Consolas"/>
              </a:rPr>
              <a:t>04  /  CURRICULUM: STEPS 1 - 3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Plus Jakarta Sans"/>
              </a:rPr>
              <a:t>実演カリキュラム詳細（ステップ 1 〜 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6583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nsolas"/>
              </a:rPr>
              <a:t>2026-08-26 社内AI研修シラバス · Antigravity 60分完全実演  ·  Page 04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187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"/>
              </a:rPr>
              <a:t>Mighty Link AI Connect  ·  Training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Yu Gothic"/>
              </a:rPr>
              <a:t>要件定義からAIの自動実装、画面上での直感的な修正指示までを解説・実演します。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011680"/>
            <a:ext cx="128016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48256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2DD4BF"/>
                </a:solidFill>
                <a:latin typeface="Plus Jakarta Sans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2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Webサイト生成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Yu Gothic"/>
              </a:rPr>
              <a:t>プロンプト投入 ➜ 計画策定 ➜ コード生成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301752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自然言語で「9大AIエージェント比較ポータルを作って」と指示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AntigravityがImplementation Plan（設計書）を自律立案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HTML/CSS/JSを自動生成し右側Artifactsにプレビュー即時表示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288" y="2011680"/>
            <a:ext cx="128016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048256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38BDF8"/>
                </a:solidFill>
                <a:latin typeface="Plus Jakarta Sans"/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450592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修正・レビュー体験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83464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Yu Gothic"/>
              </a:rPr>
              <a:t>Visual Feedbackによる画面直接ピン留め指示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337560"/>
            <a:ext cx="301752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プレビュー画面上のボタンや見出しを直接マウスクリック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「📌 ピン」を立てて「ここをミント色にして」と短い指示を送信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長い文章の説明が不要になり、指示ミス・手戻りがゼロに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66175" y="2011680"/>
            <a:ext cx="128016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2048256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A78BFA"/>
                </a:solidFill>
                <a:latin typeface="Plus Jakarta Sans"/>
              </a:rPr>
              <a:t>STEP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450592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ブラウザ自動検証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83464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A78BFA"/>
                </a:solidFill>
                <a:latin typeface="Yu Gothic"/>
              </a:rPr>
              <a:t>Browser Agentによる自律E2Eテスト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3337560"/>
            <a:ext cx="301752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Headless Chrome / Playwright をAIがバックグラウンド起動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スマホ画面（390px）とPC画面（1440px）の崩れを自動検査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ボタンクリック・モーダル表示の挙動をAIが自己修復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54864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320040"/>
            <a:ext cx="320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Consolas"/>
              </a:rPr>
              <a:t>05  /  CURRICULUM: STEPS 4 - 6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Plus Jakarta Sans"/>
              </a:rPr>
              <a:t>実演カリキュラム詳細（ステップ 4 〜 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6583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nsolas"/>
              </a:rPr>
              <a:t>2026-08-26 社内AI研修シラバス · Antigravity 60分完全実演  ·  Page 05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187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"/>
              </a:rPr>
              <a:t>Mighty Link AI Connect  ·  Training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Yu Gothic"/>
              </a:rPr>
              <a:t>世界中からアクセス可能な公開、自動ガードレール検証、ローカル開発環境との同期を実演します。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011680"/>
            <a:ext cx="128016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48256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34D399"/>
                </a:solidFill>
                <a:latin typeface="Plus Jakarta Sans"/>
              </a:rPr>
              <a:t>STEP 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2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ホスティング・公開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Yu Gothic"/>
              </a:rPr>
              <a:t>GitHub Pages / Firebaseへの自動デプロイ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301752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「本番公開へデプロイして」と指示するだけでCI/CDが起動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GitHub Actions経由でHTTPS対応の本番URLが即座に発行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ChatGPT Sites同様のワンクリック公開を自社インフラで実現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288" y="2011680"/>
            <a:ext cx="128016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048256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FBBF24"/>
                </a:solidFill>
                <a:latin typeface="Plus Jakarta Sans"/>
              </a:rPr>
              <a:t>STEP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450592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公開URLの健全性ガード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83464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Yu Gothic"/>
              </a:rPr>
              <a:t>自動テストスクリプトによるデグレ防止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337560"/>
            <a:ext cx="301752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デプロイ完了後、AIが自動で健全性ガード（E2E疎通）を実行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HTTP 200ステータス、全リンク到達性、DOM要素存在を検査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「壊れたサイトが勝手に公開される事故」を完全に防止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66175" y="2011680"/>
            <a:ext cx="128016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2048256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FB7185"/>
                </a:solidFill>
                <a:latin typeface="Plus Jakarta Sans"/>
              </a:rPr>
              <a:t>STEP 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450592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コードのローカル連携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83464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FB7185"/>
                </a:solidFill>
                <a:latin typeface="Yu Gothic"/>
              </a:rPr>
              <a:t>Gitリポジトリ・VS Codeとの完全同期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3337560"/>
            <a:ext cx="301752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Web完結ツールと異なり、生成コードが手元PCにそのまま残る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既存の社内GitリポジトリやCI/CDパイプラインに即時統合可能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BD5E1"/>
                </a:solidFill>
                <a:latin typeface="Yu Gothic"/>
              </a:rPr>
              <a:t>✔  ブラックボックス化せず、開発チームへスムーズに引き継げる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54864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320040"/>
            <a:ext cx="320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Consolas"/>
              </a:rPr>
              <a:t>06  /  REQUIREMENTS &amp;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Plus Jakarta Sans"/>
              </a:rPr>
              <a:t>受講に必要な事前準備・推奨環境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6583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nsolas"/>
              </a:rPr>
              <a:t>2026-08-26 社内AI研修シラバス · Antigravity 60分完全実演  ·  Page 06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187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"/>
              </a:rPr>
              <a:t>Mighty Link AI Connect  ·  Training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Yu Gothic"/>
              </a:rPr>
              <a:t>参加者の皆様は特別なツールインストールの必要なく、ブラウザのみでご参加いただけます。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36576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💻 受講環境（参加者）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3017520" cy="3108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Google Chrome / Microsoft Edge（最新版ブラウザ）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オンライン会議ツール（Zoom / Google Meet / Teams）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スマートフォン（レスポンシブ表示確認用・任意）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※ 特別の開発環境構築や拡張機能インストールは不要です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0288" y="2011680"/>
            <a:ext cx="3657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24028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📦 配布教材・資料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834640"/>
            <a:ext cx="3017520" cy="3108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本研修スライド（PDF / PPTX / Canva共有リンク）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実演で使用するプロンプト定石テンプレート集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実演公開デモURL（https://kanta13jp1.github.io/...）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Antigravity社内利用スタートアップマニュアル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1783080"/>
            <a:ext cx="3474720" cy="4389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5" y="2011680"/>
            <a:ext cx="365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224028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⚙️ 講師側実演環境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834640"/>
            <a:ext cx="3017520" cy="3108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Google Antigravity IDE &amp; Gemini 3.7 Flash Engine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GitHub Repository / GitHub Actions CI/CD Pipeline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Headless Chrome E2E 自動検証スクリプト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BD5E1"/>
                </a:solidFill>
                <a:latin typeface="Yu Gothic"/>
              </a:rPr>
              <a:t>✔  Canva &amp; Figma REST API 連携環境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54864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320040"/>
            <a:ext cx="320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Consolas"/>
              </a:rPr>
              <a:t>07  /  SECURITY &amp;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Plus Jakarta Sans"/>
              </a:rPr>
              <a:t>社内利用における安全ガイドラインと禁止事項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6583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nsolas"/>
              </a:rPr>
              <a:t>2026-08-26 社内AI研修シラバス · Antigravity 60分完全実演  ·  Page 07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187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"/>
              </a:rPr>
              <a:t>Mighty Link AI Connect  ·  Training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Yu Gothic"/>
              </a:rPr>
              <a:t>安心・安全にAIエージェントを全社展開するために遵守すべき4つのルール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10817352" cy="960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920240"/>
            <a:ext cx="118872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56816"/>
            <a:ext cx="11887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FB7185"/>
                </a:solidFill>
                <a:latin typeface="Plus Jakarta Sans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920240"/>
            <a:ext cx="8961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Plus Jakarta Sans"/>
              </a:rPr>
              <a:t>RULE 01: 機密情報・個人情報の投入禁止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21991"/>
            <a:ext cx="89611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Yu Gothic"/>
              </a:rPr>
              <a:t>顧客の実名、パスワード、APIキー、未公開の社内規程・契約書は絶対にプロンプトに入力しない。ダミーデータを使用する。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62072"/>
            <a:ext cx="10817352" cy="960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999232"/>
            <a:ext cx="118872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35808"/>
            <a:ext cx="11887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FBBF24"/>
                </a:solidFill>
                <a:latin typeface="Plus Jakarta Sans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99232"/>
            <a:ext cx="8961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Plus Jakarta Sans"/>
              </a:rPr>
              <a:t>RULE 02: 生成物のファクトチェック・テスト必須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300984"/>
            <a:ext cx="89611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Yu Gothic"/>
              </a:rPr>
              <a:t>AIの出力には誤情報（ハルシネーション）が含まれうるため、生成されたコードや文章は必ず人間が動作確認・精査する。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41063"/>
            <a:ext cx="10817352" cy="960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078224"/>
            <a:ext cx="118872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14800"/>
            <a:ext cx="11887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38BDF8"/>
                </a:solidFill>
                <a:latin typeface="Plus Jakarta Sans"/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078224"/>
            <a:ext cx="8961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Plus Jakarta Sans"/>
              </a:rPr>
              <a:t>RULE 03: 外部公開時の著作権・ライセンス確認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379975"/>
            <a:ext cx="89611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Yu Gothic"/>
              </a:rPr>
              <a:t>生成した画像・アイコン・文章を社外公開する際は、商用利用規約およびOSSライセンス条項に抵触しないことを確認する。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20056"/>
            <a:ext cx="10817352" cy="960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5157216"/>
            <a:ext cx="118872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93792"/>
            <a:ext cx="11887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34D399"/>
                </a:solidFill>
                <a:latin typeface="Plus Jakarta Sans"/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157216"/>
            <a:ext cx="8961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Plus Jakarta Sans"/>
              </a:rPr>
              <a:t>RULE 04: クォータとコストの適正管理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458968"/>
            <a:ext cx="89611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Yu Gothic"/>
              </a:rPr>
              <a:t>モデルの利用上限（クォータ）を意識し、大量バッチ処理や連続実行を行う際は事前に管理部門（情シス）へ相談する。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54864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320040"/>
            <a:ext cx="320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Consolas"/>
              </a:rPr>
              <a:t>08  /  ROADMAP &amp;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Plus Jakarta Sans"/>
              </a:rPr>
              <a:t>研修受講後の実践ロードマップとサポート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6583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nsolas"/>
              </a:rPr>
              <a:t>2026-08-26 社内AI研修シラバス · Antigravity 60分完全実演  ·  Page 08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18795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"/>
              </a:rPr>
              <a:t>Mighty Link AI Connect  ·  Training Syllabus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Yu Gothic"/>
              </a:rPr>
              <a:t>受講して終わりにしない！各部署での実務適用とスキル定着をサポートします。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3474720" cy="29260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36576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Plus Jakarta Sans"/>
              </a:rPr>
              <a:t>STEP 1: アカウント発行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01752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Yu Gothic"/>
              </a:rPr>
              <a:t>社内専用申請フォームよりAntigravityアカウントを発行（申請から即日利用可能）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783080"/>
            <a:ext cx="3474720" cy="29260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0288" y="2011680"/>
            <a:ext cx="3657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24028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Plus Jakarta Sans"/>
              </a:rPr>
              <a:t>STEP 2: 定石プロンプトで実践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743200"/>
            <a:ext cx="301752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Yu Gothic"/>
              </a:rPr>
              <a:t>社内共有リポジトリの「業務別プロンプト・Skills定義」を使って自分の業務を1つ自動化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1783080"/>
            <a:ext cx="3474720" cy="29260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5" y="2011680"/>
            <a:ext cx="365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224028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Plus Jakarta Sans"/>
              </a:rPr>
              <a:t>STEP 3: 成果共有と勉強会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743200"/>
            <a:ext cx="301752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Yu Gothic"/>
              </a:rPr>
              <a:t>月次開催の「AI活用ライトニングトーク会」で自作したWebサイトや自動化成果を発表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17352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5047488"/>
            <a:ext cx="2560320" cy="310896"/>
          </a:xfrm>
          <a:prstGeom prst="roundRect">
            <a:avLst/>
          </a:prstGeom>
          <a:solidFill>
            <a:srgbClr val="0D3532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84064"/>
            <a:ext cx="25603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50" b="1">
                <a:solidFill>
                  <a:srgbClr val="2DD4BF"/>
                </a:solidFill>
                <a:latin typeface="Plus Jakarta Sans"/>
              </a:rPr>
              <a:t>💬 研修事務局 &amp; 社内相談窓口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86400"/>
            <a:ext cx="104241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Yu Gothic"/>
              </a:rPr>
              <a:t>社内Slack: #ai-agent-hub  |  お問い合わせ: ai-support@ml-mightylink.com  |  次回応用編ワークショップ: 2026年9月中旬予定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