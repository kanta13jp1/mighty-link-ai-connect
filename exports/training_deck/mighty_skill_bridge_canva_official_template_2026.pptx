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/grill-me</a:t>
            </a:r>
          </a:p>
          <a:p>
            <a:r>
              <a:t>PASTE EXACTLY</a:t>
            </a:r>
          </a:p>
          <a:p>
            <a:r>
              <a:t>Prompt 0 / /grill-meで実装前の判断を固める</a:t>
            </a:r>
          </a:p>
          <a:p/>
          <a:p>
            <a:r>
              <a:t>/grill-me</a:t>
            </a:r>
          </a:p>
          <a:p/>
          <a:p>
            <a:r>
              <a:t>30分のライブデモで「AI Agent Learning Hub」という1ページWebサイトを作ります。実装前に、矛盾や不足がないか厳しく確認してください。</a:t>
            </a:r>
          </a:p>
          <a:p/>
          <a:p>
            <a:r>
              <a:t>確定済みの前提:</a:t>
            </a:r>
          </a:p>
          <a:p>
            <a:r>
              <a:t>- 観客は非エンジニアと開発者の混在</a:t>
            </a:r>
          </a:p>
          <a:p>
            <a:r>
              <a:t>- サイトはCodex、Claude Code、Claude Cowork、Kiro、Antigravityの5製品を短時間で比較できる研修用成果物</a:t>
            </a:r>
          </a:p>
          <a:p>
            <a:r>
              <a:t>- ゴールは、観客がAIエージェントによる要件整理、制作、改善、検証、公開の流れを理解すること</a:t>
            </a:r>
          </a:p>
          <a:p>
            <a:r>
              <a:t>- 5製品の公式機能を比較するが、ライブ操作はAntigravityだけを使う</a:t>
            </a:r>
          </a:p>
          <a:p>
            <a:r>
              <a:t>- 公開可能な製品説明とローカル画像だけを使い、個人情報、顧客情報、認証情報は使わない</a:t>
            </a:r>
          </a:p>
          <a:p>
            <a:r>
              <a:t>- ログイン、フォーム送信、外部API、分析タグ、永続保存は作らない</a:t>
            </a:r>
          </a:p>
          <a:p>
            <a:r>
              <a:t>- 専用GitHub Pagesリポジトリだけへ公開する</a:t>
            </a:r>
          </a:p>
          <a:p>
            <a:r>
              <a:t>- 30分以内にSkill導入、初版作成、改善、公開確認まで見せる</a:t>
            </a:r>
          </a:p>
          <a:p/>
          <a:p>
            <a:r>
              <a:t>実装結果を大きく変える質問だけを最大2問、1問ずつ質問してください。各質問には推奨回答と、その理由を1行で添えて、私の回答を待ってください。私が「推奨案で進めてください」と答えた場合は、その推奨回答を採用してください。</a:t>
            </a:r>
          </a:p>
          <a:p/>
          <a:p>
            <a:r>
              <a:t>回答後に「決定事項／見送ること／停止条件／成功条件」を4区分で要約してください。この段階ではファイル変更、コマンド実行、外部通信を行わないでください。</a:t>
            </a:r>
          </a:p>
          <a:p>
            <a:r>
              <a:t>正本: docs/demo/antigravity_workshop/PROMPT_00_GRILL_ME.txt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/find-skills</a:t>
            </a:r>
          </a:p>
          <a:p>
            <a:r>
              <a:t>PASTE EXACTLY</a:t>
            </a:r>
          </a:p>
          <a:p/>
          <a:p>
            <a:r>
              <a:t>Prompt 1 / /find-skillsで専門能力を探す</a:t>
            </a:r>
          </a:p>
          <a:p/>
          <a:p>
            <a:r>
              <a:t>/find-skills</a:t>
            </a:r>
          </a:p>
          <a:p/>
          <a:p>
            <a:r>
              <a:t>5製品を比較するAI Agent Learning Hubの、情報設計、Webデザイン、レスポンシブ品質、アクセシビリティを改善できるAgent Skillを探してください。</a:t>
            </a:r>
          </a:p>
          <a:p/>
          <a:p>
            <a:r>
              <a:t>最初に利用可能なSkillカタログを確認し、必要ならSkills CLIで npx skills find "frontend design" を実行してください。候補は3件までに絞り、次を比較してください。</a:t>
            </a:r>
          </a:p>
          <a:p>
            <a:r>
              <a:t>- Skill名と用途</a:t>
            </a:r>
          </a:p>
          <a:p>
            <a:r>
              <a:t>- 公開元とrepository</a:t>
            </a:r>
          </a:p>
          <a:p>
            <a:r>
              <a:t>- ライセンス</a:t>
            </a:r>
          </a:p>
          <a:p>
            <a:r>
              <a:t>- SKILL.md、scripts、外部通信、実行コマンドの監査結果</a:t>
            </a:r>
          </a:p>
          <a:p>
            <a:r>
              <a:t>- project-localのインストール方法</a:t>
            </a:r>
          </a:p>
          <a:p>
            <a:r>
              <a:t>- 公式またはrepository URL</a:t>
            </a:r>
          </a:p>
          <a:p/>
          <a:p>
            <a:r>
              <a:t>インストール数やstarsだけで安全性を判断しないでください。公開元、内容、権限、変更範囲を確認して推奨を1件選び、このデモで改善する点を2行で説明してください。</a:t>
            </a:r>
          </a:p>
          <a:p/>
          <a:p>
            <a:r>
              <a:t>まだSkillのインストール、ファイル変更、外部サービスへの書き込みは行わないでください。</a:t>
            </a:r>
          </a:p>
          <a:p>
            <a:r>
              <a:t>正本: docs/demo/antigravity_workshop/PROMPT_01_FIND_SKILLS.txt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INSTALL</a:t>
            </a:r>
          </a:p>
          <a:p>
            <a:r>
              <a:t>PASTE EXACTLY</a:t>
            </a:r>
          </a:p>
          <a:p>
            <a:r>
              <a:t>Prompt 2 / frontend-design Skillを専用環境へ導入する</a:t>
            </a:r>
          </a:p>
          <a:p/>
          <a:p>
            <a:r>
              <a:t>推奨された`anthropics/skills@frontend-design`を、この専用リポジトリだけへインストールしてください。</a:t>
            </a:r>
          </a:p>
          <a:p/>
          <a:p>
            <a:r>
              <a:t>最初に`git remote -v`、現在branch、`git status --short`、`npx skills list --json`を確認してください。remoteが`kanta13jp1/mighty-link-antigravity-live-demo`、branchが`main`でない場合、または`frontend-design`が既に存在する場合は、何も変更せず停止してください。</a:t>
            </a:r>
          </a:p>
          <a:p/>
          <a:p>
            <a:r>
              <a:t>条件が一致した場合だけ、次を実行してください。</a:t>
            </a:r>
          </a:p>
          <a:p/>
          <a:p>
            <a:r>
              <a:t>`npx skills add anthropics/skills@frontend-design --agent antigravity --copy -y`</a:t>
            </a:r>
          </a:p>
          <a:p/>
          <a:p>
            <a:r>
              <a:t>インストール後に`npx skills list --json`と`.agents/skills/frontend-design/SKILL.md`を読み、次を報告してください。</a:t>
            </a:r>
          </a:p>
          <a:p>
            <a:r>
              <a:t>- インストール先がこのリポジトリ内であること</a:t>
            </a:r>
          </a:p>
          <a:p>
            <a:r>
              <a:t>- 公開元が`anthropics/skills`であること</a:t>
            </a:r>
          </a:p>
          <a:p>
            <a:r>
              <a:t>- Skillの目的と、このデモで適用する3つの観点</a:t>
            </a:r>
          </a:p>
          <a:p>
            <a:r>
              <a:t>- 監査結果または確認できなかった項目</a:t>
            </a:r>
          </a:p>
          <a:p/>
          <a:p>
            <a:r>
              <a:t>この段階ではindex.html、styles.css、app.js、GitHub設定を変更せず、commitとpushも実行しないでください。</a:t>
            </a:r>
          </a:p>
          <a:p>
            <a:r>
              <a:t>正本: docs/demo/antigravity_workshop/PROMPT_02_INSTALL_SKILL.txt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TEST FIRST</a:t>
            </a:r>
          </a:p>
          <a:p>
            <a:r>
              <a:t>PASTE EXACTLY</a:t>
            </a:r>
          </a:p>
          <a:p>
            <a:r>
              <a:t>Prompt 3A / 実装前にテスト仕様書と契約テストを作る</a:t>
            </a:r>
          </a:p>
          <a:p/>
          <a:p>
            <a:r>
              <a:t>@SITE_BRIEF.md を読み、サイトを作り始める前に、期待動作をテストとして固定してください。</a:t>
            </a:r>
          </a:p>
          <a:p/>
          <a:p>
            <a:r>
              <a:t>最初にTEST_SPEC.mdを作成し、各ケースへID、優先度、前提条件、操作、期待結果、証拠、実行方法を記載してください。対象は次の10件です。</a:t>
            </a:r>
          </a:p>
          <a:p>
            <a:r>
              <a:t>- T01-T05 自動: 必須ファイル、タイトル、5製品、表示項目、SYNTHETIC_DATA_ONLYと外部依存・送信・保存なし</a:t>
            </a:r>
          </a:p>
          <a:p>
            <a:r>
              <a:t>- T06-T08 自動: フィルター件数5・4・1・5、最大2製品比較と3件目の拒否、aria-pressedとaria-live</a:t>
            </a:r>
          </a:p>
          <a:p>
            <a:r>
              <a:t>- T09-T10 Browser: 1440x900と390x844の横スクロール・文字切れ・重なり0、公開HTTPS URL</a:t>
            </a:r>
          </a:p>
          <a:p/>
          <a:p>
            <a:r>
              <a:t>続いてPython標準ライブラリだけを使うtests/test_site_contract.pyを作成してください。T01-T08を8つの独立したunittestとして実装し、テスト対象はリポジトリ直下のindex.html、styles.css、app.jsとします。サイトファイルがない場合もテスト収集を中断せず、各不足をFAILとして表示してください。</a:t>
            </a:r>
          </a:p>
          <a:p/>
          <a:p>
            <a:r>
              <a:t>この段階ではindex.html、styles.css、app.js、画像、設定を作成・変更しません。外部ライブラリの導入、外部通信、commit、pushも行いません。</a:t>
            </a:r>
          </a:p>
          <a:p/>
          <a:p>
            <a:r>
              <a:t>python -m unittest discover -s tests -v を実行し、1件以上FAILするREDを確認してください。すべてPASSした場合は想定外として停止してください。最後に「仕様書／自動テスト／REDの理由」を3行で報告してください。</a:t>
            </a:r>
          </a:p>
          <a:p>
            <a:r>
              <a:t>正本: docs/demo/antigravity_workshop/PROMPT_03_TEST_SPEC.txt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BUILD / PARTIAL</a:t>
            </a:r>
          </a:p>
          <a:p>
            <a:r>
              <a:t>PASTE EXACTLY</a:t>
            </a:r>
          </a:p>
          <a:p>
            <a:r>
              <a:t>Prompt 3B / テストを基準にAIエージェント学習サイトの初版を作る</a:t>
            </a:r>
          </a:p>
          <a:p/>
          <a:p>
            <a:r>
              <a:t>@SITE_BRIEF.md、@TEST_SPEC.md、@tests/test_site_contract.py を読み、テストは変更せず、リポジトリ直下にindex.htmlとstyles.cssを作成してください。</a:t>
            </a:r>
          </a:p>
          <a:p/>
          <a:p>
            <a:r>
              <a:t>サイト名は「AI Agent Learning Hub」です。Codex、Claude Code、Claude Cowork、Kiro、Antigravityの5カードを表示し、各カードに「向いている仕事／主な機能／最初に試すこと」を記載してください。assets/workshop-hero.pngをヒーロー画像として使用し、研修用サンプルであることと、デモ当日に再確認した公式情報に基づく概要であることを表示してください。</a:t>
            </a:r>
          </a:p>
          <a:p/>
          <a:p>
            <a:r>
              <a:t>この初版ではJavaScript、絞り込み、製品選択、比較サマリーを追加しません。外部ライブラリ、外部画像、外部フォント、実在する顧客・社員・連絡先は使用しないでください。index.htmlとstyles.css以外は変更せず、TEST_SPEC.mdとtests/test_site_contract.pyを緩めたり書き換えたりしないでください。commitとpushは実行しないでください。</a:t>
            </a:r>
          </a:p>
          <a:p/>
          <a:p>
            <a:r>
              <a:t>作成後にpython -m unittest discover -s tests -vを実行し、T01-T05がPASS、まだ実装していないT06-T08がFAILであることを確認してください。ブラウザでも1440x900と390x844のヒーロー画像、5製品、文字切れ、横スクロールを確認してください。最後に「変更ファイル／テスト結果／次にGREENへする項目」を3行で報告してください。</a:t>
            </a:r>
          </a:p>
          <a:p>
            <a:r>
              <a:t>正本: docs/demo/antigravity_workshop/PROMPT_03_BUILD.txt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/frontend-design</a:t>
            </a:r>
          </a:p>
          <a:p>
            <a:r>
              <a:t>PASTE EXACTLY</a:t>
            </a:r>
          </a:p>
          <a:p>
            <a:r>
              <a:t>Prompt 4 / /frontend-designで残りのテストをGREENにする</a:t>
            </a:r>
          </a:p>
          <a:p/>
          <a:p>
            <a:r>
              <a:t>/frontend-design</a:t>
            </a:r>
          </a:p>
          <a:p/>
          <a:p>
            <a:r>
              <a:t>@SITE_BRIEF.md、@TEST_SPEC.md、@tests/test_site_contract.py を読み、初版を改善してください。テスト2ファイルは変更しません。</a:t>
            </a:r>
          </a:p>
          <a:p/>
          <a:p>
            <a:r>
              <a:t>実装すること:</a:t>
            </a:r>
          </a:p>
          <a:p>
            <a:r>
              <a:t>- 情報の優先順位、文字、余白、配色を整え、研修投影でも読める画面にする</a:t>
            </a:r>
          </a:p>
          <a:p>
            <a:r>
              <a:t>- 4フィルター「すべて／開発／ナレッジワーク／計画・自動化」を追加し、件数を5・4・1・5にする</a:t>
            </a:r>
          </a:p>
          <a:p>
            <a:r>
              <a:t>- 各カードに比較ボタンを付け最大2製品まで選べるようにする。3件目は追加せず案内する</a:t>
            </a:r>
          </a:p>
          <a:p>
            <a:r>
              <a:t>- 選択件数、製品名、向いている仕事をaria-liveへ表示する</a:t>
            </a:r>
          </a:p>
          <a:p>
            <a:r>
              <a:t>- app.jsでaria-pressed、キーボード操作、上限2件に対応する</a:t>
            </a:r>
          </a:p>
          <a:p>
            <a:r>
              <a:t>- 色は#00A5E3、#EF7E00、緑、白、濃い文字色を使う</a:t>
            </a:r>
          </a:p>
          <a:p/>
          <a:p>
            <a:r>
              <a:t>守る境界:</a:t>
            </a:r>
          </a:p>
          <a:p>
            <a:r>
              <a:t>- 5製品と説明を維持し、SteeringとPowersはKiro固有機能として扱う</a:t>
            </a:r>
          </a:p>
          <a:p>
            <a:r>
              <a:t>- 外部依存、送信、永続保存、commit、pushは行わない</a:t>
            </a:r>
          </a:p>
          <a:p>
            <a:r>
              <a:t>- 変更はindex.html、styles.css、app.jsだけ。製品追加、料金、クォータ、ランキング、診断、検索、export、テーマ切替、動画、画像生成、Visual Feedback模擬は追加しない</a:t>
            </a:r>
          </a:p>
          <a:p>
            <a:r>
              <a:t>- 開始前に変更予定3ファイルを報告し、範囲外が必要なら停止する</a:t>
            </a:r>
          </a:p>
          <a:p/>
          <a:p>
            <a:r>
              <a:t>検証すること:</a:t>
            </a:r>
          </a:p>
          <a:p>
            <a:r>
              <a:t>- python -m unittest discover -s tests -vでT01-T08がすべてPASS。テストを削除、skip、弱体化してPASSさせない</a:t>
            </a:r>
          </a:p>
          <a:p>
            <a:r>
              <a:t>- 1440x900と390x844で横スクロール、文字切れ、重なりが0</a:t>
            </a:r>
          </a:p>
          <a:p/>
          <a:p>
            <a:r>
              <a:t>最後に「Skillが変えた判断／REDからGREENになったテスト／ブラウザ検証」を3行で報告してください。</a:t>
            </a:r>
          </a:p>
          <a:p>
            <a:r>
              <a:t>正本: docs/demo/antigravity_workshop/PROMPT_04_APPLY_SKILL.txt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MCP / READ ONLY</a:t>
            </a:r>
          </a:p>
          <a:p>
            <a:r>
              <a:t>PASTE EXACTLY</a:t>
            </a:r>
          </a:p>
          <a:p/>
          <a:p>
            <a:r>
              <a:t>Prompt 5 / Canva MCPの接続と利用可能Toolを読み取り確認する</a:t>
            </a:r>
          </a:p>
          <a:p/>
          <a:p>
            <a:r>
              <a:t>Antigravity 2.0のSettings &gt; Customizations &gt; Installed MCP Serversで、Canva remote MCPの接続状態を確認してください。</a:t>
            </a:r>
          </a:p>
          <a:p/>
          <a:p>
            <a:r>
              <a:t>確認条件:</a:t>
            </a:r>
          </a:p>
          <a:p>
            <a:r>
              <a:t>- この段階ではCanvaデザインを作成・編集・削除しない</a:t>
            </a:r>
          </a:p>
          <a:p>
            <a:r>
              <a:t>- OAuth再認証を要求された場合は、その場で認証せず停止する</a:t>
            </a:r>
          </a:p>
          <a:p>
            <a:r>
              <a:t>- APIキー、token、cookie、認証情報を表示しない</a:t>
            </a:r>
          </a:p>
          <a:p/>
          <a:p>
            <a:r>
              <a:t>接続済みの場合は、読み取り専用Toolだけを使って次を確認してください。</a:t>
            </a:r>
          </a:p>
          <a:p/>
          <a:p>
            <a:r>
              <a:t>1. 接続中のCanvaアカウント</a:t>
            </a:r>
          </a:p>
          <a:p>
            <a:r>
              <a:t>2. design search / content readが利用可能か</a:t>
            </a:r>
          </a:p>
          <a:p>
            <a:r>
              <a:t>3. presentation generationが利用可能か</a:t>
            </a:r>
          </a:p>
          <a:p>
            <a:r>
              <a:t>4. design import / editingが利用可能か</a:t>
            </a:r>
          </a:p>
          <a:p>
            <a:r>
              <a:t>5. PPTX export Toolの有無。なければCanva画面から手動Downloadとする</a:t>
            </a:r>
          </a:p>
          <a:p/>
          <a:p>
            <a:r>
              <a:t>結果は次の5行だけで返してください。</a:t>
            </a:r>
          </a:p>
          <a:p/>
          <a:p>
            <a:r>
              <a:t>MCP: CONNECTED または STOP</a:t>
            </a:r>
          </a:p>
          <a:p>
            <a:r>
              <a:t>ACCOUNT: &lt;emailまたは非機密のhandle&gt;</a:t>
            </a:r>
          </a:p>
          <a:p>
            <a:r>
              <a:t>READ / SEARCH: AVAILABLE または UNAVAILABLE</a:t>
            </a:r>
          </a:p>
          <a:p>
            <a:r>
              <a:t>CREATE / EDIT: AVAILABLE または UNAVAILABLE</a:t>
            </a:r>
          </a:p>
          <a:p>
            <a:r>
              <a:t>PPTX EXPORT: TOOL / MANUAL / UNAVAILABLE</a:t>
            </a:r>
          </a:p>
          <a:p/>
          <a:p>
            <a:r>
              <a:t>STOPの場合は理由を1行だけ追加し、設定変更や認証を開始しないでください。</a:t>
            </a:r>
          </a:p>
          <a:p>
            <a:r>
              <a:t>正本: 本資料 / Prompt 5 - Canva MCP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PUBLISH</a:t>
            </a:r>
          </a:p>
          <a:p>
            <a:r>
              <a:t>PASTE EXACTLY</a:t>
            </a:r>
          </a:p>
          <a:p>
            <a:r>
              <a:t>Prompt 6 / テスト済みサイトをGitHub Pagesへ公開する</a:t>
            </a:r>
          </a:p>
          <a:p/>
          <a:p>
            <a:r>
              <a:t>完成したAI Agent Learning Hubを、次の専用公開先へ公開する準備をしてください。</a:t>
            </a:r>
          </a:p>
          <a:p/>
          <a:p>
            <a:r>
              <a:t>- repository: https://github.com/kanta13jp1/mighty-link-antigravity-live-demo</a:t>
            </a:r>
          </a:p>
          <a:p>
            <a:r>
              <a:t>- branch: main</a:t>
            </a:r>
          </a:p>
          <a:p>
            <a:r>
              <a:t>- URL: https://kanta13jp1.github.io/mighty-link-antigravity-live-demo/</a:t>
            </a:r>
          </a:p>
          <a:p/>
          <a:p>
            <a:r>
              <a:t>公開前にgit status、git diff --stat、git remote -v、現在branchを確認してください。remoteまたはbranchが違えば何も変更せず停止してください。.env、認証情報、トークン、個人情報、顧客情報が追跡対象になく、SITE_BRIEF.mdにSYNTHETIC_DATA_ONLYがあることも確認してください。`.agents/skills/`はaddしません。</a:t>
            </a:r>
          </a:p>
          <a:p/>
          <a:p>
            <a:r>
              <a:t>python -m unittest discover -s tests -vを実行し、T01-T08が8件PASSすることを確認してください。FAIL、テストの削除・skip・弱体化があれば公開せず停止してください。</a:t>
            </a:r>
          </a:p>
          <a:p/>
          <a:p>
            <a:r>
              <a:t>公開対象はindex.html、styles.css、app.js、assets/workshop-hero.png、TEST_SPEC.md、tests/test_site_contract.pyの6ファイルだけです。Q&amp;A Prompt 8を実行済みの場合だけassets/agent-workflow-hero.pngも許可します。製品追加、料金、クォータ、その他の変更があれば停止してください。</a:t>
            </a:r>
          </a:p>
          <a:p/>
          <a:p>
            <a:r>
              <a:t>commit messageと公開URLを報告したら停止し、「公開してもよいですか？」と質問してください。私が正確に「公開して」と答えるまでgit add、commit、push、GitHub設定変更を行いません。</a:t>
            </a:r>
          </a:p>
          <a:p/>
          <a:p>
            <a:r>
              <a:t>「公開して」の後だけ指定ファイルをaddし、`Publish AI agent learning hub demo`でcommitしてmainへpushしてください。Pages完了を最大3分待ち、公開URLでHTTPS、title、5製品、フィルター5・4・1・5、最大2製品比較を確認し、「commit／公開URL／8 tests／公開確認」を4行で報告してください。</a:t>
            </a:r>
          </a:p>
          <a:p>
            <a:r>
              <a:t>正本: docs/demo/antigravity_workshop/PROMPT_06_PUBLISH.txt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12 FULL VERBATIM (発表者ノートから Ctrl+A ➜ Ctrl+C でコピー) ===</a:t>
            </a:r>
          </a:p>
          <a:p/>
          <a:p>
            <a:r>
              <a:t>PASTE INTO ANTIGRAVITY 2.0</a:t>
            </a:r>
          </a:p>
          <a:p>
            <a:r>
              <a:t>PASTE EXACTLY</a:t>
            </a:r>
          </a:p>
          <a:p/>
          <a:p>
            <a:r>
              <a:t>[本編 / Canva MCPからPowerPointを作る]</a:t>
            </a:r>
          </a:p>
          <a:p/>
          <a:p>
            <a:r>
              <a:t>接続済みのCanva remote MCPを使い、編集可能な16:9のCanva Presentationを新規作成してください。開始前にアカウントと利用可能Toolを読み取り確認してください。</a:t>
            </a:r>
          </a:p>
          <a:p/>
          <a:p>
            <a:r>
              <a:t>安全境界:</a:t>
            </a:r>
          </a:p>
          <a:p>
            <a:r>
              <a:t>- 現在ログイン中のデモ用Canvaアカウントを使う</a:t>
            </a:r>
          </a:p>
          <a:p>
            <a:r>
              <a:t>- 既存デザインは編集・削除しない</a:t>
            </a:r>
          </a:p>
          <a:p>
            <a:r>
              <a:t>- 新規Presentationは1件だけ作成する</a:t>
            </a:r>
          </a:p>
          <a:p>
            <a:r>
              <a:t>- 認証、読取、生成、編集のいずれかを確認できなければSTOPする</a:t>
            </a:r>
          </a:p>
          <a:p>
            <a:r>
              <a:t>- PPTX export Toolがなければ、書き出しはCanva画面で人が行う</a:t>
            </a:r>
          </a:p>
          <a:p/>
          <a:p>
            <a:r>
              <a:t>ファイル名:</a:t>
            </a:r>
          </a:p>
          <a:p>
            <a:r>
              <a:t>Antigravity 2.0 MCP Demo - AI Agent Web Delivery</a:t>
            </a:r>
          </a:p>
          <a:p/>
          <a:p>
            <a:r>
              <a:t>目的:</a:t>
            </a:r>
          </a:p>
          <a:p>
            <a:r>
              <a:t>AIエージェントがWeb制作を、期待結果、Tool実行、検証、公開まで進めることを3枚で説明する。</a:t>
            </a:r>
          </a:p>
          <a:p/>
          <a:p>
            <a:r>
              <a:t>スライド構成:</a:t>
            </a:r>
          </a:p>
          <a:p>
            <a:r>
              <a:t>1. 「AIエージェントはWeb制作をどこまで任せられるか」</a:t>
            </a:r>
          </a:p>
          <a:p>
            <a:r>
              <a:t>   要件整理 → テスト仕様 → 実装 → Chrome検証 → 公開</a:t>
            </a:r>
          </a:p>
          <a:p>
            <a:r>
              <a:t>2. 「テストを先に作ると、AIの作業を証拠で確認できる」</a:t>
            </a:r>
          </a:p>
          <a:p>
            <a:r>
              <a:t>   TEST_SPEC → RED → 実装 → GREEN → 公開確認</a:t>
            </a:r>
          </a:p>
          <a:p>
            <a:r>
              <a:t>3. 「Skill、MCP、人の責任を分ける」</a:t>
            </a:r>
          </a:p>
          <a:p>
            <a:r>
              <a:t>   Skill=仕事の型、MCP=外部Toolとの接続、人=目的・権限・承認・停止条件</a:t>
            </a:r>
          </a:p>
          <a:p/>
          <a:p>
            <a:r>
              <a:t>テンプレート:</a:t>
            </a:r>
          </a:p>
          <a:p>
            <a:r>
              <a:t>Canva公式の「Clean and Professional Company Profile Presentation」を第一候補にし、利用できなければ同じ系統の白基調・clean・professionalな会社資料テンプレートを選ぶ。</a:t>
            </a:r>
          </a:p>
          <a:p/>
          <a:p>
            <a:r>
              <a:t>デザイン要件:</a:t>
            </a:r>
          </a:p>
          <a:p>
            <a:r>
              <a:t>- Canva Presentation、16:9、全3枚</a:t>
            </a:r>
          </a:p>
          <a:p>
            <a:r>
              <a:t>- 白とチャコールを基調に、ティール、コーラル、ライムを役割別アクセントに使う</a:t>
            </a:r>
          </a:p>
          <a:p>
            <a:r>
              <a:t>- 日本語本文24pt以上、タイトル40pt以上</a:t>
            </a:r>
          </a:p>
          <a:p>
            <a:r>
              <a:t>- 1スライド1メッセージ。カードの羅列を避ける</a:t>
            </a:r>
          </a:p>
          <a:p>
            <a:r>
              <a:t>- グラデーション、過度な角丸、紫主体を避ける</a:t>
            </a:r>
          </a:p>
          <a:p>
            <a:r>
              <a:t>- 外部ロゴ、個人情報、APIキー、未確認の数値を入れない</a:t>
            </a:r>
          </a:p>
          <a:p>
            <a:r>
              <a:t>- PPTX変換後も文字と単純図形を編集できる構造にする</a:t>
            </a:r>
          </a:p>
          <a:p>
            <a:r>
              <a:t>- 候補が複数なら、投影時に最も読みやすい白基調案を選ぶ</a:t>
            </a:r>
          </a:p>
          <a:p/>
          <a:p>
            <a:r>
              <a:t>完了条件:</a:t>
            </a:r>
          </a:p>
          <a:p>
            <a:r>
              <a:t>- 新規Canva Presentationが1件存在する</a:t>
            </a:r>
          </a:p>
          <a:p>
            <a:r>
              <a:t>- 3枚に文字切れ、重なり、キャンバス外要素がない</a:t>
            </a:r>
          </a:p>
          <a:p>
            <a:r>
              <a:t>- 各スライドのタイトルと検査結果を返す</a:t>
            </a:r>
          </a:p>
          <a:p>
            <a:r>
              <a:t>- Canva編集URLを返す</a:t>
            </a:r>
          </a:p>
          <a:p>
            <a:r>
              <a:t>- PPTX書き出しはまだ実行しない</a:t>
            </a:r>
          </a:p>
          <a:p>
            <a:r>
              <a:t>- 公開、共有範囲変更、既存デザインの編集・削除はしない</a:t>
            </a:r>
          </a:p>
          <a:p/>
          <a:p>
            <a:r>
              <a:t>正本: 本資料 / Prompt 12 - Canva MCP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Q&amp;A / VIDEO</a:t>
            </a:r>
          </a:p>
          <a:p>
            <a:r>
              <a:t>PASTE EXACTLY</a:t>
            </a:r>
          </a:p>
          <a:p>
            <a:r>
              <a:t>Prompt 7 / Q&amp;A用: 公式動画を出典確認して追加する</a:t>
            </a:r>
          </a:p>
          <a:p/>
          <a:p>
            <a:r>
              <a:t>/browser</a:t>
            </a:r>
          </a:p>
          <a:p/>
          <a:p>
            <a:r>
              <a:t>AI Agent Learning HubのAntigravityカード付近に、次の動画をサイト内で再生できる導線を追加してください。</a:t>
            </a:r>
          </a:p>
          <a:p/>
          <a:p>
            <a:r>
              <a:t>- URL: https://www.youtube.com/watch?v=SVCBA-pBgt0</a:t>
            </a:r>
          </a:p>
          <a:p>
            <a:r>
              <a:t>- 動画ID: SVCBA-pBgt0</a:t>
            </a:r>
          </a:p>
          <a:p/>
          <a:p>
            <a:r>
              <a:t>実装前にYouTube oEmbedまたは動画ページで、titleが「Welcome to Google Antigravity」、author_nameが「Google Antigravity」、author_urlが`https://www.youtube.com/@googleantigravity`であることを確認してください。1項目でも確認できなければ「公式」と表示せず、ファイルを変更しないで停止してください。</a:t>
            </a:r>
          </a:p>
          <a:p/>
          <a:p>
            <a:r>
              <a:t>確認できた場合だけ、privacy-enhanced modeの`https://www.youtube-nocookie.com/embed/SVCBA-pBgt0`を使い、Antigravityカードの近くに「Google Antigravity公式紹介動画」として追加してください。モーダルを使う場合は、閉じるボタン、Escape、背景クリック、focus復帰、YouTubeで開くリンクに対応してください。</a:t>
            </a:r>
          </a:p>
          <a:p/>
          <a:p>
            <a:r>
              <a:t>5製品を増やさず、料金、クォータ、他製品の動画、外部フォント、診断、検索、エクスポート、テーマ切替を追加しないでください。commitとpushは実行しないでください。</a:t>
            </a:r>
          </a:p>
          <a:p/>
          <a:p>
            <a:r>
              <a:t>1440x900と390x844で、動画導線、モーダル、キーボード操作、横スクロール、既存の絞り込みと2製品比較を確認し、「出典確認／変更ファイル／ブラウザ確認」を3行で報告してください。</a:t>
            </a:r>
          </a:p>
          <a:p>
            <a:r>
              <a:t>正本: docs/demo/antigravity_workshop/PROMPT_07_OFFICIAL_VIDEO.txt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Q&amp;A / IMAGE</a:t>
            </a:r>
          </a:p>
          <a:p>
            <a:r>
              <a:t>PASTE EXACTLY</a:t>
            </a:r>
          </a:p>
          <a:p/>
          <a:p>
            <a:r>
              <a:t>Prompt 8 / Q&amp;A用: Nano Banana Pro 2で実画像を作って差し替える</a:t>
            </a:r>
          </a:p>
          <a:p/>
          <a:p>
            <a:r>
              <a:t>/frontend-design</a:t>
            </a:r>
          </a:p>
          <a:p/>
          <a:p>
            <a:r>
              <a:t>Antigravityのgenerative image toolを使い、AI Agent Learning Hubのヒーロー用画像を1枚だけ生成してください。実行前にAntigravity公式Modelsページを確認し、generative image toolがNano Banana Pro 2を使用することを確認してください。</a:t>
            </a:r>
          </a:p>
          <a:p/>
          <a:p>
            <a:r>
              <a:t>画像要件:</a:t>
            </a:r>
          </a:p>
          <a:p>
            <a:r>
              <a:t>- 1600x900の横長ラスター画像</a:t>
            </a:r>
          </a:p>
          <a:p>
            <a:r>
              <a:t>- 日本の社内研修で、非エンジニアと開発者がAIエージェントの画面を一緒に確認している実写調</a:t>
            </a:r>
          </a:p>
          <a:p>
            <a:r>
              <a:t>- 画面内に読める文字、製品ロゴ、人物名、顧客情報を入れない</a:t>
            </a:r>
          </a:p>
          <a:p>
            <a:r>
              <a:t>- 既存の明るい業務向け配色と本文の可読性を損なわない</a:t>
            </a:r>
          </a:p>
          <a:p>
            <a:r>
              <a:t>- assets/agent-workflow-hero.pngへ保存し、適切な日本語altを付ける</a:t>
            </a:r>
          </a:p>
          <a:p/>
          <a:p>
            <a:r>
              <a:t>重要:</a:t>
            </a:r>
          </a:p>
          <a:p>
            <a:r>
              <a:t>- CSSの色切替やプリセットを画像生成と呼ばない</a:t>
            </a:r>
          </a:p>
          <a:p>
            <a:r>
              <a:t>- 模擬実装、テーマ切替、別製品、料金、クォータを追加しない</a:t>
            </a:r>
          </a:p>
          <a:p>
            <a:r>
              <a:t>- Toolまたは公式Modelsページを確認できない場合は既存画像を維持し、SKIPPEDと報告する</a:t>
            </a:r>
          </a:p>
          <a:p>
            <a:r>
              <a:t>- commitとpushは実行しない</a:t>
            </a:r>
          </a:p>
          <a:p/>
          <a:p>
            <a:r>
              <a:t>/browserで1440x900と390x844を確認し、「使用したTool／生成画像／ブラウザ確認」を3行で報告してください。</a:t>
            </a:r>
          </a:p>
          <a:p/>
          <a:p>
            <a:r>
              <a:t>公式確認先: https://antigravity.google/docs/models</a:t>
            </a:r>
          </a:p>
          <a:p>
            <a:r>
              <a:t>正本: 本資料 / Prompt 8 - Nano Banana Pro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ARTIFACT COMMENT</a:t>
            </a:r>
          </a:p>
          <a:p>
            <a:r>
              <a:t>PASTE EXACTLY</a:t>
            </a:r>
          </a:p>
          <a:p>
            <a:r>
              <a:t>Prompt 9 / Q&amp;A用: Screenshot Artifactへ位置指定コメントを残す</a:t>
            </a:r>
          </a:p>
          <a:p/>
          <a:p>
            <a:r>
              <a:t>/browser</a:t>
            </a:r>
          </a:p>
          <a:p/>
          <a:p>
            <a:r>
              <a:t>ローカルのAI Agent Learning Hubを1440x900で開き、ページ上部からVisual Feedback用のScreenshot Artifactを1枚作成してください。ファイルはまだ変更せず、Screenshot Artifactが表示されたら停止してください。</a:t>
            </a:r>
          </a:p>
          <a:p/>
          <a:p>
            <a:r>
              <a:t>Artifactが表示されたら、比較サマリーが他の内容へ重なる位置をクリックし、次のコメント全文を貼り付けます。</a:t>
            </a:r>
          </a:p>
          <a:p/>
          <a:p>
            <a:r>
              <a:t>この固定比較サマリーが下のセクションを隠しています。デスクトップでは右下の非遮蔽パネル、モバイルでは通常フローへ変更し、1440x900と390x844で重なり0・横スクロール0を確認してください。ほかの機能、5製品、文言、公式動画、画像は変更しないでください。commitとpushは実行しないでください。</a:t>
            </a:r>
          </a:p>
          <a:p/>
          <a:p>
            <a:r>
              <a:t>修正後は新しいScreenshot Artifactを作り、変更ファイル、重なり検証、維持した範囲を3行で報告してください。</a:t>
            </a:r>
          </a:p>
          <a:p>
            <a:r>
              <a:t>正本: docs/demo/antigravity_workshop/PROMPT_09_VISUAL_FEEDBACK_COMMENT.txt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PROMPT FULL VERBATIM ===</a:t>
            </a:r>
          </a:p>
          <a:p/>
          <a:p>
            <a:r>
              <a:t>RUN AFTER REHEARSAL</a:t>
            </a:r>
          </a:p>
          <a:p>
            <a:r>
              <a:t>npx skills remove frontend-design --agent antigravity -y</a:t>
            </a:r>
          </a:p>
          <a:p>
            <a:r>
              <a:t>$root = (Resolve-Path .agents/skills).Path</a:t>
            </a:r>
          </a:p>
          <a:p>
            <a:r>
              <a:t>$skill = Join-Path $root 'frontend-design'</a:t>
            </a:r>
          </a:p>
          <a:p>
            <a:r>
              <a:t>if (Test-Path $skill) {</a:t>
            </a:r>
          </a:p>
          <a:p>
            <a:r>
              <a:t>  $resolved = (Resolve-Path $skill).Path</a:t>
            </a:r>
          </a:p>
          <a:p>
            <a:r>
              <a:t>  if ((Split-Path $resolved -Parent) -ne $root) { throw 'stop' }</a:t>
            </a:r>
          </a:p>
          <a:p>
            <a:r>
              <a:t>  Remove-Item -LiteralPath $resolved -Recurse -Force</a:t>
            </a:r>
          </a:p>
          <a:p>
            <a:r>
              <a:t>}</a:t>
            </a:r>
          </a:p>
          <a:p>
            <a:r>
              <a:t>Remove-Item .\skills-lock.json -Force -ErrorAction SilentlyContinue</a:t>
            </a:r>
          </a:p>
          <a:p/>
          <a:p>
            <a:r>
              <a:t>Canva: rehearsal designだけをTrashへ移動</a:t>
            </a:r>
          </a:p>
          <a:p>
            <a:r>
              <a:t>残す: Canva MCP接続 / backup PPTX</a:t>
            </a:r>
          </a:p>
          <a:p>
            <a:r>
              <a:t>復元後の5証拠</a:t>
            </a:r>
          </a:p>
          <a:p>
            <a:r>
              <a:t>1  frontend-designがない</a:t>
            </a:r>
          </a:p>
          <a:p/>
          <a:p>
            <a:r>
              <a:t>2  /grill-me と /find-skillsは残る</a:t>
            </a:r>
          </a:p>
          <a:p/>
          <a:p>
            <a:r>
              <a:t>3  rehearsal用PresentationだけがTrash</a:t>
            </a:r>
          </a:p>
          <a:p/>
          <a:p>
            <a:r>
              <a:t>4  公開URLが準備ページへ戻る</a:t>
            </a:r>
          </a:p>
          <a:p/>
          <a:p>
            <a:r>
              <a:t>5  git status --short が空</a:t>
            </a:r>
          </a:p>
          <a:p>
            <a:r>
              <a:t>reset --hard / force push は使わない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実行手順 (Terminal / PowerShell):</a:t>
            </a:r>
          </a:p>
          <a:p>
            <a:r>
              <a:t># 1. cd C:\Users\kanta\GitHub\mighty-link-ai-connect (または専用リポジトリ)</a:t>
            </a:r>
          </a:p>
          <a:p>
            <a:r>
              <a:t># 2. agy を起動してプロンプトを投入:</a:t>
            </a:r>
          </a:p>
          <a:p/>
          <a:p>
            <a:r>
              <a:t>CLI DEMO / READ ONLY</a:t>
            </a:r>
          </a:p>
          <a:p/>
          <a:p>
            <a:r>
              <a:t>Antigravity CLIから、現在の専用デモリポジトリを読み取り専用で監査してください。</a:t>
            </a:r>
          </a:p>
          <a:p/>
          <a:p>
            <a:r>
              <a:t>対象: index.html, styles.css, app.js, SITE_BRIEF.md</a:t>
            </a:r>
          </a:p>
          <a:p>
            <a:r>
              <a:t>制約: ファイル作成・変更・削除なし / shell・通信・git操作なし / 秘密情報非表示</a:t>
            </a:r>
          </a:p>
          <a:p/>
          <a:p>
            <a:r>
              <a:t>次の見出しと順番だけで、日本語の短い結果を返してください:</a:t>
            </a:r>
          </a:p>
          <a:p>
            <a:r>
              <a:t>SURFACE: ANTIGRAVITY CLI</a:t>
            </a:r>
          </a:p>
          <a:p>
            <a:r>
              <a:t>FILES: 読み取れた対象ファイル</a:t>
            </a:r>
          </a:p>
          <a:p>
            <a:r>
              <a:t>PRODUCTS: index.htmlから確認できた製品名と件数</a:t>
            </a:r>
          </a:p>
          <a:p>
            <a:r>
              <a:t>INTERACTIONS: app.jsから確認できた操作を3点以内</a:t>
            </a:r>
          </a:p>
          <a:p>
            <a:r>
              <a:t>SAFETY: SYNTHETIC_DATA_ONLYの有無と、書き込みを行っていないこと</a:t>
            </a:r>
          </a:p>
          <a:p>
            <a:r>
              <a:t>NEXT: Antigravity 2.0でChrome確認する項目を1点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実行手順 (Terminal / Python Environment):</a:t>
            </a:r>
          </a:p>
          <a:p>
            <a:r>
              <a:t># 1. venv環境の有効化: .\venv\Scripts\Activate.ps1</a:t>
            </a:r>
          </a:p>
          <a:p>
            <a:r>
              <a:t># 2. パッケージ確認: pip show google-antigravity</a:t>
            </a:r>
          </a:p>
          <a:p>
            <a:r>
              <a:t># 3. 監査実行: python scripts/verify_public_demo.py --url https://mightylink-app.com/</a:t>
            </a:r>
          </a:p>
          <a:p/>
          <a:p>
            <a:r>
              <a:t>SDK DEMO / READ ONLY</a:t>
            </a:r>
          </a:p>
          <a:p/>
          <a:p>
            <a:r>
              <a:t>現在の作業ディレクトリにあるAI Agent Learning Hubを、読み取り専用で監査してください。</a:t>
            </a:r>
          </a:p>
          <a:p/>
          <a:p>
            <a:r>
              <a:t>index.html、styles.css、app.js、SITE_BRIEF.mdだけを読み、次を日本語で報告してください:</a:t>
            </a:r>
          </a:p>
          <a:p>
            <a:r>
              <a:t>1. 製品カードの件数と製品名</a:t>
            </a:r>
          </a:p>
          <a:p>
            <a:r>
              <a:t>2. フィルターと比較操作の有無</a:t>
            </a:r>
          </a:p>
          <a:p>
            <a:r>
              <a:t>3. SYNTHETIC_DATA_ONLYの有無</a:t>
            </a:r>
          </a:p>
          <a:p>
            <a:r>
              <a:t>4. 画面確認で見るべき点を1つ</a:t>
            </a:r>
          </a:p>
          <a:p/>
          <a:p>
            <a:r>
              <a:t>ファイルの作成、変更、削除、shell command、外部通信、git操作を行わないでください。読み取れない項目は推測せず、NOT_VERIFIEDとしてください。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36776"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6888" y="402336"/>
            <a:ext cx="512064" cy="512064"/>
          </a:xfrm>
          <a:prstGeom prst="rect">
            <a:avLst/>
          </a:prstGeom>
          <a:solidFill>
            <a:srgbClr val="1F2529"/>
          </a:solidFill>
          <a:ln w="3175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6888" y="402336"/>
            <a:ext cx="512064" cy="512064"/>
          </a:xfrm>
          <a:prstGeom prst="rect">
            <a:avLst/>
          </a:prstGeom>
          <a:noFill/>
        </p:spPr>
        <p:txBody>
          <a:bodyPr wrap="square" anchor="ctr" lIns="36576" rIns="36576" tIns="36576" bIns="36576">
            <a:spAutoFit/>
          </a:bodyPr>
          <a:lstStyle/>
          <a:p>
            <a:pPr algn="ctr"/>
            <a:r>
              <a:rPr sz="2400" b="1">
                <a:solidFill>
                  <a:srgbClr val="FFFFFF"/>
                </a:solidFill>
                <a:latin typeface="Yu Mincho"/>
              </a:rPr>
              <a:t>M</a:t>
            </a:r>
          </a:p>
        </p:txBody>
      </p:sp>
      <p:sp>
        <p:nvSpPr>
          <p:cNvPr id="6" name="TextBox 5"/>
          <p:cNvSpPr txBox="1"/>
          <p:nvPr/>
        </p:nvSpPr>
        <p:spPr>
          <a:xfrm>
            <a:off x="265176" y="5852160"/>
            <a:ext cx="1280160" cy="548640"/>
          </a:xfrm>
          <a:prstGeom prst="rect">
            <a:avLst/>
          </a:prstGeom>
          <a:noFill/>
        </p:spPr>
        <p:txBody>
          <a:bodyPr wrap="square" anchor="t" lIns="36576" rIns="36576" tIns="36576" bIns="36576">
            <a:spAutoFit/>
          </a:bodyPr>
          <a:lstStyle/>
          <a:p>
            <a:pPr algn="l"/>
            <a:r>
              <a:rPr sz="950" b="1">
                <a:solidFill>
                  <a:srgbClr val="FFFFFF"/>
                </a:solidFill>
                <a:latin typeface="Consolas"/>
              </a:rPr>
              <a:t>MIGHTYLINK
AI TRAINING</a:t>
            </a:r>
          </a:p>
        </p:txBody>
      </p:sp>
      <p:sp>
        <p:nvSpPr>
          <p:cNvPr id="7" name="TextBox 6"/>
          <p:cNvSpPr txBox="1"/>
          <p:nvPr/>
        </p:nvSpPr>
        <p:spPr>
          <a:xfrm>
            <a:off x="2075688" y="640080"/>
            <a:ext cx="6675120" cy="274320"/>
          </a:xfrm>
          <a:prstGeom prst="rect">
            <a:avLst/>
          </a:prstGeom>
          <a:noFill/>
        </p:spPr>
        <p:txBody>
          <a:bodyPr wrap="square" anchor="t" lIns="36576" rIns="36576" tIns="36576" bIns="36576">
            <a:spAutoFit/>
          </a:bodyPr>
          <a:lstStyle/>
          <a:p>
            <a:pPr algn="l"/>
            <a:r>
              <a:rPr sz="1100" b="1">
                <a:solidFill>
                  <a:srgbClr val="008B8B"/>
                </a:solidFill>
                <a:latin typeface="Consolas"/>
              </a:rPr>
              <a:t>MIGHTYLINK  |  ANTIGRAVITY 2.0 LIVE DEMO</a:t>
            </a:r>
          </a:p>
        </p:txBody>
      </p:sp>
      <p:sp>
        <p:nvSpPr>
          <p:cNvPr id="8" name="TextBox 7"/>
          <p:cNvSpPr txBox="1"/>
          <p:nvPr/>
        </p:nvSpPr>
        <p:spPr>
          <a:xfrm>
            <a:off x="2057400" y="1051560"/>
            <a:ext cx="6675120" cy="1371600"/>
          </a:xfrm>
          <a:prstGeom prst="rect">
            <a:avLst/>
          </a:prstGeom>
          <a:noFill/>
        </p:spPr>
        <p:txBody>
          <a:bodyPr wrap="square" anchor="t" lIns="36576" rIns="36576" tIns="36576" bIns="36576">
            <a:spAutoFit/>
          </a:bodyPr>
          <a:lstStyle/>
          <a:p>
            <a:pPr algn="l"/>
            <a:r>
              <a:rPr sz="3800" b="1">
                <a:solidFill>
                  <a:srgbClr val="17191C"/>
                </a:solidFill>
                <a:latin typeface="Yu Mincho"/>
              </a:rPr>
              <a:t>AIエージェントでWeb制作を
30分で体験する</a:t>
            </a:r>
          </a:p>
        </p:txBody>
      </p:sp>
      <p:sp>
        <p:nvSpPr>
          <p:cNvPr id="9" name="Rectangle 8"/>
          <p:cNvSpPr/>
          <p:nvPr/>
        </p:nvSpPr>
        <p:spPr>
          <a:xfrm>
            <a:off x="2075688" y="2606040"/>
            <a:ext cx="1069848" cy="54864"/>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688" y="2834640"/>
            <a:ext cx="6675120" cy="365760"/>
          </a:xfrm>
          <a:prstGeom prst="rect">
            <a:avLst/>
          </a:prstGeom>
          <a:noFill/>
        </p:spPr>
        <p:txBody>
          <a:bodyPr wrap="square" anchor="t" lIns="36576" rIns="36576" tIns="36576" bIns="36576">
            <a:spAutoFit/>
          </a:bodyPr>
          <a:lstStyle/>
          <a:p>
            <a:pPr algn="l"/>
            <a:r>
              <a:rPr sz="1500" b="1">
                <a:solidFill>
                  <a:srgbClr val="17191C"/>
                </a:solidFill>
                <a:latin typeface="Yu Gothic"/>
              </a:rPr>
              <a:t>テスト仕様 → Web実装 → Canva MCP → PowerPoint → 公開</a:t>
            </a:r>
          </a:p>
        </p:txBody>
      </p:sp>
      <p:sp>
        <p:nvSpPr>
          <p:cNvPr id="11" name="TextBox 10"/>
          <p:cNvSpPr txBox="1"/>
          <p:nvPr/>
        </p:nvSpPr>
        <p:spPr>
          <a:xfrm>
            <a:off x="2075688" y="3246120"/>
            <a:ext cx="6675120" cy="320040"/>
          </a:xfrm>
          <a:prstGeom prst="rect">
            <a:avLst/>
          </a:prstGeom>
          <a:noFill/>
        </p:spPr>
        <p:txBody>
          <a:bodyPr wrap="square" anchor="t" lIns="36576" rIns="36576" tIns="36576" bIns="36576">
            <a:spAutoFit/>
          </a:bodyPr>
          <a:lstStyle/>
          <a:p>
            <a:pPr algn="l"/>
            <a:r>
              <a:rPr sz="1300" b="0">
                <a:solidFill>
                  <a:srgbClr val="555D63"/>
                </a:solidFill>
                <a:latin typeface="Yu Gothic"/>
              </a:rPr>
              <a:t>成果物: AI Agent Learning Hub + 編集可能PPTX</a:t>
            </a:r>
          </a:p>
        </p:txBody>
      </p:sp>
      <p:sp>
        <p:nvSpPr>
          <p:cNvPr id="12" name="TextBox 11"/>
          <p:cNvSpPr txBox="1"/>
          <p:nvPr/>
        </p:nvSpPr>
        <p:spPr>
          <a:xfrm>
            <a:off x="2075688" y="4389120"/>
            <a:ext cx="6675120" cy="274320"/>
          </a:xfrm>
          <a:prstGeom prst="rect">
            <a:avLst/>
          </a:prstGeom>
          <a:noFill/>
        </p:spPr>
        <p:txBody>
          <a:bodyPr wrap="square" anchor="t" lIns="36576" rIns="36576" tIns="36576" bIns="36576">
            <a:spAutoFit/>
          </a:bodyPr>
          <a:lstStyle/>
          <a:p>
            <a:pPr algn="l"/>
            <a:r>
              <a:rPr sz="1050" b="0">
                <a:solidFill>
                  <a:srgbClr val="555D63"/>
                </a:solidFill>
                <a:latin typeface="Consolas"/>
              </a:rPr>
              <a:t>30分デモ  |  Antigravity 2.0 + Canva MCP  |  30分 Q&amp;A・予備       2026.08.26</a:t>
            </a:r>
          </a:p>
        </p:txBody>
      </p:sp>
      <p:sp>
        <p:nvSpPr>
          <p:cNvPr id="13" name="TextBox 12"/>
          <p:cNvSpPr txBox="1"/>
          <p:nvPr/>
        </p:nvSpPr>
        <p:spPr>
          <a:xfrm>
            <a:off x="2075688" y="4892040"/>
            <a:ext cx="6675120" cy="731520"/>
          </a:xfrm>
          <a:prstGeom prst="rect">
            <a:avLst/>
          </a:prstGeom>
          <a:noFill/>
        </p:spPr>
        <p:txBody>
          <a:bodyPr wrap="square" anchor="t" lIns="36576" rIns="36576" tIns="36576" bIns="36576">
            <a:spAutoFit/>
          </a:bodyPr>
          <a:lstStyle/>
          <a:p>
            <a:pPr algn="l"/>
            <a:r>
              <a:rPr sz="1600" b="1">
                <a:solidFill>
                  <a:srgbClr val="17191C"/>
                </a:solidFill>
                <a:latin typeface="Yu Mincho"/>
              </a:rPr>
              <a:t>株式会社MightyLINK
GOOGLE ANTIGRAVITY 2.0</a:t>
            </a:r>
          </a:p>
        </p:txBody>
      </p:sp>
      <p:sp>
        <p:nvSpPr>
          <p:cNvPr id="14" name="Rectangle 13"/>
          <p:cNvSpPr/>
          <p:nvPr/>
        </p:nvSpPr>
        <p:spPr>
          <a:xfrm>
            <a:off x="9144000" y="0"/>
            <a:ext cx="3047695" cy="6858000"/>
          </a:xfrm>
          <a:prstGeom prst="rect">
            <a:avLst/>
          </a:prstGeom>
          <a:solidFill>
            <a:srgbClr val="EEF5F5"/>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92640" y="1188720"/>
            <a:ext cx="704088" cy="704088"/>
          </a:xfrm>
          <a:prstGeom prst="round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0" y="1389888"/>
            <a:ext cx="704088" cy="320040"/>
          </a:xfrm>
          <a:prstGeom prst="rect">
            <a:avLst/>
          </a:prstGeom>
          <a:noFill/>
        </p:spPr>
        <p:txBody>
          <a:bodyPr wrap="square" anchor="t" lIns="36576" rIns="36576" tIns="36576" bIns="36576">
            <a:spAutoFit/>
          </a:bodyPr>
          <a:lstStyle/>
          <a:p>
            <a:pPr algn="ctr"/>
            <a:r>
              <a:rPr sz="1000" b="1">
                <a:solidFill>
                  <a:srgbClr val="FFFFFF"/>
                </a:solidFill>
                <a:latin typeface="Consolas"/>
              </a:rPr>
              <a:t>TEST</a:t>
            </a:r>
          </a:p>
        </p:txBody>
      </p:sp>
      <p:sp>
        <p:nvSpPr>
          <p:cNvPr id="17" name="Rounded Rectangle 16"/>
          <p:cNvSpPr/>
          <p:nvPr/>
        </p:nvSpPr>
        <p:spPr>
          <a:xfrm>
            <a:off x="10789920" y="2468880"/>
            <a:ext cx="704088" cy="704088"/>
          </a:xfrm>
          <a:prstGeom prst="round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9920" y="2670048"/>
            <a:ext cx="704088" cy="320040"/>
          </a:xfrm>
          <a:prstGeom prst="rect">
            <a:avLst/>
          </a:prstGeom>
          <a:noFill/>
        </p:spPr>
        <p:txBody>
          <a:bodyPr wrap="square" anchor="t" lIns="36576" rIns="36576" tIns="36576" bIns="36576">
            <a:spAutoFit/>
          </a:bodyPr>
          <a:lstStyle/>
          <a:p>
            <a:pPr algn="ctr"/>
            <a:r>
              <a:rPr sz="1000" b="1">
                <a:solidFill>
                  <a:srgbClr val="FFFFFF"/>
                </a:solidFill>
                <a:latin typeface="Consolas"/>
              </a:rPr>
              <a:t>WEB</a:t>
            </a:r>
          </a:p>
        </p:txBody>
      </p:sp>
      <p:sp>
        <p:nvSpPr>
          <p:cNvPr id="19" name="Rounded Rectangle 18"/>
          <p:cNvSpPr/>
          <p:nvPr/>
        </p:nvSpPr>
        <p:spPr>
          <a:xfrm>
            <a:off x="9601200" y="3840480"/>
            <a:ext cx="704088" cy="704088"/>
          </a:xfrm>
          <a:prstGeom prst="round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4041648"/>
            <a:ext cx="704088" cy="320040"/>
          </a:xfrm>
          <a:prstGeom prst="rect">
            <a:avLst/>
          </a:prstGeom>
          <a:noFill/>
        </p:spPr>
        <p:txBody>
          <a:bodyPr wrap="square" anchor="t" lIns="36576" rIns="36576" tIns="36576" bIns="36576">
            <a:spAutoFit/>
          </a:bodyPr>
          <a:lstStyle/>
          <a:p>
            <a:pPr algn="ctr"/>
            <a:r>
              <a:rPr sz="1000" b="1">
                <a:solidFill>
                  <a:srgbClr val="FFFFFF"/>
                </a:solidFill>
                <a:latin typeface="Consolas"/>
              </a:rPr>
              <a:t>MCP</a:t>
            </a:r>
          </a:p>
        </p:txBody>
      </p:sp>
      <p:sp>
        <p:nvSpPr>
          <p:cNvPr id="21" name="Rounded Rectangle 20"/>
          <p:cNvSpPr/>
          <p:nvPr/>
        </p:nvSpPr>
        <p:spPr>
          <a:xfrm>
            <a:off x="10789920" y="5120640"/>
            <a:ext cx="704088" cy="704088"/>
          </a:xfrm>
          <a:prstGeom prst="roundRect">
            <a:avLst/>
          </a:prstGeom>
          <a:solidFill>
            <a:srgbClr val="B6D957"/>
          </a:solidFill>
          <a:ln w="12700">
            <a:solidFill>
              <a:srgbClr val="B6D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0" y="5321807"/>
            <a:ext cx="704088" cy="320040"/>
          </a:xfrm>
          <a:prstGeom prst="rect">
            <a:avLst/>
          </a:prstGeom>
          <a:noFill/>
        </p:spPr>
        <p:txBody>
          <a:bodyPr wrap="square" anchor="t" lIns="36576" rIns="36576" tIns="36576" bIns="36576">
            <a:spAutoFit/>
          </a:bodyPr>
          <a:lstStyle/>
          <a:p>
            <a:pPr algn="ctr"/>
            <a:r>
              <a:rPr sz="1000" b="1">
                <a:solidFill>
                  <a:srgbClr val="FFFFFF"/>
                </a:solidFill>
                <a:latin typeface="Consolas"/>
              </a:rPr>
              <a:t>PPTX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B6D957"/>
          </a:solidFill>
          <a:ln w="12700">
            <a:solidFill>
              <a:srgbClr val="B6D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02</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02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LEARNING OUTCOMES  |  30 MINUTES</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30分後、Web制作を任せる流れを3つの観点で説明できます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01
説明できる
期待結果 → Tool → テスト → 証拠
会話だけで終わらせない
02
使い分けられる
Skill / MCP
仕事の型と外部接続を分ける
03
安全に任せられる
目的・権限・承認・停止条件
人が持つ責任を外さない
成果物は学習サイト。学ぶ対象は『AIエージェントとの仕事の進め方』です。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03</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03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ORIENTATION  |  FIVE PRODUCTS</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同じAIエージェントでも、得意な仕事と操作面が違います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Codex
主戦場: ソフトウェア開発 + 周辺業務
操作面: desktop / CLI / IDE / cloud</a:t>
            </a:r>
          </a:p>
        </p:txBody>
      </p:sp>
      <p:sp>
        <p:nvSpPr>
          <p:cNvPr id="17" name="Rounded Rectangle 16"/>
          <p:cNvSpPr/>
          <p:nvPr/>
        </p:nvSpPr>
        <p:spPr>
          <a:xfrm>
            <a:off x="4504944"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42104"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2104"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Claude Code
主戦場: ソフトウェア開発
操作面: terminal / IDE / desktop / web</a:t>
            </a:r>
          </a:p>
        </p:txBody>
      </p:sp>
      <p:sp>
        <p:nvSpPr>
          <p:cNvPr id="20" name="Rounded Rectangle 19"/>
          <p:cNvSpPr/>
          <p:nvPr/>
        </p:nvSpPr>
        <p:spPr>
          <a:xfrm>
            <a:off x="8186928"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4088" y="152704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4088"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Claude Cowork
主戦場: ナレッジワーク + 複数Toolをまたぐ業務
操作面: desktop / web / mobile（beta）</a:t>
            </a:r>
          </a:p>
        </p:txBody>
      </p:sp>
      <p:sp>
        <p:nvSpPr>
          <p:cNvPr id="23" name="Rounded Rectangle 22"/>
          <p:cNvSpPr/>
          <p:nvPr/>
        </p:nvSpPr>
        <p:spPr>
          <a:xfrm>
            <a:off x="822960"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39044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Kiro
主戦場: 仕様駆動開発
操作面: IDE / CLI / Web</a:t>
            </a:r>
          </a:p>
        </p:txBody>
      </p:sp>
      <p:sp>
        <p:nvSpPr>
          <p:cNvPr id="26" name="Rounded Rectangle 25"/>
          <p:cNvSpPr/>
          <p:nvPr/>
        </p:nvSpPr>
        <p:spPr>
          <a:xfrm>
            <a:off x="4504944"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42104" y="390448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2104"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Antigravity
主戦場: エージェント統括 + コーディング + ナレッジワーク
操作面: Antigravity 2.0 / CLI / SDK</a:t>
            </a:r>
          </a:p>
        </p:txBody>
      </p:sp>
      <p:sp>
        <p:nvSpPr>
          <p:cNvPr id="29" name="Rounded Rectangle 28"/>
          <p:cNvSpPr/>
          <p:nvPr/>
        </p:nvSpPr>
        <p:spPr>
          <a:xfrm>
            <a:off x="8186928"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4088" y="390448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4088"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機能名は2026-08-16時点の公式情報。デモ当日にも再確認します。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04</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04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COMPARISON 01  |  WORK</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何を頼みたいかで、最初に触る製品を選びます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463040"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1408176"/>
            <a:ext cx="1316736" cy="637032"/>
          </a:xfrm>
          <a:prstGeom prst="rect">
            <a:avLst/>
          </a:prstGeom>
          <a:noFill/>
        </p:spPr>
        <p:txBody>
          <a:bodyPr wrap="square" anchor="t" lIns="36576" rIns="36576" tIns="36576" bIns="36576">
            <a:spAutoFit/>
          </a:bodyPr>
          <a:lstStyle/>
          <a:p>
            <a:pPr algn="l"/>
            <a:r>
              <a:rPr sz="1150" b="1">
                <a:solidFill>
                  <a:srgbClr val="FFFFFF"/>
                </a:solidFill>
                <a:latin typeface="Yu Gothic"/>
              </a:rPr>
              <a:t>製品</a:t>
            </a:r>
          </a:p>
        </p:txBody>
      </p:sp>
      <p:sp>
        <p:nvSpPr>
          <p:cNvPr id="16" name="Rectangle 15"/>
          <p:cNvSpPr/>
          <p:nvPr/>
        </p:nvSpPr>
        <p:spPr>
          <a:xfrm>
            <a:off x="2286000" y="1353312"/>
            <a:ext cx="3108960"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59152" y="1408176"/>
            <a:ext cx="2962656" cy="637032"/>
          </a:xfrm>
          <a:prstGeom prst="rect">
            <a:avLst/>
          </a:prstGeom>
          <a:noFill/>
        </p:spPr>
        <p:txBody>
          <a:bodyPr wrap="square" anchor="t" lIns="36576" rIns="36576" tIns="36576" bIns="36576">
            <a:spAutoFit/>
          </a:bodyPr>
          <a:lstStyle/>
          <a:p>
            <a:pPr algn="l"/>
            <a:r>
              <a:rPr sz="1150" b="1">
                <a:solidFill>
                  <a:srgbClr val="FFFFFF"/>
                </a:solidFill>
                <a:latin typeface="Yu Gothic"/>
              </a:rPr>
              <a:t>向いている仕事</a:t>
            </a:r>
          </a:p>
        </p:txBody>
      </p:sp>
      <p:sp>
        <p:nvSpPr>
          <p:cNvPr id="18" name="Rectangle 17"/>
          <p:cNvSpPr/>
          <p:nvPr/>
        </p:nvSpPr>
        <p:spPr>
          <a:xfrm>
            <a:off x="5394960" y="1353312"/>
            <a:ext cx="2926080"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68112" y="1408176"/>
            <a:ext cx="2779776" cy="637032"/>
          </a:xfrm>
          <a:prstGeom prst="rect">
            <a:avLst/>
          </a:prstGeom>
          <a:noFill/>
        </p:spPr>
        <p:txBody>
          <a:bodyPr wrap="square" anchor="t" lIns="36576" rIns="36576" tIns="36576" bIns="36576">
            <a:spAutoFit/>
          </a:bodyPr>
          <a:lstStyle/>
          <a:p>
            <a:pPr algn="l"/>
            <a:r>
              <a:rPr sz="1150" b="1">
                <a:solidFill>
                  <a:srgbClr val="FFFFFF"/>
                </a:solidFill>
                <a:latin typeface="Yu Gothic"/>
              </a:rPr>
              <a:t>主な実行面</a:t>
            </a:r>
          </a:p>
        </p:txBody>
      </p:sp>
      <p:sp>
        <p:nvSpPr>
          <p:cNvPr id="20" name="Rectangle 19"/>
          <p:cNvSpPr/>
          <p:nvPr/>
        </p:nvSpPr>
        <p:spPr>
          <a:xfrm>
            <a:off x="8321040" y="1353312"/>
            <a:ext cx="3319272"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94192" y="1408176"/>
            <a:ext cx="3172968" cy="637032"/>
          </a:xfrm>
          <a:prstGeom prst="rect">
            <a:avLst/>
          </a:prstGeom>
          <a:noFill/>
        </p:spPr>
        <p:txBody>
          <a:bodyPr wrap="square" anchor="t" lIns="36576" rIns="36576" tIns="36576" bIns="36576">
            <a:spAutoFit/>
          </a:bodyPr>
          <a:lstStyle/>
          <a:p>
            <a:pPr algn="l"/>
            <a:r>
              <a:rPr sz="1150" b="1">
                <a:solidFill>
                  <a:srgbClr val="FFFFFF"/>
                </a:solidFill>
                <a:latin typeface="Yu Gothic"/>
              </a:rPr>
              <a:t>最初の一歩</a:t>
            </a:r>
          </a:p>
        </p:txBody>
      </p:sp>
      <p:sp>
        <p:nvSpPr>
          <p:cNvPr id="22" name="Rectangle 21"/>
          <p:cNvSpPr/>
          <p:nvPr/>
        </p:nvSpPr>
        <p:spPr>
          <a:xfrm>
            <a:off x="822960" y="2100072"/>
            <a:ext cx="14630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2154936"/>
            <a:ext cx="1316736" cy="637032"/>
          </a:xfrm>
          <a:prstGeom prst="rect">
            <a:avLst/>
          </a:prstGeom>
          <a:noFill/>
        </p:spPr>
        <p:txBody>
          <a:bodyPr wrap="square" anchor="t" lIns="36576" rIns="36576" tIns="36576" bIns="36576">
            <a:spAutoFit/>
          </a:bodyPr>
          <a:lstStyle/>
          <a:p>
            <a:pPr algn="l"/>
            <a:r>
              <a:rPr sz="1150" b="0">
                <a:solidFill>
                  <a:srgbClr val="17191C"/>
                </a:solidFill>
                <a:latin typeface="Yu Gothic"/>
              </a:rPr>
              <a:t>Codex</a:t>
            </a:r>
          </a:p>
        </p:txBody>
      </p:sp>
      <p:sp>
        <p:nvSpPr>
          <p:cNvPr id="24" name="Rectangle 23"/>
          <p:cNvSpPr/>
          <p:nvPr/>
        </p:nvSpPr>
        <p:spPr>
          <a:xfrm>
            <a:off x="2286000" y="2100072"/>
            <a:ext cx="310896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59152" y="2154936"/>
            <a:ext cx="2962656" cy="637032"/>
          </a:xfrm>
          <a:prstGeom prst="rect">
            <a:avLst/>
          </a:prstGeom>
          <a:noFill/>
        </p:spPr>
        <p:txBody>
          <a:bodyPr wrap="square" anchor="t" lIns="36576" rIns="36576" tIns="36576" bIns="36576">
            <a:spAutoFit/>
          </a:bodyPr>
          <a:lstStyle/>
          <a:p>
            <a:pPr algn="l"/>
            <a:r>
              <a:rPr sz="1150" b="0">
                <a:solidFill>
                  <a:srgbClr val="17191C"/>
                </a:solidFill>
                <a:latin typeface="Yu Gothic"/>
              </a:rPr>
              <a:t>理解・実装・修正・テスト・レビュー</a:t>
            </a:r>
          </a:p>
        </p:txBody>
      </p:sp>
      <p:sp>
        <p:nvSpPr>
          <p:cNvPr id="26" name="Rectangle 25"/>
          <p:cNvSpPr/>
          <p:nvPr/>
        </p:nvSpPr>
        <p:spPr>
          <a:xfrm>
            <a:off x="5394960" y="2100072"/>
            <a:ext cx="292608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68112" y="2154936"/>
            <a:ext cx="2779776" cy="637032"/>
          </a:xfrm>
          <a:prstGeom prst="rect">
            <a:avLst/>
          </a:prstGeom>
          <a:noFill/>
        </p:spPr>
        <p:txBody>
          <a:bodyPr wrap="square" anchor="t" lIns="36576" rIns="36576" tIns="36576" bIns="36576">
            <a:spAutoFit/>
          </a:bodyPr>
          <a:lstStyle/>
          <a:p>
            <a:pPr algn="l"/>
            <a:r>
              <a:rPr sz="1150" b="0">
                <a:solidFill>
                  <a:srgbClr val="17191C"/>
                </a:solidFill>
                <a:latin typeface="Yu Gothic"/>
              </a:rPr>
              <a:t>desktop / CLI / IDE / cloud</a:t>
            </a:r>
          </a:p>
        </p:txBody>
      </p:sp>
      <p:sp>
        <p:nvSpPr>
          <p:cNvPr id="28" name="Rectangle 27"/>
          <p:cNvSpPr/>
          <p:nvPr/>
        </p:nvSpPr>
        <p:spPr>
          <a:xfrm>
            <a:off x="8321040" y="2100072"/>
            <a:ext cx="331927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94192" y="2154936"/>
            <a:ext cx="3172968" cy="637032"/>
          </a:xfrm>
          <a:prstGeom prst="rect">
            <a:avLst/>
          </a:prstGeom>
          <a:noFill/>
        </p:spPr>
        <p:txBody>
          <a:bodyPr wrap="square" anchor="t" lIns="36576" rIns="36576" tIns="36576" bIns="36576">
            <a:spAutoFit/>
          </a:bodyPr>
          <a:lstStyle/>
          <a:p>
            <a:pPr algn="l"/>
            <a:r>
              <a:rPr sz="1150" b="0">
                <a:solidFill>
                  <a:srgbClr val="17191C"/>
                </a:solidFill>
                <a:latin typeface="Yu Gothic"/>
              </a:rPr>
              <a:t>小さな不具合を調査し、修正とテストまで</a:t>
            </a:r>
          </a:p>
        </p:txBody>
      </p:sp>
      <p:sp>
        <p:nvSpPr>
          <p:cNvPr id="30" name="Rectangle 29"/>
          <p:cNvSpPr/>
          <p:nvPr/>
        </p:nvSpPr>
        <p:spPr>
          <a:xfrm>
            <a:off x="822960" y="2846832"/>
            <a:ext cx="14630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2901696"/>
            <a:ext cx="1316736" cy="637032"/>
          </a:xfrm>
          <a:prstGeom prst="rect">
            <a:avLst/>
          </a:prstGeom>
          <a:noFill/>
        </p:spPr>
        <p:txBody>
          <a:bodyPr wrap="square" anchor="t" lIns="36576" rIns="36576" tIns="36576" bIns="36576">
            <a:spAutoFit/>
          </a:bodyPr>
          <a:lstStyle/>
          <a:p>
            <a:pPr algn="l"/>
            <a:r>
              <a:rPr sz="1150" b="0">
                <a:solidFill>
                  <a:srgbClr val="17191C"/>
                </a:solidFill>
                <a:latin typeface="Yu Gothic"/>
              </a:rPr>
              <a:t>Claude Code</a:t>
            </a:r>
          </a:p>
        </p:txBody>
      </p:sp>
      <p:sp>
        <p:nvSpPr>
          <p:cNvPr id="32" name="Rectangle 31"/>
          <p:cNvSpPr/>
          <p:nvPr/>
        </p:nvSpPr>
        <p:spPr>
          <a:xfrm>
            <a:off x="2286000" y="2846832"/>
            <a:ext cx="310896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59152" y="2901696"/>
            <a:ext cx="2962656" cy="637032"/>
          </a:xfrm>
          <a:prstGeom prst="rect">
            <a:avLst/>
          </a:prstGeom>
          <a:noFill/>
        </p:spPr>
        <p:txBody>
          <a:bodyPr wrap="square" anchor="t" lIns="36576" rIns="36576" tIns="36576" bIns="36576">
            <a:spAutoFit/>
          </a:bodyPr>
          <a:lstStyle/>
          <a:p>
            <a:pPr algn="l"/>
            <a:r>
              <a:rPr sz="1150" b="0">
                <a:solidFill>
                  <a:srgbClr val="17191C"/>
                </a:solidFill>
                <a:latin typeface="Yu Gothic"/>
              </a:rPr>
              <a:t>複数ファイル開発・Git・反復自動化</a:t>
            </a:r>
          </a:p>
        </p:txBody>
      </p:sp>
      <p:sp>
        <p:nvSpPr>
          <p:cNvPr id="34" name="Rectangle 33"/>
          <p:cNvSpPr/>
          <p:nvPr/>
        </p:nvSpPr>
        <p:spPr>
          <a:xfrm>
            <a:off x="5394960" y="2846832"/>
            <a:ext cx="292608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68112" y="2901696"/>
            <a:ext cx="2779776" cy="637032"/>
          </a:xfrm>
          <a:prstGeom prst="rect">
            <a:avLst/>
          </a:prstGeom>
          <a:noFill/>
        </p:spPr>
        <p:txBody>
          <a:bodyPr wrap="square" anchor="t" lIns="36576" rIns="36576" tIns="36576" bIns="36576">
            <a:spAutoFit/>
          </a:bodyPr>
          <a:lstStyle/>
          <a:p>
            <a:pPr algn="l"/>
            <a:r>
              <a:rPr sz="1150" b="0">
                <a:solidFill>
                  <a:srgbClr val="17191C"/>
                </a:solidFill>
                <a:latin typeface="Yu Gothic"/>
              </a:rPr>
              <a:t>terminal / IDE / desktop / web</a:t>
            </a:r>
          </a:p>
        </p:txBody>
      </p:sp>
      <p:sp>
        <p:nvSpPr>
          <p:cNvPr id="36" name="Rectangle 35"/>
          <p:cNvSpPr/>
          <p:nvPr/>
        </p:nvSpPr>
        <p:spPr>
          <a:xfrm>
            <a:off x="8321040" y="2846832"/>
            <a:ext cx="331927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94192" y="2901696"/>
            <a:ext cx="3172968" cy="637032"/>
          </a:xfrm>
          <a:prstGeom prst="rect">
            <a:avLst/>
          </a:prstGeom>
          <a:noFill/>
        </p:spPr>
        <p:txBody>
          <a:bodyPr wrap="square" anchor="t" lIns="36576" rIns="36576" tIns="36576" bIns="36576">
            <a:spAutoFit/>
          </a:bodyPr>
          <a:lstStyle/>
          <a:p>
            <a:pPr algn="l"/>
            <a:r>
              <a:rPr sz="1150" b="0">
                <a:solidFill>
                  <a:srgbClr val="17191C"/>
                </a:solidFill>
                <a:latin typeface="Yu Gothic"/>
              </a:rPr>
              <a:t>未テスト機能へテストを追加して修正</a:t>
            </a:r>
          </a:p>
        </p:txBody>
      </p:sp>
      <p:sp>
        <p:nvSpPr>
          <p:cNvPr id="38" name="Rectangle 37"/>
          <p:cNvSpPr/>
          <p:nvPr/>
        </p:nvSpPr>
        <p:spPr>
          <a:xfrm>
            <a:off x="822960" y="3593592"/>
            <a:ext cx="14630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3648456"/>
            <a:ext cx="1316736" cy="637032"/>
          </a:xfrm>
          <a:prstGeom prst="rect">
            <a:avLst/>
          </a:prstGeom>
          <a:noFill/>
        </p:spPr>
        <p:txBody>
          <a:bodyPr wrap="square" anchor="t" lIns="36576" rIns="36576" tIns="36576" bIns="36576">
            <a:spAutoFit/>
          </a:bodyPr>
          <a:lstStyle/>
          <a:p>
            <a:pPr algn="l"/>
            <a:r>
              <a:rPr sz="1150" b="0">
                <a:solidFill>
                  <a:srgbClr val="17191C"/>
                </a:solidFill>
                <a:latin typeface="Yu Gothic"/>
              </a:rPr>
              <a:t>Claude Cowork</a:t>
            </a:r>
          </a:p>
        </p:txBody>
      </p:sp>
      <p:sp>
        <p:nvSpPr>
          <p:cNvPr id="40" name="Rectangle 39"/>
          <p:cNvSpPr/>
          <p:nvPr/>
        </p:nvSpPr>
        <p:spPr>
          <a:xfrm>
            <a:off x="2286000" y="3593592"/>
            <a:ext cx="310896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59152" y="3648456"/>
            <a:ext cx="2962656" cy="637032"/>
          </a:xfrm>
          <a:prstGeom prst="rect">
            <a:avLst/>
          </a:prstGeom>
          <a:noFill/>
        </p:spPr>
        <p:txBody>
          <a:bodyPr wrap="square" anchor="t" lIns="36576" rIns="36576" tIns="36576" bIns="36576">
            <a:spAutoFit/>
          </a:bodyPr>
          <a:lstStyle/>
          <a:p>
            <a:pPr algn="l"/>
            <a:r>
              <a:rPr sz="1150" b="0">
                <a:solidFill>
                  <a:srgbClr val="17191C"/>
                </a:solidFill>
                <a:latin typeface="Yu Gothic"/>
              </a:rPr>
              <a:t>調査・資料・表計算・複数Toolの業務</a:t>
            </a:r>
          </a:p>
        </p:txBody>
      </p:sp>
      <p:sp>
        <p:nvSpPr>
          <p:cNvPr id="42" name="Rectangle 41"/>
          <p:cNvSpPr/>
          <p:nvPr/>
        </p:nvSpPr>
        <p:spPr>
          <a:xfrm>
            <a:off x="5394960" y="3593592"/>
            <a:ext cx="292608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68112" y="3648456"/>
            <a:ext cx="2779776" cy="637032"/>
          </a:xfrm>
          <a:prstGeom prst="rect">
            <a:avLst/>
          </a:prstGeom>
          <a:noFill/>
        </p:spPr>
        <p:txBody>
          <a:bodyPr wrap="square" anchor="t" lIns="36576" rIns="36576" tIns="36576" bIns="36576">
            <a:spAutoFit/>
          </a:bodyPr>
          <a:lstStyle/>
          <a:p>
            <a:pPr algn="l"/>
            <a:r>
              <a:rPr sz="1150" b="0">
                <a:solidFill>
                  <a:srgbClr val="17191C"/>
                </a:solidFill>
                <a:latin typeface="Yu Gothic"/>
              </a:rPr>
              <a:t>desktop / web / mobile（beta）</a:t>
            </a:r>
          </a:p>
        </p:txBody>
      </p:sp>
      <p:sp>
        <p:nvSpPr>
          <p:cNvPr id="44" name="Rectangle 43"/>
          <p:cNvSpPr/>
          <p:nvPr/>
        </p:nvSpPr>
        <p:spPr>
          <a:xfrm>
            <a:off x="8321040" y="3593592"/>
            <a:ext cx="331927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94192" y="3648456"/>
            <a:ext cx="3172968" cy="637032"/>
          </a:xfrm>
          <a:prstGeom prst="rect">
            <a:avLst/>
          </a:prstGeom>
          <a:noFill/>
        </p:spPr>
        <p:txBody>
          <a:bodyPr wrap="square" anchor="t" lIns="36576" rIns="36576" tIns="36576" bIns="36576">
            <a:spAutoFit/>
          </a:bodyPr>
          <a:lstStyle/>
          <a:p>
            <a:pPr algn="l"/>
            <a:r>
              <a:rPr sz="1150" b="0">
                <a:solidFill>
                  <a:srgbClr val="17191C"/>
                </a:solidFill>
                <a:latin typeface="Yu Gothic"/>
              </a:rPr>
              <a:t>複数資料からレビュー可能な文書を作る</a:t>
            </a:r>
          </a:p>
        </p:txBody>
      </p:sp>
      <p:sp>
        <p:nvSpPr>
          <p:cNvPr id="46" name="Rectangle 45"/>
          <p:cNvSpPr/>
          <p:nvPr/>
        </p:nvSpPr>
        <p:spPr>
          <a:xfrm>
            <a:off x="822960" y="4340352"/>
            <a:ext cx="14630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6112" y="4395216"/>
            <a:ext cx="1316736" cy="637032"/>
          </a:xfrm>
          <a:prstGeom prst="rect">
            <a:avLst/>
          </a:prstGeom>
          <a:noFill/>
        </p:spPr>
        <p:txBody>
          <a:bodyPr wrap="square" anchor="t" lIns="36576" rIns="36576" tIns="36576" bIns="36576">
            <a:spAutoFit/>
          </a:bodyPr>
          <a:lstStyle/>
          <a:p>
            <a:pPr algn="l"/>
            <a:r>
              <a:rPr sz="1150" b="0">
                <a:solidFill>
                  <a:srgbClr val="17191C"/>
                </a:solidFill>
                <a:latin typeface="Yu Gothic"/>
              </a:rPr>
              <a:t>Kiro</a:t>
            </a:r>
          </a:p>
        </p:txBody>
      </p:sp>
      <p:sp>
        <p:nvSpPr>
          <p:cNvPr id="48" name="Rectangle 47"/>
          <p:cNvSpPr/>
          <p:nvPr/>
        </p:nvSpPr>
        <p:spPr>
          <a:xfrm>
            <a:off x="2286000" y="4340352"/>
            <a:ext cx="310896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59152" y="4395216"/>
            <a:ext cx="2962656" cy="637032"/>
          </a:xfrm>
          <a:prstGeom prst="rect">
            <a:avLst/>
          </a:prstGeom>
          <a:noFill/>
        </p:spPr>
        <p:txBody>
          <a:bodyPr wrap="square" anchor="t" lIns="36576" rIns="36576" tIns="36576" bIns="36576">
            <a:spAutoFit/>
          </a:bodyPr>
          <a:lstStyle/>
          <a:p>
            <a:pPr algn="l"/>
            <a:r>
              <a:rPr sz="1150" b="0">
                <a:solidFill>
                  <a:srgbClr val="17191C"/>
                </a:solidFill>
                <a:latin typeface="Yu Gothic"/>
              </a:rPr>
              <a:t>requirements・design・tasksを伴う仕様駆動開発</a:t>
            </a:r>
          </a:p>
        </p:txBody>
      </p:sp>
      <p:sp>
        <p:nvSpPr>
          <p:cNvPr id="50" name="Rectangle 49"/>
          <p:cNvSpPr/>
          <p:nvPr/>
        </p:nvSpPr>
        <p:spPr>
          <a:xfrm>
            <a:off x="5394960" y="4340352"/>
            <a:ext cx="292608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68112" y="4395216"/>
            <a:ext cx="2779776" cy="637032"/>
          </a:xfrm>
          <a:prstGeom prst="rect">
            <a:avLst/>
          </a:prstGeom>
          <a:noFill/>
        </p:spPr>
        <p:txBody>
          <a:bodyPr wrap="square" anchor="t" lIns="36576" rIns="36576" tIns="36576" bIns="36576">
            <a:spAutoFit/>
          </a:bodyPr>
          <a:lstStyle/>
          <a:p>
            <a:pPr algn="l"/>
            <a:r>
              <a:rPr sz="1150" b="0">
                <a:solidFill>
                  <a:srgbClr val="17191C"/>
                </a:solidFill>
                <a:latin typeface="Yu Gothic"/>
              </a:rPr>
              <a:t>IDE / CLI / Web</a:t>
            </a:r>
          </a:p>
        </p:txBody>
      </p:sp>
      <p:sp>
        <p:nvSpPr>
          <p:cNvPr id="52" name="Rectangle 51"/>
          <p:cNvSpPr/>
          <p:nvPr/>
        </p:nvSpPr>
        <p:spPr>
          <a:xfrm>
            <a:off x="8321040" y="4340352"/>
            <a:ext cx="331927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94192" y="4395216"/>
            <a:ext cx="3172968" cy="637032"/>
          </a:xfrm>
          <a:prstGeom prst="rect">
            <a:avLst/>
          </a:prstGeom>
          <a:noFill/>
        </p:spPr>
        <p:txBody>
          <a:bodyPr wrap="square" anchor="t" lIns="36576" rIns="36576" tIns="36576" bIns="36576">
            <a:spAutoFit/>
          </a:bodyPr>
          <a:lstStyle/>
          <a:p>
            <a:pPr algn="l"/>
            <a:r>
              <a:rPr sz="1150" b="0">
                <a:solidFill>
                  <a:srgbClr val="17191C"/>
                </a:solidFill>
                <a:latin typeface="Yu Gothic"/>
              </a:rPr>
              <a:t>新機能をSpecとして整理する</a:t>
            </a:r>
          </a:p>
        </p:txBody>
      </p:sp>
      <p:sp>
        <p:nvSpPr>
          <p:cNvPr id="54" name="Rectangle 53"/>
          <p:cNvSpPr/>
          <p:nvPr/>
        </p:nvSpPr>
        <p:spPr>
          <a:xfrm>
            <a:off x="822960" y="5087112"/>
            <a:ext cx="14630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6112" y="5141976"/>
            <a:ext cx="1316736" cy="637032"/>
          </a:xfrm>
          <a:prstGeom prst="rect">
            <a:avLst/>
          </a:prstGeom>
          <a:noFill/>
        </p:spPr>
        <p:txBody>
          <a:bodyPr wrap="square" anchor="t" lIns="36576" rIns="36576" tIns="36576" bIns="36576">
            <a:spAutoFit/>
          </a:bodyPr>
          <a:lstStyle/>
          <a:p>
            <a:pPr algn="l"/>
            <a:r>
              <a:rPr sz="1150" b="0">
                <a:solidFill>
                  <a:srgbClr val="17191C"/>
                </a:solidFill>
                <a:latin typeface="Yu Gothic"/>
              </a:rPr>
              <a:t>Antigravity</a:t>
            </a:r>
          </a:p>
        </p:txBody>
      </p:sp>
      <p:sp>
        <p:nvSpPr>
          <p:cNvPr id="56" name="Rectangle 55"/>
          <p:cNvSpPr/>
          <p:nvPr/>
        </p:nvSpPr>
        <p:spPr>
          <a:xfrm>
            <a:off x="2286000" y="5087112"/>
            <a:ext cx="310896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359152" y="5141976"/>
            <a:ext cx="2962656" cy="637032"/>
          </a:xfrm>
          <a:prstGeom prst="rect">
            <a:avLst/>
          </a:prstGeom>
          <a:noFill/>
        </p:spPr>
        <p:txBody>
          <a:bodyPr wrap="square" anchor="t" lIns="36576" rIns="36576" tIns="36576" bIns="36576">
            <a:spAutoFit/>
          </a:bodyPr>
          <a:lstStyle/>
          <a:p>
            <a:pPr algn="l"/>
            <a:r>
              <a:rPr sz="1150" b="0">
                <a:solidFill>
                  <a:srgbClr val="17191C"/>
                </a:solidFill>
                <a:latin typeface="Yu Gothic"/>
              </a:rPr>
              <a:t>エージェント統括・Web制作・Chrome検証</a:t>
            </a:r>
          </a:p>
        </p:txBody>
      </p:sp>
      <p:sp>
        <p:nvSpPr>
          <p:cNvPr id="58" name="Rectangle 57"/>
          <p:cNvSpPr/>
          <p:nvPr/>
        </p:nvSpPr>
        <p:spPr>
          <a:xfrm>
            <a:off x="5394960" y="5087112"/>
            <a:ext cx="292608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68112" y="5141976"/>
            <a:ext cx="2779776" cy="637032"/>
          </a:xfrm>
          <a:prstGeom prst="rect">
            <a:avLst/>
          </a:prstGeom>
          <a:noFill/>
        </p:spPr>
        <p:txBody>
          <a:bodyPr wrap="square" anchor="t" lIns="36576" rIns="36576" tIns="36576" bIns="36576">
            <a:spAutoFit/>
          </a:bodyPr>
          <a:lstStyle/>
          <a:p>
            <a:pPr algn="l"/>
            <a:r>
              <a:rPr sz="1150" b="0">
                <a:solidFill>
                  <a:srgbClr val="17191C"/>
                </a:solidFill>
                <a:latin typeface="Yu Gothic"/>
              </a:rPr>
              <a:t>Antigravity 2.0 / CLI / SDK</a:t>
            </a:r>
          </a:p>
        </p:txBody>
      </p:sp>
      <p:sp>
        <p:nvSpPr>
          <p:cNvPr id="60" name="Rectangle 59"/>
          <p:cNvSpPr/>
          <p:nvPr/>
        </p:nvSpPr>
        <p:spPr>
          <a:xfrm>
            <a:off x="8321040" y="5087112"/>
            <a:ext cx="331927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94192" y="5141976"/>
            <a:ext cx="3172968" cy="637032"/>
          </a:xfrm>
          <a:prstGeom prst="rect">
            <a:avLst/>
          </a:prstGeom>
          <a:noFill/>
        </p:spPr>
        <p:txBody>
          <a:bodyPr wrap="square" anchor="t" lIns="36576" rIns="36576" tIns="36576" bIns="36576">
            <a:spAutoFit/>
          </a:bodyPr>
          <a:lstStyle/>
          <a:p>
            <a:pPr algn="l"/>
            <a:r>
              <a:rPr sz="1150" b="0">
                <a:solidFill>
                  <a:srgbClr val="17191C"/>
                </a:solidFill>
                <a:latin typeface="Yu Gothic"/>
              </a:rPr>
              <a:t>1ページサイトを作りdesktop/mobile確認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05</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05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COMPARISON 02  |  CAPABILITIES</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指示・再利用能力・外部接続・証拠を、各製品の仕組みで組み合わせます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371600"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1408176"/>
            <a:ext cx="1225296" cy="637032"/>
          </a:xfrm>
          <a:prstGeom prst="rect">
            <a:avLst/>
          </a:prstGeom>
          <a:noFill/>
        </p:spPr>
        <p:txBody>
          <a:bodyPr wrap="square" anchor="t" lIns="36576" rIns="36576" tIns="36576" bIns="36576">
            <a:spAutoFit/>
          </a:bodyPr>
          <a:lstStyle/>
          <a:p>
            <a:pPr algn="l"/>
            <a:r>
              <a:rPr sz="950" b="1">
                <a:solidFill>
                  <a:srgbClr val="FFFFFF"/>
                </a:solidFill>
                <a:latin typeface="Yu Gothic"/>
              </a:rPr>
              <a:t>製品</a:t>
            </a:r>
          </a:p>
        </p:txBody>
      </p:sp>
      <p:sp>
        <p:nvSpPr>
          <p:cNvPr id="16" name="Rectangle 15"/>
          <p:cNvSpPr/>
          <p:nvPr/>
        </p:nvSpPr>
        <p:spPr>
          <a:xfrm>
            <a:off x="2194560" y="1353312"/>
            <a:ext cx="2286000"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7712" y="1408176"/>
            <a:ext cx="2139696" cy="637032"/>
          </a:xfrm>
          <a:prstGeom prst="rect">
            <a:avLst/>
          </a:prstGeom>
          <a:noFill/>
        </p:spPr>
        <p:txBody>
          <a:bodyPr wrap="square" anchor="t" lIns="36576" rIns="36576" tIns="36576" bIns="36576">
            <a:spAutoFit/>
          </a:bodyPr>
          <a:lstStyle/>
          <a:p>
            <a:pPr algn="l"/>
            <a:r>
              <a:rPr sz="950" b="1">
                <a:solidFill>
                  <a:srgbClr val="FFFFFF"/>
                </a:solidFill>
                <a:latin typeface="Yu Gothic"/>
              </a:rPr>
              <a:t>持続する指示</a:t>
            </a:r>
          </a:p>
        </p:txBody>
      </p:sp>
      <p:sp>
        <p:nvSpPr>
          <p:cNvPr id="18" name="Rectangle 17"/>
          <p:cNvSpPr/>
          <p:nvPr/>
        </p:nvSpPr>
        <p:spPr>
          <a:xfrm>
            <a:off x="4480560" y="1353312"/>
            <a:ext cx="2286000"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53712" y="1408176"/>
            <a:ext cx="2139696" cy="637032"/>
          </a:xfrm>
          <a:prstGeom prst="rect">
            <a:avLst/>
          </a:prstGeom>
          <a:noFill/>
        </p:spPr>
        <p:txBody>
          <a:bodyPr wrap="square" anchor="t" lIns="36576" rIns="36576" tIns="36576" bIns="36576">
            <a:spAutoFit/>
          </a:bodyPr>
          <a:lstStyle/>
          <a:p>
            <a:pPr algn="l"/>
            <a:r>
              <a:rPr sz="950" b="1">
                <a:solidFill>
                  <a:srgbClr val="FFFFFF"/>
                </a:solidFill>
                <a:latin typeface="Yu Gothic"/>
              </a:rPr>
              <a:t>再利用能力</a:t>
            </a:r>
          </a:p>
        </p:txBody>
      </p:sp>
      <p:sp>
        <p:nvSpPr>
          <p:cNvPr id="20" name="Rectangle 19"/>
          <p:cNvSpPr/>
          <p:nvPr/>
        </p:nvSpPr>
        <p:spPr>
          <a:xfrm>
            <a:off x="6766560" y="1353312"/>
            <a:ext cx="2286000"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39712" y="1408176"/>
            <a:ext cx="2139696" cy="637032"/>
          </a:xfrm>
          <a:prstGeom prst="rect">
            <a:avLst/>
          </a:prstGeom>
          <a:noFill/>
        </p:spPr>
        <p:txBody>
          <a:bodyPr wrap="square" anchor="t" lIns="36576" rIns="36576" tIns="36576" bIns="36576">
            <a:spAutoFit/>
          </a:bodyPr>
          <a:lstStyle/>
          <a:p>
            <a:pPr algn="l"/>
            <a:r>
              <a:rPr sz="950" b="1">
                <a:solidFill>
                  <a:srgbClr val="FFFFFF"/>
                </a:solidFill>
                <a:latin typeface="Yu Gothic"/>
              </a:rPr>
              <a:t>外部接続</a:t>
            </a:r>
          </a:p>
        </p:txBody>
      </p:sp>
      <p:sp>
        <p:nvSpPr>
          <p:cNvPr id="22" name="Rectangle 21"/>
          <p:cNvSpPr/>
          <p:nvPr/>
        </p:nvSpPr>
        <p:spPr>
          <a:xfrm>
            <a:off x="9052560" y="1353312"/>
            <a:ext cx="2587752"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25712" y="1408176"/>
            <a:ext cx="2441448" cy="637032"/>
          </a:xfrm>
          <a:prstGeom prst="rect">
            <a:avLst/>
          </a:prstGeom>
          <a:noFill/>
        </p:spPr>
        <p:txBody>
          <a:bodyPr wrap="square" anchor="t" lIns="36576" rIns="36576" tIns="36576" bIns="36576">
            <a:spAutoFit/>
          </a:bodyPr>
          <a:lstStyle/>
          <a:p>
            <a:pPr algn="l"/>
            <a:r>
              <a:rPr sz="950" b="1">
                <a:solidFill>
                  <a:srgbClr val="FFFFFF"/>
                </a:solidFill>
                <a:latin typeface="Yu Gothic"/>
              </a:rPr>
              <a:t>計画・証拠</a:t>
            </a:r>
          </a:p>
        </p:txBody>
      </p:sp>
      <p:sp>
        <p:nvSpPr>
          <p:cNvPr id="24" name="Rectangle 23"/>
          <p:cNvSpPr/>
          <p:nvPr/>
        </p:nvSpPr>
        <p:spPr>
          <a:xfrm>
            <a:off x="822960" y="2100072"/>
            <a:ext cx="13716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2154936"/>
            <a:ext cx="1225296" cy="637032"/>
          </a:xfrm>
          <a:prstGeom prst="rect">
            <a:avLst/>
          </a:prstGeom>
          <a:noFill/>
        </p:spPr>
        <p:txBody>
          <a:bodyPr wrap="square" anchor="t" lIns="36576" rIns="36576" tIns="36576" bIns="36576">
            <a:spAutoFit/>
          </a:bodyPr>
          <a:lstStyle/>
          <a:p>
            <a:pPr algn="l"/>
            <a:r>
              <a:rPr sz="950" b="0">
                <a:solidFill>
                  <a:srgbClr val="17191C"/>
                </a:solidFill>
                <a:latin typeface="Yu Gothic"/>
              </a:rPr>
              <a:t>Codex</a:t>
            </a:r>
          </a:p>
        </p:txBody>
      </p:sp>
      <p:sp>
        <p:nvSpPr>
          <p:cNvPr id="26" name="Rectangle 25"/>
          <p:cNvSpPr/>
          <p:nvPr/>
        </p:nvSpPr>
        <p:spPr>
          <a:xfrm>
            <a:off x="2194560" y="210007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67712" y="215493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AGENTS.md</a:t>
            </a:r>
          </a:p>
        </p:txBody>
      </p:sp>
      <p:sp>
        <p:nvSpPr>
          <p:cNvPr id="28" name="Rectangle 27"/>
          <p:cNvSpPr/>
          <p:nvPr/>
        </p:nvSpPr>
        <p:spPr>
          <a:xfrm>
            <a:off x="4480560" y="210007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215493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Skills / Plugins</a:t>
            </a:r>
          </a:p>
        </p:txBody>
      </p:sp>
      <p:sp>
        <p:nvSpPr>
          <p:cNvPr id="30" name="Rectangle 29"/>
          <p:cNvSpPr/>
          <p:nvPr/>
        </p:nvSpPr>
        <p:spPr>
          <a:xfrm>
            <a:off x="6766560" y="210007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39712" y="215493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MCP / Connectors</a:t>
            </a:r>
          </a:p>
        </p:txBody>
      </p:sp>
      <p:sp>
        <p:nvSpPr>
          <p:cNvPr id="32" name="Rectangle 31"/>
          <p:cNvSpPr/>
          <p:nvPr/>
        </p:nvSpPr>
        <p:spPr>
          <a:xfrm>
            <a:off x="9052560" y="2100072"/>
            <a:ext cx="258775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25712" y="2154936"/>
            <a:ext cx="2441448" cy="637032"/>
          </a:xfrm>
          <a:prstGeom prst="rect">
            <a:avLst/>
          </a:prstGeom>
          <a:noFill/>
        </p:spPr>
        <p:txBody>
          <a:bodyPr wrap="square" anchor="t" lIns="36576" rIns="36576" tIns="36576" bIns="36576">
            <a:spAutoFit/>
          </a:bodyPr>
          <a:lstStyle/>
          <a:p>
            <a:pPr algn="l"/>
            <a:r>
              <a:rPr sz="950" b="0">
                <a:solidFill>
                  <a:srgbClr val="17191C"/>
                </a:solidFill>
                <a:latin typeface="Yu Gothic"/>
              </a:rPr>
              <a:t>plan / diff / tests / PR</a:t>
            </a:r>
          </a:p>
        </p:txBody>
      </p:sp>
      <p:sp>
        <p:nvSpPr>
          <p:cNvPr id="34" name="Rectangle 33"/>
          <p:cNvSpPr/>
          <p:nvPr/>
        </p:nvSpPr>
        <p:spPr>
          <a:xfrm>
            <a:off x="822960" y="2846832"/>
            <a:ext cx="13716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2901696"/>
            <a:ext cx="1225296" cy="637032"/>
          </a:xfrm>
          <a:prstGeom prst="rect">
            <a:avLst/>
          </a:prstGeom>
          <a:noFill/>
        </p:spPr>
        <p:txBody>
          <a:bodyPr wrap="square" anchor="t" lIns="36576" rIns="36576" tIns="36576" bIns="36576">
            <a:spAutoFit/>
          </a:bodyPr>
          <a:lstStyle/>
          <a:p>
            <a:pPr algn="l"/>
            <a:r>
              <a:rPr sz="950" b="0">
                <a:solidFill>
                  <a:srgbClr val="17191C"/>
                </a:solidFill>
                <a:latin typeface="Yu Gothic"/>
              </a:rPr>
              <a:t>Claude Code</a:t>
            </a:r>
          </a:p>
        </p:txBody>
      </p:sp>
      <p:sp>
        <p:nvSpPr>
          <p:cNvPr id="36" name="Rectangle 35"/>
          <p:cNvSpPr/>
          <p:nvPr/>
        </p:nvSpPr>
        <p:spPr>
          <a:xfrm>
            <a:off x="2194560" y="284683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67712" y="290169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CLAUDE.md</a:t>
            </a:r>
          </a:p>
        </p:txBody>
      </p:sp>
      <p:sp>
        <p:nvSpPr>
          <p:cNvPr id="38" name="Rectangle 37"/>
          <p:cNvSpPr/>
          <p:nvPr/>
        </p:nvSpPr>
        <p:spPr>
          <a:xfrm>
            <a:off x="4480560" y="284683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53712" y="290169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Skills / Plugins / Hooks</a:t>
            </a:r>
          </a:p>
        </p:txBody>
      </p:sp>
      <p:sp>
        <p:nvSpPr>
          <p:cNvPr id="40" name="Rectangle 39"/>
          <p:cNvSpPr/>
          <p:nvPr/>
        </p:nvSpPr>
        <p:spPr>
          <a:xfrm>
            <a:off x="6766560" y="284683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39712" y="290169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MCP</a:t>
            </a:r>
          </a:p>
        </p:txBody>
      </p:sp>
      <p:sp>
        <p:nvSpPr>
          <p:cNvPr id="42" name="Rectangle 41"/>
          <p:cNvSpPr/>
          <p:nvPr/>
        </p:nvSpPr>
        <p:spPr>
          <a:xfrm>
            <a:off x="9052560" y="2846832"/>
            <a:ext cx="258775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25712" y="2901696"/>
            <a:ext cx="2441448" cy="637032"/>
          </a:xfrm>
          <a:prstGeom prst="rect">
            <a:avLst/>
          </a:prstGeom>
          <a:noFill/>
        </p:spPr>
        <p:txBody>
          <a:bodyPr wrap="square" anchor="t" lIns="36576" rIns="36576" tIns="36576" bIns="36576">
            <a:spAutoFit/>
          </a:bodyPr>
          <a:lstStyle/>
          <a:p>
            <a:pPr algn="l"/>
            <a:r>
              <a:rPr sz="950" b="0">
                <a:solidFill>
                  <a:srgbClr val="17191C"/>
                </a:solidFill>
                <a:latin typeface="Yu Gothic"/>
              </a:rPr>
              <a:t>plan / diff / tests / PR</a:t>
            </a:r>
          </a:p>
        </p:txBody>
      </p:sp>
      <p:sp>
        <p:nvSpPr>
          <p:cNvPr id="44" name="Rectangle 43"/>
          <p:cNvSpPr/>
          <p:nvPr/>
        </p:nvSpPr>
        <p:spPr>
          <a:xfrm>
            <a:off x="822960" y="3593592"/>
            <a:ext cx="13716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3648456"/>
            <a:ext cx="1225296" cy="637032"/>
          </a:xfrm>
          <a:prstGeom prst="rect">
            <a:avLst/>
          </a:prstGeom>
          <a:noFill/>
        </p:spPr>
        <p:txBody>
          <a:bodyPr wrap="square" anchor="t" lIns="36576" rIns="36576" tIns="36576" bIns="36576">
            <a:spAutoFit/>
          </a:bodyPr>
          <a:lstStyle/>
          <a:p>
            <a:pPr algn="l"/>
            <a:r>
              <a:rPr sz="950" b="0">
                <a:solidFill>
                  <a:srgbClr val="17191C"/>
                </a:solidFill>
                <a:latin typeface="Yu Gothic"/>
              </a:rPr>
              <a:t>Claude Cowork</a:t>
            </a:r>
          </a:p>
        </p:txBody>
      </p:sp>
      <p:sp>
        <p:nvSpPr>
          <p:cNvPr id="46" name="Rectangle 45"/>
          <p:cNvSpPr/>
          <p:nvPr/>
        </p:nvSpPr>
        <p:spPr>
          <a:xfrm>
            <a:off x="2194560" y="359359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67712" y="364845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instructions</a:t>
            </a:r>
          </a:p>
        </p:txBody>
      </p:sp>
      <p:sp>
        <p:nvSpPr>
          <p:cNvPr id="48" name="Rectangle 47"/>
          <p:cNvSpPr/>
          <p:nvPr/>
        </p:nvSpPr>
        <p:spPr>
          <a:xfrm>
            <a:off x="4480560" y="359359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53712" y="364845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Plugins</a:t>
            </a:r>
          </a:p>
        </p:txBody>
      </p:sp>
      <p:sp>
        <p:nvSpPr>
          <p:cNvPr id="50" name="Rectangle 49"/>
          <p:cNvSpPr/>
          <p:nvPr/>
        </p:nvSpPr>
        <p:spPr>
          <a:xfrm>
            <a:off x="6766560" y="359359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39712" y="364845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Connectors</a:t>
            </a:r>
          </a:p>
        </p:txBody>
      </p:sp>
      <p:sp>
        <p:nvSpPr>
          <p:cNvPr id="52" name="Rectangle 51"/>
          <p:cNvSpPr/>
          <p:nvPr/>
        </p:nvSpPr>
        <p:spPr>
          <a:xfrm>
            <a:off x="9052560" y="3593592"/>
            <a:ext cx="258775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25712" y="3648456"/>
            <a:ext cx="2441448" cy="637032"/>
          </a:xfrm>
          <a:prstGeom prst="rect">
            <a:avLst/>
          </a:prstGeom>
          <a:noFill/>
        </p:spPr>
        <p:txBody>
          <a:bodyPr wrap="square" anchor="t" lIns="36576" rIns="36576" tIns="36576" bIns="36576">
            <a:spAutoFit/>
          </a:bodyPr>
          <a:lstStyle/>
          <a:p>
            <a:pPr algn="l"/>
            <a:r>
              <a:rPr sz="950" b="0">
                <a:solidFill>
                  <a:srgbClr val="17191C"/>
                </a:solidFill>
                <a:latin typeface="Yu Gothic"/>
              </a:rPr>
              <a:t>files / artifacts / reports</a:t>
            </a:r>
          </a:p>
        </p:txBody>
      </p:sp>
      <p:sp>
        <p:nvSpPr>
          <p:cNvPr id="54" name="Rectangle 53"/>
          <p:cNvSpPr/>
          <p:nvPr/>
        </p:nvSpPr>
        <p:spPr>
          <a:xfrm>
            <a:off x="822960" y="4340352"/>
            <a:ext cx="13716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6112" y="4395216"/>
            <a:ext cx="1225296" cy="637032"/>
          </a:xfrm>
          <a:prstGeom prst="rect">
            <a:avLst/>
          </a:prstGeom>
          <a:noFill/>
        </p:spPr>
        <p:txBody>
          <a:bodyPr wrap="square" anchor="t" lIns="36576" rIns="36576" tIns="36576" bIns="36576">
            <a:spAutoFit/>
          </a:bodyPr>
          <a:lstStyle/>
          <a:p>
            <a:pPr algn="l"/>
            <a:r>
              <a:rPr sz="950" b="0">
                <a:solidFill>
                  <a:srgbClr val="17191C"/>
                </a:solidFill>
                <a:latin typeface="Yu Gothic"/>
              </a:rPr>
              <a:t>Kiro</a:t>
            </a:r>
          </a:p>
        </p:txBody>
      </p:sp>
      <p:sp>
        <p:nvSpPr>
          <p:cNvPr id="56" name="Rectangle 55"/>
          <p:cNvSpPr/>
          <p:nvPr/>
        </p:nvSpPr>
        <p:spPr>
          <a:xfrm>
            <a:off x="2194560" y="434035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67712" y="439521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Steering</a:t>
            </a:r>
          </a:p>
        </p:txBody>
      </p:sp>
      <p:sp>
        <p:nvSpPr>
          <p:cNvPr id="58" name="Rectangle 57"/>
          <p:cNvSpPr/>
          <p:nvPr/>
        </p:nvSpPr>
        <p:spPr>
          <a:xfrm>
            <a:off x="4480560" y="434035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53712" y="439521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Specs / Powers / Hooks</a:t>
            </a:r>
          </a:p>
        </p:txBody>
      </p:sp>
      <p:sp>
        <p:nvSpPr>
          <p:cNvPr id="60" name="Rectangle 59"/>
          <p:cNvSpPr/>
          <p:nvPr/>
        </p:nvSpPr>
        <p:spPr>
          <a:xfrm>
            <a:off x="6766560" y="434035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39712" y="439521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MCP / Powers</a:t>
            </a:r>
          </a:p>
        </p:txBody>
      </p:sp>
      <p:sp>
        <p:nvSpPr>
          <p:cNvPr id="62" name="Rectangle 61"/>
          <p:cNvSpPr/>
          <p:nvPr/>
        </p:nvSpPr>
        <p:spPr>
          <a:xfrm>
            <a:off x="9052560" y="4340352"/>
            <a:ext cx="258775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125712" y="4395216"/>
            <a:ext cx="2441448" cy="637032"/>
          </a:xfrm>
          <a:prstGeom prst="rect">
            <a:avLst/>
          </a:prstGeom>
          <a:noFill/>
        </p:spPr>
        <p:txBody>
          <a:bodyPr wrap="square" anchor="t" lIns="36576" rIns="36576" tIns="36576" bIns="36576">
            <a:spAutoFit/>
          </a:bodyPr>
          <a:lstStyle/>
          <a:p>
            <a:pPr algn="l"/>
            <a:r>
              <a:rPr sz="950" b="0">
                <a:solidFill>
                  <a:srgbClr val="17191C"/>
                </a:solidFill>
                <a:latin typeface="Yu Gothic"/>
              </a:rPr>
              <a:t>requirements / design / tasks</a:t>
            </a:r>
          </a:p>
        </p:txBody>
      </p:sp>
      <p:sp>
        <p:nvSpPr>
          <p:cNvPr id="64" name="Rectangle 63"/>
          <p:cNvSpPr/>
          <p:nvPr/>
        </p:nvSpPr>
        <p:spPr>
          <a:xfrm>
            <a:off x="822960" y="5087112"/>
            <a:ext cx="13716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96112" y="5141976"/>
            <a:ext cx="1225296" cy="637032"/>
          </a:xfrm>
          <a:prstGeom prst="rect">
            <a:avLst/>
          </a:prstGeom>
          <a:noFill/>
        </p:spPr>
        <p:txBody>
          <a:bodyPr wrap="square" anchor="t" lIns="36576" rIns="36576" tIns="36576" bIns="36576">
            <a:spAutoFit/>
          </a:bodyPr>
          <a:lstStyle/>
          <a:p>
            <a:pPr algn="l"/>
            <a:r>
              <a:rPr sz="950" b="0">
                <a:solidFill>
                  <a:srgbClr val="17191C"/>
                </a:solidFill>
                <a:latin typeface="Yu Gothic"/>
              </a:rPr>
              <a:t>Antigravity</a:t>
            </a:r>
          </a:p>
        </p:txBody>
      </p:sp>
      <p:sp>
        <p:nvSpPr>
          <p:cNvPr id="66" name="Rectangle 65"/>
          <p:cNvSpPr/>
          <p:nvPr/>
        </p:nvSpPr>
        <p:spPr>
          <a:xfrm>
            <a:off x="2194560" y="508711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67712" y="514197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project instructions</a:t>
            </a:r>
          </a:p>
        </p:txBody>
      </p:sp>
      <p:sp>
        <p:nvSpPr>
          <p:cNvPr id="68" name="Rectangle 67"/>
          <p:cNvSpPr/>
          <p:nvPr/>
        </p:nvSpPr>
        <p:spPr>
          <a:xfrm>
            <a:off x="4480560" y="508711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53712" y="514197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Skills / custom commands</a:t>
            </a:r>
          </a:p>
        </p:txBody>
      </p:sp>
      <p:sp>
        <p:nvSpPr>
          <p:cNvPr id="70" name="Rectangle 69"/>
          <p:cNvSpPr/>
          <p:nvPr/>
        </p:nvSpPr>
        <p:spPr>
          <a:xfrm>
            <a:off x="6766560" y="5087112"/>
            <a:ext cx="228600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839712" y="5141976"/>
            <a:ext cx="2139696" cy="637032"/>
          </a:xfrm>
          <a:prstGeom prst="rect">
            <a:avLst/>
          </a:prstGeom>
          <a:noFill/>
        </p:spPr>
        <p:txBody>
          <a:bodyPr wrap="square" anchor="t" lIns="36576" rIns="36576" tIns="36576" bIns="36576">
            <a:spAutoFit/>
          </a:bodyPr>
          <a:lstStyle/>
          <a:p>
            <a:pPr algn="l"/>
            <a:r>
              <a:rPr sz="950" b="0">
                <a:solidFill>
                  <a:srgbClr val="17191C"/>
                </a:solidFill>
                <a:latin typeface="Yu Gothic"/>
              </a:rPr>
              <a:t>MCP servers</a:t>
            </a:r>
          </a:p>
        </p:txBody>
      </p:sp>
      <p:sp>
        <p:nvSpPr>
          <p:cNvPr id="72" name="Rectangle 71"/>
          <p:cNvSpPr/>
          <p:nvPr/>
        </p:nvSpPr>
        <p:spPr>
          <a:xfrm>
            <a:off x="9052560" y="5087112"/>
            <a:ext cx="258775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25712" y="5141976"/>
            <a:ext cx="2441448" cy="637032"/>
          </a:xfrm>
          <a:prstGeom prst="rect">
            <a:avLst/>
          </a:prstGeom>
          <a:noFill/>
        </p:spPr>
        <p:txBody>
          <a:bodyPr wrap="square" anchor="t" lIns="36576" rIns="36576" tIns="36576" bIns="36576">
            <a:spAutoFit/>
          </a:bodyPr>
          <a:lstStyle/>
          <a:p>
            <a:pPr algn="l"/>
            <a:r>
              <a:rPr sz="950" b="0">
                <a:solidFill>
                  <a:srgbClr val="17191C"/>
                </a:solidFill>
                <a:latin typeface="Yu Gothic"/>
              </a:rPr>
              <a:t>artifacts / implementation plans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B6D957"/>
          </a:solidFill>
          <a:ln w="12700">
            <a:solidFill>
              <a:srgbClr val="B6D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06</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06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GLOSSARY 00  |  TERM MAP</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AIエージェント用語は、役割で分けると理解できます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THINK
LLM
文章やコードを推論・生成する基盤モデル。AIエージェント全体と同義ではありません。</a:t>
            </a:r>
          </a:p>
        </p:txBody>
      </p:sp>
      <p:sp>
        <p:nvSpPr>
          <p:cNvPr id="17" name="Rounded Rectangle 16"/>
          <p:cNvSpPr/>
          <p:nvPr/>
        </p:nvSpPr>
        <p:spPr>
          <a:xfrm>
            <a:off x="4504944"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42104"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2104"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OPERATE
IDE / CLI / SDK
人が操作する画面、端末、プログラムへ組み込む開発部品です。</a:t>
            </a:r>
          </a:p>
        </p:txBody>
      </p:sp>
      <p:sp>
        <p:nvSpPr>
          <p:cNvPr id="20" name="Rounded Rectangle 19"/>
          <p:cNvSpPr/>
          <p:nvPr/>
        </p:nvSpPr>
        <p:spPr>
          <a:xfrm>
            <a:off x="8186928"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4088" y="152704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4088"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GUIDE / REUSE
Rules / Steering / Skills / Powers / Plugins
指示を持続させ、能力を再利用・配布する仕組み。正式名称は製品ごとに異なります。</a:t>
            </a:r>
          </a:p>
        </p:txBody>
      </p:sp>
      <p:sp>
        <p:nvSpPr>
          <p:cNvPr id="23" name="Rounded Rectangle 22"/>
          <p:cNvSpPr/>
          <p:nvPr/>
        </p:nvSpPr>
        <p:spPr>
          <a:xfrm>
            <a:off x="822960"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39044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CONNECT
MCP
モデルと外部Tool・データをつなぐ標準。接続済みでも実行権限とは別です。</a:t>
            </a:r>
          </a:p>
        </p:txBody>
      </p:sp>
      <p:sp>
        <p:nvSpPr>
          <p:cNvPr id="26" name="Rounded Rectangle 25"/>
          <p:cNvSpPr/>
          <p:nvPr/>
        </p:nvSpPr>
        <p:spPr>
          <a:xfrm>
            <a:off x="4504944"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42104" y="390448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2104"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WORK / DELIVER
Project / Site / Schedule / Pull Request
仕事の範囲、公開成果物、実行時刻、コードレビュー単位を表します。</a:t>
            </a:r>
          </a:p>
        </p:txBody>
      </p:sp>
      <p:sp>
        <p:nvSpPr>
          <p:cNvPr id="29" name="Rounded Rectangle 28"/>
          <p:cNvSpPr/>
          <p:nvPr/>
        </p:nvSpPr>
        <p:spPr>
          <a:xfrm>
            <a:off x="8186928"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4088" y="390448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4088"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同じ単語でも製品固有機能、類似概念、一般的な成果物の3種類があります。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07</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07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GLOSSARY 01  |  MODEL + INTERFACES</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LLM、IDE、CLI、SDKはエージェントを使う層の違いです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645920" cy="896112"/>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1408176"/>
            <a:ext cx="1499616" cy="786384"/>
          </a:xfrm>
          <a:prstGeom prst="rect">
            <a:avLst/>
          </a:prstGeom>
          <a:noFill/>
        </p:spPr>
        <p:txBody>
          <a:bodyPr wrap="square" anchor="t" lIns="36576" rIns="36576" tIns="36576" bIns="36576">
            <a:spAutoFit/>
          </a:bodyPr>
          <a:lstStyle/>
          <a:p>
            <a:pPr algn="l"/>
            <a:r>
              <a:rPr sz="1150" b="1">
                <a:solidFill>
                  <a:srgbClr val="FFFFFF"/>
                </a:solidFill>
                <a:latin typeface="Yu Gothic"/>
              </a:rPr>
              <a:t>用語</a:t>
            </a:r>
          </a:p>
        </p:txBody>
      </p:sp>
      <p:sp>
        <p:nvSpPr>
          <p:cNvPr id="16" name="Rectangle 15"/>
          <p:cNvSpPr/>
          <p:nvPr/>
        </p:nvSpPr>
        <p:spPr>
          <a:xfrm>
            <a:off x="2468880" y="1353312"/>
            <a:ext cx="2377440" cy="896112"/>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2032" y="1408176"/>
            <a:ext cx="2231136" cy="786384"/>
          </a:xfrm>
          <a:prstGeom prst="rect">
            <a:avLst/>
          </a:prstGeom>
          <a:noFill/>
        </p:spPr>
        <p:txBody>
          <a:bodyPr wrap="square" anchor="t" lIns="36576" rIns="36576" tIns="36576" bIns="36576">
            <a:spAutoFit/>
          </a:bodyPr>
          <a:lstStyle/>
          <a:p>
            <a:pPr algn="l"/>
            <a:r>
              <a:rPr sz="1150" b="1">
                <a:solidFill>
                  <a:srgbClr val="FFFFFF"/>
                </a:solidFill>
                <a:latin typeface="Yu Gothic"/>
              </a:rPr>
              <a:t>一般的な意味</a:t>
            </a:r>
          </a:p>
        </p:txBody>
      </p:sp>
      <p:sp>
        <p:nvSpPr>
          <p:cNvPr id="18" name="Rectangle 17"/>
          <p:cNvSpPr/>
          <p:nvPr/>
        </p:nvSpPr>
        <p:spPr>
          <a:xfrm>
            <a:off x="4846320" y="1353312"/>
            <a:ext cx="6793992" cy="896112"/>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19472" y="1408176"/>
            <a:ext cx="6647688" cy="786384"/>
          </a:xfrm>
          <a:prstGeom prst="rect">
            <a:avLst/>
          </a:prstGeom>
          <a:noFill/>
        </p:spPr>
        <p:txBody>
          <a:bodyPr wrap="square" anchor="t" lIns="36576" rIns="36576" tIns="36576" bIns="36576">
            <a:spAutoFit/>
          </a:bodyPr>
          <a:lstStyle/>
          <a:p>
            <a:pPr algn="l"/>
            <a:r>
              <a:rPr sz="1150" b="1">
                <a:solidFill>
                  <a:srgbClr val="FFFFFF"/>
                </a:solidFill>
                <a:latin typeface="Yu Gothic"/>
              </a:rPr>
              <a:t>各AIエージェントでの使われ方</a:t>
            </a:r>
          </a:p>
        </p:txBody>
      </p:sp>
      <p:sp>
        <p:nvSpPr>
          <p:cNvPr id="20" name="Rectangle 19"/>
          <p:cNvSpPr/>
          <p:nvPr/>
        </p:nvSpPr>
        <p:spPr>
          <a:xfrm>
            <a:off x="822960" y="2249424"/>
            <a:ext cx="164592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2304288"/>
            <a:ext cx="1499616" cy="786384"/>
          </a:xfrm>
          <a:prstGeom prst="rect">
            <a:avLst/>
          </a:prstGeom>
          <a:noFill/>
        </p:spPr>
        <p:txBody>
          <a:bodyPr wrap="square" anchor="t" lIns="36576" rIns="36576" tIns="36576" bIns="36576">
            <a:spAutoFit/>
          </a:bodyPr>
          <a:lstStyle/>
          <a:p>
            <a:pPr algn="l"/>
            <a:r>
              <a:rPr sz="1150" b="0">
                <a:solidFill>
                  <a:srgbClr val="17191C"/>
                </a:solidFill>
                <a:latin typeface="Yu Gothic"/>
              </a:rPr>
              <a:t>LLM</a:t>
            </a:r>
          </a:p>
        </p:txBody>
      </p:sp>
      <p:sp>
        <p:nvSpPr>
          <p:cNvPr id="22" name="Rectangle 21"/>
          <p:cNvSpPr/>
          <p:nvPr/>
        </p:nvSpPr>
        <p:spPr>
          <a:xfrm>
            <a:off x="2468880" y="2249424"/>
            <a:ext cx="237744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42032" y="2304288"/>
            <a:ext cx="2231136" cy="786384"/>
          </a:xfrm>
          <a:prstGeom prst="rect">
            <a:avLst/>
          </a:prstGeom>
          <a:noFill/>
        </p:spPr>
        <p:txBody>
          <a:bodyPr wrap="square" anchor="t" lIns="36576" rIns="36576" tIns="36576" bIns="36576">
            <a:spAutoFit/>
          </a:bodyPr>
          <a:lstStyle/>
          <a:p>
            <a:pPr algn="l"/>
            <a:r>
              <a:rPr sz="1150" b="0">
                <a:solidFill>
                  <a:srgbClr val="17191C"/>
                </a:solidFill>
                <a:latin typeface="Yu Gothic"/>
              </a:rPr>
              <a:t>推論・生成を担う基盤モデル</a:t>
            </a:r>
          </a:p>
        </p:txBody>
      </p:sp>
      <p:sp>
        <p:nvSpPr>
          <p:cNvPr id="24" name="Rectangle 23"/>
          <p:cNvSpPr/>
          <p:nvPr/>
        </p:nvSpPr>
        <p:spPr>
          <a:xfrm>
            <a:off x="4846320" y="2249424"/>
            <a:ext cx="6793992"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9472" y="2304288"/>
            <a:ext cx="6647688" cy="786384"/>
          </a:xfrm>
          <a:prstGeom prst="rect">
            <a:avLst/>
          </a:prstGeom>
          <a:noFill/>
        </p:spPr>
        <p:txBody>
          <a:bodyPr wrap="square" anchor="t" lIns="36576" rIns="36576" tIns="36576" bIns="36576">
            <a:spAutoFit/>
          </a:bodyPr>
          <a:lstStyle/>
          <a:p>
            <a:pPr algn="l"/>
            <a:r>
              <a:rPr sz="950" b="0">
                <a:solidFill>
                  <a:srgbClr val="17191C"/>
                </a:solidFill>
                <a:latin typeface="Yu Gothic"/>
              </a:rPr>
              <a:t>CodexはOpenAIモデル、Claude Code / CoworkはClaudeを利用。Kiro / Antigravityも選択されたモデルをTool・権限・文脈と組み合わせます。Agent = LLM + instructions + tools + runtimeです。</a:t>
            </a:r>
          </a:p>
        </p:txBody>
      </p:sp>
      <p:sp>
        <p:nvSpPr>
          <p:cNvPr id="26" name="Rectangle 25"/>
          <p:cNvSpPr/>
          <p:nvPr/>
        </p:nvSpPr>
        <p:spPr>
          <a:xfrm>
            <a:off x="822960" y="3145536"/>
            <a:ext cx="164592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3200400"/>
            <a:ext cx="1499616" cy="786384"/>
          </a:xfrm>
          <a:prstGeom prst="rect">
            <a:avLst/>
          </a:prstGeom>
          <a:noFill/>
        </p:spPr>
        <p:txBody>
          <a:bodyPr wrap="square" anchor="t" lIns="36576" rIns="36576" tIns="36576" bIns="36576">
            <a:spAutoFit/>
          </a:bodyPr>
          <a:lstStyle/>
          <a:p>
            <a:pPr algn="l"/>
            <a:r>
              <a:rPr sz="1150" b="0">
                <a:solidFill>
                  <a:srgbClr val="17191C"/>
                </a:solidFill>
                <a:latin typeface="Yu Gothic"/>
              </a:rPr>
              <a:t>IDE</a:t>
            </a:r>
          </a:p>
        </p:txBody>
      </p:sp>
      <p:sp>
        <p:nvSpPr>
          <p:cNvPr id="28" name="Rectangle 27"/>
          <p:cNvSpPr/>
          <p:nvPr/>
        </p:nvSpPr>
        <p:spPr>
          <a:xfrm>
            <a:off x="2468880" y="3145536"/>
            <a:ext cx="237744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42032" y="3200400"/>
            <a:ext cx="2231136" cy="786384"/>
          </a:xfrm>
          <a:prstGeom prst="rect">
            <a:avLst/>
          </a:prstGeom>
          <a:noFill/>
        </p:spPr>
        <p:txBody>
          <a:bodyPr wrap="square" anchor="t" lIns="36576" rIns="36576" tIns="36576" bIns="36576">
            <a:spAutoFit/>
          </a:bodyPr>
          <a:lstStyle/>
          <a:p>
            <a:pPr algn="l"/>
            <a:r>
              <a:rPr sz="1150" b="0">
                <a:solidFill>
                  <a:srgbClr val="17191C"/>
                </a:solidFill>
                <a:latin typeface="Yu Gothic"/>
              </a:rPr>
              <a:t>コード編集・実行・デバッグを統合する画面</a:t>
            </a:r>
          </a:p>
        </p:txBody>
      </p:sp>
      <p:sp>
        <p:nvSpPr>
          <p:cNvPr id="30" name="Rectangle 29"/>
          <p:cNvSpPr/>
          <p:nvPr/>
        </p:nvSpPr>
        <p:spPr>
          <a:xfrm>
            <a:off x="4846320" y="3145536"/>
            <a:ext cx="6793992"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19472" y="3200400"/>
            <a:ext cx="6647688" cy="786384"/>
          </a:xfrm>
          <a:prstGeom prst="rect">
            <a:avLst/>
          </a:prstGeom>
          <a:noFill/>
        </p:spPr>
        <p:txBody>
          <a:bodyPr wrap="square" anchor="t" lIns="36576" rIns="36576" tIns="36576" bIns="36576">
            <a:spAutoFit/>
          </a:bodyPr>
          <a:lstStyle/>
          <a:p>
            <a:pPr algn="l"/>
            <a:r>
              <a:rPr sz="950" b="0">
                <a:solidFill>
                  <a:srgbClr val="17191C"/>
                </a:solidFill>
                <a:latin typeface="Yu Gothic"/>
              </a:rPr>
              <a:t>Codex / Claude CodeはIDE拡張から利用可能。Kiroは製品自体がagentic IDE。Claude Coworkは知識業務面、Antigravity 2.0は独立アプリでありIDEとは呼びません。</a:t>
            </a:r>
          </a:p>
        </p:txBody>
      </p:sp>
      <p:sp>
        <p:nvSpPr>
          <p:cNvPr id="32" name="Rectangle 31"/>
          <p:cNvSpPr/>
          <p:nvPr/>
        </p:nvSpPr>
        <p:spPr>
          <a:xfrm>
            <a:off x="822960" y="4041648"/>
            <a:ext cx="164592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4096511"/>
            <a:ext cx="1499616" cy="786384"/>
          </a:xfrm>
          <a:prstGeom prst="rect">
            <a:avLst/>
          </a:prstGeom>
          <a:noFill/>
        </p:spPr>
        <p:txBody>
          <a:bodyPr wrap="square" anchor="t" lIns="36576" rIns="36576" tIns="36576" bIns="36576">
            <a:spAutoFit/>
          </a:bodyPr>
          <a:lstStyle/>
          <a:p>
            <a:pPr algn="l"/>
            <a:r>
              <a:rPr sz="1150" b="0">
                <a:solidFill>
                  <a:srgbClr val="17191C"/>
                </a:solidFill>
                <a:latin typeface="Yu Gothic"/>
              </a:rPr>
              <a:t>CLI</a:t>
            </a:r>
          </a:p>
        </p:txBody>
      </p:sp>
      <p:sp>
        <p:nvSpPr>
          <p:cNvPr id="34" name="Rectangle 33"/>
          <p:cNvSpPr/>
          <p:nvPr/>
        </p:nvSpPr>
        <p:spPr>
          <a:xfrm>
            <a:off x="2468880" y="4041648"/>
            <a:ext cx="237744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42032" y="4096511"/>
            <a:ext cx="2231136" cy="786384"/>
          </a:xfrm>
          <a:prstGeom prst="rect">
            <a:avLst/>
          </a:prstGeom>
          <a:noFill/>
        </p:spPr>
        <p:txBody>
          <a:bodyPr wrap="square" anchor="t" lIns="36576" rIns="36576" tIns="36576" bIns="36576">
            <a:spAutoFit/>
          </a:bodyPr>
          <a:lstStyle/>
          <a:p>
            <a:pPr algn="l"/>
            <a:r>
              <a:rPr sz="1150" b="0">
                <a:solidFill>
                  <a:srgbClr val="17191C"/>
                </a:solidFill>
                <a:latin typeface="Yu Gothic"/>
              </a:rPr>
              <a:t>端末から文字コマンドで操作する入口</a:t>
            </a:r>
          </a:p>
        </p:txBody>
      </p:sp>
      <p:sp>
        <p:nvSpPr>
          <p:cNvPr id="36" name="Rectangle 35"/>
          <p:cNvSpPr/>
          <p:nvPr/>
        </p:nvSpPr>
        <p:spPr>
          <a:xfrm>
            <a:off x="4846320" y="4041648"/>
            <a:ext cx="6793992"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19472" y="4096511"/>
            <a:ext cx="6647688" cy="786384"/>
          </a:xfrm>
          <a:prstGeom prst="rect">
            <a:avLst/>
          </a:prstGeom>
          <a:noFill/>
        </p:spPr>
        <p:txBody>
          <a:bodyPr wrap="square" anchor="t" lIns="36576" rIns="36576" tIns="36576" bIns="36576">
            <a:spAutoFit/>
          </a:bodyPr>
          <a:lstStyle/>
          <a:p>
            <a:pPr algn="l"/>
            <a:r>
              <a:rPr sz="950" b="0">
                <a:solidFill>
                  <a:srgbClr val="17191C"/>
                </a:solidFill>
                <a:latin typeface="Yu Gothic"/>
              </a:rPr>
              <a:t>Codex CLI / Claude Code / Kiro CLI / Antigravity CLI（agy）は自動化やGit作業向け。Coworkの主操作面ではありません。</a:t>
            </a:r>
          </a:p>
        </p:txBody>
      </p:sp>
      <p:sp>
        <p:nvSpPr>
          <p:cNvPr id="38" name="Rectangle 37"/>
          <p:cNvSpPr/>
          <p:nvPr/>
        </p:nvSpPr>
        <p:spPr>
          <a:xfrm>
            <a:off x="822960" y="4937760"/>
            <a:ext cx="164592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4992624"/>
            <a:ext cx="1499616" cy="786384"/>
          </a:xfrm>
          <a:prstGeom prst="rect">
            <a:avLst/>
          </a:prstGeom>
          <a:noFill/>
        </p:spPr>
        <p:txBody>
          <a:bodyPr wrap="square" anchor="t" lIns="36576" rIns="36576" tIns="36576" bIns="36576">
            <a:spAutoFit/>
          </a:bodyPr>
          <a:lstStyle/>
          <a:p>
            <a:pPr algn="l"/>
            <a:r>
              <a:rPr sz="1150" b="0">
                <a:solidFill>
                  <a:srgbClr val="17191C"/>
                </a:solidFill>
                <a:latin typeface="Yu Gothic"/>
              </a:rPr>
              <a:t>SDK</a:t>
            </a:r>
          </a:p>
        </p:txBody>
      </p:sp>
      <p:sp>
        <p:nvSpPr>
          <p:cNvPr id="40" name="Rectangle 39"/>
          <p:cNvSpPr/>
          <p:nvPr/>
        </p:nvSpPr>
        <p:spPr>
          <a:xfrm>
            <a:off x="2468880" y="4937760"/>
            <a:ext cx="237744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42032" y="4992624"/>
            <a:ext cx="2231136" cy="786384"/>
          </a:xfrm>
          <a:prstGeom prst="rect">
            <a:avLst/>
          </a:prstGeom>
          <a:noFill/>
        </p:spPr>
        <p:txBody>
          <a:bodyPr wrap="square" anchor="t" lIns="36576" rIns="36576" tIns="36576" bIns="36576">
            <a:spAutoFit/>
          </a:bodyPr>
          <a:lstStyle/>
          <a:p>
            <a:pPr algn="l"/>
            <a:r>
              <a:rPr sz="1150" b="0">
                <a:solidFill>
                  <a:srgbClr val="17191C"/>
                </a:solidFill>
                <a:latin typeface="Yu Gothic"/>
              </a:rPr>
              <a:t>エージェント機能をコードへ組み込む開発部品</a:t>
            </a:r>
          </a:p>
        </p:txBody>
      </p:sp>
      <p:sp>
        <p:nvSpPr>
          <p:cNvPr id="42" name="Rectangle 41"/>
          <p:cNvSpPr/>
          <p:nvPr/>
        </p:nvSpPr>
        <p:spPr>
          <a:xfrm>
            <a:off x="4846320" y="4937760"/>
            <a:ext cx="6793992"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19472" y="4992624"/>
            <a:ext cx="6647688" cy="786384"/>
          </a:xfrm>
          <a:prstGeom prst="rect">
            <a:avLst/>
          </a:prstGeom>
          <a:noFill/>
        </p:spPr>
        <p:txBody>
          <a:bodyPr wrap="square" anchor="t" lIns="36576" rIns="36576" tIns="36576" bIns="36576">
            <a:spAutoFit/>
          </a:bodyPr>
          <a:lstStyle/>
          <a:p>
            <a:pPr algn="l"/>
            <a:r>
              <a:rPr sz="950" b="0">
                <a:solidFill>
                  <a:srgbClr val="17191C"/>
                </a:solidFill>
                <a:latin typeface="Yu Gothic"/>
              </a:rPr>
              <a:t>Codex SDK / Claude Agent SDK / Antigravity SDKでプログラム実行できます。Kiro PowersはSDKではなく、知識とToolをまとめるKiro固有の拡張です。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08</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08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GLOSSARY 02  |  GUIDANCE + EXTENSIONS</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指示を持続する仕組みと、再利用する能力を区別します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645920"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1408176"/>
            <a:ext cx="1499616" cy="637032"/>
          </a:xfrm>
          <a:prstGeom prst="rect">
            <a:avLst/>
          </a:prstGeom>
          <a:noFill/>
        </p:spPr>
        <p:txBody>
          <a:bodyPr wrap="square" anchor="t" lIns="36576" rIns="36576" tIns="36576" bIns="36576">
            <a:spAutoFit/>
          </a:bodyPr>
          <a:lstStyle/>
          <a:p>
            <a:pPr algn="l"/>
            <a:r>
              <a:rPr sz="1150" b="1">
                <a:solidFill>
                  <a:srgbClr val="FFFFFF"/>
                </a:solidFill>
                <a:latin typeface="Yu Gothic"/>
              </a:rPr>
              <a:t>用語</a:t>
            </a:r>
          </a:p>
        </p:txBody>
      </p:sp>
      <p:sp>
        <p:nvSpPr>
          <p:cNvPr id="16" name="Rectangle 15"/>
          <p:cNvSpPr/>
          <p:nvPr/>
        </p:nvSpPr>
        <p:spPr>
          <a:xfrm>
            <a:off x="2468880" y="1353312"/>
            <a:ext cx="2377440"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2032" y="1408176"/>
            <a:ext cx="2231136" cy="637032"/>
          </a:xfrm>
          <a:prstGeom prst="rect">
            <a:avLst/>
          </a:prstGeom>
          <a:noFill/>
        </p:spPr>
        <p:txBody>
          <a:bodyPr wrap="square" anchor="t" lIns="36576" rIns="36576" tIns="36576" bIns="36576">
            <a:spAutoFit/>
          </a:bodyPr>
          <a:lstStyle/>
          <a:p>
            <a:pPr algn="l"/>
            <a:r>
              <a:rPr sz="1150" b="1">
                <a:solidFill>
                  <a:srgbClr val="FFFFFF"/>
                </a:solidFill>
                <a:latin typeface="Yu Gothic"/>
              </a:rPr>
              <a:t>一般的な意味</a:t>
            </a:r>
          </a:p>
        </p:txBody>
      </p:sp>
      <p:sp>
        <p:nvSpPr>
          <p:cNvPr id="18" name="Rectangle 17"/>
          <p:cNvSpPr/>
          <p:nvPr/>
        </p:nvSpPr>
        <p:spPr>
          <a:xfrm>
            <a:off x="4846320" y="1353312"/>
            <a:ext cx="6793992"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19472" y="1408176"/>
            <a:ext cx="6647688" cy="637032"/>
          </a:xfrm>
          <a:prstGeom prst="rect">
            <a:avLst/>
          </a:prstGeom>
          <a:noFill/>
        </p:spPr>
        <p:txBody>
          <a:bodyPr wrap="square" anchor="t" lIns="36576" rIns="36576" tIns="36576" bIns="36576">
            <a:spAutoFit/>
          </a:bodyPr>
          <a:lstStyle/>
          <a:p>
            <a:pPr algn="l"/>
            <a:r>
              <a:rPr sz="1150" b="1">
                <a:solidFill>
                  <a:srgbClr val="FFFFFF"/>
                </a:solidFill>
                <a:latin typeface="Yu Gothic"/>
              </a:rPr>
              <a:t>各AIエージェントでの使われ方</a:t>
            </a:r>
          </a:p>
        </p:txBody>
      </p:sp>
      <p:sp>
        <p:nvSpPr>
          <p:cNvPr id="20" name="Rectangle 19"/>
          <p:cNvSpPr/>
          <p:nvPr/>
        </p:nvSpPr>
        <p:spPr>
          <a:xfrm>
            <a:off x="822960" y="2100072"/>
            <a:ext cx="164592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2154936"/>
            <a:ext cx="1499616" cy="637032"/>
          </a:xfrm>
          <a:prstGeom prst="rect">
            <a:avLst/>
          </a:prstGeom>
          <a:noFill/>
        </p:spPr>
        <p:txBody>
          <a:bodyPr wrap="square" anchor="t" lIns="36576" rIns="36576" tIns="36576" bIns="36576">
            <a:spAutoFit/>
          </a:bodyPr>
          <a:lstStyle/>
          <a:p>
            <a:pPr algn="l"/>
            <a:r>
              <a:rPr sz="1150" b="0">
                <a:solidFill>
                  <a:srgbClr val="17191C"/>
                </a:solidFill>
                <a:latin typeface="Yu Gothic"/>
              </a:rPr>
              <a:t>Rules</a:t>
            </a:r>
          </a:p>
        </p:txBody>
      </p:sp>
      <p:sp>
        <p:nvSpPr>
          <p:cNvPr id="22" name="Rectangle 21"/>
          <p:cNvSpPr/>
          <p:nvPr/>
        </p:nvSpPr>
        <p:spPr>
          <a:xfrm>
            <a:off x="2468880" y="2100072"/>
            <a:ext cx="23774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42032" y="2154936"/>
            <a:ext cx="2231136" cy="637032"/>
          </a:xfrm>
          <a:prstGeom prst="rect">
            <a:avLst/>
          </a:prstGeom>
          <a:noFill/>
        </p:spPr>
        <p:txBody>
          <a:bodyPr wrap="square" anchor="t" lIns="36576" rIns="36576" tIns="36576" bIns="36576">
            <a:spAutoFit/>
          </a:bodyPr>
          <a:lstStyle/>
          <a:p>
            <a:pPr algn="l"/>
            <a:r>
              <a:rPr sz="1150" b="0">
                <a:solidFill>
                  <a:srgbClr val="17191C"/>
                </a:solidFill>
                <a:latin typeface="Yu Gothic"/>
              </a:rPr>
              <a:t>守る制約・規約を持続させる指示</a:t>
            </a:r>
          </a:p>
        </p:txBody>
      </p:sp>
      <p:sp>
        <p:nvSpPr>
          <p:cNvPr id="24" name="Rectangle 23"/>
          <p:cNvSpPr/>
          <p:nvPr/>
        </p:nvSpPr>
        <p:spPr>
          <a:xfrm>
            <a:off x="4846320" y="2100072"/>
            <a:ext cx="679399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9472" y="2154936"/>
            <a:ext cx="6647688" cy="637032"/>
          </a:xfrm>
          <a:prstGeom prst="rect">
            <a:avLst/>
          </a:prstGeom>
          <a:noFill/>
        </p:spPr>
        <p:txBody>
          <a:bodyPr wrap="square" anchor="t" lIns="36576" rIns="36576" tIns="36576" bIns="36576">
            <a:spAutoFit/>
          </a:bodyPr>
          <a:lstStyle/>
          <a:p>
            <a:pPr algn="l"/>
            <a:r>
              <a:rPr sz="950" b="0">
                <a:solidFill>
                  <a:srgbClr val="17191C"/>
                </a:solidFill>
                <a:latin typeface="Yu Gothic"/>
              </a:rPr>
              <a:t>CodexはAGENTS.mdとRules、Claude CodeはCLAUDE.md、AntigravityはRules / GEMINI.mdを利用。Kiroでは近い役割をSteeringが担います。</a:t>
            </a:r>
          </a:p>
        </p:txBody>
      </p:sp>
      <p:sp>
        <p:nvSpPr>
          <p:cNvPr id="26" name="Rectangle 25"/>
          <p:cNvSpPr/>
          <p:nvPr/>
        </p:nvSpPr>
        <p:spPr>
          <a:xfrm>
            <a:off x="822960" y="2846832"/>
            <a:ext cx="164592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2901696"/>
            <a:ext cx="1499616" cy="637032"/>
          </a:xfrm>
          <a:prstGeom prst="rect">
            <a:avLst/>
          </a:prstGeom>
          <a:noFill/>
        </p:spPr>
        <p:txBody>
          <a:bodyPr wrap="square" anchor="t" lIns="36576" rIns="36576" tIns="36576" bIns="36576">
            <a:spAutoFit/>
          </a:bodyPr>
          <a:lstStyle/>
          <a:p>
            <a:pPr algn="l"/>
            <a:r>
              <a:rPr sz="1150" b="0">
                <a:solidFill>
                  <a:srgbClr val="17191C"/>
                </a:solidFill>
                <a:latin typeface="Yu Gothic"/>
              </a:rPr>
              <a:t>Steering</a:t>
            </a:r>
          </a:p>
        </p:txBody>
      </p:sp>
      <p:sp>
        <p:nvSpPr>
          <p:cNvPr id="28" name="Rectangle 27"/>
          <p:cNvSpPr/>
          <p:nvPr/>
        </p:nvSpPr>
        <p:spPr>
          <a:xfrm>
            <a:off x="2468880" y="2846832"/>
            <a:ext cx="23774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42032" y="2901696"/>
            <a:ext cx="2231136" cy="637032"/>
          </a:xfrm>
          <a:prstGeom prst="rect">
            <a:avLst/>
          </a:prstGeom>
          <a:noFill/>
        </p:spPr>
        <p:txBody>
          <a:bodyPr wrap="square" anchor="t" lIns="36576" rIns="36576" tIns="36576" bIns="36576">
            <a:spAutoFit/>
          </a:bodyPr>
          <a:lstStyle/>
          <a:p>
            <a:pPr algn="l"/>
            <a:r>
              <a:rPr sz="1150" b="0">
                <a:solidFill>
                  <a:srgbClr val="17191C"/>
                </a:solidFill>
                <a:latin typeface="Yu Gothic"/>
              </a:rPr>
              <a:t>Kiro固有の持続的なプロジェクト知識</a:t>
            </a:r>
          </a:p>
        </p:txBody>
      </p:sp>
      <p:sp>
        <p:nvSpPr>
          <p:cNvPr id="30" name="Rectangle 29"/>
          <p:cNvSpPr/>
          <p:nvPr/>
        </p:nvSpPr>
        <p:spPr>
          <a:xfrm>
            <a:off x="4846320" y="2846832"/>
            <a:ext cx="679399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19472" y="2901696"/>
            <a:ext cx="6647688" cy="637032"/>
          </a:xfrm>
          <a:prstGeom prst="rect">
            <a:avLst/>
          </a:prstGeom>
          <a:noFill/>
        </p:spPr>
        <p:txBody>
          <a:bodyPr wrap="square" anchor="t" lIns="36576" rIns="36576" tIns="36576" bIns="36576">
            <a:spAutoFit/>
          </a:bodyPr>
          <a:lstStyle/>
          <a:p>
            <a:pPr algn="l"/>
            <a:r>
              <a:rPr sz="950" b="0">
                <a:solidFill>
                  <a:srgbClr val="17191C"/>
                </a:solidFill>
                <a:latin typeface="Yu Gothic"/>
              </a:rPr>
              <a:t>Kiro IDE / CLI / Webが.kiro/steeringの規約・構成・技術選定を参照します。Codex、Claude、Antigravityの類似機能をSteeringとは呼びません。</a:t>
            </a:r>
          </a:p>
        </p:txBody>
      </p:sp>
      <p:sp>
        <p:nvSpPr>
          <p:cNvPr id="32" name="Rectangle 31"/>
          <p:cNvSpPr/>
          <p:nvPr/>
        </p:nvSpPr>
        <p:spPr>
          <a:xfrm>
            <a:off x="822960" y="3593592"/>
            <a:ext cx="164592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3648456"/>
            <a:ext cx="1499616" cy="637032"/>
          </a:xfrm>
          <a:prstGeom prst="rect">
            <a:avLst/>
          </a:prstGeom>
          <a:noFill/>
        </p:spPr>
        <p:txBody>
          <a:bodyPr wrap="square" anchor="t" lIns="36576" rIns="36576" tIns="36576" bIns="36576">
            <a:spAutoFit/>
          </a:bodyPr>
          <a:lstStyle/>
          <a:p>
            <a:pPr algn="l"/>
            <a:r>
              <a:rPr sz="1150" b="0">
                <a:solidFill>
                  <a:srgbClr val="17191C"/>
                </a:solidFill>
                <a:latin typeface="Yu Gothic"/>
              </a:rPr>
              <a:t>Skill</a:t>
            </a:r>
          </a:p>
        </p:txBody>
      </p:sp>
      <p:sp>
        <p:nvSpPr>
          <p:cNvPr id="34" name="Rectangle 33"/>
          <p:cNvSpPr/>
          <p:nvPr/>
        </p:nvSpPr>
        <p:spPr>
          <a:xfrm>
            <a:off x="2468880" y="3593592"/>
            <a:ext cx="23774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42032" y="3648456"/>
            <a:ext cx="2231136" cy="637032"/>
          </a:xfrm>
          <a:prstGeom prst="rect">
            <a:avLst/>
          </a:prstGeom>
          <a:noFill/>
        </p:spPr>
        <p:txBody>
          <a:bodyPr wrap="square" anchor="t" lIns="36576" rIns="36576" tIns="36576" bIns="36576">
            <a:spAutoFit/>
          </a:bodyPr>
          <a:lstStyle/>
          <a:p>
            <a:pPr algn="l"/>
            <a:r>
              <a:rPr sz="1150" b="0">
                <a:solidFill>
                  <a:srgbClr val="17191C"/>
                </a:solidFill>
                <a:latin typeface="Yu Gothic"/>
              </a:rPr>
              <a:t>必要時に読み込む再利用可能な手順・知識・scripts</a:t>
            </a:r>
          </a:p>
        </p:txBody>
      </p:sp>
      <p:sp>
        <p:nvSpPr>
          <p:cNvPr id="36" name="Rectangle 35"/>
          <p:cNvSpPr/>
          <p:nvPr/>
        </p:nvSpPr>
        <p:spPr>
          <a:xfrm>
            <a:off x="4846320" y="3593592"/>
            <a:ext cx="679399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19472" y="3648456"/>
            <a:ext cx="6647688" cy="637032"/>
          </a:xfrm>
          <a:prstGeom prst="rect">
            <a:avLst/>
          </a:prstGeom>
          <a:noFill/>
        </p:spPr>
        <p:txBody>
          <a:bodyPr wrap="square" anchor="t" lIns="36576" rIns="36576" tIns="36576" bIns="36576">
            <a:spAutoFit/>
          </a:bodyPr>
          <a:lstStyle/>
          <a:p>
            <a:pPr algn="l"/>
            <a:r>
              <a:rPr sz="950" b="0">
                <a:solidFill>
                  <a:srgbClr val="17191C"/>
                </a:solidFill>
                <a:latin typeface="Yu Gothic"/>
              </a:rPr>
              <a:t>Codex / Claude Code / Cowork / Kiro / Antigravityで利用可能。SKILL.mdを中心に、検索 → 内容・権限の監査 → project-local導入の順で扱います。</a:t>
            </a:r>
          </a:p>
        </p:txBody>
      </p:sp>
      <p:sp>
        <p:nvSpPr>
          <p:cNvPr id="38" name="Rectangle 37"/>
          <p:cNvSpPr/>
          <p:nvPr/>
        </p:nvSpPr>
        <p:spPr>
          <a:xfrm>
            <a:off x="822960" y="4340352"/>
            <a:ext cx="164592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4395216"/>
            <a:ext cx="1499616" cy="637032"/>
          </a:xfrm>
          <a:prstGeom prst="rect">
            <a:avLst/>
          </a:prstGeom>
          <a:noFill/>
        </p:spPr>
        <p:txBody>
          <a:bodyPr wrap="square" anchor="t" lIns="36576" rIns="36576" tIns="36576" bIns="36576">
            <a:spAutoFit/>
          </a:bodyPr>
          <a:lstStyle/>
          <a:p>
            <a:pPr algn="l"/>
            <a:r>
              <a:rPr sz="1150" b="0">
                <a:solidFill>
                  <a:srgbClr val="17191C"/>
                </a:solidFill>
                <a:latin typeface="Yu Gothic"/>
              </a:rPr>
              <a:t>Power</a:t>
            </a:r>
          </a:p>
        </p:txBody>
      </p:sp>
      <p:sp>
        <p:nvSpPr>
          <p:cNvPr id="40" name="Rectangle 39"/>
          <p:cNvSpPr/>
          <p:nvPr/>
        </p:nvSpPr>
        <p:spPr>
          <a:xfrm>
            <a:off x="2468880" y="4340352"/>
            <a:ext cx="23774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42032" y="4395216"/>
            <a:ext cx="2231136" cy="637032"/>
          </a:xfrm>
          <a:prstGeom prst="rect">
            <a:avLst/>
          </a:prstGeom>
          <a:noFill/>
        </p:spPr>
        <p:txBody>
          <a:bodyPr wrap="square" anchor="t" lIns="36576" rIns="36576" tIns="36576" bIns="36576">
            <a:spAutoFit/>
          </a:bodyPr>
          <a:lstStyle/>
          <a:p>
            <a:pPr algn="l"/>
            <a:r>
              <a:rPr sz="1150" b="0">
                <a:solidFill>
                  <a:srgbClr val="17191C"/>
                </a:solidFill>
                <a:latin typeface="Yu Gothic"/>
              </a:rPr>
              <a:t>Kiro固有の動的な統合パッケージ</a:t>
            </a:r>
          </a:p>
        </p:txBody>
      </p:sp>
      <p:sp>
        <p:nvSpPr>
          <p:cNvPr id="42" name="Rectangle 41"/>
          <p:cNvSpPr/>
          <p:nvPr/>
        </p:nvSpPr>
        <p:spPr>
          <a:xfrm>
            <a:off x="4846320" y="4340352"/>
            <a:ext cx="679399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19472" y="4395216"/>
            <a:ext cx="6647688" cy="637032"/>
          </a:xfrm>
          <a:prstGeom prst="rect">
            <a:avLst/>
          </a:prstGeom>
          <a:noFill/>
        </p:spPr>
        <p:txBody>
          <a:bodyPr wrap="square" anchor="t" lIns="36576" rIns="36576" tIns="36576" bIns="36576">
            <a:spAutoFit/>
          </a:bodyPr>
          <a:lstStyle/>
          <a:p>
            <a:pPr algn="l"/>
            <a:r>
              <a:rPr sz="950" b="0">
                <a:solidFill>
                  <a:srgbClr val="17191C"/>
                </a:solidFill>
                <a:latin typeface="Yu Gothic"/>
              </a:rPr>
              <a:t>KiroでPOWER.md、MCP設定、任意のSteering / Hooksをまとめ、関連時だけ読み込みます。他製品のSkillやPluginの別名ではありません。</a:t>
            </a:r>
          </a:p>
        </p:txBody>
      </p:sp>
      <p:sp>
        <p:nvSpPr>
          <p:cNvPr id="44" name="Rectangle 43"/>
          <p:cNvSpPr/>
          <p:nvPr/>
        </p:nvSpPr>
        <p:spPr>
          <a:xfrm>
            <a:off x="822960" y="5087112"/>
            <a:ext cx="164592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141976"/>
            <a:ext cx="1499616" cy="637032"/>
          </a:xfrm>
          <a:prstGeom prst="rect">
            <a:avLst/>
          </a:prstGeom>
          <a:noFill/>
        </p:spPr>
        <p:txBody>
          <a:bodyPr wrap="square" anchor="t" lIns="36576" rIns="36576" tIns="36576" bIns="36576">
            <a:spAutoFit/>
          </a:bodyPr>
          <a:lstStyle/>
          <a:p>
            <a:pPr algn="l"/>
            <a:r>
              <a:rPr sz="1150" b="0">
                <a:solidFill>
                  <a:srgbClr val="17191C"/>
                </a:solidFill>
                <a:latin typeface="Yu Gothic"/>
              </a:rPr>
              <a:t>Plugin</a:t>
            </a:r>
          </a:p>
        </p:txBody>
      </p:sp>
      <p:sp>
        <p:nvSpPr>
          <p:cNvPr id="46" name="Rectangle 45"/>
          <p:cNvSpPr/>
          <p:nvPr/>
        </p:nvSpPr>
        <p:spPr>
          <a:xfrm>
            <a:off x="2468880" y="5087112"/>
            <a:ext cx="23774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42032" y="5141976"/>
            <a:ext cx="2231136" cy="637032"/>
          </a:xfrm>
          <a:prstGeom prst="rect">
            <a:avLst/>
          </a:prstGeom>
          <a:noFill/>
        </p:spPr>
        <p:txBody>
          <a:bodyPr wrap="square" anchor="t" lIns="36576" rIns="36576" tIns="36576" bIns="36576">
            <a:spAutoFit/>
          </a:bodyPr>
          <a:lstStyle/>
          <a:p>
            <a:pPr algn="l"/>
            <a:r>
              <a:rPr sz="1150" b="0">
                <a:solidFill>
                  <a:srgbClr val="17191C"/>
                </a:solidFill>
                <a:latin typeface="Yu Gothic"/>
              </a:rPr>
              <a:t>複数の拡張機能を配布する箱</a:t>
            </a:r>
          </a:p>
        </p:txBody>
      </p:sp>
      <p:sp>
        <p:nvSpPr>
          <p:cNvPr id="48" name="Rectangle 47"/>
          <p:cNvSpPr/>
          <p:nvPr/>
        </p:nvSpPr>
        <p:spPr>
          <a:xfrm>
            <a:off x="4846320" y="5087112"/>
            <a:ext cx="679399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919472" y="5141976"/>
            <a:ext cx="6647688" cy="637032"/>
          </a:xfrm>
          <a:prstGeom prst="rect">
            <a:avLst/>
          </a:prstGeom>
          <a:noFill/>
        </p:spPr>
        <p:txBody>
          <a:bodyPr wrap="square" anchor="t" lIns="36576" rIns="36576" tIns="36576" bIns="36576">
            <a:spAutoFit/>
          </a:bodyPr>
          <a:lstStyle/>
          <a:p>
            <a:pPr algn="l"/>
            <a:r>
              <a:rPr sz="950" b="0">
                <a:solidFill>
                  <a:srgbClr val="17191C"/>
                </a:solidFill>
                <a:latin typeface="Yu Gothic"/>
              </a:rPr>
              <a:t>CodexはSkills / MCP / UI、Claude Code / CoworkはSkills / agents / hooks / MCP、AntigravityはSkills / Rules / MCP / Hooksを束ねます。Kiroでは主にSkills / Powersを使います。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09</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09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GLOSSARY 03  |  CONNECTION + DELIVERY</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接続、仕事の範囲、成果物、実行時刻を別々に考えます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645920"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1408176"/>
            <a:ext cx="1499616" cy="637032"/>
          </a:xfrm>
          <a:prstGeom prst="rect">
            <a:avLst/>
          </a:prstGeom>
          <a:noFill/>
        </p:spPr>
        <p:txBody>
          <a:bodyPr wrap="square" anchor="t" lIns="36576" rIns="36576" tIns="36576" bIns="36576">
            <a:spAutoFit/>
          </a:bodyPr>
          <a:lstStyle/>
          <a:p>
            <a:pPr algn="l"/>
            <a:r>
              <a:rPr sz="1150" b="1">
                <a:solidFill>
                  <a:srgbClr val="FFFFFF"/>
                </a:solidFill>
                <a:latin typeface="Yu Gothic"/>
              </a:rPr>
              <a:t>用語</a:t>
            </a:r>
          </a:p>
        </p:txBody>
      </p:sp>
      <p:sp>
        <p:nvSpPr>
          <p:cNvPr id="16" name="Rectangle 15"/>
          <p:cNvSpPr/>
          <p:nvPr/>
        </p:nvSpPr>
        <p:spPr>
          <a:xfrm>
            <a:off x="2468880" y="1353312"/>
            <a:ext cx="2377440"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2032" y="1408176"/>
            <a:ext cx="2231136" cy="637032"/>
          </a:xfrm>
          <a:prstGeom prst="rect">
            <a:avLst/>
          </a:prstGeom>
          <a:noFill/>
        </p:spPr>
        <p:txBody>
          <a:bodyPr wrap="square" anchor="t" lIns="36576" rIns="36576" tIns="36576" bIns="36576">
            <a:spAutoFit/>
          </a:bodyPr>
          <a:lstStyle/>
          <a:p>
            <a:pPr algn="l"/>
            <a:r>
              <a:rPr sz="1150" b="1">
                <a:solidFill>
                  <a:srgbClr val="FFFFFF"/>
                </a:solidFill>
                <a:latin typeface="Yu Gothic"/>
              </a:rPr>
              <a:t>一般的な意味</a:t>
            </a:r>
          </a:p>
        </p:txBody>
      </p:sp>
      <p:sp>
        <p:nvSpPr>
          <p:cNvPr id="18" name="Rectangle 17"/>
          <p:cNvSpPr/>
          <p:nvPr/>
        </p:nvSpPr>
        <p:spPr>
          <a:xfrm>
            <a:off x="4846320" y="1353312"/>
            <a:ext cx="6793992" cy="746760"/>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19472" y="1408176"/>
            <a:ext cx="6647688" cy="637032"/>
          </a:xfrm>
          <a:prstGeom prst="rect">
            <a:avLst/>
          </a:prstGeom>
          <a:noFill/>
        </p:spPr>
        <p:txBody>
          <a:bodyPr wrap="square" anchor="t" lIns="36576" rIns="36576" tIns="36576" bIns="36576">
            <a:spAutoFit/>
          </a:bodyPr>
          <a:lstStyle/>
          <a:p>
            <a:pPr algn="l"/>
            <a:r>
              <a:rPr sz="1150" b="1">
                <a:solidFill>
                  <a:srgbClr val="FFFFFF"/>
                </a:solidFill>
                <a:latin typeface="Yu Gothic"/>
              </a:rPr>
              <a:t>各AIエージェントでの使われ方</a:t>
            </a:r>
          </a:p>
        </p:txBody>
      </p:sp>
      <p:sp>
        <p:nvSpPr>
          <p:cNvPr id="20" name="Rectangle 19"/>
          <p:cNvSpPr/>
          <p:nvPr/>
        </p:nvSpPr>
        <p:spPr>
          <a:xfrm>
            <a:off x="822960" y="2100072"/>
            <a:ext cx="164592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2154936"/>
            <a:ext cx="1499616" cy="637032"/>
          </a:xfrm>
          <a:prstGeom prst="rect">
            <a:avLst/>
          </a:prstGeom>
          <a:noFill/>
        </p:spPr>
        <p:txBody>
          <a:bodyPr wrap="square" anchor="t" lIns="36576" rIns="36576" tIns="36576" bIns="36576">
            <a:spAutoFit/>
          </a:bodyPr>
          <a:lstStyle/>
          <a:p>
            <a:pPr algn="l"/>
            <a:r>
              <a:rPr sz="1150" b="0">
                <a:solidFill>
                  <a:srgbClr val="17191C"/>
                </a:solidFill>
                <a:latin typeface="Yu Gothic"/>
              </a:rPr>
              <a:t>MCP</a:t>
            </a:r>
          </a:p>
        </p:txBody>
      </p:sp>
      <p:sp>
        <p:nvSpPr>
          <p:cNvPr id="22" name="Rectangle 21"/>
          <p:cNvSpPr/>
          <p:nvPr/>
        </p:nvSpPr>
        <p:spPr>
          <a:xfrm>
            <a:off x="2468880" y="2100072"/>
            <a:ext cx="23774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42032" y="2154936"/>
            <a:ext cx="2231136" cy="637032"/>
          </a:xfrm>
          <a:prstGeom prst="rect">
            <a:avLst/>
          </a:prstGeom>
          <a:noFill/>
        </p:spPr>
        <p:txBody>
          <a:bodyPr wrap="square" anchor="t" lIns="36576" rIns="36576" tIns="36576" bIns="36576">
            <a:spAutoFit/>
          </a:bodyPr>
          <a:lstStyle/>
          <a:p>
            <a:pPr algn="l"/>
            <a:r>
              <a:rPr sz="1150" b="0">
                <a:solidFill>
                  <a:srgbClr val="17191C"/>
                </a:solidFill>
                <a:latin typeface="Yu Gothic"/>
              </a:rPr>
              <a:t>外部Tool・データ接続の標準プロトコル</a:t>
            </a:r>
          </a:p>
        </p:txBody>
      </p:sp>
      <p:sp>
        <p:nvSpPr>
          <p:cNvPr id="24" name="Rectangle 23"/>
          <p:cNvSpPr/>
          <p:nvPr/>
        </p:nvSpPr>
        <p:spPr>
          <a:xfrm>
            <a:off x="4846320" y="2100072"/>
            <a:ext cx="679399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9472" y="2154936"/>
            <a:ext cx="6647688" cy="637032"/>
          </a:xfrm>
          <a:prstGeom prst="rect">
            <a:avLst/>
          </a:prstGeom>
          <a:noFill/>
        </p:spPr>
        <p:txBody>
          <a:bodyPr wrap="square" anchor="t" lIns="36576" rIns="36576" tIns="36576" bIns="36576">
            <a:spAutoFit/>
          </a:bodyPr>
          <a:lstStyle/>
          <a:p>
            <a:pPr algn="l"/>
            <a:r>
              <a:rPr sz="950" b="0">
                <a:solidFill>
                  <a:srgbClr val="17191C"/>
                </a:solidFill>
                <a:latin typeface="Yu Gothic"/>
              </a:rPr>
              <a:t>Codex / Claude Code / Kiro / AntigravityはMCP serverのToolを利用。CoworkではConnector / Plugin経由もあります。認証、読取、書込、承認範囲を別々に確認します。</a:t>
            </a:r>
          </a:p>
        </p:txBody>
      </p:sp>
      <p:sp>
        <p:nvSpPr>
          <p:cNvPr id="26" name="Rectangle 25"/>
          <p:cNvSpPr/>
          <p:nvPr/>
        </p:nvSpPr>
        <p:spPr>
          <a:xfrm>
            <a:off x="822960" y="2846832"/>
            <a:ext cx="164592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2901696"/>
            <a:ext cx="1499616" cy="637032"/>
          </a:xfrm>
          <a:prstGeom prst="rect">
            <a:avLst/>
          </a:prstGeom>
          <a:noFill/>
        </p:spPr>
        <p:txBody>
          <a:bodyPr wrap="square" anchor="t" lIns="36576" rIns="36576" tIns="36576" bIns="36576">
            <a:spAutoFit/>
          </a:bodyPr>
          <a:lstStyle/>
          <a:p>
            <a:pPr algn="l"/>
            <a:r>
              <a:rPr sz="1150" b="0">
                <a:solidFill>
                  <a:srgbClr val="17191C"/>
                </a:solidFill>
                <a:latin typeface="Yu Gothic"/>
              </a:rPr>
              <a:t>Project</a:t>
            </a:r>
          </a:p>
        </p:txBody>
      </p:sp>
      <p:sp>
        <p:nvSpPr>
          <p:cNvPr id="28" name="Rectangle 27"/>
          <p:cNvSpPr/>
          <p:nvPr/>
        </p:nvSpPr>
        <p:spPr>
          <a:xfrm>
            <a:off x="2468880" y="2846832"/>
            <a:ext cx="23774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42032" y="2901696"/>
            <a:ext cx="2231136" cy="637032"/>
          </a:xfrm>
          <a:prstGeom prst="rect">
            <a:avLst/>
          </a:prstGeom>
          <a:noFill/>
        </p:spPr>
        <p:txBody>
          <a:bodyPr wrap="square" anchor="t" lIns="36576" rIns="36576" tIns="36576" bIns="36576">
            <a:spAutoFit/>
          </a:bodyPr>
          <a:lstStyle/>
          <a:p>
            <a:pPr algn="l"/>
            <a:r>
              <a:rPr sz="1150" b="0">
                <a:solidFill>
                  <a:srgbClr val="17191C"/>
                </a:solidFill>
                <a:latin typeface="Yu Gothic"/>
              </a:rPr>
              <a:t>会話・ファイル・設定・権限をまとめる仕事の範囲</a:t>
            </a:r>
          </a:p>
        </p:txBody>
      </p:sp>
      <p:sp>
        <p:nvSpPr>
          <p:cNvPr id="30" name="Rectangle 29"/>
          <p:cNvSpPr/>
          <p:nvPr/>
        </p:nvSpPr>
        <p:spPr>
          <a:xfrm>
            <a:off x="4846320" y="2846832"/>
            <a:ext cx="679399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19472" y="2901696"/>
            <a:ext cx="6647688" cy="637032"/>
          </a:xfrm>
          <a:prstGeom prst="rect">
            <a:avLst/>
          </a:prstGeom>
          <a:noFill/>
        </p:spPr>
        <p:txBody>
          <a:bodyPr wrap="square" anchor="t" lIns="36576" rIns="36576" tIns="36576" bIns="36576">
            <a:spAutoFit/>
          </a:bodyPr>
          <a:lstStyle/>
          <a:p>
            <a:pPr algn="l"/>
            <a:r>
              <a:rPr sz="950" b="0">
                <a:solidFill>
                  <a:srgbClr val="17191C"/>
                </a:solidFill>
                <a:latin typeface="Yu Gothic"/>
              </a:rPr>
              <a:t>Antigravity 2.0では1つ以上のfolderと分離設定を持つ正式概念。Codex / Claude Code / Kiroではrepo / workspace / project directoryが主な境界です。</a:t>
            </a:r>
          </a:p>
        </p:txBody>
      </p:sp>
      <p:sp>
        <p:nvSpPr>
          <p:cNvPr id="32" name="Rectangle 31"/>
          <p:cNvSpPr/>
          <p:nvPr/>
        </p:nvSpPr>
        <p:spPr>
          <a:xfrm>
            <a:off x="822960" y="3593592"/>
            <a:ext cx="164592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3648456"/>
            <a:ext cx="1499616" cy="637032"/>
          </a:xfrm>
          <a:prstGeom prst="rect">
            <a:avLst/>
          </a:prstGeom>
          <a:noFill/>
        </p:spPr>
        <p:txBody>
          <a:bodyPr wrap="square" anchor="t" lIns="36576" rIns="36576" tIns="36576" bIns="36576">
            <a:spAutoFit/>
          </a:bodyPr>
          <a:lstStyle/>
          <a:p>
            <a:pPr algn="l"/>
            <a:r>
              <a:rPr sz="1150" b="0">
                <a:solidFill>
                  <a:srgbClr val="17191C"/>
                </a:solidFill>
                <a:latin typeface="Yu Gothic"/>
              </a:rPr>
              <a:t>Site</a:t>
            </a:r>
          </a:p>
        </p:txBody>
      </p:sp>
      <p:sp>
        <p:nvSpPr>
          <p:cNvPr id="34" name="Rectangle 33"/>
          <p:cNvSpPr/>
          <p:nvPr/>
        </p:nvSpPr>
        <p:spPr>
          <a:xfrm>
            <a:off x="2468880" y="3593592"/>
            <a:ext cx="23774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42032" y="3648456"/>
            <a:ext cx="2231136" cy="637032"/>
          </a:xfrm>
          <a:prstGeom prst="rect">
            <a:avLst/>
          </a:prstGeom>
          <a:noFill/>
        </p:spPr>
        <p:txBody>
          <a:bodyPr wrap="square" anchor="t" lIns="36576" rIns="36576" tIns="36576" bIns="36576">
            <a:spAutoFit/>
          </a:bodyPr>
          <a:lstStyle/>
          <a:p>
            <a:pPr algn="l"/>
            <a:r>
              <a:rPr sz="1150" b="0">
                <a:solidFill>
                  <a:srgbClr val="17191C"/>
                </a:solidFill>
                <a:latin typeface="Yu Gothic"/>
              </a:rPr>
              <a:t>ブラウザで見るWeb成果物または公開面</a:t>
            </a:r>
          </a:p>
        </p:txBody>
      </p:sp>
      <p:sp>
        <p:nvSpPr>
          <p:cNvPr id="36" name="Rectangle 35"/>
          <p:cNvSpPr/>
          <p:nvPr/>
        </p:nvSpPr>
        <p:spPr>
          <a:xfrm>
            <a:off x="4846320" y="3593592"/>
            <a:ext cx="679399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19472" y="3648456"/>
            <a:ext cx="6647688" cy="637032"/>
          </a:xfrm>
          <a:prstGeom prst="rect">
            <a:avLst/>
          </a:prstGeom>
          <a:noFill/>
        </p:spPr>
        <p:txBody>
          <a:bodyPr wrap="square" anchor="t" lIns="36576" rIns="36576" tIns="36576" bIns="36576">
            <a:spAutoFit/>
          </a:bodyPr>
          <a:lstStyle/>
          <a:p>
            <a:pPr algn="l"/>
            <a:r>
              <a:rPr sz="950" b="0">
                <a:solidFill>
                  <a:srgbClr val="17191C"/>
                </a:solidFill>
                <a:latin typeface="Yu Gothic"/>
              </a:rPr>
              <a:t>5製品が作成・検証・公開できる成果物で、ProjectやAgentの別名ではありません。本デモではGitHub Pages上のAI Agent Learning Hubを指します。</a:t>
            </a:r>
          </a:p>
        </p:txBody>
      </p:sp>
      <p:sp>
        <p:nvSpPr>
          <p:cNvPr id="38" name="Rectangle 37"/>
          <p:cNvSpPr/>
          <p:nvPr/>
        </p:nvSpPr>
        <p:spPr>
          <a:xfrm>
            <a:off x="822960" y="4340352"/>
            <a:ext cx="164592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4395216"/>
            <a:ext cx="1499616" cy="637032"/>
          </a:xfrm>
          <a:prstGeom prst="rect">
            <a:avLst/>
          </a:prstGeom>
          <a:noFill/>
        </p:spPr>
        <p:txBody>
          <a:bodyPr wrap="square" anchor="t" lIns="36576" rIns="36576" tIns="36576" bIns="36576">
            <a:spAutoFit/>
          </a:bodyPr>
          <a:lstStyle/>
          <a:p>
            <a:pPr algn="l"/>
            <a:r>
              <a:rPr sz="1150" b="0">
                <a:solidFill>
                  <a:srgbClr val="17191C"/>
                </a:solidFill>
                <a:latin typeface="Yu Gothic"/>
              </a:rPr>
              <a:t>Schedule</a:t>
            </a:r>
          </a:p>
        </p:txBody>
      </p:sp>
      <p:sp>
        <p:nvSpPr>
          <p:cNvPr id="40" name="Rectangle 39"/>
          <p:cNvSpPr/>
          <p:nvPr/>
        </p:nvSpPr>
        <p:spPr>
          <a:xfrm>
            <a:off x="2468880" y="4340352"/>
            <a:ext cx="23774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42032" y="4395216"/>
            <a:ext cx="2231136" cy="637032"/>
          </a:xfrm>
          <a:prstGeom prst="rect">
            <a:avLst/>
          </a:prstGeom>
          <a:noFill/>
        </p:spPr>
        <p:txBody>
          <a:bodyPr wrap="square" anchor="t" lIns="36576" rIns="36576" tIns="36576" bIns="36576">
            <a:spAutoFit/>
          </a:bodyPr>
          <a:lstStyle/>
          <a:p>
            <a:pPr algn="l"/>
            <a:r>
              <a:rPr sz="1150" b="0">
                <a:solidFill>
                  <a:srgbClr val="17191C"/>
                </a:solidFill>
                <a:latin typeface="Yu Gothic"/>
              </a:rPr>
              <a:t>指定時刻・周期で仕事を実行する設定</a:t>
            </a:r>
          </a:p>
        </p:txBody>
      </p:sp>
      <p:sp>
        <p:nvSpPr>
          <p:cNvPr id="42" name="Rectangle 41"/>
          <p:cNvSpPr/>
          <p:nvPr/>
        </p:nvSpPr>
        <p:spPr>
          <a:xfrm>
            <a:off x="4846320" y="4340352"/>
            <a:ext cx="679399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19472" y="4395216"/>
            <a:ext cx="6647688" cy="637032"/>
          </a:xfrm>
          <a:prstGeom prst="rect">
            <a:avLst/>
          </a:prstGeom>
          <a:noFill/>
        </p:spPr>
        <p:txBody>
          <a:bodyPr wrap="square" anchor="t" lIns="36576" rIns="36576" tIns="36576" bIns="36576">
            <a:spAutoFit/>
          </a:bodyPr>
          <a:lstStyle/>
          <a:p>
            <a:pPr algn="l"/>
            <a:r>
              <a:rPr sz="950" b="0">
                <a:solidFill>
                  <a:srgbClr val="17191C"/>
                </a:solidFill>
                <a:latin typeface="Yu Gothic"/>
              </a:rPr>
              <a:t>Claude CoworkにはScheduled tasksがあります。coding agentではCI、OS scheduler、cloud automationを使う場合があり、Kiro Hooksのようなイベント起動と時間起動を区別します。</a:t>
            </a:r>
          </a:p>
        </p:txBody>
      </p:sp>
      <p:sp>
        <p:nvSpPr>
          <p:cNvPr id="44" name="Rectangle 43"/>
          <p:cNvSpPr/>
          <p:nvPr/>
        </p:nvSpPr>
        <p:spPr>
          <a:xfrm>
            <a:off x="822960" y="5087112"/>
            <a:ext cx="164592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141976"/>
            <a:ext cx="1499616" cy="637032"/>
          </a:xfrm>
          <a:prstGeom prst="rect">
            <a:avLst/>
          </a:prstGeom>
          <a:noFill/>
        </p:spPr>
        <p:txBody>
          <a:bodyPr wrap="square" anchor="t" lIns="36576" rIns="36576" tIns="36576" bIns="36576">
            <a:spAutoFit/>
          </a:bodyPr>
          <a:lstStyle/>
          <a:p>
            <a:pPr algn="l"/>
            <a:r>
              <a:rPr sz="1150" b="0">
                <a:solidFill>
                  <a:srgbClr val="17191C"/>
                </a:solidFill>
                <a:latin typeface="Yu Gothic"/>
              </a:rPr>
              <a:t>Pull Request</a:t>
            </a:r>
          </a:p>
        </p:txBody>
      </p:sp>
      <p:sp>
        <p:nvSpPr>
          <p:cNvPr id="46" name="Rectangle 45"/>
          <p:cNvSpPr/>
          <p:nvPr/>
        </p:nvSpPr>
        <p:spPr>
          <a:xfrm>
            <a:off x="2468880" y="5087112"/>
            <a:ext cx="2377440"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42032" y="5141976"/>
            <a:ext cx="2231136" cy="637032"/>
          </a:xfrm>
          <a:prstGeom prst="rect">
            <a:avLst/>
          </a:prstGeom>
          <a:noFill/>
        </p:spPr>
        <p:txBody>
          <a:bodyPr wrap="square" anchor="t" lIns="36576" rIns="36576" tIns="36576" bIns="36576">
            <a:spAutoFit/>
          </a:bodyPr>
          <a:lstStyle/>
          <a:p>
            <a:pPr algn="l"/>
            <a:r>
              <a:rPr sz="1150" b="0">
                <a:solidFill>
                  <a:srgbClr val="17191C"/>
                </a:solidFill>
                <a:latin typeface="Yu Gothic"/>
              </a:rPr>
              <a:t>Git hosting上で差分をレビュー・統合する単位</a:t>
            </a:r>
          </a:p>
        </p:txBody>
      </p:sp>
      <p:sp>
        <p:nvSpPr>
          <p:cNvPr id="48" name="Rectangle 47"/>
          <p:cNvSpPr/>
          <p:nvPr/>
        </p:nvSpPr>
        <p:spPr>
          <a:xfrm>
            <a:off x="4846320" y="5087112"/>
            <a:ext cx="6793992" cy="746760"/>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919472" y="5141976"/>
            <a:ext cx="6647688" cy="637032"/>
          </a:xfrm>
          <a:prstGeom prst="rect">
            <a:avLst/>
          </a:prstGeom>
          <a:noFill/>
        </p:spPr>
        <p:txBody>
          <a:bodyPr wrap="square" anchor="t" lIns="36576" rIns="36576" tIns="36576" bIns="36576">
            <a:spAutoFit/>
          </a:bodyPr>
          <a:lstStyle/>
          <a:p>
            <a:pPr algn="l"/>
            <a:r>
              <a:rPr sz="950" b="0">
                <a:solidFill>
                  <a:srgbClr val="17191C"/>
                </a:solidFill>
                <a:latin typeface="Yu Gothic"/>
              </a:rPr>
              <a:t>Codex / Claude Code / Kiro / Antigravityは権限があればPRの作成・レビューを支援できます。PRはLLMやAgentの機能名ではなく、GitHub等の成果物です。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10</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10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RUN OF SHOW  |  WEB FIRST</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Web制作を主役にし、最後の5分だけCanva MCPとPowerPointを見せます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00:00–02:00
Goal
到達目標と公開する成果物を30秒で共有
02:00–04:00
/grill-me
目的・除外・停止条件・成功条件を決める
04:00–07:00
/find-skills + install
frontend-designを探し、監査して導入
07:00–10:00
TEST SPEC
TEST_SPECと契約テストを作り、REDを見る
10:00–15:00
WEB BUILD
Antigravity 2.0で初版を作り、部分PASSを見る
15:00–20:00
SKILL + BROWSER
Skillで改善し、2 viewportとGREENを確認
20:00–25:00
CANVA MCP + PPTX
3枚のCanva Presentation作成 → editable PPTXを開く
25:00–30:00
PUBLISH + PROOF
承認 → 8 tests → Pages → HTTPSを見る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11</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11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PRE-FLIGHT  |  PEOPLE + SYSTEM</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安全境界と参加者の現在地を、開始前に固定します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開始前チェック
01  Antigravity 2.0へサインイン済み
02  専用Project / repoだけを開いている
03  remote / branch / statusが予定どおり
04  /grill-me と /find-skills が表示
05  frontend-designは未導入
06  Browserでlocalhostを表示できる
07  Canva remote MCPがCONNECTED
08  Canva accountと利用可能Toolを照合
09  PowerPointを開ける
10  SITE_BRIEF = SYNTHETIC_DATA_ONLY
公開先 + Canva作成先
WEB PUBLICATION
kanta13jp1/mighty-link-antigravity-live-demo</a:t>
            </a:r>
          </a:p>
        </p:txBody>
      </p:sp>
      <p:sp>
        <p:nvSpPr>
          <p:cNvPr id="17" name="Rounded Rectangle 16"/>
          <p:cNvSpPr/>
          <p:nvPr/>
        </p:nvSpPr>
        <p:spPr>
          <a:xfrm>
            <a:off x="6345936"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83096"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3096"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PAGES URL
https://kanta13jp1.github.io/
mighty-link-antigravity-live-demo/</a:t>
            </a:r>
          </a:p>
        </p:txBody>
      </p:sp>
      <p:sp>
        <p:nvSpPr>
          <p:cNvPr id="20" name="Rounded Rectangle 19"/>
          <p:cNvSpPr/>
          <p:nvPr/>
        </p:nvSpPr>
        <p:spPr>
          <a:xfrm>
            <a:off x="822960" y="379476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 y="390448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399592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CANVA DESTINATION
ログイン中のデモ用Canva account
保存先: Designs</a:t>
            </a:r>
          </a:p>
        </p:txBody>
      </p:sp>
      <p:sp>
        <p:nvSpPr>
          <p:cNvPr id="23" name="Rounded Rectangle 22"/>
          <p:cNvSpPr/>
          <p:nvPr/>
        </p:nvSpPr>
        <p:spPr>
          <a:xfrm>
            <a:off x="6345936" y="379476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83096" y="39044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3096" y="399592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本番情報・認証情報・顧客情報は触らない
公開は正確な『公開して』の後だけ</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12</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12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PROMPT 0  |  /GRILL-ME</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実装前に、目的・除外・停止条件・成功条件を言葉にします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PASTE12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1080" b="0">
                <a:solidFill>
                  <a:srgbClr val="17191C"/>
                </a:solidFill>
                <a:latin typeface="Consolas"/>
              </a:rPr>
              <a:t>/grill-me
PASTE EXACTLY
Prompt 0 / /grill-meで実装前の判断を固める
/grill-me
30分のライブデモで「AI Agent Learning Hub」という1ページWebサイトを作ります。実装前に、矛盾や不足がないか厳しく確認してください。
確定済みの前提:
- 観客は非エンジニアと開発者の混在
- サイトはCodex、Claude Code、Claude Cowork、Kiro、Antigravityの5製品を短時間で比較できる研修用成果物
- ゴールは、観客がAIエージェントによる要件整理、制作、改善、検証、公開の流れを理解すること
- 5製品の公式機能を比較するが、ライブ操作はAntigravityだけを使う
- 公開可能な製品説明とローカル画像だけを使い、個人情報、顧客情報、認証情報は使わない
- ログイン、フォーム送信、外部API、分析タグ、永続保存は作らない
- 専用GitHub Pagesリポジトリだけへ公開する
- 30分以内にSkill導入、初版作成、改善、公開確認まで見せる
実装結果を大きく変える質問だけを最大2問、1問ずつ質問してください。各質問には推奨回答と、その理由を1行で添えて、私の回答を待ってください。私が「推奨案で進めてください」と答えた場合は、その推奨回答を採用してください。
回答後に「決定事項／見送ること／停止条件／成功条件」を4区分で要約してください。この段階ではファイル変更、コマンド実行、外部通信を行わないでください。
正本: docs/demo/antigravity_workshop/PROMPT_00_GRILL_ME.txt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B6D957"/>
          </a:solidFill>
          <a:ln w="12700">
            <a:solidFill>
              <a:srgbClr val="B6D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13</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13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/GRILL-ME  |  WHY</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Skillは、会話のたびに再利用できる仕事の型です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/grill-me の役割
曖昧な依頼を実装前に質問する。
結果を変える判断だけを残す。</a:t>
            </a:r>
          </a:p>
        </p:txBody>
      </p:sp>
      <p:sp>
        <p:nvSpPr>
          <p:cNvPr id="17" name="Rounded Rectangle 16"/>
          <p:cNvSpPr/>
          <p:nvPr/>
        </p:nvSpPr>
        <p:spPr>
          <a:xfrm>
            <a:off x="4504944"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42104"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2104"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今回の制限
・質問は最大2問
・1問ずつ + 推奨案 + 理由
・回答を待ってから次へ
・ファイル変更 / コマンド / 外部通信なし
期待する出力
DECISIONS
読み手 / 1画面の仕事 / 必須機能</a:t>
            </a:r>
          </a:p>
        </p:txBody>
      </p:sp>
      <p:sp>
        <p:nvSpPr>
          <p:cNvPr id="20" name="Rounded Rectangle 19"/>
          <p:cNvSpPr/>
          <p:nvPr/>
        </p:nvSpPr>
        <p:spPr>
          <a:xfrm>
            <a:off x="8186928"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4088" y="152704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4088"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OUT OF SCOPE
ログイン / 送信 / 外部API / 永続保存</a:t>
            </a:r>
          </a:p>
        </p:txBody>
      </p:sp>
      <p:sp>
        <p:nvSpPr>
          <p:cNvPr id="23" name="Rounded Rectangle 22"/>
          <p:cNvSpPr/>
          <p:nvPr/>
        </p:nvSpPr>
        <p:spPr>
          <a:xfrm>
            <a:off x="822960"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39044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STOP CONDITIONS
専用repo以外 / 秘密情報 / 90秒停止</a:t>
            </a:r>
          </a:p>
        </p:txBody>
      </p:sp>
      <p:sp>
        <p:nvSpPr>
          <p:cNvPr id="26" name="Rounded Rectangle 25"/>
          <p:cNvSpPr/>
          <p:nvPr/>
        </p:nvSpPr>
        <p:spPr>
          <a:xfrm>
            <a:off x="4504944"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42104" y="390448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2104"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SUCCESS
5カード / 5・4・1・5 / 最大2比較 / 2 viewport / HTTPS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14</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14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PROMPT 1  |  /FIND-SKILLS</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実装を始める前に、信頼できる専門能力を探します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PASTE14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1080" b="0">
                <a:solidFill>
                  <a:srgbClr val="17191C"/>
                </a:solidFill>
                <a:latin typeface="Consolas"/>
              </a:rPr>
              <a:t>/find-skills
PASTE EXACTLY
Prompt 1 / /find-skillsで専門能力を探す
/find-skills
5製品を比較するAI Agent Learning Hubの、情報設計、Webデザイン、レスポンシブ品質、アクセシビリティを改善できるAgent Skillを探してください。
最初に利用可能なSkillカタログを確認し、必要ならSkills CLIで npx skills find "frontend design" を実行してください。候補は3件までに絞り、次を比較してください。
- Skill名と用途
- 公開元とrepository
- ライセンス
- SKILL.md、scripts、外部通信、実行コマンドの監査結果
- project-localのインストール方法
- 公式またはrepository URL
インストール数やstarsだけで安全性を判断しないでください。公開元、内容、権限、変更範囲を確認して推奨を1件選び、このデモで改善する点を2行で説明してください。
まだSkillのインストール、ファイル変更、外部サービスへの書き込みは行わないでください。
正本: docs/demo/antigravity_workshop/PROMPT_01_FIND_SKILLS.txt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15</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15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/FIND-SKILLS  |  EVIDENCE</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見つけるだけで終わらず、公開元・ライセンス・権限・中身を確かめます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推奨候補: frontend-design
anthropics/skills@frontend-design</a:t>
            </a:r>
          </a:p>
        </p:txBody>
      </p:sp>
      <p:sp>
        <p:nvSpPr>
          <p:cNvPr id="17" name="Rounded Rectangle 16"/>
          <p:cNvSpPr/>
          <p:nvPr/>
        </p:nvSpPr>
        <p:spPr>
          <a:xfrm>
            <a:off x="4504944" y="1417320"/>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42104"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2104" y="161848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公開元: Anthropic公式repository
目的: distinctiveでproduction-gradeなFrontendを作る
確認: SKILL.md / LICENSE / scripts / 外部通信 / 実行コマンド
導入範囲: project-local + --copy
注意: インストール数やstarsは参考値であり、安全性の証明ではない</a:t>
            </a:r>
          </a:p>
        </p:txBody>
      </p:sp>
      <p:sp>
        <p:nvSpPr>
          <p:cNvPr id="20" name="Rounded Rectangle 19"/>
          <p:cNvSpPr/>
          <p:nvPr/>
        </p:nvSpPr>
        <p:spPr>
          <a:xfrm>
            <a:off x="8186928" y="1417320"/>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4088" y="152704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4088" y="161848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このデモで使う観点
INFORMATION
5製品を短時間で読み比べる優先順位</a:t>
            </a:r>
          </a:p>
        </p:txBody>
      </p:sp>
      <p:sp>
        <p:nvSpPr>
          <p:cNvPr id="23" name="Rounded Rectangle 22"/>
          <p:cNvSpPr/>
          <p:nvPr/>
        </p:nvSpPr>
        <p:spPr>
          <a:xfrm>
            <a:off x="822960" y="306323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317296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26440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VISUAL DIRECTION
研修投影で読める文字、配色、余白、密度</a:t>
            </a:r>
          </a:p>
        </p:txBody>
      </p:sp>
      <p:sp>
        <p:nvSpPr>
          <p:cNvPr id="26" name="Rounded Rectangle 25"/>
          <p:cNvSpPr/>
          <p:nvPr/>
        </p:nvSpPr>
        <p:spPr>
          <a:xfrm>
            <a:off x="4504944" y="306323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42104" y="317296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2104" y="326440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INTERACTION
絞り込み、最大2製品比較、状態表示</a:t>
            </a:r>
          </a:p>
        </p:txBody>
      </p:sp>
      <p:sp>
        <p:nvSpPr>
          <p:cNvPr id="29" name="Rounded Rectangle 28"/>
          <p:cNvSpPr/>
          <p:nvPr/>
        </p:nvSpPr>
        <p:spPr>
          <a:xfrm>
            <a:off x="8186928" y="306323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4088" y="317296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4088" y="326440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Skillの3段階
1 DISCOVERY: 名前と説明から候補を探す
2 ACTIVATION: 必要なSKILL.mdを読む
3 EXECUTION: 必要な手順・資料・scriptsだけを使う</a:t>
            </a:r>
          </a:p>
        </p:txBody>
      </p:sp>
      <p:sp>
        <p:nvSpPr>
          <p:cNvPr id="32" name="Rounded Rectangle 31"/>
          <p:cNvSpPr/>
          <p:nvPr/>
        </p:nvSpPr>
        <p:spPr>
          <a:xfrm>
            <a:off x="822960" y="470915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0120" y="48188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4910327"/>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Skillはエージェントと同等の権限で動き得るため、導入前レビューが必要です。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16</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16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PROMPT 2  |  INSTALL SKILL</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推奨Skillを専用リポジトリだけへ導入します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PASTE16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940" b="0">
                <a:solidFill>
                  <a:srgbClr val="17191C"/>
                </a:solidFill>
                <a:latin typeface="Consolas"/>
              </a:rPr>
              <a:t>INSTALL
PASTE EXACTLY
Prompt 2 / frontend-design Skillを専用環境へ導入する
推奨された`anthropics/skills@frontend-design`を、この専用リポジトリだけへインストールしてください。
最初に`git remote -v`、現在branch、`git status --short`、`npx skills list --json`を確認してください。remoteが`kanta13jp1/mighty-link-antigravity-live-demo`、branchが`main`でない場合、または`frontend-design`が既に存在する場合は、何も変更せず停止してください。
条件が一致した場合だけ、次を実行してください。
`npx skills add anthropics/skills@frontend-design --agent antigravity --copy -y`
インストール後に`npx skills list --json`と`.agents/skills/frontend-design/SKILL.md`を読み、次を報告してください。
- インストール先がこのリポジトリ内であること
- 公開元が`anthropics/skills`であること
- Skillの目的と、このデモで適用する3つの観点
- 監査結果または確認できなかった項目
この段階ではindex.html、styles.css、app.js、GitHub設定を変更せず、commitとpushも実行しないでください。
正本: docs/demo/antigravity_workshop/PROMPT_02_INSTALL_SKILL.txt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B6D957"/>
          </a:solidFill>
          <a:ln w="12700">
            <a:solidFill>
              <a:srgbClr val="B6D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17</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17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FRONTEND-DESIGN  |  DETAIL</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Skillが変えるのは装飾ではなく、設計判断の質です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このデモで任せる
INFORMATION
5製品を短時間で読み比べる優先順位</a:t>
            </a:r>
          </a:p>
        </p:txBody>
      </p:sp>
      <p:sp>
        <p:nvSpPr>
          <p:cNvPr id="17" name="Rounded Rectangle 16"/>
          <p:cNvSpPr/>
          <p:nvPr/>
        </p:nvSpPr>
        <p:spPr>
          <a:xfrm>
            <a:off x="4504944" y="1417320"/>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42104"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2104" y="161848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VISUAL DIRECTION
明るい業務向け配色、文字、余白、密度</a:t>
            </a:r>
          </a:p>
        </p:txBody>
      </p:sp>
      <p:sp>
        <p:nvSpPr>
          <p:cNvPr id="20" name="Rounded Rectangle 19"/>
          <p:cNvSpPr/>
          <p:nvPr/>
        </p:nvSpPr>
        <p:spPr>
          <a:xfrm>
            <a:off x="8186928" y="1417320"/>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4088" y="152704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4088" y="161848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INTERACTION
絞り込み、最大2製品比較、状態表示</a:t>
            </a:r>
          </a:p>
        </p:txBody>
      </p:sp>
      <p:sp>
        <p:nvSpPr>
          <p:cNvPr id="23" name="Rounded Rectangle 22"/>
          <p:cNvSpPr/>
          <p:nvPr/>
        </p:nvSpPr>
        <p:spPr>
          <a:xfrm>
            <a:off x="822960" y="306323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317296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26440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QUALITY
desktop / mobile / keyboard / aria-live
任せない / 削除できる
FACTS
製品機能の事実確認はSITE_BRIEF.mdが正本</a:t>
            </a:r>
          </a:p>
        </p:txBody>
      </p:sp>
      <p:sp>
        <p:nvSpPr>
          <p:cNvPr id="26" name="Rounded Rectangle 25"/>
          <p:cNvSpPr/>
          <p:nvPr/>
        </p:nvSpPr>
        <p:spPr>
          <a:xfrm>
            <a:off x="4504944" y="306323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42104" y="317296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2104" y="326440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AUTHORITY
公開権限、認証、Git操作の承認</a:t>
            </a:r>
          </a:p>
        </p:txBody>
      </p:sp>
      <p:sp>
        <p:nvSpPr>
          <p:cNvPr id="29" name="Rounded Rectangle 28"/>
          <p:cNvSpPr/>
          <p:nvPr/>
        </p:nvSpPr>
        <p:spPr>
          <a:xfrm>
            <a:off x="8186928" y="306323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4088" y="317296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4088" y="326440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DATA
外部送信、顧客情報、永続保存</a:t>
            </a:r>
          </a:p>
        </p:txBody>
      </p:sp>
      <p:sp>
        <p:nvSpPr>
          <p:cNvPr id="32" name="Rounded Rectangle 31"/>
          <p:cNvSpPr/>
          <p:nvPr/>
        </p:nvSpPr>
        <p:spPr>
          <a:xfrm>
            <a:off x="822960" y="470915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0120" y="48188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4910327"/>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SCOPE
.agents/skills/frontend-design/ にだけ導入
リハーサル後はCLIで削除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18</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18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PROMPT 3A  |  TEST SPEC FIRST</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サイトを作る前に、期待動作と成功の証拠をテストへ固定します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PASTE18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940" b="0">
                <a:solidFill>
                  <a:srgbClr val="17191C"/>
                </a:solidFill>
                <a:latin typeface="Consolas"/>
              </a:rPr>
              <a:t>TEST FIRST
PASTE EXACTLY
Prompt 3A / 実装前にテスト仕様書と契約テストを作る
@SITE_BRIEF.md を読み、サイトを作り始める前に、期待動作をテストとして固定してください。
最初にTEST_SPEC.mdを作成し、各ケースへID、優先度、前提条件、操作、期待結果、証拠、実行方法を記載してください。対象は次の10件です。
- T01-T05 自動: 必須ファイル、タイトル、5製品、表示項目、SYNTHETIC_DATA_ONLYと外部依存・送信・保存なし
- T06-T08 自動: フィルター件数5・4・1・5、最大2製品比較と3件目の拒否、aria-pressedとaria-live
- T09-T10 Browser: 1440x900と390x844の横スクロール・文字切れ・重なり0、公開HTTPS URL
続いてPython標準ライブラリだけを使うtests/test_site_contract.pyを作成してください。T01-T08を8つの独立したunittestとして実装し、テスト対象はリポジトリ直下のindex.html、styles.css、app.jsとします。サイトファイルがない場合もテスト収集を中断せず、各不足をFAILとして表示してください。
この段階ではindex.html、styles.css、app.js、画像、設定を作成・変更しません。外部ライブラリの導入、外部通信、commit、pushも行いません。
python -m unittest discover -s tests -v を実行し、1件以上FAILするREDを確認してください。すべてPASSした場合は想定外として停止してください。最後に「仕様書／自動テスト／REDの理由」を3行で報告してください。
正本: docs/demo/antigravity_workshop/PROMPT_03_TEST_SPEC.txt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19</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19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TEST-FIRST  |  RED → PARTIAL → GREEN</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失敗するテストは、実装前に期待結果を固定できた証拠です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TEST_SPEC.md
T01–T05  基本契約
必須files / title / 5製品 / 表示項目 / safety</a:t>
            </a:r>
          </a:p>
        </p:txBody>
      </p:sp>
      <p:sp>
        <p:nvSpPr>
          <p:cNvPr id="17" name="Rounded Rectangle 16"/>
          <p:cNvSpPr/>
          <p:nvPr/>
        </p:nvSpPr>
        <p:spPr>
          <a:xfrm>
            <a:off x="4504944" y="1417320"/>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42104"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2104" y="161848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T06–T08  操作契約
filter 5・4・1・5 / maximum 2 / aria state</a:t>
            </a:r>
          </a:p>
        </p:txBody>
      </p:sp>
      <p:sp>
        <p:nvSpPr>
          <p:cNvPr id="20" name="Rounded Rectangle 19"/>
          <p:cNvSpPr/>
          <p:nvPr/>
        </p:nvSpPr>
        <p:spPr>
          <a:xfrm>
            <a:off x="8186928" y="1417320"/>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4088" y="152704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4088" y="161848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T09–T10  人が見る証拠
2 viewport / HTTPS public proof</a:t>
            </a:r>
          </a:p>
        </p:txBody>
      </p:sp>
      <p:sp>
        <p:nvSpPr>
          <p:cNvPr id="23" name="Rounded Rectangle 22"/>
          <p:cNvSpPr/>
          <p:nvPr/>
        </p:nvSpPr>
        <p:spPr>
          <a:xfrm>
            <a:off x="822960" y="306323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317296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26440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テストの削除・skip・弱体化は禁止
見せる3段階
RED  Prompt 3A
サイト未作成 → 1件以上FAIL</a:t>
            </a:r>
          </a:p>
        </p:txBody>
      </p:sp>
      <p:sp>
        <p:nvSpPr>
          <p:cNvPr id="26" name="Rounded Rectangle 25"/>
          <p:cNvSpPr/>
          <p:nvPr/>
        </p:nvSpPr>
        <p:spPr>
          <a:xfrm>
            <a:off x="4504944" y="306323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42104" y="317296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2104" y="326440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PARTIAL  Prompt 3B
T01–T05 PASS / T06–T08 FAIL</a:t>
            </a:r>
          </a:p>
        </p:txBody>
      </p:sp>
      <p:sp>
        <p:nvSpPr>
          <p:cNvPr id="29" name="Rounded Rectangle 28"/>
          <p:cNvSpPr/>
          <p:nvPr/>
        </p:nvSpPr>
        <p:spPr>
          <a:xfrm>
            <a:off x="8186928" y="306323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4088" y="317296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4088" y="3264408"/>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GREEN  Prompt 4
自動8件PASS + Browser 2件確認</a:t>
            </a:r>
          </a:p>
        </p:txBody>
      </p:sp>
      <p:sp>
        <p:nvSpPr>
          <p:cNvPr id="32" name="Rounded Rectangle 31"/>
          <p:cNvSpPr/>
          <p:nvPr/>
        </p:nvSpPr>
        <p:spPr>
          <a:xfrm>
            <a:off x="822960" y="4709159"/>
            <a:ext cx="3453384" cy="1463039"/>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0120" y="48188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4910327"/>
            <a:ext cx="3179064" cy="1188719"/>
          </a:xfrm>
          <a:prstGeom prst="rect">
            <a:avLst/>
          </a:prstGeom>
          <a:noFill/>
        </p:spPr>
        <p:txBody>
          <a:bodyPr wrap="square" anchor="t" lIns="36576" rIns="36576" tIns="36576" bIns="36576">
            <a:spAutoFit/>
          </a:bodyPr>
          <a:lstStyle/>
          <a:p>
            <a:pPr algn="l"/>
            <a:r>
              <a:rPr sz="1100" b="0">
                <a:solidFill>
                  <a:srgbClr val="17191C"/>
                </a:solidFill>
                <a:latin typeface="Yu Gothic"/>
              </a:rPr>
              <a:t>RUN
python -m unittest discover -s tests -v</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20</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20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PROMPT 3B  |  BUILD TO THE TEST</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テストを変えず、まず基本5件だけを満たす初版を作ります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PASTE20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940" b="0">
                <a:solidFill>
                  <a:srgbClr val="17191C"/>
                </a:solidFill>
                <a:latin typeface="Consolas"/>
              </a:rPr>
              <a:t>BUILD / PARTIAL
PASTE EXACTLY
Prompt 3B / テストを基準にAIエージェント学習サイトの初版を作る
@SITE_BRIEF.md、@TEST_SPEC.md、@tests/test_site_contract.py を読み、テストは変更せず、リポジトリ直下にindex.htmlとstyles.cssを作成してください。
サイト名は「AI Agent Learning Hub」です。Codex、Claude Code、Claude Cowork、Kiro、Antigravityの5カードを表示し、各カードに「向いている仕事／主な機能／最初に試すこと」を記載してください。assets/workshop-hero.pngをヒーロー画像として使用し、研修用サンプルであることと、デモ当日に再確認した公式情報に基づく概要であることを表示してください。
この初版ではJavaScript、絞り込み、製品選択、比較サマリーを追加しません。外部ライブラリ、外部画像、外部フォント、実在する顧客・社員・連絡先は使用しないでください。index.htmlとstyles.css以外は変更せず、TEST_SPEC.mdとtests/test_site_contract.pyを緩めたり書き換えたりしないでください。commitとpushは実行しないでください。
作成後にpython -m unittest discover -s tests -vを実行し、T01-T05がPASS、まだ実装していないT06-T08がFAILであることを確認してください。ブラウザでも1440x900と390x844のヒーロー画像、5製品、文字切れ、横スクロールを確認してください。最後に「変更ファイル／テスト結果／次にGREENへする項目」を3行で報告してください。
正本: docs/demo/antigravity_workshop/PROMPT_03_BUILD.txt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B6D957"/>
          </a:solidFill>
          <a:ln w="12700">
            <a:solidFill>
              <a:srgbClr val="B6D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21</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21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PROMPT 4  |  /FRONTEND-DESIGN</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Skillで残りの期待動作を実装し、REDをGREENへ変えます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PASTE21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940" b="0">
                <a:solidFill>
                  <a:srgbClr val="17191C"/>
                </a:solidFill>
                <a:latin typeface="Consolas"/>
              </a:rPr>
              <a:t>/frontend-design
PASTE EXACTLY
Prompt 4 / /frontend-designで残りのテストをGREENにする
/frontend-design
@SITE_BRIEF.md、@TEST_SPEC.md、@tests/test_site_contract.py を読み、初版を改善してください。テスト2ファイルは変更しません。
実装すること:
- 情報の優先順位、文字、余白、配色を整え、研修投影でも読める画面にする
- 4フィルター「すべて／開発／ナレッジワーク／計画・自動化」を追加し、件数を5・4・1・5にする
- 各カードに比較ボタンを付け最大2製品まで選べるようにする。3件目は追加せず案内する
- 選択件数、製品名、向いている仕事をaria-liveへ表示する
- app.jsでaria-pressed、キーボード操作、上限2件に対応する
- 色は#00A5E3、#EF7E00、緑、白、濃い文字色を使う
守る境界:
- 5製品と説明を維持し、SteeringとPowersはKiro固有機能として扱う
- 外部依存、送信、永続保存、commit、pushは行わない
- 変更はindex.html、styles.css、app.jsだけ。製品追加、料金、クォータ、ランキング、診断、検索、export、テーマ切替、動画、画像生成、Visual Feedback模擬は追加しない
- 開始前に変更予定3ファイルを報告し、範囲外が必要なら停止する
検証すること:
- python -m unittest discover -s tests -vでT01-T08がすべてPASS。テストを削除、skip、弱体化してPASSさせない
- 1440x900と390x844で横スクロール、文字切れ、重なりが0
最後に「Skillが変えた判断／REDからGREENになったテスト／ブラウザ検証」を3行で報告してください。
正本: docs/demo/antigravity_workshop/PROMPT_04_APPLY_SKILL.txt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22</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22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PROMPT 5  |  CANVA MCP PREFLIGHT</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Canva MCPは作成前にaccount・権限・利用可能Toolを確認します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PASTE22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940" b="0">
                <a:solidFill>
                  <a:srgbClr val="17191C"/>
                </a:solidFill>
                <a:latin typeface="Consolas"/>
              </a:rPr>
              <a:t>MCP / READ ONLY
PASTE EXACTLY
Prompt 5 / Canva MCPの接続と利用可能Toolを読み取り確認する
Antigravity 2.0のSettings &gt; Customizations &gt; Installed MCP Serversで、Canva remote MCPの接続状態を確認してください。
確認条件:
- この段階ではCanvaデザインを作成・編集・削除しない
- OAuth再認証を要求された場合は、その場で認証せず停止する
- APIキー、token、cookie、認証情報を表示しない
接続済みの場合は、読み取り専用Toolだけを使って次を確認してください。
1. 接続中のCanvaアカウント
2. design search / content readが利用可能か
3. presentation generationが利用可能か
4. design import / editingが利用可能か
5. PPTX export Toolの有無。なければCanva画面から手動Downloadとする
結果は次の5行だけで返してください。
MCP: CONNECTED または STOP
ACCOUNT: &lt;emailまたは非機密のhandle&gt;
READ / SEARCH: AVAILABLE または UNAVAILABLE
CREATE / EDIT: AVAILABLE または UNAVAILABLE
PPTX EXPORT: TOOL / MANUAL / UNAVAILABLE
STOPの場合は理由を1行だけ追加し、設定変更や認証を開始しないでください。
正本: 本資料 / Prompt 5 - Canva MCP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23</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23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MCP  |  CANVA PRESENTATION</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MCPはAIと外部Tool・データをつなぐ標準です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01
Antigravity 2.0
目的・現在のProject・停止条件</a:t>
            </a:r>
          </a:p>
        </p:txBody>
      </p:sp>
      <p:sp>
        <p:nvSpPr>
          <p:cNvPr id="17" name="Rounded Rectangle 16"/>
          <p:cNvSpPr/>
          <p:nvPr/>
        </p:nvSpPr>
        <p:spPr>
          <a:xfrm>
            <a:off x="4504944"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42104"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2104"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02
MCP client
接続先と利用可能Toolを提示</a:t>
            </a:r>
          </a:p>
        </p:txBody>
      </p:sp>
      <p:sp>
        <p:nvSpPr>
          <p:cNvPr id="20" name="Rounded Rectangle 19"/>
          <p:cNvSpPr/>
          <p:nvPr/>
        </p:nvSpPr>
        <p:spPr>
          <a:xfrm>
            <a:off x="8186928"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4088" y="152704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4088"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03
Canva remote MCP
許可されたCanva accountとDesignsへ接続</a:t>
            </a:r>
          </a:p>
        </p:txBody>
      </p:sp>
      <p:sp>
        <p:nvSpPr>
          <p:cNvPr id="23" name="Rounded Rectangle 22"/>
          <p:cNvSpPr/>
          <p:nvPr/>
        </p:nvSpPr>
        <p:spPr>
          <a:xfrm>
            <a:off x="822960"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39044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04
Presentation Tool
新規Presentationを作成し、編集URLを返す</a:t>
            </a:r>
          </a:p>
        </p:txBody>
      </p:sp>
      <p:sp>
        <p:nvSpPr>
          <p:cNvPr id="26" name="Rounded Rectangle 25"/>
          <p:cNvSpPr/>
          <p:nvPr/>
        </p:nvSpPr>
        <p:spPr>
          <a:xfrm>
            <a:off x="4504944"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42104" y="390448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2104"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接続済み ≠ 実行してよい
書き込みは新規Presentation 1件だけ。既存Designは変更せず、PPTXはCanva画面で人がDownloadします。</a:t>
            </a:r>
          </a:p>
        </p:txBody>
      </p:sp>
      <p:sp>
        <p:nvSpPr>
          <p:cNvPr id="29" name="Rounded Rectangle 28"/>
          <p:cNvSpPr/>
          <p:nvPr/>
        </p:nvSpPr>
        <p:spPr>
          <a:xfrm>
            <a:off x="8186928"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4088" y="390448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4088"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公式仕様: https://www.canva.dev/docs/mcp/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24</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24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PROMPT 6  |  PUBLISH</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公開は自動で始めず、差分確認と人の明示承認を必須にします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PASTE24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940" b="0">
                <a:solidFill>
                  <a:srgbClr val="17191C"/>
                </a:solidFill>
                <a:latin typeface="Consolas"/>
              </a:rPr>
              <a:t>PUBLISH
PASTE EXACTLY
Prompt 6 / テスト済みサイトをGitHub Pagesへ公開する
完成したAI Agent Learning Hubを、次の専用公開先へ公開する準備をしてください。
- repository: https://github.com/kanta13jp1/mighty-link-antigravity-live-demo
- branch: main
- URL: https://kanta13jp1.github.io/mighty-link-antigravity-live-demo/
公開前にgit status、git diff --stat、git remote -v、現在branchを確認してください。remoteまたはbranchが違えば何も変更せず停止してください。.env、認証情報、トークン、個人情報、顧客情報が追跡対象になく、SITE_BRIEF.mdにSYNTHETIC_DATA_ONLYがあることも確認してください。`.agents/skills/`はaddしません。
python -m unittest discover -s tests -vを実行し、T01-T08が8件PASSすることを確認してください。FAIL、テストの削除・skip・弱体化があれば公開せず停止してください。
公開対象はindex.html、styles.css、app.js、assets/workshop-hero.png、TEST_SPEC.md、tests/test_site_contract.pyの6ファイルだけです。Q&amp;A Prompt 8を実行済みの場合だけassets/agent-workflow-hero.pngも許可します。製品追加、料金、クォータ、その他の変更があれば停止してください。
commit messageと公開URLを報告したら停止し、「公開してもよいですか？」と質問してください。私が正確に「公開して」と答えるまでgit add、commit、push、GitHub設定変更を行いません。
「公開して」の後だけ指定ファイルをaddし、`Publish AI agent learning hub demo`でcommitしてmainへpushしてください。Pages完了を最大3分待ち、公開URLでHTTPS、title、5製品、フィルター5・4・1・5、最大2製品比較を確認し、「commit／公開URL／8 tests／公開確認」を4行で報告してください。
正本: docs/demo/antigravity_workshop/PROMPT_06_PUBLISH.txt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B6D957"/>
          </a:solidFill>
          <a:ln w="12700">
            <a:solidFill>
              <a:srgbClr val="B6D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25</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25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PUBLIC PROOF  |  SUCCESS</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『公開して』の後だけ、4つの証拠を揃えます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DECISION
remote / branch / diff
秘密情報なし
人の承認
01
COMMIT
指定6ファイルだけ
8 tests GREEN
mainへpush
02
HTTPS
Pages deployment
200 response
公開title
03
FUNCTION
5 products
filters 5・4・1・5
maximum 2 compare
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26</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26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REHEARSAL  |  SCOPE LESSON</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リハーサルで、追加改善を積むと30分を大きく超えると確認しました</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REHEARSAL FACTS
約78分
11 commits
製品 5 → 9
動画 / Visual Feedback / 画像生成 / 検索 / 診断 / exportを追加</a:t>
            </a:r>
          </a:p>
        </p:txBody>
      </p:sp>
      <p:sp>
        <p:nvSpPr>
          <p:cNvPr id="17" name="Rounded Rectangle 16"/>
          <p:cNvSpPr/>
          <p:nvPr/>
        </p:nvSpPr>
        <p:spPr>
          <a:xfrm>
            <a:off x="6345936"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83096"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3096"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LESSON
機能追加そのものは成功しましたが、本番30分の範囲には入りません。</a:t>
            </a:r>
          </a:p>
        </p:txBody>
      </p:sp>
      <p:sp>
        <p:nvSpPr>
          <p:cNvPr id="20" name="Rounded Rectangle 19"/>
          <p:cNvSpPr/>
          <p:nvPr/>
        </p:nvSpPr>
        <p:spPr>
          <a:xfrm>
            <a:off x="822960" y="379476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 y="390448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399592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LIVE DEMO
5製品を固定
Web制作 + Test-firstを主役
Canva MCPは最後の5分
追加機能はQ&amp;Aだけ</a:t>
            </a:r>
          </a:p>
        </p:txBody>
      </p:sp>
      <p:sp>
        <p:nvSpPr>
          <p:cNvPr id="23" name="Rounded Rectangle 22"/>
          <p:cNvSpPr/>
          <p:nvPr/>
        </p:nvSpPr>
        <p:spPr>
          <a:xfrm>
            <a:off x="6345936" y="379476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83096" y="39044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3096" y="399592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リハーサルの成果物を、本番スコープと混同しません。</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27</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27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LEARNING DESIGN  |  EXPLAIN → DEMO → REFLECT</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短い説明と実演を、テストの証拠でつなぎます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01
期待を固定
作る前にTEST_SPECと成功の証拠を決める</a:t>
            </a:r>
          </a:p>
        </p:txBody>
      </p:sp>
      <p:sp>
        <p:nvSpPr>
          <p:cNvPr id="17" name="Rounded Rectangle 16"/>
          <p:cNvSpPr/>
          <p:nvPr/>
        </p:nvSpPr>
        <p:spPr>
          <a:xfrm>
            <a:off x="4504944"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42104"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2104"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02
REDを見る
未実装のFAILを隠さず、現在地として共有する</a:t>
            </a:r>
          </a:p>
        </p:txBody>
      </p:sp>
      <p:sp>
        <p:nvSpPr>
          <p:cNvPr id="20" name="Rounded Rectangle 19"/>
          <p:cNvSpPr/>
          <p:nvPr/>
        </p:nvSpPr>
        <p:spPr>
          <a:xfrm>
            <a:off x="8186928"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4088" y="152704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4088"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03
GREENへ実装
テストを変えず、差分・画面・件数を確認する</a:t>
            </a:r>
          </a:p>
        </p:txBody>
      </p:sp>
      <p:sp>
        <p:nvSpPr>
          <p:cNvPr id="23" name="Rounded Rectangle 22"/>
          <p:cNvSpPr/>
          <p:nvPr/>
        </p:nvSpPr>
        <p:spPr>
          <a:xfrm>
            <a:off x="822960"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39044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04
言語化
「何を満たした？」を一問し、実務へつなぐ</a:t>
            </a:r>
          </a:p>
        </p:txBody>
      </p:sp>
      <p:sp>
        <p:nvSpPr>
          <p:cNvPr id="26" name="Rounded Rectangle 25"/>
          <p:cNvSpPr/>
          <p:nvPr/>
        </p:nvSpPr>
        <p:spPr>
          <a:xfrm>
            <a:off x="4504944"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42104" y="390448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2104"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講師の一言:
「どのテストがREDからGREENへ変わりましたか？」</a:t>
            </a:r>
          </a:p>
        </p:txBody>
      </p:sp>
      <p:sp>
        <p:nvSpPr>
          <p:cNvPr id="29" name="Rounded Rectangle 28"/>
          <p:cNvSpPr/>
          <p:nvPr/>
        </p:nvSpPr>
        <p:spPr>
          <a:xfrm>
            <a:off x="8186928"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4088" y="390448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4088"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研修構成: 短い説明 → 実演 → 証拠確認 → 振り返り</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28</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28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WEB FIRST  |  MCP IN FIVE MINUTES</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Web制作が主役。Canva MCPは外部Tool連携を5分で見せます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Antigravity 2.0
Webを作る
要件 / TEST_SPEC
実装 / Browser
Artifacts / 公開
Canva MCP
外部Toolへつなぐ
指定Canva account / Designs
3枚のCanva Presentation
URLを証拠にする
PowerPoint
編集可能性を確かめる
editable PPTX
selectable text
3 pages / no overflow
IDE / CLI / SDKを切り替えず、Antigravity 2.0から一つの流れで進めます。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B6D957"/>
          </a:solidFill>
          <a:ln w="12700">
            <a:solidFill>
              <a:srgbClr val="B6D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29</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29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ANTIGRAVITY 2.0  |  STANDALONE COMMAND CENTER</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Antigravity 2.0はIDEから独立したアプリで、エージェントの仕事を一か所で統括します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PROJECT
対象フォルダーと会話の境界</a:t>
            </a:r>
          </a:p>
        </p:txBody>
      </p:sp>
      <p:sp>
        <p:nvSpPr>
          <p:cNvPr id="17" name="Rounded Rectangle 16"/>
          <p:cNvSpPr/>
          <p:nvPr/>
        </p:nvSpPr>
        <p:spPr>
          <a:xfrm>
            <a:off x="4504944"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42104"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2104"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AGENTS
計画、Tool実行、subagent</a:t>
            </a:r>
          </a:p>
        </p:txBody>
      </p:sp>
      <p:sp>
        <p:nvSpPr>
          <p:cNvPr id="20" name="Rounded Rectangle 19"/>
          <p:cNvSpPr/>
          <p:nvPr/>
        </p:nvSpPr>
        <p:spPr>
          <a:xfrm>
            <a:off x="8186928"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4088" y="152704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4088"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FILES / COMMANDS
読み書き、差分、system commands</a:t>
            </a:r>
          </a:p>
        </p:txBody>
      </p:sp>
      <p:sp>
        <p:nvSpPr>
          <p:cNvPr id="23" name="Rounded Rectangle 22"/>
          <p:cNvSpPr/>
          <p:nvPr/>
        </p:nvSpPr>
        <p:spPr>
          <a:xfrm>
            <a:off x="822960"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39044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CHROME
実際のWeb成果物を操作・検証</a:t>
            </a:r>
          </a:p>
        </p:txBody>
      </p:sp>
      <p:sp>
        <p:nvSpPr>
          <p:cNvPr id="26" name="Rounded Rectangle 25"/>
          <p:cNvSpPr/>
          <p:nvPr/>
        </p:nvSpPr>
        <p:spPr>
          <a:xfrm>
            <a:off x="4504944"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42104" y="390448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2104"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ARTIFACTS
implementation planと成果物をレビュー</a:t>
            </a:r>
          </a:p>
        </p:txBody>
      </p:sp>
      <p:sp>
        <p:nvSpPr>
          <p:cNvPr id="29" name="Rounded Rectangle 28"/>
          <p:cNvSpPr/>
          <p:nvPr/>
        </p:nvSpPr>
        <p:spPr>
          <a:xfrm>
            <a:off x="8186928"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4088" y="390448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4088"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Web制作のRED → GREENと公開結果を、一つのProjectで追います。
公式概要: https://www.antigravity.google/docs/overview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30</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30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PROMPT 12  |  CANVA MCP</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Canva MCPで、公式テンプレートを使った3枚のPresentationを作ります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PASTE30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980" b="0">
                <a:solidFill>
                  <a:srgbClr val="17191C"/>
                </a:solidFill>
                <a:latin typeface="Consolas"/>
              </a:rPr>
              <a:t>[本編 / Canva Remote MCPからPowerPointを作る]
接続済みのCanva remote MCPを使い、編集可能な16:9のCanva Presentationを新規作成してください。
【実行指示 &amp; 安全境界】
- アカウント・利用可能Toolを事前確認 (READ ONLY)
- 新規Presentationを1件作成 (既存デザインは編集・削除しない)
- ファイル名: Antigravity 2.0 MCP Demo - AI Agent Web Delivery
- 目的: AIが要件・テスト・実装・ブラウザ検証・公開を進める流れを3枚で説明
【スライド構成 (3枚)】
1. 「AIエージェントはWeb制作をどこまで任せられるか」(要件→テスト→実装→Chrome検証→公開)
2. 「テストを先に作ると、AIの作業を証拠で確認できる」(TEST_SPEC→RED→実装→GREEN→公開確認)
3. 「Skill、MCP、人の責任を分ける」(Skill=型、MCP=外部接続、人=目的・権限・承認・停止条件)
【デザイン要件 &amp; 完了条件】
- テンプレート参考: Clean and Professional Company Profile 系統の白基調レイアウト
- 16:9 / 白・チャコール基調 / ティール・コーラル・ライムの役割別アクセント / 文字切れ0
- 完了時に新規Canva Presentationの編集URLを報告 (PPTX書き出しは手動確認)
※プロンプト全文は発表者ノート欄に完全収録されています (ノート欄をクリック ➜ Ctrl+A ➜ Ctrl+C で一括コピー可能)</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31</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31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CANVA PRESENTATION  |  DOWNLOAD PPTX</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Canva PresentationをPowerPoint形式でDownloadし、編集可能性を確認します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CANVA
Canva編集URLを開く</a:t>
            </a:r>
          </a:p>
        </p:txBody>
      </p:sp>
      <p:sp>
        <p:nvSpPr>
          <p:cNvPr id="17" name="Rounded Rectangle 16"/>
          <p:cNvSpPr/>
          <p:nvPr/>
        </p:nvSpPr>
        <p:spPr>
          <a:xfrm>
            <a:off x="6345936"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83096"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3096"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DOWNLOAD
Share &gt; Download
File type: Microsoft PowerPoint (.pptx)
Pages: all pages
Download</a:t>
            </a:r>
          </a:p>
        </p:txBody>
      </p:sp>
      <p:sp>
        <p:nvSpPr>
          <p:cNvPr id="20" name="Rounded Rectangle 19"/>
          <p:cNvSpPr/>
          <p:nvPr/>
        </p:nvSpPr>
        <p:spPr>
          <a:xfrm>
            <a:off x="822960" y="379476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 y="390448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399592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POWERPOINT CHECK
1  3 slides
2  text is selectable
3  Japanese fonts / wrapping
4  no secrets
5  no overflow</a:t>
            </a:r>
          </a:p>
        </p:txBody>
      </p:sp>
      <p:sp>
        <p:nvSpPr>
          <p:cNvPr id="23" name="Rounded Rectangle 22"/>
          <p:cNvSpPr/>
          <p:nvPr/>
        </p:nvSpPr>
        <p:spPr>
          <a:xfrm>
            <a:off x="6345936" y="379476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83096" y="39044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3096" y="399592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注意
CanvaのPPTX出力には対応差があります。
フォント、アニメーション、一部素材の再現をPowerPointで必ず確認します。
公式仕様: https://www.canva.dev/docs/connect/api-reference/exports/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32</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32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POWERPOINT CHECK  |  EDITABLE OUTPUT</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PowerPointで、3枚・編集可能・文字切れ0件を確認します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POWERPOINT CHECK
VERIFY EXACTLY
01  全3スライドがある
02  タイトルと本文を選択・編集できる
03  日本語フォントが置換されても文字化けしない
04  16:9のキャンバス内に全要素が収まる
05  文字切れ、重なり、過度な縮小がない
06  外部ロゴ、個人情報、APIキーがない
07  Skill / MCP / 人の責任が区別されている
08  元資料は上書きされていない</a:t>
            </a:r>
          </a:p>
        </p:txBody>
      </p:sp>
      <p:sp>
        <p:nvSpPr>
          <p:cNvPr id="17" name="Rounded Rectangle 16"/>
          <p:cNvSpPr/>
          <p:nvPr/>
        </p:nvSpPr>
        <p:spPr>
          <a:xfrm>
            <a:off x="6345936"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83096"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3096"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Canva URLとPPTXを、MCP連携の成果物として提示します。
正本: 本資料のCanva MCP / PPTX確認手順</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B6D957"/>
          </a:solidFill>
          <a:ln w="12700">
            <a:solidFill>
              <a:srgbClr val="B6D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33</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33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ANTIGRAVITY 2.0  |  ROLE MATRIX</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入口はAntigravity 2.0。SkillとMCPで仕事を広げます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463040" cy="896112"/>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1408176"/>
            <a:ext cx="1316736" cy="786384"/>
          </a:xfrm>
          <a:prstGeom prst="rect">
            <a:avLst/>
          </a:prstGeom>
          <a:noFill/>
        </p:spPr>
        <p:txBody>
          <a:bodyPr wrap="square" anchor="t" lIns="36576" rIns="36576" tIns="36576" bIns="36576">
            <a:spAutoFit/>
          </a:bodyPr>
          <a:lstStyle/>
          <a:p>
            <a:pPr algn="l"/>
            <a:r>
              <a:rPr sz="1150" b="1">
                <a:solidFill>
                  <a:srgbClr val="FFFFFF"/>
                </a:solidFill>
                <a:latin typeface="Yu Gothic"/>
              </a:rPr>
              <a:t>役割</a:t>
            </a:r>
          </a:p>
        </p:txBody>
      </p:sp>
      <p:sp>
        <p:nvSpPr>
          <p:cNvPr id="16" name="Rectangle 15"/>
          <p:cNvSpPr/>
          <p:nvPr/>
        </p:nvSpPr>
        <p:spPr>
          <a:xfrm>
            <a:off x="2286000" y="1353312"/>
            <a:ext cx="3108960" cy="896112"/>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59152" y="1408176"/>
            <a:ext cx="2962656" cy="786384"/>
          </a:xfrm>
          <a:prstGeom prst="rect">
            <a:avLst/>
          </a:prstGeom>
          <a:noFill/>
        </p:spPr>
        <p:txBody>
          <a:bodyPr wrap="square" anchor="t" lIns="36576" rIns="36576" tIns="36576" bIns="36576">
            <a:spAutoFit/>
          </a:bodyPr>
          <a:lstStyle/>
          <a:p>
            <a:pPr algn="l"/>
            <a:r>
              <a:rPr sz="1150" b="1">
                <a:solidFill>
                  <a:srgbClr val="FFFFFF"/>
                </a:solidFill>
                <a:latin typeface="Yu Gothic"/>
              </a:rPr>
              <a:t>観客が見るもの</a:t>
            </a:r>
          </a:p>
        </p:txBody>
      </p:sp>
      <p:sp>
        <p:nvSpPr>
          <p:cNvPr id="18" name="Rectangle 17"/>
          <p:cNvSpPr/>
          <p:nvPr/>
        </p:nvSpPr>
        <p:spPr>
          <a:xfrm>
            <a:off x="5394960" y="1353312"/>
            <a:ext cx="2926080" cy="896112"/>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68112" y="1408176"/>
            <a:ext cx="2779776" cy="786384"/>
          </a:xfrm>
          <a:prstGeom prst="rect">
            <a:avLst/>
          </a:prstGeom>
          <a:noFill/>
        </p:spPr>
        <p:txBody>
          <a:bodyPr wrap="square" anchor="t" lIns="36576" rIns="36576" tIns="36576" bIns="36576">
            <a:spAutoFit/>
          </a:bodyPr>
          <a:lstStyle/>
          <a:p>
            <a:pPr algn="l"/>
            <a:r>
              <a:rPr sz="1150" b="1">
                <a:solidFill>
                  <a:srgbClr val="FFFFFF"/>
                </a:solidFill>
                <a:latin typeface="Yu Gothic"/>
              </a:rPr>
              <a:t>任せる仕事</a:t>
            </a:r>
          </a:p>
        </p:txBody>
      </p:sp>
      <p:sp>
        <p:nvSpPr>
          <p:cNvPr id="20" name="Rectangle 19"/>
          <p:cNvSpPr/>
          <p:nvPr/>
        </p:nvSpPr>
        <p:spPr>
          <a:xfrm>
            <a:off x="8321040" y="1353312"/>
            <a:ext cx="3319272" cy="896112"/>
          </a:xfrm>
          <a:prstGeom prst="rect">
            <a:avLst/>
          </a:prstGeom>
          <a:solidFill>
            <a:srgbClr val="1F252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94192" y="1408176"/>
            <a:ext cx="3172968" cy="786384"/>
          </a:xfrm>
          <a:prstGeom prst="rect">
            <a:avLst/>
          </a:prstGeom>
          <a:noFill/>
        </p:spPr>
        <p:txBody>
          <a:bodyPr wrap="square" anchor="t" lIns="36576" rIns="36576" tIns="36576" bIns="36576">
            <a:spAutoFit/>
          </a:bodyPr>
          <a:lstStyle/>
          <a:p>
            <a:pPr algn="l"/>
            <a:r>
              <a:rPr sz="1150" b="1">
                <a:solidFill>
                  <a:srgbClr val="FFFFFF"/>
                </a:solidFill>
                <a:latin typeface="Yu Gothic"/>
              </a:rPr>
              <a:t>成功の証拠</a:t>
            </a:r>
          </a:p>
        </p:txBody>
      </p:sp>
      <p:sp>
        <p:nvSpPr>
          <p:cNvPr id="22" name="Rectangle 21"/>
          <p:cNvSpPr/>
          <p:nvPr/>
        </p:nvSpPr>
        <p:spPr>
          <a:xfrm>
            <a:off x="822960" y="2249424"/>
            <a:ext cx="146304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2304288"/>
            <a:ext cx="1316736" cy="786384"/>
          </a:xfrm>
          <a:prstGeom prst="rect">
            <a:avLst/>
          </a:prstGeom>
          <a:noFill/>
        </p:spPr>
        <p:txBody>
          <a:bodyPr wrap="square" anchor="t" lIns="36576" rIns="36576" tIns="36576" bIns="36576">
            <a:spAutoFit/>
          </a:bodyPr>
          <a:lstStyle/>
          <a:p>
            <a:pPr algn="l"/>
            <a:r>
              <a:rPr sz="1150" b="0">
                <a:solidFill>
                  <a:srgbClr val="17191C"/>
                </a:solidFill>
                <a:latin typeface="Yu Gothic"/>
              </a:rPr>
              <a:t>Antigravity 2.0</a:t>
            </a:r>
          </a:p>
        </p:txBody>
      </p:sp>
      <p:sp>
        <p:nvSpPr>
          <p:cNvPr id="24" name="Rectangle 23"/>
          <p:cNvSpPr/>
          <p:nvPr/>
        </p:nvSpPr>
        <p:spPr>
          <a:xfrm>
            <a:off x="2286000" y="2249424"/>
            <a:ext cx="310896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59152" y="2304288"/>
            <a:ext cx="2962656" cy="786384"/>
          </a:xfrm>
          <a:prstGeom prst="rect">
            <a:avLst/>
          </a:prstGeom>
          <a:noFill/>
        </p:spPr>
        <p:txBody>
          <a:bodyPr wrap="square" anchor="t" lIns="36576" rIns="36576" tIns="36576" bIns="36576">
            <a:spAutoFit/>
          </a:bodyPr>
          <a:lstStyle/>
          <a:p>
            <a:pPr algn="l"/>
            <a:r>
              <a:rPr sz="1150" b="0">
                <a:solidFill>
                  <a:srgbClr val="17191C"/>
                </a:solidFill>
                <a:latin typeface="Yu Gothic"/>
              </a:rPr>
              <a:t>Project / Agents / Chrome / Artifacts</a:t>
            </a:r>
          </a:p>
        </p:txBody>
      </p:sp>
      <p:sp>
        <p:nvSpPr>
          <p:cNvPr id="26" name="Rectangle 25"/>
          <p:cNvSpPr/>
          <p:nvPr/>
        </p:nvSpPr>
        <p:spPr>
          <a:xfrm>
            <a:off x="5394960" y="2249424"/>
            <a:ext cx="292608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68112" y="2304288"/>
            <a:ext cx="2779776" cy="786384"/>
          </a:xfrm>
          <a:prstGeom prst="rect">
            <a:avLst/>
          </a:prstGeom>
          <a:noFill/>
        </p:spPr>
        <p:txBody>
          <a:bodyPr wrap="square" anchor="t" lIns="36576" rIns="36576" tIns="36576" bIns="36576">
            <a:spAutoFit/>
          </a:bodyPr>
          <a:lstStyle/>
          <a:p>
            <a:pPr algn="l"/>
            <a:r>
              <a:rPr sz="1150" b="0">
                <a:solidFill>
                  <a:srgbClr val="17191C"/>
                </a:solidFill>
                <a:latin typeface="Yu Gothic"/>
              </a:rPr>
              <a:t>テスト先行のWeb制作</a:t>
            </a:r>
          </a:p>
        </p:txBody>
      </p:sp>
      <p:sp>
        <p:nvSpPr>
          <p:cNvPr id="28" name="Rectangle 27"/>
          <p:cNvSpPr/>
          <p:nvPr/>
        </p:nvSpPr>
        <p:spPr>
          <a:xfrm>
            <a:off x="8321040" y="2249424"/>
            <a:ext cx="3319272"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94192" y="2304288"/>
            <a:ext cx="3172968" cy="786384"/>
          </a:xfrm>
          <a:prstGeom prst="rect">
            <a:avLst/>
          </a:prstGeom>
          <a:noFill/>
        </p:spPr>
        <p:txBody>
          <a:bodyPr wrap="square" anchor="t" lIns="36576" rIns="36576" tIns="36576" bIns="36576">
            <a:spAutoFit/>
          </a:bodyPr>
          <a:lstStyle/>
          <a:p>
            <a:pPr algn="l"/>
            <a:r>
              <a:rPr sz="1150" b="0">
                <a:solidFill>
                  <a:srgbClr val="17191C"/>
                </a:solidFill>
                <a:latin typeface="Yu Gothic"/>
              </a:rPr>
              <a:t>RED → 8 GREEN + Pages</a:t>
            </a:r>
          </a:p>
        </p:txBody>
      </p:sp>
      <p:sp>
        <p:nvSpPr>
          <p:cNvPr id="30" name="Rectangle 29"/>
          <p:cNvSpPr/>
          <p:nvPr/>
        </p:nvSpPr>
        <p:spPr>
          <a:xfrm>
            <a:off x="822960" y="3145536"/>
            <a:ext cx="146304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3200400"/>
            <a:ext cx="1316736" cy="786384"/>
          </a:xfrm>
          <a:prstGeom prst="rect">
            <a:avLst/>
          </a:prstGeom>
          <a:noFill/>
        </p:spPr>
        <p:txBody>
          <a:bodyPr wrap="square" anchor="t" lIns="36576" rIns="36576" tIns="36576" bIns="36576">
            <a:spAutoFit/>
          </a:bodyPr>
          <a:lstStyle/>
          <a:p>
            <a:pPr algn="l"/>
            <a:r>
              <a:rPr sz="1150" b="0">
                <a:solidFill>
                  <a:srgbClr val="17191C"/>
                </a:solidFill>
                <a:latin typeface="Yu Gothic"/>
              </a:rPr>
              <a:t>Canva MCP</a:t>
            </a:r>
          </a:p>
        </p:txBody>
      </p:sp>
      <p:sp>
        <p:nvSpPr>
          <p:cNvPr id="32" name="Rectangle 31"/>
          <p:cNvSpPr/>
          <p:nvPr/>
        </p:nvSpPr>
        <p:spPr>
          <a:xfrm>
            <a:off x="2286000" y="3145536"/>
            <a:ext cx="310896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59152" y="3200400"/>
            <a:ext cx="2962656" cy="786384"/>
          </a:xfrm>
          <a:prstGeom prst="rect">
            <a:avLst/>
          </a:prstGeom>
          <a:noFill/>
        </p:spPr>
        <p:txBody>
          <a:bodyPr wrap="square" anchor="t" lIns="36576" rIns="36576" tIns="36576" bIns="36576">
            <a:spAutoFit/>
          </a:bodyPr>
          <a:lstStyle/>
          <a:p>
            <a:pPr algn="l"/>
            <a:r>
              <a:rPr sz="1150" b="0">
                <a:solidFill>
                  <a:srgbClr val="17191C"/>
                </a:solidFill>
                <a:latin typeface="Yu Gothic"/>
              </a:rPr>
              <a:t>account / Designs / Tool / edit URL</a:t>
            </a:r>
          </a:p>
        </p:txBody>
      </p:sp>
      <p:sp>
        <p:nvSpPr>
          <p:cNvPr id="34" name="Rectangle 33"/>
          <p:cNvSpPr/>
          <p:nvPr/>
        </p:nvSpPr>
        <p:spPr>
          <a:xfrm>
            <a:off x="5394960" y="3145536"/>
            <a:ext cx="292608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68112" y="3200400"/>
            <a:ext cx="2779776" cy="786384"/>
          </a:xfrm>
          <a:prstGeom prst="rect">
            <a:avLst/>
          </a:prstGeom>
          <a:noFill/>
        </p:spPr>
        <p:txBody>
          <a:bodyPr wrap="square" anchor="t" lIns="36576" rIns="36576" tIns="36576" bIns="36576">
            <a:spAutoFit/>
          </a:bodyPr>
          <a:lstStyle/>
          <a:p>
            <a:pPr algn="l"/>
            <a:r>
              <a:rPr sz="1150" b="0">
                <a:solidFill>
                  <a:srgbClr val="17191C"/>
                </a:solidFill>
                <a:latin typeface="Yu Gothic"/>
              </a:rPr>
              <a:t>3枚のPresentationを新規作成</a:t>
            </a:r>
          </a:p>
        </p:txBody>
      </p:sp>
      <p:sp>
        <p:nvSpPr>
          <p:cNvPr id="36" name="Rectangle 35"/>
          <p:cNvSpPr/>
          <p:nvPr/>
        </p:nvSpPr>
        <p:spPr>
          <a:xfrm>
            <a:off x="8321040" y="3145536"/>
            <a:ext cx="3319272"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94192" y="3200400"/>
            <a:ext cx="3172968" cy="786384"/>
          </a:xfrm>
          <a:prstGeom prst="rect">
            <a:avLst/>
          </a:prstGeom>
          <a:noFill/>
        </p:spPr>
        <p:txBody>
          <a:bodyPr wrap="square" anchor="t" lIns="36576" rIns="36576" tIns="36576" bIns="36576">
            <a:spAutoFit/>
          </a:bodyPr>
          <a:lstStyle/>
          <a:p>
            <a:pPr algn="l"/>
            <a:r>
              <a:rPr sz="1150" b="0">
                <a:solidFill>
                  <a:srgbClr val="17191C"/>
                </a:solidFill>
                <a:latin typeface="Yu Gothic"/>
              </a:rPr>
              <a:t>新規Design + 文字切れ0</a:t>
            </a:r>
          </a:p>
        </p:txBody>
      </p:sp>
      <p:sp>
        <p:nvSpPr>
          <p:cNvPr id="38" name="Rectangle 37"/>
          <p:cNvSpPr/>
          <p:nvPr/>
        </p:nvSpPr>
        <p:spPr>
          <a:xfrm>
            <a:off x="822960" y="4041648"/>
            <a:ext cx="146304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4096511"/>
            <a:ext cx="1316736" cy="786384"/>
          </a:xfrm>
          <a:prstGeom prst="rect">
            <a:avLst/>
          </a:prstGeom>
          <a:noFill/>
        </p:spPr>
        <p:txBody>
          <a:bodyPr wrap="square" anchor="t" lIns="36576" rIns="36576" tIns="36576" bIns="36576">
            <a:spAutoFit/>
          </a:bodyPr>
          <a:lstStyle/>
          <a:p>
            <a:pPr algn="l"/>
            <a:r>
              <a:rPr sz="1150" b="0">
                <a:solidFill>
                  <a:srgbClr val="17191C"/>
                </a:solidFill>
                <a:latin typeface="Yu Gothic"/>
              </a:rPr>
              <a:t>PowerPoint</a:t>
            </a:r>
          </a:p>
        </p:txBody>
      </p:sp>
      <p:sp>
        <p:nvSpPr>
          <p:cNvPr id="40" name="Rectangle 39"/>
          <p:cNvSpPr/>
          <p:nvPr/>
        </p:nvSpPr>
        <p:spPr>
          <a:xfrm>
            <a:off x="2286000" y="4041648"/>
            <a:ext cx="310896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59152" y="4096511"/>
            <a:ext cx="2962656" cy="786384"/>
          </a:xfrm>
          <a:prstGeom prst="rect">
            <a:avLst/>
          </a:prstGeom>
          <a:noFill/>
        </p:spPr>
        <p:txBody>
          <a:bodyPr wrap="square" anchor="t" lIns="36576" rIns="36576" tIns="36576" bIns="36576">
            <a:spAutoFit/>
          </a:bodyPr>
          <a:lstStyle/>
          <a:p>
            <a:pPr algn="l"/>
            <a:r>
              <a:rPr sz="1150" b="0">
                <a:solidFill>
                  <a:srgbClr val="17191C"/>
                </a:solidFill>
                <a:latin typeface="Yu Gothic"/>
              </a:rPr>
              <a:t>PPTX download / selectable text</a:t>
            </a:r>
          </a:p>
        </p:txBody>
      </p:sp>
      <p:sp>
        <p:nvSpPr>
          <p:cNvPr id="42" name="Rectangle 41"/>
          <p:cNvSpPr/>
          <p:nvPr/>
        </p:nvSpPr>
        <p:spPr>
          <a:xfrm>
            <a:off x="5394960" y="4041648"/>
            <a:ext cx="2926080"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68112" y="4096511"/>
            <a:ext cx="2779776" cy="786384"/>
          </a:xfrm>
          <a:prstGeom prst="rect">
            <a:avLst/>
          </a:prstGeom>
          <a:noFill/>
        </p:spPr>
        <p:txBody>
          <a:bodyPr wrap="square" anchor="t" lIns="36576" rIns="36576" tIns="36576" bIns="36576">
            <a:spAutoFit/>
          </a:bodyPr>
          <a:lstStyle/>
          <a:p>
            <a:pPr algn="l"/>
            <a:r>
              <a:rPr sz="1150" b="0">
                <a:solidFill>
                  <a:srgbClr val="17191C"/>
                </a:solidFill>
                <a:latin typeface="Yu Gothic"/>
              </a:rPr>
              <a:t>最終レビューと再利用</a:t>
            </a:r>
          </a:p>
        </p:txBody>
      </p:sp>
      <p:sp>
        <p:nvSpPr>
          <p:cNvPr id="44" name="Rectangle 43"/>
          <p:cNvSpPr/>
          <p:nvPr/>
        </p:nvSpPr>
        <p:spPr>
          <a:xfrm>
            <a:off x="8321040" y="4041648"/>
            <a:ext cx="3319272" cy="896112"/>
          </a:xfrm>
          <a:prstGeom prst="rect">
            <a:avLst/>
          </a:prstGeom>
          <a:solidFill>
            <a:srgbClr val="FFFFFF"/>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94192" y="4096511"/>
            <a:ext cx="3172968" cy="786384"/>
          </a:xfrm>
          <a:prstGeom prst="rect">
            <a:avLst/>
          </a:prstGeom>
          <a:noFill/>
        </p:spPr>
        <p:txBody>
          <a:bodyPr wrap="square" anchor="t" lIns="36576" rIns="36576" tIns="36576" bIns="36576">
            <a:spAutoFit/>
          </a:bodyPr>
          <a:lstStyle/>
          <a:p>
            <a:pPr algn="l"/>
            <a:r>
              <a:rPr sz="1150" b="0">
                <a:solidFill>
                  <a:srgbClr val="17191C"/>
                </a:solidFill>
                <a:latin typeface="Yu Gothic"/>
              </a:rPr>
              <a:t>3 slides + editable text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34</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34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Q&amp;A PROMPT 7  |  OFFICIAL VIDEO</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公式性を照合してから、指定動画だけを追加します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PASTE34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940" b="0">
                <a:solidFill>
                  <a:srgbClr val="17191C"/>
                </a:solidFill>
                <a:latin typeface="Consolas"/>
              </a:rPr>
              <a:t>Q&amp;A / VIDEO
PASTE EXACTLY
Prompt 7 / Q&amp;A用: 公式動画を出典確認して追加する
/browser
AI Agent Learning HubのAntigravityカード付近に、次の動画をサイト内で再生できる導線を追加してください。
- URL: https://www.youtube.com/watch?v=SVCBA-pBgt0
- 動画ID: SVCBA-pBgt0
実装前にYouTube oEmbedまたは動画ページで、titleが「Welcome to Google Antigravity」、author_nameが「Google Antigravity」、author_urlが`https://www.youtube.com/@googleantigravity`であることを確認してください。1項目でも確認できなければ「公式」と表示せず、ファイルを変更しないで停止してください。
確認できた場合だけ、privacy-enhanced modeの`https://www.youtube-nocookie.com/embed/SVCBA-pBgt0`を使い、Antigravityカードの近くに「Google Antigravity公式紹介動画」として追加してください。モーダルを使う場合は、閉じるボタン、Escape、背景クリック、focus復帰、YouTubeで開くリンクに対応してください。
5製品を増やさず、料金、クォータ、他製品の動画、外部フォント、診断、検索、エクスポート、テーマ切替を追加しないでください。commitとpushは実行しないでください。
1440x900と390x844で、動画導線、モーダル、キーボード操作、横スクロール、既存の絞り込みと2製品比較を確認し、「出典確認／変更ファイル／ブラウザ確認」を3行で報告してください。
正本: docs/demo/antigravity_workshop/PROMPT_07_OFFICIAL_VIDEO.txt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35</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35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Q&amp;A PROMPT 8  |  NANO BANANA PRO 2</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模擬UIではなく、Antigravityの画像生成Toolで実画像を1枚作ります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PASTE35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940" b="0">
                <a:solidFill>
                  <a:srgbClr val="17191C"/>
                </a:solidFill>
                <a:latin typeface="Consolas"/>
              </a:rPr>
              <a:t>Q&amp;A / IMAGE
PASTE EXACTLY
Prompt 8 / Q&amp;A用: Nano Banana Pro 2で実画像を作って差し替える
/frontend-design
Antigravityのgenerative image toolを使い、AI Agent Learning Hubのヒーロー用画像を1枚だけ生成してください。実行前にAntigravity公式Modelsページを確認し、generative image toolがNano Banana Pro 2を使用することを確認してください。
画像要件:
- 1600x900の横長ラスター画像
- 日本の社内研修で、非エンジニアと開発者がAIエージェントの画面を一緒に確認している実写調
- 画面内に読める文字、製品ロゴ、人物名、顧客情報を入れない
- 既存の明るい業務向け配色と本文の可読性を損なわない
- assets/agent-workflow-hero.pngへ保存し、適切な日本語altを付ける
重要:
- CSSの色切替やプリセットを画像生成と呼ばない
- 模擬実装、テーマ切替、別製品、料金、クォータを追加しない
- Toolまたは公式Modelsページを確認できない場合は既存画像を維持し、SKIPPEDと報告する
- commitとpushは実行しない
/browserで1440x900と390x844を確認し、「使用したTool／生成画像／ブラウザ確認」を3行で報告してください。
公式確認先: https://antigravity.google/docs/models
正本: 本資料 / Prompt 8 - Nano Banana Pro 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36</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36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Q&amp;A PROMPT 9  |  VISUAL FEEDBACK</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Screenshot Artifactの位置へコメントし、重なりだけを直します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COPY / PASTE36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1080" b="0">
                <a:solidFill>
                  <a:srgbClr val="17191C"/>
                </a:solidFill>
                <a:latin typeface="Consolas"/>
              </a:rPr>
              <a:t>ARTIFACT COMMENT
PASTE EXACTLY
Prompt 9 / Q&amp;A用: Screenshot Artifactへ位置指定コメントを残す
/browser
ローカルのAI Agent Learning Hubを1440x900で開き、ページ上部からVisual Feedback用のScreenshot Artifactを1枚作成してください。ファイルはまだ変更せず、Screenshot Artifactが表示されたら停止してください。
Artifactが表示されたら、比較サマリーが他の内容へ重なる位置をクリックし、次のコメント全文を貼り付けます。
この固定比較サマリーが下のセクションを隠しています。デスクトップでは右下の非遮蔽パネル、モバイルでは通常フローへ変更し、1440x900と390x844で重なり0・横スクロール0を確認してください。ほかの機能、5製品、文言、公式動画、画像は変更しないでください。commitとpushは実行しないでください。
修正後は新しいScreenshot Artifactを作り、変更ファイル、重なり検証、維持した範囲を3行で報告してください。
正本: docs/demo/antigravity_workshop/PROMPT_09_VISUAL_FEEDBACK_COMMENT.txt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B6D957"/>
          </a:solidFill>
          <a:ln w="12700">
            <a:solidFill>
              <a:srgbClr val="B6D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37</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37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RESET  |  AFTER REHEARSAL</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Skillとリハーサル用Canva Presentationを片付け、準備状態へ戻します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RUNBOOK37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1080" b="0">
                <a:solidFill>
                  <a:srgbClr val="17191C"/>
                </a:solidFill>
                <a:latin typeface="Consolas"/>
              </a:rPr>
              <a:t>RUN AFTER REHEARSAL
npx skills remove frontend-design --agent antigravity -y
$root = (Resolve-Path .agents/skills).Path
$skill = Join-Path $root 'frontend-design'
if (Test-Path $skill) {
  $resolved = (Resolve-Path $skill).Path
  if ((Split-Path $resolved -Parent) -ne $root) { throw 'stop' }
  Remove-Item -LiteralPath $resolved -Recurse -Force
}
Remove-Item .\skills-lock.json -Force -ErrorAction SilentlyContinue
Canva: rehearsal designだけをTrashへ移動
残す: Canva MCP接続 / backup PPTX
復元後の5証拠
1  frontend-designがない
2  /grill-me と /find-skillsは残る
3  rehearsal用PresentationだけがTrash
4  公開URLが準備ページへ戻る
5  git status --short が空
reset --hard / force push は使わない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38</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38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90-SECOND RECOVERY  |  FAILBACK</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止まったら理由を短く伝え、完成済みのWebとCanva Presentationで流れを続けます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90 sec
SKILL SEARCH
既知候補frontend-designを説明</a:t>
            </a:r>
          </a:p>
        </p:txBody>
      </p:sp>
      <p:sp>
        <p:nvSpPr>
          <p:cNvPr id="17" name="Rounded Rectangle 16"/>
          <p:cNvSpPr/>
          <p:nvPr/>
        </p:nvSpPr>
        <p:spPr>
          <a:xfrm>
            <a:off x="4504944"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42104" y="152704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2104"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BUILD / BROWSER
完成済みWebとGREEN evidenceへ</a:t>
            </a:r>
          </a:p>
        </p:txBody>
      </p:sp>
      <p:sp>
        <p:nvSpPr>
          <p:cNvPr id="20" name="Rounded Rectangle 19"/>
          <p:cNvSpPr/>
          <p:nvPr/>
        </p:nvSpPr>
        <p:spPr>
          <a:xfrm>
            <a:off x="8186928" y="141732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4088" y="152704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4088" y="161848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CANVA MCP
リハーサル済みPresentation URLへ</a:t>
            </a:r>
          </a:p>
        </p:txBody>
      </p:sp>
      <p:sp>
        <p:nvSpPr>
          <p:cNvPr id="23" name="Rounded Rectangle 22"/>
          <p:cNvSpPr/>
          <p:nvPr/>
        </p:nvSpPr>
        <p:spPr>
          <a:xfrm>
            <a:off x="822960"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390448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PPTX EXPORT
backup PPTXをPowerPointで開く</a:t>
            </a:r>
          </a:p>
        </p:txBody>
      </p:sp>
      <p:sp>
        <p:nvSpPr>
          <p:cNvPr id="26" name="Rounded Rectangle 25"/>
          <p:cNvSpPr/>
          <p:nvPr/>
        </p:nvSpPr>
        <p:spPr>
          <a:xfrm>
            <a:off x="4504944"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42104" y="3904488"/>
            <a:ext cx="411480" cy="36576"/>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2104"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PAGES
既存URLとcommit evidenceへ
会場でやらないこと
× global Skill install
× OAuth再認証 / account・共有設定変更
× 本番repo / 本番URL変更
× secretの入力・表示
× retry loop / force push / reset --hard
× その場の大幅な要件変更</a:t>
            </a:r>
          </a:p>
        </p:txBody>
      </p:sp>
      <p:sp>
        <p:nvSpPr>
          <p:cNvPr id="29" name="Rounded Rectangle 28"/>
          <p:cNvSpPr/>
          <p:nvPr/>
        </p:nvSpPr>
        <p:spPr>
          <a:xfrm>
            <a:off x="8186928" y="3794760"/>
            <a:ext cx="3453384"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4088" y="3904488"/>
            <a:ext cx="411480" cy="36576"/>
          </a:xfrm>
          <a:prstGeom prst="rect">
            <a:avLst/>
          </a:prstGeom>
          <a:solidFill>
            <a:srgbClr val="ED6A5A"/>
          </a:solidFill>
          <a:ln w="12700">
            <a:solidFill>
              <a:srgbClr val="ED6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4088" y="3995928"/>
            <a:ext cx="3179064" cy="1920240"/>
          </a:xfrm>
          <a:prstGeom prst="rect">
            <a:avLst/>
          </a:prstGeom>
          <a:noFill/>
        </p:spPr>
        <p:txBody>
          <a:bodyPr wrap="square" anchor="t" lIns="36576" rIns="36576" tIns="36576" bIns="36576">
            <a:spAutoFit/>
          </a:bodyPr>
          <a:lstStyle/>
          <a:p>
            <a:pPr algn="l"/>
            <a:r>
              <a:rPr sz="1100" b="0">
                <a:solidFill>
                  <a:srgbClr val="17191C"/>
                </a:solidFill>
                <a:latin typeface="Yu Gothic"/>
              </a:rPr>
              <a:t>観客へ伝える
『停止条件を守ることも、AIエージェント運用の一部です』</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6A6"/>
          </a:solidFill>
          <a:ln w="127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39</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39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OUTCOME CHECK  |  Q&amp;A</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Web制作の実演で、最初に約束した3つを振り返ります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ounded Rectangle 13"/>
          <p:cNvSpPr/>
          <p:nvPr/>
        </p:nvSpPr>
        <p:spPr>
          <a:xfrm>
            <a:off x="822960" y="1417320"/>
            <a:ext cx="5294376" cy="2194560"/>
          </a:xfrm>
          <a:prstGeom prst="round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1527048"/>
            <a:ext cx="411480" cy="36576"/>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618488"/>
            <a:ext cx="5020056" cy="1920240"/>
          </a:xfrm>
          <a:prstGeom prst="rect">
            <a:avLst/>
          </a:prstGeom>
          <a:noFill/>
        </p:spPr>
        <p:txBody>
          <a:bodyPr wrap="square" anchor="t" lIns="36576" rIns="36576" tIns="36576" bIns="36576">
            <a:spAutoFit/>
          </a:bodyPr>
          <a:lstStyle/>
          <a:p>
            <a:pPr algn="l"/>
            <a:r>
              <a:rPr sz="1100" b="0">
                <a:solidFill>
                  <a:srgbClr val="17191C"/>
                </a:solidFill>
                <a:latin typeface="Yu Gothic"/>
              </a:rPr>
              <a:t>01
説明できる
TEST_SPEC → RED → 実装 → GREEN
AIが会話だけで終わらない
02
使い分けられる
Skillで仕事の型を追加
MCPでCanvaへ接続
03
安全に任せられる
目的・権限・承認・停止条件
重要判断は人が持つ
明日の10分: 小さなWeb改善を/grill-meで問い直し、期待結果をテスト1件にする
その後はQ&amp;A。CLI / SDK / 公式動画 / Nano Banana / Visual Feedbackは質問に応じて紹介します。</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B6D957"/>
          </a:solidFill>
          <a:ln w="12700">
            <a:solidFill>
              <a:srgbClr val="B6D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40</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40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APPENDIX PROMPT 10  |  CLI READONLY</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【付録】Antigravity CLIから読み取り専用で成果物を監査します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CLI RUNBOOK &amp; PROMPT  |  40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980" b="0">
                <a:solidFill>
                  <a:srgbClr val="17191C"/>
                </a:solidFill>
                <a:latin typeface="Consolas"/>
              </a:rPr>
              <a:t># 実行手順 (Terminal / PowerShell):
# 1. cd C:\Users\kanta\GitHub\mighty-link-ai-connect (または専用リポジトリ)
# 2. agy を起動してプロンプトを投入:
CLI DEMO / READ ONLY
Antigravity CLIから、現在の専用デモリポジトリを読み取り専用で監査してください。
対象: index.html, styles.css, app.js, SITE_BRIEF.md
制約: ファイル作成・変更・削除なし / shell・通信・git操作なし / 秘密情報非表示
次の見出しと順番だけで、日本語の短い結果を返してください:
SURFACE: ANTIGRAVITY CLI
FILES: 読み取れた対象ファイル
PRODUCTS: index.htmlから確認できた製品名と件数
INTERACTIONS: app.jsから確認できた操作を3点以内
SAFETY: SYNTHETIC_DATA_ONLYの有無と、書き込みを行っていないこと
NEXT: Antigravity 2.0でChrome確認する項目を1点</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3697" cy="6858000"/>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3697" cy="1618488"/>
          </a:xfrm>
          <a:prstGeom prst="rect">
            <a:avLst/>
          </a:prstGeom>
          <a:solidFill>
            <a:srgbClr val="00A5E3"/>
          </a:solidFill>
          <a:ln w="12700">
            <a:solidFill>
              <a:srgbClr val="00A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 y="6217920"/>
            <a:ext cx="292608" cy="365760"/>
          </a:xfrm>
          <a:prstGeom prst="rect">
            <a:avLst/>
          </a:prstGeom>
          <a:noFill/>
        </p:spPr>
        <p:txBody>
          <a:bodyPr wrap="square" anchor="t" lIns="36576" rIns="36576" tIns="36576" bIns="36576">
            <a:spAutoFit/>
          </a:bodyPr>
          <a:lstStyle/>
          <a:p>
            <a:pPr algn="ctr"/>
            <a:r>
              <a:rPr sz="1100" b="1">
                <a:solidFill>
                  <a:srgbClr val="FFFFFF"/>
                </a:solidFill>
                <a:latin typeface="Consolas"/>
              </a:rPr>
              <a:t>41</a:t>
            </a:r>
          </a:p>
        </p:txBody>
      </p:sp>
      <p:sp>
        <p:nvSpPr>
          <p:cNvPr id="6" name="Rectangle 5"/>
          <p:cNvSpPr/>
          <p:nvPr/>
        </p:nvSpPr>
        <p:spPr>
          <a:xfrm>
            <a:off x="822960" y="32004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9728"/>
            <a:ext cx="7315200" cy="219456"/>
          </a:xfrm>
          <a:prstGeom prst="rect">
            <a:avLst/>
          </a:prstGeom>
          <a:noFill/>
        </p:spPr>
        <p:txBody>
          <a:bodyPr wrap="square" anchor="t" lIns="36576" rIns="36576" tIns="36576" bIns="36576">
            <a:spAutoFit/>
          </a:bodyPr>
          <a:lstStyle/>
          <a:p>
            <a:pPr algn="l"/>
            <a:r>
              <a:rPr sz="1000" b="1">
                <a:solidFill>
                  <a:srgbClr val="555D63"/>
                </a:solidFill>
                <a:latin typeface="Yu Gothic"/>
              </a:rPr>
              <a:t>MightyLINK 社内AI研修  |  Google Antigravity 2.0</a:t>
            </a:r>
          </a:p>
        </p:txBody>
      </p:sp>
      <p:sp>
        <p:nvSpPr>
          <p:cNvPr id="8" name="TextBox 7"/>
          <p:cNvSpPr txBox="1"/>
          <p:nvPr/>
        </p:nvSpPr>
        <p:spPr>
          <a:xfrm>
            <a:off x="8229600" y="109728"/>
            <a:ext cx="3410712" cy="219456"/>
          </a:xfrm>
          <a:prstGeom prst="rect">
            <a:avLst/>
          </a:prstGeom>
          <a:noFill/>
        </p:spPr>
        <p:txBody>
          <a:bodyPr wrap="square" anchor="t" lIns="36576" rIns="36576" tIns="36576" bIns="36576">
            <a:spAutoFit/>
          </a:bodyPr>
          <a:lstStyle/>
          <a:p>
            <a:pPr algn="r"/>
            <a:r>
              <a:rPr sz="1000" b="1">
                <a:solidFill>
                  <a:srgbClr val="555D63"/>
                </a:solidFill>
                <a:latin typeface="Consolas"/>
              </a:rPr>
              <a:t>41 / 41</a:t>
            </a:r>
          </a:p>
        </p:txBody>
      </p:sp>
      <p:sp>
        <p:nvSpPr>
          <p:cNvPr id="9" name="TextBox 8"/>
          <p:cNvSpPr txBox="1"/>
          <p:nvPr/>
        </p:nvSpPr>
        <p:spPr>
          <a:xfrm>
            <a:off x="822960" y="420624"/>
            <a:ext cx="10515600" cy="237744"/>
          </a:xfrm>
          <a:prstGeom prst="rect">
            <a:avLst/>
          </a:prstGeom>
          <a:noFill/>
        </p:spPr>
        <p:txBody>
          <a:bodyPr wrap="square" anchor="t" lIns="36576" rIns="36576" tIns="36576" bIns="36576">
            <a:spAutoFit/>
          </a:bodyPr>
          <a:lstStyle/>
          <a:p>
            <a:pPr algn="l"/>
            <a:r>
              <a:rPr sz="1100" b="1">
                <a:solidFill>
                  <a:srgbClr val="008B8B"/>
                </a:solidFill>
                <a:latin typeface="Consolas"/>
              </a:rPr>
              <a:t>MIGHTYLINK  |  APPENDIX PROMPT 11  |  SDK READONLY</a:t>
            </a:r>
          </a:p>
        </p:txBody>
      </p:sp>
      <p:sp>
        <p:nvSpPr>
          <p:cNvPr id="10" name="TextBox 9"/>
          <p:cNvSpPr txBox="1"/>
          <p:nvPr/>
        </p:nvSpPr>
        <p:spPr>
          <a:xfrm>
            <a:off x="804672" y="658368"/>
            <a:ext cx="10789920" cy="621792"/>
          </a:xfrm>
          <a:prstGeom prst="rect">
            <a:avLst/>
          </a:prstGeom>
          <a:noFill/>
        </p:spPr>
        <p:txBody>
          <a:bodyPr wrap="square" anchor="t" lIns="36576" rIns="36576" tIns="36576" bIns="36576">
            <a:spAutoFit/>
          </a:bodyPr>
          <a:lstStyle/>
          <a:p>
            <a:pPr algn="l"/>
            <a:r>
              <a:rPr sz="2400" b="1">
                <a:solidFill>
                  <a:srgbClr val="17191C"/>
                </a:solidFill>
                <a:latin typeface="Yu Mincho"/>
              </a:rPr>
              <a:t>【付録】Antigravity SDKからプログラム経由で成果物を監査します</a:t>
            </a:r>
          </a:p>
        </p:txBody>
      </p:sp>
      <p:sp>
        <p:nvSpPr>
          <p:cNvPr id="11" name="Rectangle 10"/>
          <p:cNvSpPr/>
          <p:nvPr/>
        </p:nvSpPr>
        <p:spPr>
          <a:xfrm>
            <a:off x="822960" y="6446520"/>
            <a:ext cx="10817352" cy="9144"/>
          </a:xfrm>
          <a:prstGeom prst="rect">
            <a:avLst/>
          </a:prstGeom>
          <a:solidFill>
            <a:srgbClr val="CFD4D7"/>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510528"/>
            <a:ext cx="3657600" cy="228600"/>
          </a:xfrm>
          <a:prstGeom prst="rect">
            <a:avLst/>
          </a:prstGeom>
          <a:noFill/>
        </p:spPr>
        <p:txBody>
          <a:bodyPr wrap="square" anchor="t" lIns="36576" rIns="36576" tIns="36576" bIns="36576">
            <a:spAutoFit/>
          </a:bodyPr>
          <a:lstStyle/>
          <a:p>
            <a:pPr algn="l"/>
            <a:r>
              <a:rPr sz="850" b="1">
                <a:solidFill>
                  <a:srgbClr val="6B7479"/>
                </a:solidFill>
                <a:latin typeface="Consolas"/>
              </a:rPr>
              <a:t>MIGHTYLINK</a:t>
            </a:r>
          </a:p>
        </p:txBody>
      </p:sp>
      <p:sp>
        <p:nvSpPr>
          <p:cNvPr id="13" name="TextBox 12"/>
          <p:cNvSpPr txBox="1"/>
          <p:nvPr/>
        </p:nvSpPr>
        <p:spPr>
          <a:xfrm>
            <a:off x="6400800" y="6510528"/>
            <a:ext cx="5239512" cy="228600"/>
          </a:xfrm>
          <a:prstGeom prst="rect">
            <a:avLst/>
          </a:prstGeom>
          <a:noFill/>
        </p:spPr>
        <p:txBody>
          <a:bodyPr wrap="square" anchor="t" lIns="36576" rIns="36576" tIns="36576" bIns="36576">
            <a:spAutoFit/>
          </a:bodyPr>
          <a:lstStyle/>
          <a:p>
            <a:pPr algn="r"/>
            <a:r>
              <a:rPr sz="850" b="1">
                <a:solidFill>
                  <a:srgbClr val="6B7479"/>
                </a:solidFill>
                <a:latin typeface="Consolas"/>
              </a:rPr>
              <a:t>ANTIGRAVITY 2.0 LIVE DEMO</a:t>
            </a:r>
          </a:p>
        </p:txBody>
      </p:sp>
      <p:sp>
        <p:nvSpPr>
          <p:cNvPr id="14" name="Rectangle 13"/>
          <p:cNvSpPr/>
          <p:nvPr/>
        </p:nvSpPr>
        <p:spPr>
          <a:xfrm>
            <a:off x="822960" y="1353312"/>
            <a:ext cx="10817352" cy="4937760"/>
          </a:xfrm>
          <a:prstGeom prst="rect">
            <a:avLst/>
          </a:prstGeom>
          <a:solidFill>
            <a:srgbClr val="F7F9F9"/>
          </a:solidFill>
          <a:ln w="12700">
            <a:solidFill>
              <a:srgbClr val="CFD4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1353312"/>
            <a:ext cx="10817352" cy="292608"/>
          </a:xfrm>
          <a:prstGeom prst="rect">
            <a:avLst/>
          </a:prstGeom>
          <a:solidFill>
            <a:srgbClr val="1F2529"/>
          </a:solidFill>
          <a:ln w="12700">
            <a:solidFill>
              <a:srgbClr val="1F252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389888"/>
            <a:ext cx="10515600" cy="228600"/>
          </a:xfrm>
          <a:prstGeom prst="rect">
            <a:avLst/>
          </a:prstGeom>
          <a:noFill/>
        </p:spPr>
        <p:txBody>
          <a:bodyPr wrap="square" anchor="t" lIns="36576" rIns="36576" tIns="36576" bIns="36576">
            <a:spAutoFit/>
          </a:bodyPr>
          <a:lstStyle/>
          <a:p>
            <a:pPr algn="l"/>
            <a:r>
              <a:rPr sz="900" b="1">
                <a:solidFill>
                  <a:srgbClr val="FFFFFF"/>
                </a:solidFill>
                <a:latin typeface="Consolas"/>
              </a:rPr>
              <a:t>SDK RUNBOOK &amp; PROMPT  |  41 / 41</a:t>
            </a:r>
          </a:p>
        </p:txBody>
      </p:sp>
      <p:sp>
        <p:nvSpPr>
          <p:cNvPr id="17" name="TextBox 16"/>
          <p:cNvSpPr txBox="1"/>
          <p:nvPr/>
        </p:nvSpPr>
        <p:spPr>
          <a:xfrm>
            <a:off x="960120" y="1719072"/>
            <a:ext cx="10515600" cy="4434840"/>
          </a:xfrm>
          <a:prstGeom prst="rect">
            <a:avLst/>
          </a:prstGeom>
          <a:noFill/>
        </p:spPr>
        <p:txBody>
          <a:bodyPr wrap="square" anchor="t" lIns="36576" rIns="36576" tIns="36576" bIns="36576">
            <a:spAutoFit/>
          </a:bodyPr>
          <a:lstStyle/>
          <a:p>
            <a:pPr algn="l"/>
            <a:r>
              <a:rPr sz="980" b="0">
                <a:solidFill>
                  <a:srgbClr val="17191C"/>
                </a:solidFill>
                <a:latin typeface="Consolas"/>
              </a:rPr>
              <a:t># 実行手順 (Terminal / Python Environment):
# 1. venv環境の有効化: .\venv\Scripts\Activate.ps1
# 2. パッケージ確認: pip show google-antigravity
# 3. 監査実行: python scripts/verify_public_demo.py --url https://mightylink-app.com/
SDK DEMO / READ ONLY
現在の作業ディレクトリにあるAI Agent Learning Hubを、読み取り専用で監査してください。
index.html、styles.css、app.js、SITE_BRIEF.mdだけを読み、次を日本語で報告してください:
1. 製品カードの件数と製品名
2. フィルターと比較操作の有無
3. SYNTHETIC_DATA_ONLYの有無
4. 画面確認で見るべき点を1つ
ファイルの作成、変更、削除、shell command、外部通信、git操作を行わないでください。読み取れない項目は推測せず、NOT_VERIFIEDとしてください。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